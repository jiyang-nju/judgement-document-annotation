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78.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79.xml" ContentType="application/vnd.openxmlformats-officedocument.presentationml.tags+xml"/>
  <Override PartName="/ppt/notesSlides/notesSlide8.xml" ContentType="application/vnd.openxmlformats-officedocument.presentationml.notesSlide+xml"/>
  <Override PartName="/ppt/tags/tag80.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81.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82.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83.xml" ContentType="application/vnd.openxmlformats-officedocument.presentationml.tags+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autoCompressPictures="0">
  <p:sldMasterIdLst>
    <p:sldMasterId id="2147483648" r:id="rId1"/>
    <p:sldMasterId id="2147483663" r:id="rId2"/>
  </p:sldMasterIdLst>
  <p:notesMasterIdLst>
    <p:notesMasterId r:id="rId89"/>
  </p:notesMasterIdLst>
  <p:handoutMasterIdLst>
    <p:handoutMasterId r:id="rId90"/>
  </p:handoutMasterIdLst>
  <p:sldIdLst>
    <p:sldId id="263" r:id="rId3"/>
    <p:sldId id="262" r:id="rId4"/>
    <p:sldId id="272" r:id="rId5"/>
    <p:sldId id="281" r:id="rId6"/>
    <p:sldId id="274" r:id="rId7"/>
    <p:sldId id="273" r:id="rId8"/>
    <p:sldId id="276" r:id="rId9"/>
    <p:sldId id="277" r:id="rId10"/>
    <p:sldId id="275" r:id="rId11"/>
    <p:sldId id="278" r:id="rId12"/>
    <p:sldId id="280" r:id="rId13"/>
    <p:sldId id="283" r:id="rId14"/>
    <p:sldId id="282" r:id="rId15"/>
    <p:sldId id="288" r:id="rId16"/>
    <p:sldId id="289" r:id="rId17"/>
    <p:sldId id="286" r:id="rId18"/>
    <p:sldId id="298" r:id="rId19"/>
    <p:sldId id="300" r:id="rId20"/>
    <p:sldId id="301" r:id="rId21"/>
    <p:sldId id="302" r:id="rId22"/>
    <p:sldId id="303" r:id="rId23"/>
    <p:sldId id="304" r:id="rId24"/>
    <p:sldId id="299" r:id="rId25"/>
    <p:sldId id="284" r:id="rId26"/>
    <p:sldId id="290" r:id="rId27"/>
    <p:sldId id="293" r:id="rId28"/>
    <p:sldId id="294" r:id="rId29"/>
    <p:sldId id="295" r:id="rId30"/>
    <p:sldId id="297" r:id="rId31"/>
    <p:sldId id="296" r:id="rId32"/>
    <p:sldId id="316" r:id="rId33"/>
    <p:sldId id="317" r:id="rId34"/>
    <p:sldId id="318" r:id="rId35"/>
    <p:sldId id="292" r:id="rId36"/>
    <p:sldId id="319" r:id="rId37"/>
    <p:sldId id="323" r:id="rId38"/>
    <p:sldId id="324" r:id="rId39"/>
    <p:sldId id="325" r:id="rId40"/>
    <p:sldId id="326" r:id="rId41"/>
    <p:sldId id="327" r:id="rId42"/>
    <p:sldId id="328" r:id="rId43"/>
    <p:sldId id="367" r:id="rId44"/>
    <p:sldId id="330" r:id="rId45"/>
    <p:sldId id="331" r:id="rId46"/>
    <p:sldId id="332" r:id="rId47"/>
    <p:sldId id="333" r:id="rId48"/>
    <p:sldId id="368" r:id="rId49"/>
    <p:sldId id="335" r:id="rId50"/>
    <p:sldId id="336" r:id="rId51"/>
    <p:sldId id="337" r:id="rId52"/>
    <p:sldId id="338" r:id="rId53"/>
    <p:sldId id="339" r:id="rId54"/>
    <p:sldId id="340" r:id="rId55"/>
    <p:sldId id="342" r:id="rId56"/>
    <p:sldId id="343" r:id="rId57"/>
    <p:sldId id="279" r:id="rId58"/>
    <p:sldId id="344" r:id="rId59"/>
    <p:sldId id="345" r:id="rId60"/>
    <p:sldId id="346" r:id="rId61"/>
    <p:sldId id="347" r:id="rId62"/>
    <p:sldId id="348" r:id="rId63"/>
    <p:sldId id="349" r:id="rId64"/>
    <p:sldId id="350" r:id="rId65"/>
    <p:sldId id="351" r:id="rId66"/>
    <p:sldId id="352" r:id="rId67"/>
    <p:sldId id="353" r:id="rId68"/>
    <p:sldId id="354" r:id="rId69"/>
    <p:sldId id="355" r:id="rId70"/>
    <p:sldId id="356" r:id="rId71"/>
    <p:sldId id="291" r:id="rId72"/>
    <p:sldId id="357" r:id="rId73"/>
    <p:sldId id="358" r:id="rId74"/>
    <p:sldId id="359" r:id="rId75"/>
    <p:sldId id="360" r:id="rId76"/>
    <p:sldId id="361" r:id="rId77"/>
    <p:sldId id="362" r:id="rId78"/>
    <p:sldId id="363" r:id="rId79"/>
    <p:sldId id="364" r:id="rId80"/>
    <p:sldId id="365" r:id="rId81"/>
    <p:sldId id="305" r:id="rId82"/>
    <p:sldId id="306" r:id="rId83"/>
    <p:sldId id="307" r:id="rId84"/>
    <p:sldId id="308" r:id="rId85"/>
    <p:sldId id="309" r:id="rId86"/>
    <p:sldId id="310" r:id="rId87"/>
    <p:sldId id="366" r:id="rId88"/>
  </p:sldIdLst>
  <p:sldSz cx="9144000" cy="6858000" type="screen4x3"/>
  <p:notesSz cx="6858000" cy="9144000"/>
  <p:custDataLst>
    <p:tags r:id="rId9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99FF"/>
    <a:srgbClr val="870078"/>
    <a:srgbClr val="FF00FF"/>
    <a:srgbClr val="472680"/>
    <a:srgbClr val="2312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47"/>
    <p:restoredTop sz="71632"/>
  </p:normalViewPr>
  <p:slideViewPr>
    <p:cSldViewPr snapToGrid="0">
      <p:cViewPr varScale="1">
        <p:scale>
          <a:sx n="104" d="100"/>
          <a:sy n="104" d="100"/>
        </p:scale>
        <p:origin x="2736" y="192"/>
      </p:cViewPr>
      <p:guideLst/>
    </p:cSldViewPr>
  </p:slideViewPr>
  <p:notesTextViewPr>
    <p:cViewPr>
      <p:scale>
        <a:sx n="1" d="1"/>
        <a:sy n="1" d="1"/>
      </p:scale>
      <p:origin x="0" y="0"/>
    </p:cViewPr>
  </p:notesTextViewPr>
  <p:notesViewPr>
    <p:cSldViewPr snapToGrid="0">
      <p:cViewPr varScale="1">
        <p:scale>
          <a:sx n="64" d="100"/>
          <a:sy n="64" d="100"/>
        </p:scale>
        <p:origin x="3192" y="7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notesMaster" Target="notesMasters/notesMaster1.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handoutMaster" Target="handoutMasters/handoutMaster1.xml"/><Relationship Id="rId95" Type="http://schemas.openxmlformats.org/officeDocument/2006/relationships/tableStyles" Target="tableStyle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tags" Target="tags/tag1.xml"/><Relationship Id="rId9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presProps" Target="presProps.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传艺 李" userId="18704901d6efe90a" providerId="LiveId" clId="{1D5F031D-7788-174D-B231-34760376CF19}"/>
    <pc:docChg chg="modSld">
      <pc:chgData name="传艺 李" userId="18704901d6efe90a" providerId="LiveId" clId="{1D5F031D-7788-174D-B231-34760376CF19}" dt="2025-06-04T05:52:19.189" v="58" actId="1076"/>
      <pc:docMkLst>
        <pc:docMk/>
      </pc:docMkLst>
      <pc:sldChg chg="modSp mod">
        <pc:chgData name="传艺 李" userId="18704901d6efe90a" providerId="LiveId" clId="{1D5F031D-7788-174D-B231-34760376CF19}" dt="2025-06-04T05:50:07.777" v="36" actId="20577"/>
        <pc:sldMkLst>
          <pc:docMk/>
          <pc:sldMk cId="0" sldId="275"/>
        </pc:sldMkLst>
        <pc:spChg chg="mod">
          <ac:chgData name="传艺 李" userId="18704901d6efe90a" providerId="LiveId" clId="{1D5F031D-7788-174D-B231-34760376CF19}" dt="2025-06-04T05:50:07.777" v="36" actId="20577"/>
          <ac:spMkLst>
            <pc:docMk/>
            <pc:sldMk cId="0" sldId="275"/>
            <ac:spMk id="2" creationId="{00000000-0000-0000-0000-000000000000}"/>
          </ac:spMkLst>
        </pc:spChg>
      </pc:sldChg>
      <pc:sldChg chg="modSp mod">
        <pc:chgData name="传艺 李" userId="18704901d6efe90a" providerId="LiveId" clId="{1D5F031D-7788-174D-B231-34760376CF19}" dt="2025-06-04T05:52:19.189" v="58" actId="1076"/>
        <pc:sldMkLst>
          <pc:docMk/>
          <pc:sldMk cId="0" sldId="325"/>
        </pc:sldMkLst>
        <pc:spChg chg="mod">
          <ac:chgData name="传艺 李" userId="18704901d6efe90a" providerId="LiveId" clId="{1D5F031D-7788-174D-B231-34760376CF19}" dt="2025-06-04T05:52:04.705" v="55" actId="20577"/>
          <ac:spMkLst>
            <pc:docMk/>
            <pc:sldMk cId="0" sldId="325"/>
            <ac:spMk id="3" creationId="{00000000-0000-0000-0000-000000000000}"/>
          </ac:spMkLst>
        </pc:spChg>
        <pc:picChg chg="mod">
          <ac:chgData name="传艺 李" userId="18704901d6efe90a" providerId="LiveId" clId="{1D5F031D-7788-174D-B231-34760376CF19}" dt="2025-06-04T05:52:19.189" v="58" actId="1076"/>
          <ac:picMkLst>
            <pc:docMk/>
            <pc:sldMk cId="0" sldId="325"/>
            <ac:picMk id="5"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DE72145-0369-BC41-8852-9A54270ECA69}" type="datetimeFigureOut">
              <a:rPr kumimoji="1" lang="zh-CN" altLang="en-US" smtClean="0"/>
              <a:t>2025/6/4</a:t>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B814A60-76EA-5549-A6C7-556C94127007}" type="slidenum">
              <a:rPr kumimoji="1" lang="zh-CN" altLang="en-US" smtClean="0"/>
              <a:t>‹#›</a:t>
            </a:fld>
            <a:endParaRPr kumimoji="1"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B48004-2B8C-5943-8D5D-9492CFBF072F}" type="datetimeFigureOut">
              <a:rPr kumimoji="1" lang="zh-CN" altLang="en-US" smtClean="0"/>
              <a:t>2025/6/4</a:t>
            </a:fld>
            <a:endParaRPr kumimoji="1"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B6B530-5EF1-2443-B0C7-97E718DD23FB}"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在用户需求开发中，主要按照</a:t>
            </a:r>
            <a:r>
              <a:rPr lang="en-US" altLang="zh-CN" dirty="0"/>
              <a:t>c)</a:t>
            </a:r>
            <a:r>
              <a:rPr lang="zh-CN" altLang="en-US" dirty="0"/>
              <a:t>方式使用场景。在面对非常简单的系统时（不需要进行需求分析就能够保证需求完备、正确和一 致），可以按照</a:t>
            </a:r>
            <a:r>
              <a:rPr lang="en-US" altLang="zh-CN" dirty="0"/>
              <a:t>b</a:t>
            </a:r>
            <a:r>
              <a:rPr lang="zh-CN" altLang="en-US" dirty="0"/>
              <a:t>）方式使用场景。在面对问题域非常复杂的系统时（问题域非常复杂、不易理解），不妨按照</a:t>
            </a:r>
            <a:r>
              <a:rPr lang="en-US" altLang="zh-CN" dirty="0"/>
              <a:t>a</a:t>
            </a:r>
            <a:r>
              <a:rPr lang="zh-CN" altLang="en-US" dirty="0"/>
              <a:t>）方式使用场景，虽 然耗费了工作量（两次描述场景），但分解了需要处理的复杂度（一次是理解问题域，一次是描述用户需求内容）。如果获取源中有 旧系统、竞争系统或相关系统的需求规格说明，可以按照</a:t>
            </a:r>
            <a:r>
              <a:rPr lang="en-US" altLang="zh-CN" dirty="0"/>
              <a:t>d</a:t>
            </a:r>
            <a:r>
              <a:rPr lang="zh-CN" altLang="en-US" dirty="0"/>
              <a:t>）方式使用场景，完成需求逆向工作。</a:t>
            </a:r>
            <a:r>
              <a:rPr lang="en-US" altLang="zh-CN" dirty="0"/>
              <a:t>e</a:t>
            </a:r>
            <a:r>
              <a:rPr lang="zh-CN" altLang="en-US" dirty="0"/>
              <a:t>）方式主要用在需求验证阶段，在 用户需求开发阶段基本不使用。</a:t>
            </a:r>
          </a:p>
        </p:txBody>
      </p:sp>
      <p:sp>
        <p:nvSpPr>
          <p:cNvPr id="4" name="灯片编号占位符 3"/>
          <p:cNvSpPr>
            <a:spLocks noGrp="1"/>
          </p:cNvSpPr>
          <p:nvPr>
            <p:ph type="sldNum" sz="quarter" idx="5"/>
          </p:nvPr>
        </p:nvSpPr>
        <p:spPr/>
        <p:txBody>
          <a:bodyPr/>
          <a:lstStyle/>
          <a:p>
            <a:fld id="{D7B6B530-5EF1-2443-B0C7-97E718DD23FB}" type="slidenum">
              <a:rPr kumimoji="1" lang="zh-CN" altLang="en-US" smtClean="0"/>
              <a:t>41</a:t>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D7B6B530-5EF1-2443-B0C7-97E718DD23FB}" type="slidenum">
              <a:rPr kumimoji="1" lang="zh-CN" altLang="en-US" smtClean="0"/>
              <a:t>42</a:t>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B6B530-5EF1-2443-B0C7-97E718DD23FB}" type="slidenum">
              <a:rPr kumimoji="1" lang="zh-CN" altLang="en-US" smtClean="0"/>
              <a:t>71</a:t>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B6B530-5EF1-2443-B0C7-97E718DD23FB}" type="slidenum">
              <a:rPr kumimoji="1" lang="zh-CN" altLang="en-US" smtClean="0"/>
              <a:t>72</a:t>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B6B530-5EF1-2443-B0C7-97E718DD23FB}" type="slidenum">
              <a:rPr kumimoji="1" lang="zh-CN" altLang="en-US" smtClean="0"/>
              <a:t>73</a:t>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B6B530-5EF1-2443-B0C7-97E718DD23FB}" type="slidenum">
              <a:rPr kumimoji="1" lang="zh-CN" altLang="en-US" smtClean="0"/>
              <a:t>74</a:t>
            </a:fld>
            <a:endParaRPr kumimoji="1"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B6B530-5EF1-2443-B0C7-97E718DD23FB}" type="slidenum">
              <a:rPr kumimoji="1" lang="zh-CN" altLang="en-US" smtClean="0"/>
              <a:t>75</a:t>
            </a:fld>
            <a:endParaRPr kumimoji="1"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实践中无法做到让每一个活动都从左到右，总有一些故事的发生不符合顺序，整体上有这个意识即可。</a:t>
            </a:r>
          </a:p>
        </p:txBody>
      </p:sp>
      <p:sp>
        <p:nvSpPr>
          <p:cNvPr id="4" name="灯片编号占位符 3"/>
          <p:cNvSpPr>
            <a:spLocks noGrp="1"/>
          </p:cNvSpPr>
          <p:nvPr>
            <p:ph type="sldNum" sz="quarter" idx="5"/>
          </p:nvPr>
        </p:nvSpPr>
        <p:spPr/>
        <p:txBody>
          <a:bodyPr/>
          <a:lstStyle/>
          <a:p>
            <a:fld id="{D7B6B530-5EF1-2443-B0C7-97E718DD23FB}" type="slidenum">
              <a:rPr kumimoji="1" lang="zh-CN" altLang="en-US" smtClean="0"/>
              <a:t>76</a:t>
            </a:fld>
            <a:endParaRPr kumimoji="1"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B6B530-5EF1-2443-B0C7-97E718DD23FB}" type="slidenum">
              <a:rPr kumimoji="1" lang="zh-CN" altLang="en-US" smtClean="0"/>
              <a:t>77</a:t>
            </a:fld>
            <a:endParaRPr kumimoji="1"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B6B530-5EF1-2443-B0C7-97E718DD23FB}" type="slidenum">
              <a:rPr kumimoji="1" lang="zh-CN" altLang="en-US" smtClean="0"/>
              <a:t>78</a:t>
            </a:fld>
            <a:endParaRPr kumimoji="1"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B6B530-5EF1-2443-B0C7-97E718DD23FB}" type="slidenum">
              <a:rPr kumimoji="1" lang="zh-CN" altLang="en-US" smtClean="0"/>
              <a:t>79</a:t>
            </a:fld>
            <a:endParaRPr kumimoji="1"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B6B530-5EF1-2443-B0C7-97E718DD23FB}" type="slidenum">
              <a:rPr kumimoji="1" lang="zh-CN" altLang="en-US" smtClean="0"/>
              <a:t>80</a:t>
            </a:fld>
            <a:endParaRPr kumimoji="1"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B6B530-5EF1-2443-B0C7-97E718DD23FB}" type="slidenum">
              <a:rPr kumimoji="1" lang="zh-CN" altLang="en-US" smtClean="0"/>
              <a:t>81</a:t>
            </a:fld>
            <a:endParaRPr kumimoji="1"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B6B530-5EF1-2443-B0C7-97E718DD23FB}" type="slidenum">
              <a:rPr kumimoji="1" lang="zh-CN" altLang="en-US" smtClean="0"/>
              <a:t>82</a:t>
            </a:fld>
            <a:endParaRPr kumimoji="1"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B6B530-5EF1-2443-B0C7-97E718DD23FB}" type="slidenum">
              <a:rPr kumimoji="1" lang="zh-CN" altLang="en-US" smtClean="0"/>
              <a:t>83</a:t>
            </a:fld>
            <a:endParaRPr kumimoji="1"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7B6B530-5EF1-2443-B0C7-97E718DD23FB}" type="slidenum">
              <a:rPr kumimoji="1" lang="zh-CN" altLang="en-US" smtClean="0"/>
              <a:t>84</a:t>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BDDFBAA5-A015-5B41-96F4-52A88ECA445D}" type="datetime1">
              <a:rPr kumimoji="1" lang="zh-CN" altLang="en-US" smtClean="0"/>
              <a:t>2025/6/4</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AC7FBBBC-E95E-3B45-AB29-0BB0A79D7891}" type="slidenum">
              <a:rPr kumimoji="1" lang="zh-CN" altLang="en-US" smtClean="0"/>
              <a:t>‹#›</a:t>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6" name="矩形 5"/>
          <p:cNvSpPr/>
          <p:nvPr userDrawn="1"/>
        </p:nvSpPr>
        <p:spPr>
          <a:xfrm>
            <a:off x="0" y="6456474"/>
            <a:ext cx="9144000" cy="217784"/>
          </a:xfrm>
          <a:prstGeom prst="rect">
            <a:avLst/>
          </a:prstGeom>
          <a:solidFill>
            <a:srgbClr val="4726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矩形 6"/>
          <p:cNvSpPr/>
          <p:nvPr userDrawn="1"/>
        </p:nvSpPr>
        <p:spPr>
          <a:xfrm>
            <a:off x="0" y="6665917"/>
            <a:ext cx="9144000" cy="198000"/>
          </a:xfrm>
          <a:prstGeom prst="rect">
            <a:avLst/>
          </a:prstGeom>
          <a:solidFill>
            <a:srgbClr val="2312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8" name="图片 7"/>
          <p:cNvPicPr>
            <a:picLocks noChangeAspect="1"/>
          </p:cNvPicPr>
          <p:nvPr userDrawn="1"/>
        </p:nvPicPr>
        <p:blipFill>
          <a:blip r:embed="rId2"/>
          <a:stretch>
            <a:fillRect/>
          </a:stretch>
        </p:blipFill>
        <p:spPr>
          <a:xfrm>
            <a:off x="228508" y="6477639"/>
            <a:ext cx="2116221" cy="369340"/>
          </a:xfrm>
          <a:prstGeom prst="rect">
            <a:avLst/>
          </a:prstGeom>
        </p:spPr>
      </p:pic>
      <p:pic>
        <p:nvPicPr>
          <p:cNvPr id="9" name="图片 8"/>
          <p:cNvPicPr>
            <a:picLocks noChangeAspect="1"/>
          </p:cNvPicPr>
          <p:nvPr userDrawn="1"/>
        </p:nvPicPr>
        <p:blipFill>
          <a:blip r:embed="rId3"/>
          <a:stretch>
            <a:fillRect/>
          </a:stretch>
        </p:blipFill>
        <p:spPr>
          <a:xfrm>
            <a:off x="3332892" y="6473412"/>
            <a:ext cx="2478203" cy="324730"/>
          </a:xfrm>
          <a:prstGeom prst="rect">
            <a:avLst/>
          </a:prstGeom>
        </p:spPr>
      </p:pic>
      <p:sp>
        <p:nvSpPr>
          <p:cNvPr id="12" name="矩形 11"/>
          <p:cNvSpPr/>
          <p:nvPr userDrawn="1"/>
        </p:nvSpPr>
        <p:spPr>
          <a:xfrm>
            <a:off x="0" y="0"/>
            <a:ext cx="9144000" cy="434109"/>
          </a:xfrm>
          <a:prstGeom prst="rect">
            <a:avLst/>
          </a:prstGeom>
          <a:solidFill>
            <a:srgbClr val="2312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灯片编号占位符 4"/>
          <p:cNvSpPr txBox="1"/>
          <p:nvPr userDrawn="1"/>
        </p:nvSpPr>
        <p:spPr>
          <a:xfrm>
            <a:off x="7925435" y="6435091"/>
            <a:ext cx="589915" cy="545932"/>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AC7FBBBC-E95E-3B45-AB29-0BB0A79D7891}" type="slidenum">
              <a:rPr kumimoji="1" lang="zh-CN" altLang="en-US" sz="1200" b="1" smtClean="0">
                <a:solidFill>
                  <a:schemeClr val="bg1"/>
                </a:solidFill>
              </a:rPr>
              <a:t>‹#›</a:t>
            </a:fld>
            <a:endParaRPr kumimoji="1" lang="zh-CN" altLang="en-US" sz="1200" b="1" dirty="0">
              <a:solidFill>
                <a:schemeClr val="bg1"/>
              </a:solidFill>
            </a:endParaRPr>
          </a:p>
        </p:txBody>
      </p:sp>
      <p:sp>
        <p:nvSpPr>
          <p:cNvPr id="11" name="日期占位符 3"/>
          <p:cNvSpPr txBox="1"/>
          <p:nvPr userDrawn="1"/>
        </p:nvSpPr>
        <p:spPr>
          <a:xfrm>
            <a:off x="7807759" y="6615898"/>
            <a:ext cx="1042236"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F214E5E3-2818-B64F-840F-A7671DDB136C}" type="datetime1">
              <a:rPr kumimoji="1" lang="zh-CN" altLang="en-US" sz="1200" b="1" smtClean="0">
                <a:solidFill>
                  <a:schemeClr val="bg1"/>
                </a:solidFill>
              </a:rPr>
              <a:t>2025/6/4</a:t>
            </a:fld>
            <a:endParaRPr kumimoji="1" lang="zh-CN" altLang="en-US" sz="1200" b="1" dirty="0">
              <a:solidFill>
                <a:schemeClr val="bg1"/>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0" name="矩形 19"/>
          <p:cNvSpPr/>
          <p:nvPr userDrawn="1"/>
        </p:nvSpPr>
        <p:spPr>
          <a:xfrm>
            <a:off x="0" y="6456474"/>
            <a:ext cx="9144000" cy="217784"/>
          </a:xfrm>
          <a:prstGeom prst="rect">
            <a:avLst/>
          </a:prstGeom>
          <a:solidFill>
            <a:srgbClr val="4726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矩形 6"/>
          <p:cNvSpPr/>
          <p:nvPr userDrawn="1"/>
        </p:nvSpPr>
        <p:spPr>
          <a:xfrm>
            <a:off x="0" y="0"/>
            <a:ext cx="9144000" cy="434109"/>
          </a:xfrm>
          <a:prstGeom prst="rect">
            <a:avLst/>
          </a:prstGeom>
          <a:solidFill>
            <a:srgbClr val="2312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矩形 7"/>
          <p:cNvSpPr/>
          <p:nvPr userDrawn="1"/>
        </p:nvSpPr>
        <p:spPr>
          <a:xfrm>
            <a:off x="992605" y="1648327"/>
            <a:ext cx="7158789" cy="1780674"/>
          </a:xfrm>
          <a:prstGeom prst="rect">
            <a:avLst/>
          </a:prstGeom>
          <a:solidFill>
            <a:srgbClr val="4726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文本框 8"/>
          <p:cNvSpPr txBox="1"/>
          <p:nvPr userDrawn="1"/>
        </p:nvSpPr>
        <p:spPr>
          <a:xfrm>
            <a:off x="2684302" y="1936363"/>
            <a:ext cx="3775393" cy="400110"/>
          </a:xfrm>
          <a:prstGeom prst="rect">
            <a:avLst/>
          </a:prstGeom>
          <a:noFill/>
        </p:spPr>
        <p:txBody>
          <a:bodyPr wrap="none" rtlCol="0">
            <a:spAutoFit/>
          </a:bodyPr>
          <a:lstStyle/>
          <a:p>
            <a:r>
              <a:rPr kumimoji="1" lang="en-US" altLang="zh-CN" sz="2000" dirty="0">
                <a:solidFill>
                  <a:schemeClr val="bg1"/>
                </a:solidFill>
              </a:rPr>
              <a:t>《</a:t>
            </a:r>
            <a:r>
              <a:rPr kumimoji="1" lang="zh-CN" altLang="en-US" sz="2000" dirty="0">
                <a:solidFill>
                  <a:schemeClr val="bg1"/>
                </a:solidFill>
              </a:rPr>
              <a:t>需求工程：软件建模与分析</a:t>
            </a:r>
            <a:r>
              <a:rPr kumimoji="1" lang="en-US" altLang="zh-CN" sz="2000" dirty="0">
                <a:solidFill>
                  <a:schemeClr val="bg1"/>
                </a:solidFill>
              </a:rPr>
              <a:t>》</a:t>
            </a:r>
            <a:endParaRPr kumimoji="1" lang="zh-CN" altLang="en-US" sz="2000" dirty="0">
              <a:solidFill>
                <a:schemeClr val="bg1"/>
              </a:solidFill>
            </a:endParaRPr>
          </a:p>
        </p:txBody>
      </p:sp>
      <p:sp>
        <p:nvSpPr>
          <p:cNvPr id="11" name="文本框 10"/>
          <p:cNvSpPr txBox="1"/>
          <p:nvPr userDrawn="1"/>
        </p:nvSpPr>
        <p:spPr>
          <a:xfrm>
            <a:off x="4017996" y="4054072"/>
            <a:ext cx="1107996" cy="461665"/>
          </a:xfrm>
          <a:prstGeom prst="rect">
            <a:avLst/>
          </a:prstGeom>
          <a:noFill/>
        </p:spPr>
        <p:txBody>
          <a:bodyPr wrap="none" rtlCol="0">
            <a:spAutoFit/>
          </a:bodyPr>
          <a:lstStyle/>
          <a:p>
            <a:r>
              <a:rPr kumimoji="1" lang="zh-CN" altLang="en-US" sz="2400" dirty="0">
                <a:latin typeface="KaiTi" panose="02010609060101010101" pitchFamily="49" charset="-122"/>
                <a:ea typeface="KaiTi" panose="02010609060101010101" pitchFamily="49" charset="-122"/>
              </a:rPr>
              <a:t>李传艺</a:t>
            </a:r>
            <a:endParaRPr kumimoji="1" lang="en-US" altLang="zh-CN" sz="2400" dirty="0">
              <a:latin typeface="KaiTi" panose="02010609060101010101" pitchFamily="49" charset="-122"/>
              <a:ea typeface="KaiTi" panose="02010609060101010101" pitchFamily="49" charset="-122"/>
            </a:endParaRPr>
          </a:p>
        </p:txBody>
      </p:sp>
      <p:sp>
        <p:nvSpPr>
          <p:cNvPr id="12" name="文本框 11"/>
          <p:cNvSpPr txBox="1"/>
          <p:nvPr userDrawn="1"/>
        </p:nvSpPr>
        <p:spPr>
          <a:xfrm>
            <a:off x="3453739" y="4643219"/>
            <a:ext cx="2236510" cy="400110"/>
          </a:xfrm>
          <a:prstGeom prst="rect">
            <a:avLst/>
          </a:prstGeom>
          <a:noFill/>
        </p:spPr>
        <p:txBody>
          <a:bodyPr wrap="none" rtlCol="0">
            <a:spAutoFit/>
          </a:bodyPr>
          <a:lstStyle/>
          <a:p>
            <a:r>
              <a:rPr kumimoji="1" lang="zh-CN" altLang="en-US" sz="2000" dirty="0">
                <a:latin typeface="KaiTi" panose="02010609060101010101" pitchFamily="49" charset="-122"/>
                <a:ea typeface="KaiTi" panose="02010609060101010101" pitchFamily="49" charset="-122"/>
              </a:rPr>
              <a:t>南京大学软件学院</a:t>
            </a:r>
            <a:endParaRPr kumimoji="1" lang="en-US" altLang="zh-CN" sz="2000" dirty="0">
              <a:latin typeface="KaiTi" panose="02010609060101010101" pitchFamily="49" charset="-122"/>
              <a:ea typeface="KaiTi" panose="02010609060101010101" pitchFamily="49" charset="-122"/>
            </a:endParaRPr>
          </a:p>
        </p:txBody>
      </p:sp>
      <p:pic>
        <p:nvPicPr>
          <p:cNvPr id="13" name="图片 12"/>
          <p:cNvPicPr>
            <a:picLocks noChangeAspect="1"/>
          </p:cNvPicPr>
          <p:nvPr userDrawn="1"/>
        </p:nvPicPr>
        <p:blipFill>
          <a:blip r:embed="rId2"/>
          <a:stretch>
            <a:fillRect/>
          </a:stretch>
        </p:blipFill>
        <p:spPr>
          <a:xfrm>
            <a:off x="85557" y="29353"/>
            <a:ext cx="2116221" cy="369340"/>
          </a:xfrm>
          <a:prstGeom prst="rect">
            <a:avLst/>
          </a:prstGeom>
        </p:spPr>
      </p:pic>
      <p:grpSp>
        <p:nvGrpSpPr>
          <p:cNvPr id="14" name="组合 13"/>
          <p:cNvGrpSpPr/>
          <p:nvPr userDrawn="1"/>
        </p:nvGrpSpPr>
        <p:grpSpPr>
          <a:xfrm>
            <a:off x="0" y="6473412"/>
            <a:ext cx="9144000" cy="390505"/>
            <a:chOff x="0" y="6463887"/>
            <a:chExt cx="9144000" cy="390505"/>
          </a:xfrm>
        </p:grpSpPr>
        <p:sp>
          <p:nvSpPr>
            <p:cNvPr id="18" name="矩形 17"/>
            <p:cNvSpPr/>
            <p:nvPr/>
          </p:nvSpPr>
          <p:spPr>
            <a:xfrm>
              <a:off x="0" y="6656392"/>
              <a:ext cx="9144000" cy="198000"/>
            </a:xfrm>
            <a:prstGeom prst="rect">
              <a:avLst/>
            </a:prstGeom>
            <a:solidFill>
              <a:srgbClr val="2312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6" name="图片 15"/>
            <p:cNvPicPr>
              <a:picLocks noChangeAspect="1"/>
            </p:cNvPicPr>
            <p:nvPr/>
          </p:nvPicPr>
          <p:blipFill>
            <a:blip r:embed="rId3"/>
            <a:stretch>
              <a:fillRect/>
            </a:stretch>
          </p:blipFill>
          <p:spPr>
            <a:xfrm>
              <a:off x="3332892" y="6463887"/>
              <a:ext cx="2478203" cy="324730"/>
            </a:xfrm>
            <a:prstGeom prst="rect">
              <a:avLst/>
            </a:prstGeom>
          </p:spPr>
        </p:pic>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186E44BA-59A2-A54F-A8FC-495D0BE71B9E}" type="datetime1">
              <a:rPr kumimoji="1" lang="zh-CN" altLang="en-US" smtClean="0"/>
              <a:t>2025/6/4</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AC7FBBBC-E95E-3B45-AB29-0BB0A79D7891}" type="slidenum">
              <a:rPr kumimoji="1" lang="zh-CN" altLang="en-US" smtClean="0"/>
              <a:t>‹#›</a:t>
            </a:fld>
            <a:endParaRPr kumimoji="1"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F0AD60A-D380-5A41-9148-240E79CF6CDA}" type="datetime1">
              <a:rPr kumimoji="1" lang="zh-CN" altLang="en-US" smtClean="0"/>
              <a:t>2025/6/4</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AC7FBBBC-E95E-3B45-AB29-0BB0A79D7891}" type="slidenum">
              <a:rPr kumimoji="1" lang="zh-CN" altLang="en-US" smtClean="0"/>
              <a:t>‹#›</a:t>
            </a:fld>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48F93C7C-318E-434C-80A3-0185647E8331}" type="datetime1">
              <a:rPr kumimoji="1" lang="zh-CN" altLang="en-US" smtClean="0"/>
              <a:t>2025/6/4</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AC7FBBBC-E95E-3B45-AB29-0BB0A79D7891}" type="slidenum">
              <a:rPr kumimoji="1" lang="zh-CN" altLang="en-US" smtClean="0"/>
              <a:t>‹#›</a:t>
            </a:fld>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792BBA29-EE3B-F341-B657-52203BC8FB26}" type="datetime1">
              <a:rPr kumimoji="1" lang="zh-CN" altLang="en-US" smtClean="0"/>
              <a:t>2025/6/4</a:t>
            </a:fld>
            <a:endParaRPr kumimoji="1" lang="zh-CN" altLang="en-US"/>
          </a:p>
        </p:txBody>
      </p:sp>
      <p:sp>
        <p:nvSpPr>
          <p:cNvPr id="8" name="Footer Placeholder 7"/>
          <p:cNvSpPr>
            <a:spLocks noGrp="1"/>
          </p:cNvSpPr>
          <p:nvPr>
            <p:ph type="ftr" sz="quarter" idx="11"/>
          </p:nvPr>
        </p:nvSpPr>
        <p:spPr/>
        <p:txBody>
          <a:bodyPr/>
          <a:lstStyle/>
          <a:p>
            <a:endParaRPr kumimoji="1" lang="zh-CN" altLang="en-US"/>
          </a:p>
        </p:txBody>
      </p:sp>
      <p:sp>
        <p:nvSpPr>
          <p:cNvPr id="9" name="Slide Number Placeholder 8"/>
          <p:cNvSpPr>
            <a:spLocks noGrp="1"/>
          </p:cNvSpPr>
          <p:nvPr>
            <p:ph type="sldNum" sz="quarter" idx="12"/>
          </p:nvPr>
        </p:nvSpPr>
        <p:spPr/>
        <p:txBody>
          <a:bodyPr/>
          <a:lstStyle/>
          <a:p>
            <a:fld id="{AC7FBBBC-E95E-3B45-AB29-0BB0A79D7891}" type="slidenum">
              <a:rPr kumimoji="1" lang="zh-CN" altLang="en-US" smtClean="0"/>
              <a:t>‹#›</a:t>
            </a:fld>
            <a:endParaRPr kumimoji="1"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F3CF35F2-F3CF-5846-9831-C9E937471F8F}" type="datetime1">
              <a:rPr kumimoji="1" lang="zh-CN" altLang="en-US" smtClean="0"/>
              <a:t>2025/6/4</a:t>
            </a:fld>
            <a:endParaRPr kumimoji="1" lang="zh-CN" altLang="en-US"/>
          </a:p>
        </p:txBody>
      </p:sp>
      <p:sp>
        <p:nvSpPr>
          <p:cNvPr id="4" name="Footer Placeholder 3"/>
          <p:cNvSpPr>
            <a:spLocks noGrp="1"/>
          </p:cNvSpPr>
          <p:nvPr>
            <p:ph type="ftr" sz="quarter" idx="11"/>
          </p:nvPr>
        </p:nvSpPr>
        <p:spPr/>
        <p:txBody>
          <a:bodyPr/>
          <a:lstStyle/>
          <a:p>
            <a:endParaRPr kumimoji="1" lang="zh-CN" altLang="en-US"/>
          </a:p>
        </p:txBody>
      </p:sp>
      <p:sp>
        <p:nvSpPr>
          <p:cNvPr id="5" name="Slide Number Placeholder 4"/>
          <p:cNvSpPr>
            <a:spLocks noGrp="1"/>
          </p:cNvSpPr>
          <p:nvPr>
            <p:ph type="sldNum" sz="quarter" idx="12"/>
          </p:nvPr>
        </p:nvSpPr>
        <p:spPr/>
        <p:txBody>
          <a:bodyPr/>
          <a:lstStyle/>
          <a:p>
            <a:fld id="{AC7FBBBC-E95E-3B45-AB29-0BB0A79D7891}" type="slidenum">
              <a:rPr kumimoji="1" lang="zh-CN" altLang="en-US" smtClean="0"/>
              <a:t>‹#›</a:t>
            </a:fld>
            <a:endParaRPr kumimoji="1"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8BAF5D2-51B6-D746-8717-D63DEB88CF2D}" type="datetime1">
              <a:rPr kumimoji="1" lang="zh-CN" altLang="en-US" smtClean="0"/>
              <a:t>2025/6/4</a:t>
            </a:fld>
            <a:endParaRPr kumimoji="1" lang="zh-CN" altLang="en-US"/>
          </a:p>
        </p:txBody>
      </p:sp>
      <p:sp>
        <p:nvSpPr>
          <p:cNvPr id="3" name="Footer Placeholder 2"/>
          <p:cNvSpPr>
            <a:spLocks noGrp="1"/>
          </p:cNvSpPr>
          <p:nvPr>
            <p:ph type="ftr" sz="quarter" idx="11"/>
          </p:nvPr>
        </p:nvSpPr>
        <p:spPr/>
        <p:txBody>
          <a:bodyPr/>
          <a:lstStyle/>
          <a:p>
            <a:endParaRPr kumimoji="1" lang="zh-CN" altLang="en-US"/>
          </a:p>
        </p:txBody>
      </p:sp>
      <p:sp>
        <p:nvSpPr>
          <p:cNvPr id="4" name="Slide Number Placeholder 3"/>
          <p:cNvSpPr>
            <a:spLocks noGrp="1"/>
          </p:cNvSpPr>
          <p:nvPr>
            <p:ph type="sldNum" sz="quarter" idx="12"/>
          </p:nvPr>
        </p:nvSpPr>
        <p:spPr/>
        <p:txBody>
          <a:bodyPr/>
          <a:lstStyle/>
          <a:p>
            <a:fld id="{AC7FBBBC-E95E-3B45-AB29-0BB0A79D7891}" type="slidenum">
              <a:rPr kumimoji="1" lang="zh-CN" altLang="en-US" smtClean="0"/>
              <a:t>‹#›</a:t>
            </a:fld>
            <a:endParaRPr kumimoji="1"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CBE87AA7-6E1B-FF4D-9A3B-9CBBF774340B}" type="datetime1">
              <a:rPr kumimoji="1" lang="zh-CN" altLang="en-US" smtClean="0"/>
              <a:t>2025/6/4</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AC7FBBBC-E95E-3B45-AB29-0BB0A79D7891}" type="slidenum">
              <a:rPr kumimoji="1" lang="zh-CN" altLang="en-US" smtClean="0"/>
              <a:t>‹#›</a:t>
            </a:fld>
            <a:endParaRPr kumimoji="1"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FFBCD18F-7132-E64A-9287-A02B080255F0}" type="datetime1">
              <a:rPr kumimoji="1" lang="zh-CN" altLang="en-US" smtClean="0"/>
              <a:t>2025/6/4</a:t>
            </a:fld>
            <a:endParaRPr kumimoji="1" lang="zh-CN" altLang="en-US"/>
          </a:p>
        </p:txBody>
      </p:sp>
      <p:sp>
        <p:nvSpPr>
          <p:cNvPr id="6" name="Footer Placeholder 5"/>
          <p:cNvSpPr>
            <a:spLocks noGrp="1"/>
          </p:cNvSpPr>
          <p:nvPr>
            <p:ph type="ftr" sz="quarter" idx="11"/>
          </p:nvPr>
        </p:nvSpPr>
        <p:spPr/>
        <p:txBody>
          <a:bodyPr/>
          <a:lstStyle/>
          <a:p>
            <a:endParaRPr kumimoji="1" lang="zh-CN" altLang="en-US"/>
          </a:p>
        </p:txBody>
      </p:sp>
      <p:sp>
        <p:nvSpPr>
          <p:cNvPr id="7" name="Slide Number Placeholder 6"/>
          <p:cNvSpPr>
            <a:spLocks noGrp="1"/>
          </p:cNvSpPr>
          <p:nvPr>
            <p:ph type="sldNum" sz="quarter" idx="12"/>
          </p:nvPr>
        </p:nvSpPr>
        <p:spPr/>
        <p:txBody>
          <a:bodyPr/>
          <a:lstStyle/>
          <a:p>
            <a:fld id="{AC7FBBBC-E95E-3B45-AB29-0BB0A79D7891}" type="slidenum">
              <a:rPr kumimoji="1" lang="zh-CN" altLang="en-US" smtClean="0"/>
              <a:t>‹#›</a:t>
            </a:fld>
            <a:endParaRPr kumimoji="1"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B5B52687-2CB9-B14B-879C-91D787153BFE}" type="datetime1">
              <a:rPr kumimoji="1" lang="zh-CN" altLang="en-US" smtClean="0"/>
              <a:t>2025/6/4</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AC7FBBBC-E95E-3B45-AB29-0BB0A79D7891}" type="slidenum">
              <a:rPr kumimoji="1" lang="zh-CN" altLang="en-US" smtClean="0"/>
              <a:t>‹#›</a:t>
            </a:fld>
            <a:endParaRPr kumimoji="1"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B4D7229F-2383-E440-87A9-C6510D509D76}" type="datetime1">
              <a:rPr kumimoji="1" lang="zh-CN" altLang="en-US" smtClean="0"/>
              <a:t>2025/6/4</a:t>
            </a:fld>
            <a:endParaRPr kumimoji="1" lang="zh-CN" altLang="en-US"/>
          </a:p>
        </p:txBody>
      </p:sp>
      <p:sp>
        <p:nvSpPr>
          <p:cNvPr id="5" name="Footer Placeholder 4"/>
          <p:cNvSpPr>
            <a:spLocks noGrp="1"/>
          </p:cNvSpPr>
          <p:nvPr>
            <p:ph type="ftr" sz="quarter" idx="11"/>
          </p:nvPr>
        </p:nvSpPr>
        <p:spPr/>
        <p:txBody>
          <a:bodyPr/>
          <a:lstStyle/>
          <a:p>
            <a:endParaRPr kumimoji="1" lang="zh-CN" altLang="en-US"/>
          </a:p>
        </p:txBody>
      </p:sp>
      <p:sp>
        <p:nvSpPr>
          <p:cNvPr id="6" name="Slide Number Placeholder 5"/>
          <p:cNvSpPr>
            <a:spLocks noGrp="1"/>
          </p:cNvSpPr>
          <p:nvPr>
            <p:ph type="sldNum" sz="quarter" idx="12"/>
          </p:nvPr>
        </p:nvSpPr>
        <p:spPr/>
        <p:txBody>
          <a:bodyPr/>
          <a:lstStyle/>
          <a:p>
            <a:fld id="{AC7FBBBC-E95E-3B45-AB29-0BB0A79D7891}" type="slidenum">
              <a:rPr kumimoji="1" lang="zh-CN" altLang="en-US" smtClean="0"/>
              <a:t>‹#›</a:t>
            </a:fld>
            <a:endParaRPr kumimoji="1"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E26B3C9-2FB0-814F-8752-CF4359C47200}" type="datetime1">
              <a:rPr kumimoji="1" lang="zh-CN" altLang="en-US" smtClean="0"/>
              <a:t>2025/6/4</a:t>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AC7FBBBC-E95E-3B45-AB29-0BB0A79D7891}" type="slidenum">
              <a:rPr kumimoji="1" lang="zh-CN" altLang="en-US" smtClean="0"/>
              <a:t>‹#›</a:t>
            </a:fld>
            <a:endParaRPr kumimoji="1"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90FAD0AC-DBFD-4A60-A3B7-D1ACA9453ED5}" type="datetimeFigureOut">
              <a:rPr lang="zh-CN" altLang="en-US" smtClean="0"/>
              <a:t>2025/6/4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4EA52F-0AD9-4FFD-BB74-21B8B92C8254}"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90FAD0AC-DBFD-4A60-A3B7-D1ACA9453ED5}" type="datetimeFigureOut">
              <a:rPr lang="zh-CN" altLang="en-US" smtClean="0"/>
              <a:t>2025/6/4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4EA52F-0AD9-4FFD-BB74-21B8B92C8254}"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90FAD0AC-DBFD-4A60-A3B7-D1ACA9453ED5}" type="datetimeFigureOut">
              <a:rPr lang="zh-CN" altLang="en-US" smtClean="0"/>
              <a:t>2025/6/4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4EA52F-0AD9-4FFD-BB74-21B8B92C8254}"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6715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48200" y="1825625"/>
            <a:ext cx="386715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90FAD0AC-DBFD-4A60-A3B7-D1ACA9453ED5}" type="datetimeFigureOut">
              <a:rPr lang="zh-CN" altLang="en-US" smtClean="0"/>
              <a:t>2025/6/4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64EA52F-0AD9-4FFD-BB74-21B8B92C8254}"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90FAD0AC-DBFD-4A60-A3B7-D1ACA9453ED5}" type="datetimeFigureOut">
              <a:rPr lang="zh-CN" altLang="en-US" smtClean="0"/>
              <a:t>2025/6/4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64EA52F-0AD9-4FFD-BB74-21B8B92C8254}"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0FAD0AC-DBFD-4A60-A3B7-D1ACA9453ED5}" type="datetimeFigureOut">
              <a:rPr lang="zh-CN" altLang="en-US" smtClean="0"/>
              <a:t>2025/6/4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64EA52F-0AD9-4FFD-BB74-21B8B92C8254}"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0FAD0AC-DBFD-4A60-A3B7-D1ACA9453ED5}" type="datetimeFigureOut">
              <a:rPr lang="zh-CN" altLang="en-US" smtClean="0"/>
              <a:t>2025/6/4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64EA52F-0AD9-4FFD-BB74-21B8B92C8254}"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0FAD0AC-DBFD-4A60-A3B7-D1ACA9453ED5}" type="datetimeFigureOut">
              <a:rPr lang="zh-CN" altLang="en-US" smtClean="0"/>
              <a:t>2025/6/4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64EA52F-0AD9-4FFD-BB74-21B8B92C8254}"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0FAD0AC-DBFD-4A60-A3B7-D1ACA9453ED5}" type="datetimeFigureOut">
              <a:rPr lang="zh-CN" altLang="en-US" smtClean="0"/>
              <a:t>2025/6/4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64EA52F-0AD9-4FFD-BB74-21B8B92C8254}" type="slidenum">
              <a:rPr lang="zh-CN" altLang="en-US" smtClean="0"/>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90FAD0AC-DBFD-4A60-A3B7-D1ACA9453ED5}" type="datetimeFigureOut">
              <a:rPr lang="zh-CN" altLang="en-US" smtClean="0"/>
              <a:t>2025/6/4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4EA52F-0AD9-4FFD-BB74-21B8B92C8254}" type="slidenum">
              <a:rPr lang="zh-CN" altLang="en-US" smtClean="0"/>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7626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90FAD0AC-DBFD-4A60-A3B7-D1ACA9453ED5}" type="datetimeFigureOut">
              <a:rPr lang="zh-CN" altLang="en-US" smtClean="0"/>
              <a:t>2025/6/4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64EA52F-0AD9-4FFD-BB74-21B8B92C8254}"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26B3C9-2FB0-814F-8752-CF4359C47200}" type="datetime1">
              <a:rPr kumimoji="1" lang="zh-CN" altLang="en-US" smtClean="0"/>
              <a:t>2025/6/4</a:t>
            </a:fld>
            <a:endParaRPr kumimoji="1"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7FBBBC-E95E-3B45-AB29-0BB0A79D7891}"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FAD0AC-DBFD-4A60-A3B7-D1ACA9453ED5}" type="datetimeFigureOut">
              <a:rPr lang="zh-CN" altLang="en-US" smtClean="0"/>
              <a:t>2025/6/4</a:t>
            </a:fld>
            <a:endParaRPr lang="zh-CN" altLang="en-US"/>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4EA52F-0AD9-4FFD-BB74-21B8B92C825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tags" Target="../tags/tag4.xml"/><Relationship Id="rId7" Type="http://schemas.openxmlformats.org/officeDocument/2006/relationships/oleObject" Target="../embeddings/oleObject1.bin"/><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Layout" Target="../slideLayouts/slideLayout2.xml"/><Relationship Id="rId5" Type="http://schemas.openxmlformats.org/officeDocument/2006/relationships/tags" Target="../tags/tag6.xml"/><Relationship Id="rId4" Type="http://schemas.openxmlformats.org/officeDocument/2006/relationships/tags" Target="../tags/tag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7.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tags" Target="../tags/tag10.xml"/><Relationship Id="rId7" Type="http://schemas.openxmlformats.org/officeDocument/2006/relationships/hyperlink" Target="https://www.kingdee.com/" TargetMode="Externa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slideLayout" Target="../slideLayouts/slideLayout2.xml"/><Relationship Id="rId5" Type="http://schemas.openxmlformats.org/officeDocument/2006/relationships/tags" Target="../tags/tag12.xml"/><Relationship Id="rId4" Type="http://schemas.openxmlformats.org/officeDocument/2006/relationships/tags" Target="../tags/tag11.xml"/></Relationships>
</file>

<file path=ppt/slides/_rels/slide18.xml.rels><?xml version="1.0" encoding="UTF-8" standalone="yes"?>
<Relationships xmlns="http://schemas.openxmlformats.org/package/2006/relationships"><Relationship Id="rId3" Type="http://schemas.openxmlformats.org/officeDocument/2006/relationships/hyperlink" Target="https://www.kingdee.com/" TargetMode="Externa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hyperlink" Target="https://www.kingdee.com/" TargetMode="Externa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hyperlink" Target="https://www.kingdee.com/" TargetMode="Externa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hyperlink" Target="https://www.kingdee.com/" TargetMode="External"/><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hyperlink" Target="https://www.kingdee.com/" TargetMode="External"/><Relationship Id="rId2" Type="http://schemas.openxmlformats.org/officeDocument/2006/relationships/slideLayout" Target="../slideLayouts/slideLayout2.xml"/><Relationship Id="rId1" Type="http://schemas.openxmlformats.org/officeDocument/2006/relationships/tags" Target="../tags/tag17.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hyperlink" Target="https://www.kingdee.com/" TargetMode="External"/><Relationship Id="rId2" Type="http://schemas.openxmlformats.org/officeDocument/2006/relationships/slideLayout" Target="../slideLayouts/slideLayout2.xml"/><Relationship Id="rId1" Type="http://schemas.openxmlformats.org/officeDocument/2006/relationships/tags" Target="../tags/tag18.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image" Target="../media/image10.emf"/><Relationship Id="rId4" Type="http://schemas.openxmlformats.org/officeDocument/2006/relationships/oleObject" Target="../embeddings/oleObject3.bin"/></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2.xml"/><Relationship Id="rId1" Type="http://schemas.openxmlformats.org/officeDocument/2006/relationships/tags" Target="../tags/tag21.xml"/></Relationships>
</file>

<file path=ppt/slides/_rels/slide27.xml.rels><?xml version="1.0" encoding="UTF-8" standalone="yes"?>
<Relationships xmlns="http://schemas.openxmlformats.org/package/2006/relationships"><Relationship Id="rId8" Type="http://schemas.openxmlformats.org/officeDocument/2006/relationships/tags" Target="../tags/tag30.xml"/><Relationship Id="rId3" Type="http://schemas.openxmlformats.org/officeDocument/2006/relationships/tags" Target="../tags/tag25.xml"/><Relationship Id="rId7" Type="http://schemas.openxmlformats.org/officeDocument/2006/relationships/tags" Target="../tags/tag29.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11" Type="http://schemas.openxmlformats.org/officeDocument/2006/relationships/slideLayout" Target="../slideLayouts/slideLayout2.xml"/><Relationship Id="rId5" Type="http://schemas.openxmlformats.org/officeDocument/2006/relationships/tags" Target="../tags/tag27.xml"/><Relationship Id="rId10" Type="http://schemas.openxmlformats.org/officeDocument/2006/relationships/tags" Target="../tags/tag32.xml"/><Relationship Id="rId4" Type="http://schemas.openxmlformats.org/officeDocument/2006/relationships/tags" Target="../tags/tag26.xml"/><Relationship Id="rId9" Type="http://schemas.openxmlformats.org/officeDocument/2006/relationships/tags" Target="../tags/tag31.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tags" Target="../tags/tag35.xml"/><Relationship Id="rId7" Type="http://schemas.openxmlformats.org/officeDocument/2006/relationships/image" Target="../media/image18.emf"/><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oleObject" Target="../embeddings/oleObject4.bin"/><Relationship Id="rId5" Type="http://schemas.openxmlformats.org/officeDocument/2006/relationships/slideLayout" Target="../slideLayouts/slideLayout2.xml"/><Relationship Id="rId4" Type="http://schemas.openxmlformats.org/officeDocument/2006/relationships/tags" Target="../tags/tag3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image" Target="../media/image20.png"/><Relationship Id="rId4"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image" Target="../media/image9.png"/><Relationship Id="rId5" Type="http://schemas.openxmlformats.org/officeDocument/2006/relationships/hyperlink" Target="https://www.kingdee.com/" TargetMode="External"/><Relationship Id="rId4" Type="http://schemas.openxmlformats.org/officeDocument/2006/relationships/image" Target="../media/image2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image" Target="../media/image9.png"/><Relationship Id="rId5" Type="http://schemas.openxmlformats.org/officeDocument/2006/relationships/hyperlink" Target="https://www.kingdee.com/" TargetMode="External"/><Relationship Id="rId4" Type="http://schemas.openxmlformats.org/officeDocument/2006/relationships/image" Target="../media/image25.pn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image" Target="../media/image9.png"/><Relationship Id="rId5" Type="http://schemas.openxmlformats.org/officeDocument/2006/relationships/hyperlink" Target="https://www.kingdee.com/" TargetMode="External"/><Relationship Id="rId4" Type="http://schemas.openxmlformats.org/officeDocument/2006/relationships/image" Target="../media/image26.png"/></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image" Target="../media/image9.png"/><Relationship Id="rId5" Type="http://schemas.openxmlformats.org/officeDocument/2006/relationships/hyperlink" Target="https://www.kingdee.com/" TargetMode="External"/><Relationship Id="rId4" Type="http://schemas.openxmlformats.org/officeDocument/2006/relationships/image" Target="../media/image27.pn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image" Target="../media/image9.png"/><Relationship Id="rId5" Type="http://schemas.openxmlformats.org/officeDocument/2006/relationships/hyperlink" Target="https://www.kingdee.com/" TargetMode="External"/><Relationship Id="rId4" Type="http://schemas.openxmlformats.org/officeDocument/2006/relationships/image" Target="../media/image2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tags" Target="../tags/tag50.xml"/><Relationship Id="rId4" Type="http://schemas.openxmlformats.org/officeDocument/2006/relationships/image" Target="../media/image29.emf"/></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1.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2.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3.xml"/></Relationships>
</file>

<file path=ppt/slides/_rels/slide61.xml.rels><?xml version="1.0" encoding="UTF-8" standalone="yes"?>
<Relationships xmlns="http://schemas.openxmlformats.org/package/2006/relationships"><Relationship Id="rId8" Type="http://schemas.openxmlformats.org/officeDocument/2006/relationships/tags" Target="../tags/tag61.xml"/><Relationship Id="rId13" Type="http://schemas.openxmlformats.org/officeDocument/2006/relationships/tags" Target="../tags/tag66.xml"/><Relationship Id="rId18" Type="http://schemas.openxmlformats.org/officeDocument/2006/relationships/slideLayout" Target="../slideLayouts/slideLayout2.xml"/><Relationship Id="rId3" Type="http://schemas.openxmlformats.org/officeDocument/2006/relationships/tags" Target="../tags/tag56.xml"/><Relationship Id="rId21" Type="http://schemas.openxmlformats.org/officeDocument/2006/relationships/image" Target="../media/image32.png"/><Relationship Id="rId7" Type="http://schemas.openxmlformats.org/officeDocument/2006/relationships/tags" Target="../tags/tag60.xml"/><Relationship Id="rId12" Type="http://schemas.openxmlformats.org/officeDocument/2006/relationships/tags" Target="../tags/tag65.xml"/><Relationship Id="rId17" Type="http://schemas.openxmlformats.org/officeDocument/2006/relationships/tags" Target="../tags/tag70.xml"/><Relationship Id="rId2" Type="http://schemas.openxmlformats.org/officeDocument/2006/relationships/tags" Target="../tags/tag55.xml"/><Relationship Id="rId16" Type="http://schemas.openxmlformats.org/officeDocument/2006/relationships/tags" Target="../tags/tag69.xml"/><Relationship Id="rId20" Type="http://schemas.openxmlformats.org/officeDocument/2006/relationships/image" Target="../media/image31.png"/><Relationship Id="rId1" Type="http://schemas.openxmlformats.org/officeDocument/2006/relationships/tags" Target="../tags/tag54.xml"/><Relationship Id="rId6" Type="http://schemas.openxmlformats.org/officeDocument/2006/relationships/tags" Target="../tags/tag59.xml"/><Relationship Id="rId11" Type="http://schemas.openxmlformats.org/officeDocument/2006/relationships/tags" Target="../tags/tag64.xml"/><Relationship Id="rId5" Type="http://schemas.openxmlformats.org/officeDocument/2006/relationships/tags" Target="../tags/tag58.xml"/><Relationship Id="rId15" Type="http://schemas.openxmlformats.org/officeDocument/2006/relationships/tags" Target="../tags/tag68.xml"/><Relationship Id="rId23" Type="http://schemas.openxmlformats.org/officeDocument/2006/relationships/image" Target="../media/image34.png"/><Relationship Id="rId10" Type="http://schemas.openxmlformats.org/officeDocument/2006/relationships/tags" Target="../tags/tag63.xml"/><Relationship Id="rId19" Type="http://schemas.openxmlformats.org/officeDocument/2006/relationships/image" Target="../media/image30.png"/><Relationship Id="rId4" Type="http://schemas.openxmlformats.org/officeDocument/2006/relationships/tags" Target="../tags/tag57.xml"/><Relationship Id="rId9" Type="http://schemas.openxmlformats.org/officeDocument/2006/relationships/tags" Target="../tags/tag62.xml"/><Relationship Id="rId14" Type="http://schemas.openxmlformats.org/officeDocument/2006/relationships/tags" Target="../tags/tag67.xml"/><Relationship Id="rId22" Type="http://schemas.openxmlformats.org/officeDocument/2006/relationships/image" Target="../media/image33.sv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tags" Target="../tags/tag71.xml"/><Relationship Id="rId4" Type="http://schemas.openxmlformats.org/officeDocument/2006/relationships/image" Target="../media/image35.emf"/></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hyperlink" Target="https://www.kingdee.com/" TargetMode="External"/><Relationship Id="rId2" Type="http://schemas.openxmlformats.org/officeDocument/2006/relationships/slideLayout" Target="../slideLayouts/slideLayout2.xml"/><Relationship Id="rId1" Type="http://schemas.openxmlformats.org/officeDocument/2006/relationships/tags" Target="../tags/tag72.xml"/><Relationship Id="rId4" Type="http://schemas.openxmlformats.org/officeDocument/2006/relationships/image" Target="../media/image9.png"/></Relationships>
</file>

<file path=ppt/slides/_rels/slide66.xml.rels><?xml version="1.0" encoding="UTF-8" standalone="yes"?>
<Relationships xmlns="http://schemas.openxmlformats.org/package/2006/relationships"><Relationship Id="rId3" Type="http://schemas.openxmlformats.org/officeDocument/2006/relationships/hyperlink" Target="https://www.kingdee.com/" TargetMode="External"/><Relationship Id="rId2" Type="http://schemas.openxmlformats.org/officeDocument/2006/relationships/slideLayout" Target="../slideLayouts/slideLayout2.xml"/><Relationship Id="rId1" Type="http://schemas.openxmlformats.org/officeDocument/2006/relationships/tags" Target="../tags/tag73.xml"/><Relationship Id="rId4" Type="http://schemas.openxmlformats.org/officeDocument/2006/relationships/image" Target="../media/image9.png"/></Relationships>
</file>

<file path=ppt/slides/_rels/slide67.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slideLayout" Target="../slideLayouts/slideLayout2.xml"/><Relationship Id="rId1" Type="http://schemas.openxmlformats.org/officeDocument/2006/relationships/tags" Target="../tags/tag74.xml"/><Relationship Id="rId5" Type="http://schemas.openxmlformats.org/officeDocument/2006/relationships/image" Target="../media/image9.png"/><Relationship Id="rId4" Type="http://schemas.openxmlformats.org/officeDocument/2006/relationships/hyperlink" Target="https://www.kingdee.com/" TargetMode="External"/></Relationships>
</file>

<file path=ppt/slides/_rels/slide68.xml.rels><?xml version="1.0" encoding="UTF-8" standalone="yes"?>
<Relationships xmlns="http://schemas.openxmlformats.org/package/2006/relationships"><Relationship Id="rId3" Type="http://schemas.openxmlformats.org/officeDocument/2006/relationships/hyperlink" Target="https://www.kingdee.com/" TargetMode="External"/><Relationship Id="rId2" Type="http://schemas.openxmlformats.org/officeDocument/2006/relationships/slideLayout" Target="../slideLayouts/slideLayout2.xml"/><Relationship Id="rId1" Type="http://schemas.openxmlformats.org/officeDocument/2006/relationships/tags" Target="../tags/tag75.xml"/><Relationship Id="rId4" Type="http://schemas.openxmlformats.org/officeDocument/2006/relationships/image" Target="../media/image9.png"/></Relationships>
</file>

<file path=ppt/slides/_rels/slide69.xml.rels><?xml version="1.0" encoding="UTF-8" standalone="yes"?>
<Relationships xmlns="http://schemas.openxmlformats.org/package/2006/relationships"><Relationship Id="rId3" Type="http://schemas.openxmlformats.org/officeDocument/2006/relationships/hyperlink" Target="https://www.kingdee.com/" TargetMode="External"/><Relationship Id="rId2" Type="http://schemas.openxmlformats.org/officeDocument/2006/relationships/slideLayout" Target="../slideLayouts/slideLayout2.xml"/><Relationship Id="rId1" Type="http://schemas.openxmlformats.org/officeDocument/2006/relationships/tags" Target="../tags/tag76.xml"/><Relationship Id="rId4" Type="http://schemas.openxmlformats.org/officeDocument/2006/relationships/image" Target="../media/image9.png"/></Relationships>
</file>

<file path=ppt/slides/_rels/slide7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slideLayout" Target="../slideLayouts/slideLayout2.xml"/><Relationship Id="rId1" Type="http://schemas.openxmlformats.org/officeDocument/2006/relationships/tags" Target="../tags/tag77.xml"/><Relationship Id="rId5" Type="http://schemas.openxmlformats.org/officeDocument/2006/relationships/image" Target="../media/image9.png"/><Relationship Id="rId4" Type="http://schemas.openxmlformats.org/officeDocument/2006/relationships/hyperlink" Target="https://www.kingdee.com/"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8.xml"/><Relationship Id="rId4" Type="http://schemas.openxmlformats.org/officeDocument/2006/relationships/image" Target="../media/image38.png"/></Relationships>
</file>

<file path=ppt/slides/_rels/slide7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79.xml"/><Relationship Id="rId4" Type="http://schemas.openxmlformats.org/officeDocument/2006/relationships/image" Target="../media/image40.png"/></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80.xml"/><Relationship Id="rId4" Type="http://schemas.openxmlformats.org/officeDocument/2006/relationships/image" Target="../media/image41.png"/></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81.xml"/></Relationships>
</file>

<file path=ppt/slides/_rels/slide8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8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83.xml"/><Relationship Id="rId4" Type="http://schemas.openxmlformats.org/officeDocument/2006/relationships/image" Target="../media/image44.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36980" y="2593975"/>
            <a:ext cx="6791960" cy="679450"/>
          </a:xfrm>
          <a:prstGeom prst="rect">
            <a:avLst/>
          </a:prstGeom>
          <a:noFill/>
        </p:spPr>
        <p:txBody>
          <a:bodyPr wrap="square" rtlCol="0">
            <a:noAutofit/>
          </a:bodyPr>
          <a:lstStyle/>
          <a:p>
            <a:pPr algn="l"/>
            <a:r>
              <a:rPr kumimoji="1" lang="zh-CN" altLang="en-US" sz="2800" dirty="0">
                <a:solidFill>
                  <a:schemeClr val="bg1"/>
                </a:solidFill>
                <a:latin typeface="微软雅黑" panose="020B0503020204020204" pitchFamily="34" charset="-122"/>
                <a:ea typeface="微软雅黑" panose="020B0503020204020204" pitchFamily="34" charset="-122"/>
              </a:rPr>
              <a:t>第九章：基于用例/场景模型开发用户需求</a:t>
            </a:r>
          </a:p>
        </p:txBody>
      </p:sp>
      <p:sp>
        <p:nvSpPr>
          <p:cNvPr id="3" name="日期占位符 3"/>
          <p:cNvSpPr txBox="1"/>
          <p:nvPr/>
        </p:nvSpPr>
        <p:spPr>
          <a:xfrm>
            <a:off x="3543293" y="5362256"/>
            <a:ext cx="2057400"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F214E5E3-2818-B64F-840F-A7671DDB136C}" type="datetime1">
              <a:rPr kumimoji="1" lang="zh-CN" altLang="en-US" sz="1400" smtClean="0"/>
              <a:t>2025/6/4</a:t>
            </a:fld>
            <a:endParaRPr kumimoji="1" lang="zh-CN" altLang="en-US" sz="1400" dirty="0"/>
          </a:p>
        </p:txBody>
      </p:sp>
      <p:sp>
        <p:nvSpPr>
          <p:cNvPr id="4" name="文本框 3"/>
          <p:cNvSpPr txBox="1"/>
          <p:nvPr/>
        </p:nvSpPr>
        <p:spPr>
          <a:xfrm>
            <a:off x="6904990" y="1879600"/>
            <a:ext cx="3048000" cy="368300"/>
          </a:xfrm>
          <a:prstGeom prst="rect">
            <a:avLst/>
          </a:prstGeom>
          <a:noFill/>
        </p:spPr>
        <p:txBody>
          <a:bodyPr wrap="square" rtlCol="0">
            <a:spAutoFit/>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目录</a:t>
            </a:r>
          </a:p>
        </p:txBody>
      </p:sp>
      <p:sp>
        <p:nvSpPr>
          <p:cNvPr id="7" name="内容占位符 2"/>
          <p:cNvSpPr txBox="1"/>
          <p:nvPr/>
        </p:nvSpPr>
        <p:spPr>
          <a:xfrm>
            <a:off x="628650" y="1431290"/>
            <a:ext cx="7886700" cy="4745355"/>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kumimoji="1" lang="zh-CN" altLang="en-US" dirty="0">
                <a:solidFill>
                  <a:srgbClr val="FF0000"/>
                </a:solidFill>
                <a:latin typeface="KaiTi" panose="02010609060101010101" pitchFamily="49" charset="-122"/>
                <a:ea typeface="KaiTi" panose="02010609060101010101" pitchFamily="49" charset="-122"/>
              </a:rPr>
              <a:t>用户需求开发活动的展开</a:t>
            </a:r>
          </a:p>
          <a:p>
            <a:r>
              <a:rPr kumimoji="1" lang="en-US" altLang="zh-CN" dirty="0">
                <a:latin typeface="KaiTi" panose="02010609060101010101" pitchFamily="49" charset="-122"/>
                <a:ea typeface="KaiTi" panose="02010609060101010101" pitchFamily="49" charset="-122"/>
              </a:rPr>
              <a:t>用例与场景</a:t>
            </a:r>
          </a:p>
          <a:p>
            <a:r>
              <a:rPr kumimoji="1" lang="en-US" altLang="zh-CN" dirty="0">
                <a:latin typeface="KaiTi" panose="02010609060101010101" pitchFamily="49" charset="-122"/>
                <a:ea typeface="KaiTi" panose="02010609060101010101" pitchFamily="49" charset="-122"/>
              </a:rPr>
              <a:t>用例/场景模型</a:t>
            </a:r>
          </a:p>
          <a:p>
            <a:r>
              <a:rPr kumimoji="1" lang="en-US" altLang="zh-CN" dirty="0" err="1">
                <a:latin typeface="KaiTi" panose="02010609060101010101" pitchFamily="49" charset="-122"/>
                <a:ea typeface="KaiTi" panose="02010609060101010101" pitchFamily="49" charset="-122"/>
              </a:rPr>
              <a:t>以用例</a:t>
            </a:r>
            <a:r>
              <a:rPr kumimoji="1" lang="en-US" altLang="zh-CN" dirty="0">
                <a:latin typeface="KaiTi" panose="02010609060101010101" pitchFamily="49" charset="-122"/>
                <a:ea typeface="KaiTi" panose="02010609060101010101" pitchFamily="49" charset="-122"/>
              </a:rPr>
              <a:t>/场景模型为主线索开展用户需求开发</a:t>
            </a:r>
          </a:p>
          <a:p>
            <a:r>
              <a:rPr kumimoji="1" lang="en-US" altLang="zh-CN" dirty="0">
                <a:latin typeface="KaiTi" panose="02010609060101010101" pitchFamily="49" charset="-122"/>
                <a:ea typeface="KaiTi" panose="02010609060101010101" pitchFamily="49" charset="-122"/>
              </a:rPr>
              <a:t>用户故事</a:t>
            </a:r>
          </a:p>
          <a:p>
            <a:endParaRPr kumimoji="1" lang="en-US" altLang="zh-CN" dirty="0">
              <a:latin typeface="KaiTi" panose="02010609060101010101" pitchFamily="49" charset="-122"/>
              <a:ea typeface="KaiTi" panose="02010609060101010101" pitchFamily="49" charset="-122"/>
            </a:endParaRPr>
          </a:p>
        </p:txBody>
      </p:sp>
      <p:sp>
        <p:nvSpPr>
          <p:cNvPr id="8" name="文本框 7"/>
          <p:cNvSpPr txBox="1"/>
          <p:nvPr/>
        </p:nvSpPr>
        <p:spPr>
          <a:xfrm>
            <a:off x="151596" y="16999"/>
            <a:ext cx="697627" cy="400110"/>
          </a:xfrm>
          <a:prstGeom prst="rect">
            <a:avLst/>
          </a:prstGeom>
          <a:noFill/>
        </p:spPr>
        <p:txBody>
          <a:bodyPr wrap="none" rtlCol="0">
            <a:spAutoFit/>
          </a:bodyPr>
          <a:lstStyle/>
          <a:p>
            <a:r>
              <a:rPr kumimoji="1" lang="zh-CN" altLang="en-US" sz="2000" dirty="0">
                <a:solidFill>
                  <a:schemeClr val="bg1"/>
                </a:solidFill>
                <a:latin typeface="KaiTi" panose="02010609060101010101" pitchFamily="49" charset="-122"/>
                <a:ea typeface="KaiTi" panose="02010609060101010101" pitchFamily="49" charset="-122"/>
              </a:rPr>
              <a:t>目录</a:t>
            </a:r>
            <a:endParaRPr kumimoji="1" lang="en-US" altLang="zh-CN" sz="2000" dirty="0">
              <a:solidFill>
                <a:schemeClr val="bg1"/>
              </a:solidFill>
              <a:latin typeface="KaiTi" panose="02010609060101010101" pitchFamily="49" charset="-122"/>
              <a:ea typeface="KaiTi" panose="02010609060101010101" pitchFamily="49"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用户需求开发活动的展开</a:t>
            </a:r>
          </a:p>
        </p:txBody>
      </p:sp>
      <p:sp>
        <p:nvSpPr>
          <p:cNvPr id="3" name="内容占位符 2"/>
          <p:cNvSpPr txBox="1"/>
          <p:nvPr/>
        </p:nvSpPr>
        <p:spPr>
          <a:xfrm>
            <a:off x="800100" y="115586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buFont typeface="Wingdings" panose="05000000000000000000" charset="0"/>
              <a:buChar char=""/>
            </a:pPr>
            <a:r>
              <a:rPr kumimoji="1" lang="en-US" altLang="zh-CN" dirty="0">
                <a:latin typeface="KaiTi" panose="02010609060101010101" pitchFamily="49" charset="-122"/>
                <a:ea typeface="KaiTi" panose="02010609060101010101" pitchFamily="49" charset="-122"/>
              </a:rPr>
              <a:t>确定项目的前景与范围之后，业务需求和系统特性就被确定了</a:t>
            </a:r>
            <a:r>
              <a:rPr kumimoji="1" lang="zh-CN" altLang="en-US" dirty="0">
                <a:latin typeface="KaiTi" panose="02010609060101010101" pitchFamily="49" charset="-122"/>
                <a:ea typeface="KaiTi" panose="02010609060101010101" pitchFamily="49" charset="-122"/>
              </a:rPr>
              <a:t>。</a:t>
            </a:r>
            <a:endParaRPr kumimoji="1" lang="en-US" altLang="zh-CN" dirty="0">
              <a:latin typeface="KaiTi" panose="02010609060101010101" pitchFamily="49" charset="-122"/>
              <a:ea typeface="KaiTi" panose="02010609060101010101" pitchFamily="49" charset="-122"/>
            </a:endParaRPr>
          </a:p>
          <a:p>
            <a:pPr>
              <a:buFont typeface="Wingdings" panose="05000000000000000000" charset="0"/>
              <a:buChar char=""/>
            </a:pPr>
            <a:endParaRPr kumimoji="1" lang="en-US" altLang="zh-CN" dirty="0">
              <a:latin typeface="KaiTi" panose="02010609060101010101" pitchFamily="49" charset="-122"/>
              <a:ea typeface="KaiTi" panose="02010609060101010101" pitchFamily="49" charset="-122"/>
            </a:endParaRPr>
          </a:p>
          <a:p>
            <a:pPr>
              <a:buFont typeface="Wingdings" panose="05000000000000000000" charset="0"/>
              <a:buChar char=""/>
            </a:pPr>
            <a:r>
              <a:rPr kumimoji="1" lang="en-US" altLang="zh-CN" dirty="0">
                <a:latin typeface="KaiTi" panose="02010609060101010101" pitchFamily="49" charset="-122"/>
                <a:ea typeface="KaiTi" panose="02010609060101010101" pitchFamily="49" charset="-122"/>
              </a:rPr>
              <a:t>更进一步的工作就是搞清楚系统特性是如何介入和影响用户任务的，即</a:t>
            </a:r>
            <a:r>
              <a:rPr lang="zh-CN" altLang="en-US" b="1" dirty="0">
                <a:solidFill>
                  <a:srgbClr val="870078"/>
                </a:solidFill>
                <a:latin typeface="楷体" panose="02010609060101010101" pitchFamily="49" charset="-122"/>
                <a:ea typeface="楷体" panose="02010609060101010101" pitchFamily="49" charset="-122"/>
              </a:rPr>
              <a:t>用户需求开发</a:t>
            </a:r>
            <a:r>
              <a:rPr lang="zh-CN" altLang="en-US" b="1" dirty="0">
                <a:solidFill>
                  <a:srgbClr val="870078"/>
                </a:solidFill>
                <a:latin typeface="楷体" panose="02010609060101010101" pitchFamily="49" charset="-122"/>
                <a:ea typeface="楷体" panose="02010609060101010101" pitchFamily="49" charset="-122"/>
                <a:sym typeface="+mn-ea"/>
              </a:rPr>
              <a:t>。</a:t>
            </a:r>
            <a:endParaRPr lang="zh-CN" altLang="en-US" b="1">
              <a:solidFill>
                <a:srgbClr val="A9008D"/>
              </a:solidFill>
              <a:latin typeface="华文楷体" panose="02010600040101010101" charset="-122"/>
              <a:ea typeface="华文楷体" panose="02010600040101010101" charset="-122"/>
            </a:endParaRPr>
          </a:p>
          <a:p>
            <a:pPr>
              <a:buFont typeface="Wingdings" panose="05000000000000000000" charset="0"/>
              <a:buChar char=""/>
            </a:pPr>
            <a:endParaRPr kumimoji="1" lang="en-US" altLang="zh-CN" b="1" dirty="0">
              <a:solidFill>
                <a:srgbClr val="472680"/>
              </a:solidFill>
              <a:latin typeface="KaiTi" panose="02010609060101010101" pitchFamily="49" charset="-122"/>
              <a:ea typeface="KaiTi" panose="02010609060101010101" pitchFamily="49" charset="-122"/>
            </a:endParaRPr>
          </a:p>
        </p:txBody>
      </p:sp>
      <p:sp>
        <p:nvSpPr>
          <p:cNvPr id="6" name="文本框 5"/>
          <p:cNvSpPr txBox="1"/>
          <p:nvPr/>
        </p:nvSpPr>
        <p:spPr>
          <a:xfrm>
            <a:off x="151596" y="16999"/>
            <a:ext cx="297688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rPr>
              <a:t>用户需求开发活动的展开</a:t>
            </a:r>
          </a:p>
        </p:txBody>
      </p:sp>
      <p:pic>
        <p:nvPicPr>
          <p:cNvPr id="4" name="图片 3" descr="问号"/>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933950" y="4106545"/>
            <a:ext cx="914400" cy="914400"/>
          </a:xfrm>
          <a:prstGeom prst="rect">
            <a:avLst/>
          </a:prstGeom>
        </p:spPr>
      </p:pic>
      <p:sp>
        <p:nvSpPr>
          <p:cNvPr id="9" name="云形标注 8"/>
          <p:cNvSpPr/>
          <p:nvPr/>
        </p:nvSpPr>
        <p:spPr>
          <a:xfrm>
            <a:off x="1532890" y="3956050"/>
            <a:ext cx="2957195" cy="1621155"/>
          </a:xfrm>
          <a:prstGeom prst="cloudCallou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kumimoji="1" lang="en-US" altLang="zh-CN" dirty="0">
                <a:solidFill>
                  <a:schemeClr val="tx1"/>
                </a:solidFill>
                <a:latin typeface="KaiTi" panose="02010609060101010101" pitchFamily="49" charset="-122"/>
                <a:ea typeface="KaiTi" panose="02010609060101010101" pitchFamily="49" charset="-122"/>
                <a:sym typeface="+mn-ea"/>
              </a:rPr>
              <a:t>系统特性</a:t>
            </a:r>
            <a:r>
              <a:rPr kumimoji="1" lang="zh-CN" altLang="en-US" dirty="0">
                <a:solidFill>
                  <a:schemeClr val="tx1"/>
                </a:solidFill>
                <a:latin typeface="KaiTi" panose="02010609060101010101" pitchFamily="49" charset="-122"/>
                <a:ea typeface="KaiTi" panose="02010609060101010101" pitchFamily="49" charset="-122"/>
                <a:sym typeface="+mn-ea"/>
              </a:rPr>
              <a:t>——</a:t>
            </a:r>
            <a:r>
              <a:rPr kumimoji="1" lang="en-US" altLang="zh-CN" dirty="0">
                <a:solidFill>
                  <a:schemeClr val="tx1"/>
                </a:solidFill>
                <a:latin typeface="KaiTi" panose="02010609060101010101" pitchFamily="49" charset="-122"/>
                <a:ea typeface="KaiTi" panose="02010609060101010101" pitchFamily="49" charset="-122"/>
                <a:sym typeface="+mn-ea"/>
              </a:rPr>
              <a:t>&gt;</a:t>
            </a:r>
            <a:r>
              <a:rPr kumimoji="1" lang="zh-CN" altLang="en-US" dirty="0">
                <a:solidFill>
                  <a:schemeClr val="tx1"/>
                </a:solidFill>
                <a:latin typeface="KaiTi" panose="02010609060101010101" pitchFamily="49" charset="-122"/>
                <a:ea typeface="KaiTi" panose="02010609060101010101" pitchFamily="49" charset="-122"/>
                <a:sym typeface="+mn-ea"/>
              </a:rPr>
              <a:t>用户需求开发</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需求的组织</a:t>
            </a:r>
          </a:p>
        </p:txBody>
      </p:sp>
      <p:sp>
        <p:nvSpPr>
          <p:cNvPr id="3" name="内容占位符 2"/>
          <p:cNvSpPr txBox="1"/>
          <p:nvPr/>
        </p:nvSpPr>
        <p:spPr>
          <a:xfrm>
            <a:off x="628650" y="141367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buFont typeface="Wingdings" panose="05000000000000000000" charset="0"/>
              <a:buChar char=""/>
            </a:pPr>
            <a:r>
              <a:rPr kumimoji="1" lang="en-US" altLang="zh-CN" dirty="0">
                <a:latin typeface="KaiTi" panose="02010609060101010101" pitchFamily="49" charset="-122"/>
                <a:ea typeface="KaiTi" panose="02010609060101010101" pitchFamily="49" charset="-122"/>
              </a:rPr>
              <a:t>模型驱动方法（场景/用例模型）</a:t>
            </a:r>
          </a:p>
          <a:p>
            <a:pPr lvl="1">
              <a:buClr>
                <a:srgbClr val="231240"/>
              </a:buClr>
            </a:pPr>
            <a:r>
              <a:rPr kumimoji="1" lang="en-US" altLang="zh-CN" b="1" dirty="0">
                <a:solidFill>
                  <a:srgbClr val="870078"/>
                </a:solidFill>
                <a:latin typeface="KaiTi" panose="02010609060101010101" pitchFamily="49" charset="-122"/>
                <a:ea typeface="KaiTi" panose="02010609060101010101" pitchFamily="49" charset="-122"/>
              </a:rPr>
              <a:t>整理和归类</a:t>
            </a:r>
            <a:r>
              <a:rPr kumimoji="1" lang="en-US" altLang="zh-CN" dirty="0">
                <a:latin typeface="KaiTi" panose="02010609060101010101" pitchFamily="49" charset="-122"/>
                <a:ea typeface="KaiTi" panose="02010609060101010101" pitchFamily="49" charset="-122"/>
              </a:rPr>
              <a:t>需求获取行为得到的信息</a:t>
            </a:r>
          </a:p>
          <a:p>
            <a:pPr lvl="2">
              <a:buClr>
                <a:srgbClr val="231240"/>
              </a:buClr>
            </a:pPr>
            <a:r>
              <a:rPr kumimoji="1" lang="en-US" altLang="zh-CN" dirty="0">
                <a:latin typeface="KaiTi" panose="02010609060101010101" pitchFamily="49" charset="-122"/>
                <a:ea typeface="KaiTi" panose="02010609060101010101" pitchFamily="49" charset="-122"/>
              </a:rPr>
              <a:t>模型是进行信息整理和归类的很好的框架依据</a:t>
            </a:r>
          </a:p>
          <a:p>
            <a:pPr lvl="1">
              <a:buClr>
                <a:srgbClr val="231240"/>
              </a:buClr>
            </a:pPr>
            <a:r>
              <a:rPr kumimoji="1" lang="en-US" altLang="zh-CN" b="1" dirty="0">
                <a:solidFill>
                  <a:srgbClr val="870078"/>
                </a:solidFill>
                <a:latin typeface="KaiTi" panose="02010609060101010101" pitchFamily="49" charset="-122"/>
                <a:ea typeface="KaiTi" panose="02010609060101010101" pitchFamily="49" charset="-122"/>
              </a:rPr>
              <a:t>指导和组织</a:t>
            </a:r>
            <a:r>
              <a:rPr kumimoji="1" lang="en-US" altLang="zh-CN" dirty="0">
                <a:latin typeface="KaiTi" panose="02010609060101010101" pitchFamily="49" charset="-122"/>
                <a:ea typeface="KaiTi" panose="02010609060101010101" pitchFamily="49" charset="-122"/>
              </a:rPr>
              <a:t>需求获取行为的开展</a:t>
            </a:r>
          </a:p>
          <a:p>
            <a:pPr lvl="2"/>
            <a:r>
              <a:rPr kumimoji="1" lang="en-US" altLang="zh-CN" dirty="0">
                <a:latin typeface="KaiTi" panose="02010609060101010101" pitchFamily="49" charset="-122"/>
                <a:ea typeface="KaiTi" panose="02010609060101010101" pitchFamily="49" charset="-122"/>
              </a:rPr>
              <a:t>模型可以用于指导后续需求获取行为的开展 </a:t>
            </a:r>
          </a:p>
          <a:p>
            <a:pPr lvl="1"/>
            <a:r>
              <a:rPr kumimoji="1" lang="en-US" altLang="zh-CN" dirty="0">
                <a:latin typeface="KaiTi" panose="02010609060101010101" pitchFamily="49" charset="-122"/>
                <a:ea typeface="KaiTi" panose="02010609060101010101" pitchFamily="49" charset="-122"/>
              </a:rPr>
              <a:t>为详细信息的分析提供</a:t>
            </a:r>
            <a:r>
              <a:rPr kumimoji="1" lang="en-US" altLang="zh-CN" b="1" dirty="0">
                <a:solidFill>
                  <a:srgbClr val="870078"/>
                </a:solidFill>
                <a:latin typeface="KaiTi" panose="02010609060101010101" pitchFamily="49" charset="-122"/>
                <a:ea typeface="KaiTi" panose="02010609060101010101" pitchFamily="49" charset="-122"/>
              </a:rPr>
              <a:t>背景基础和上下文知识</a:t>
            </a:r>
            <a:r>
              <a:rPr kumimoji="1" lang="en-US" altLang="zh-CN" dirty="0">
                <a:latin typeface="KaiTi" panose="02010609060101010101" pitchFamily="49" charset="-122"/>
                <a:ea typeface="KaiTi" panose="02010609060101010101" pitchFamily="49" charset="-122"/>
              </a:rPr>
              <a:t> </a:t>
            </a:r>
          </a:p>
          <a:p>
            <a:pPr lvl="2"/>
            <a:r>
              <a:rPr kumimoji="1" lang="en-US" altLang="zh-CN" dirty="0">
                <a:latin typeface="KaiTi" panose="02010609060101010101" pitchFamily="49" charset="-122"/>
                <a:ea typeface="KaiTi" panose="02010609060101010101" pitchFamily="49" charset="-122"/>
              </a:rPr>
              <a:t>模型驱动方法则是</a:t>
            </a:r>
            <a:r>
              <a:rPr kumimoji="1" lang="en-US" altLang="zh-CN" b="1" dirty="0">
                <a:solidFill>
                  <a:srgbClr val="870078"/>
                </a:solidFill>
                <a:latin typeface="KaiTi" panose="02010609060101010101" pitchFamily="49" charset="-122"/>
                <a:ea typeface="KaiTi" panose="02010609060101010101" pitchFamily="49" charset="-122"/>
              </a:rPr>
              <a:t>侧重于前期需求阶段</a:t>
            </a:r>
            <a:r>
              <a:rPr kumimoji="1" lang="en-US" altLang="zh-CN" dirty="0">
                <a:latin typeface="KaiTi" panose="02010609060101010101" pitchFamily="49" charset="-122"/>
                <a:ea typeface="KaiTi" panose="02010609060101010101" pitchFamily="49" charset="-122"/>
              </a:rPr>
              <a:t>的方法，是传统需求分析方法的一个很好的补充 </a:t>
            </a:r>
          </a:p>
          <a:p>
            <a:pPr>
              <a:buFont typeface="Wingdings" panose="05000000000000000000" charset="0"/>
              <a:buChar char=""/>
            </a:pPr>
            <a:r>
              <a:rPr kumimoji="1" lang="en-US" altLang="zh-CN" dirty="0">
                <a:latin typeface="KaiTi" panose="02010609060101010101" pitchFamily="49" charset="-122"/>
                <a:ea typeface="KaiTi" panose="02010609060101010101" pitchFamily="49" charset="-122"/>
              </a:rPr>
              <a:t>承上启下</a:t>
            </a:r>
          </a:p>
          <a:p>
            <a:pPr lvl="1"/>
            <a:r>
              <a:rPr kumimoji="1" lang="en-US" altLang="zh-CN" dirty="0">
                <a:latin typeface="KaiTi" panose="02010609060101010101" pitchFamily="49" charset="-122"/>
                <a:ea typeface="KaiTi" panose="02010609060101010101" pitchFamily="49" charset="-122"/>
              </a:rPr>
              <a:t>展开上一层（业务需求）</a:t>
            </a:r>
          </a:p>
          <a:p>
            <a:pPr lvl="1"/>
            <a:r>
              <a:rPr kumimoji="1" lang="en-US" altLang="zh-CN" dirty="0">
                <a:latin typeface="KaiTi" panose="02010609060101010101" pitchFamily="49" charset="-122"/>
                <a:ea typeface="KaiTi" panose="02010609060101010101" pitchFamily="49" charset="-122"/>
              </a:rPr>
              <a:t>准备下一层的展开（系统级需求）</a:t>
            </a:r>
          </a:p>
        </p:txBody>
      </p:sp>
      <p:sp>
        <p:nvSpPr>
          <p:cNvPr id="6" name="文本框 5"/>
          <p:cNvSpPr txBox="1"/>
          <p:nvPr/>
        </p:nvSpPr>
        <p:spPr>
          <a:xfrm>
            <a:off x="151596" y="16999"/>
            <a:ext cx="297688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rPr>
              <a:t>用户需求开发活动的展开</a:t>
            </a:r>
          </a:p>
        </p:txBody>
      </p:sp>
      <p:sp>
        <p:nvSpPr>
          <p:cNvPr id="7" name="文本框 6"/>
          <p:cNvSpPr txBox="1"/>
          <p:nvPr/>
        </p:nvSpPr>
        <p:spPr>
          <a:xfrm>
            <a:off x="2436495" y="2378075"/>
            <a:ext cx="3048000" cy="368300"/>
          </a:xfrm>
          <a:prstGeom prst="rect">
            <a:avLst/>
          </a:prstGeom>
          <a:noFill/>
        </p:spPr>
        <p:txBody>
          <a:bodyPr wrap="square" rtlCol="0">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不同层级需求开发使用的技术</a:t>
            </a:r>
          </a:p>
        </p:txBody>
      </p:sp>
      <p:sp>
        <p:nvSpPr>
          <p:cNvPr id="3" name="内容占位符 2"/>
          <p:cNvSpPr txBox="1"/>
          <p:nvPr/>
        </p:nvSpPr>
        <p:spPr>
          <a:xfrm>
            <a:off x="628650" y="141367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kumimoji="1" lang="en-US" altLang="zh-CN" dirty="0">
                <a:latin typeface="KaiTi" panose="02010609060101010101" pitchFamily="49" charset="-122"/>
                <a:ea typeface="KaiTi" panose="02010609060101010101" pitchFamily="49" charset="-122"/>
              </a:rPr>
              <a:t>用例/场景模型在用户需求开发中有着重要的作用</a:t>
            </a:r>
          </a:p>
        </p:txBody>
      </p:sp>
      <p:sp>
        <p:nvSpPr>
          <p:cNvPr id="6" name="文本框 5"/>
          <p:cNvSpPr txBox="1"/>
          <p:nvPr/>
        </p:nvSpPr>
        <p:spPr>
          <a:xfrm>
            <a:off x="151596" y="16999"/>
            <a:ext cx="2976880" cy="706755"/>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sym typeface="+mn-ea"/>
              </a:rPr>
              <a:t>用户需求开发活动的展开</a:t>
            </a:r>
            <a:endParaRPr kumimoji="1" lang="en-US" altLang="zh-CN" sz="2000" dirty="0">
              <a:solidFill>
                <a:schemeClr val="bg1"/>
              </a:solidFill>
              <a:latin typeface="KaiTi" panose="02010609060101010101" pitchFamily="49" charset="-122"/>
              <a:ea typeface="KaiTi" panose="02010609060101010101" pitchFamily="49" charset="-122"/>
            </a:endParaRPr>
          </a:p>
          <a:p>
            <a:endParaRPr kumimoji="1" lang="en-US" altLang="zh-CN" sz="2000" dirty="0">
              <a:solidFill>
                <a:schemeClr val="bg1"/>
              </a:solidFill>
              <a:latin typeface="KaiTi" panose="02010609060101010101" pitchFamily="49" charset="-122"/>
              <a:ea typeface="KaiTi" panose="02010609060101010101" pitchFamily="49" charset="-122"/>
            </a:endParaRPr>
          </a:p>
        </p:txBody>
      </p:sp>
      <p:graphicFrame>
        <p:nvGraphicFramePr>
          <p:cNvPr id="5124" name="对象 3"/>
          <p:cNvGraphicFramePr>
            <a:graphicFrameLocks noChangeAspect="1"/>
          </p:cNvGraphicFramePr>
          <p:nvPr>
            <p:custDataLst>
              <p:tags r:id="rId1"/>
            </p:custDataLst>
          </p:nvPr>
        </p:nvGraphicFramePr>
        <p:xfrm>
          <a:off x="224790" y="2379345"/>
          <a:ext cx="7334250" cy="3429000"/>
        </p:xfrm>
        <a:graphic>
          <a:graphicData uri="http://schemas.openxmlformats.org/presentationml/2006/ole">
            <mc:AlternateContent xmlns:mc="http://schemas.openxmlformats.org/markup-compatibility/2006">
              <mc:Choice xmlns:v="urn:schemas-microsoft-com:vml" Requires="v">
                <p:oleObj r:id="rId7" imgW="4889500" imgH="2286000" progId="Visio.Drawing.11">
                  <p:embed/>
                </p:oleObj>
              </mc:Choice>
              <mc:Fallback>
                <p:oleObj r:id="rId7" imgW="4889500" imgH="2286000" progId="Visio.Drawing.11">
                  <p:embed/>
                  <p:pic>
                    <p:nvPicPr>
                      <p:cNvPr id="5124" name="对象 3"/>
                      <p:cNvPicPr/>
                      <p:nvPr/>
                    </p:nvPicPr>
                    <p:blipFill>
                      <a:blip r:embed="rId8"/>
                      <a:stretch>
                        <a:fillRect/>
                      </a:stretch>
                    </p:blipFill>
                    <p:spPr>
                      <a:xfrm>
                        <a:off x="224790" y="2379345"/>
                        <a:ext cx="7334250" cy="3429000"/>
                      </a:xfrm>
                      <a:prstGeom prst="rect">
                        <a:avLst/>
                      </a:prstGeom>
                      <a:noFill/>
                      <a:ln w="38100">
                        <a:noFill/>
                        <a:miter/>
                      </a:ln>
                    </p:spPr>
                  </p:pic>
                </p:oleObj>
              </mc:Fallback>
            </mc:AlternateContent>
          </a:graphicData>
        </a:graphic>
      </p:graphicFrame>
      <p:sp>
        <p:nvSpPr>
          <p:cNvPr id="5" name="下箭头 4"/>
          <p:cNvSpPr/>
          <p:nvPr>
            <p:custDataLst>
              <p:tags r:id="rId2"/>
            </p:custDataLst>
          </p:nvPr>
        </p:nvSpPr>
        <p:spPr>
          <a:xfrm>
            <a:off x="5013325" y="3049905"/>
            <a:ext cx="457200" cy="829310"/>
          </a:xfrm>
          <a:prstGeom prst="downArrow">
            <a:avLst>
              <a:gd name="adj1" fmla="val 50000"/>
              <a:gd name="adj2" fmla="val 49999"/>
            </a:avLst>
          </a:prstGeom>
          <a:solidFill>
            <a:srgbClr val="0070C0"/>
          </a:solidFill>
          <a:ln w="9525" cap="flat" cmpd="sng">
            <a:solidFill>
              <a:schemeClr val="tx1"/>
            </a:solidFill>
            <a:prstDash val="solid"/>
            <a:round/>
            <a:headEnd type="none" w="med" len="med"/>
            <a:tailEnd type="none" w="med" len="med"/>
          </a:ln>
        </p:spPr>
        <p:txBody>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755"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1155"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6230"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480"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0"/>
              </a:spcBef>
              <a:buClrTx/>
              <a:buSzTx/>
              <a:buFontTx/>
              <a:buNone/>
            </a:pPr>
            <a:endParaRPr lang="zh-CN" altLang="en-US" sz="1800" dirty="0"/>
          </a:p>
        </p:txBody>
      </p:sp>
      <p:sp>
        <p:nvSpPr>
          <p:cNvPr id="7" name="TextBox 2"/>
          <p:cNvSpPr txBox="1"/>
          <p:nvPr>
            <p:custDataLst>
              <p:tags r:id="rId3"/>
            </p:custDataLst>
          </p:nvPr>
        </p:nvSpPr>
        <p:spPr>
          <a:xfrm>
            <a:off x="7467600" y="2703513"/>
            <a:ext cx="1600200" cy="4603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755"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1155"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6230"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480"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solidFill>
                  <a:srgbClr val="870078"/>
                </a:solidFill>
                <a:latin typeface="楷体" charset="0"/>
                <a:ea typeface="楷体" charset="0"/>
              </a:rPr>
              <a:t>目标分析</a:t>
            </a:r>
          </a:p>
        </p:txBody>
      </p:sp>
      <p:sp>
        <p:nvSpPr>
          <p:cNvPr id="8" name="TextBox 7"/>
          <p:cNvSpPr txBox="1"/>
          <p:nvPr>
            <p:custDataLst>
              <p:tags r:id="rId4"/>
            </p:custDataLst>
          </p:nvPr>
        </p:nvSpPr>
        <p:spPr>
          <a:xfrm>
            <a:off x="7315200" y="4545965"/>
            <a:ext cx="1828800" cy="82994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755"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1155"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6230"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480"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en-US" altLang="zh-CN" sz="2400" b="1" dirty="0">
                <a:solidFill>
                  <a:srgbClr val="870078"/>
                </a:solidFill>
                <a:latin typeface="Times New Roman" panose="02020603050405020304" pitchFamily="18" charset="0"/>
                <a:ea typeface="楷体" charset="0"/>
                <a:cs typeface="Times New Roman" panose="02020603050405020304" pitchFamily="18" charset="0"/>
              </a:rPr>
              <a:t>OO</a:t>
            </a:r>
            <a:r>
              <a:rPr lang="zh-CN" altLang="en-US" sz="2400" b="1" dirty="0">
                <a:solidFill>
                  <a:srgbClr val="870078"/>
                </a:solidFill>
                <a:latin typeface="楷体" charset="0"/>
                <a:ea typeface="楷体" charset="0"/>
                <a:cs typeface="楷体" charset="0"/>
              </a:rPr>
              <a:t>分析</a:t>
            </a:r>
            <a:endParaRPr lang="en-US" altLang="zh-CN" sz="2400" b="1" dirty="0">
              <a:solidFill>
                <a:srgbClr val="870078"/>
              </a:solidFill>
              <a:latin typeface="楷体" charset="0"/>
              <a:ea typeface="楷体" charset="0"/>
              <a:cs typeface="楷体" charset="0"/>
            </a:endParaRPr>
          </a:p>
          <a:p>
            <a:pPr marL="0" lvl="0" indent="0" algn="ctr" eaLnBrk="1" hangingPunct="1">
              <a:spcBef>
                <a:spcPct val="0"/>
              </a:spcBef>
              <a:buClrTx/>
              <a:buSzTx/>
              <a:buFontTx/>
              <a:buNone/>
            </a:pPr>
            <a:r>
              <a:rPr lang="zh-CN" altLang="en-US" sz="2400" b="1" dirty="0">
                <a:solidFill>
                  <a:srgbClr val="870078"/>
                </a:solidFill>
                <a:latin typeface="楷体" charset="0"/>
                <a:ea typeface="楷体" charset="0"/>
                <a:cs typeface="楷体" charset="0"/>
              </a:rPr>
              <a:t>结构化分析</a:t>
            </a:r>
          </a:p>
        </p:txBody>
      </p:sp>
      <p:sp>
        <p:nvSpPr>
          <p:cNvPr id="9" name="TextBox 8"/>
          <p:cNvSpPr txBox="1"/>
          <p:nvPr>
            <p:custDataLst>
              <p:tags r:id="rId5"/>
            </p:custDataLst>
          </p:nvPr>
        </p:nvSpPr>
        <p:spPr>
          <a:xfrm>
            <a:off x="7010400" y="3749358"/>
            <a:ext cx="2286000" cy="4603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755"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ea typeface="+mn-ea"/>
              </a:defRPr>
            </a:lvl2pPr>
            <a:lvl3pPr marL="1022350" indent="-351155"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ea typeface="+mn-ea"/>
              </a:defRPr>
            </a:lvl3pPr>
            <a:lvl4pPr marL="1339850" indent="-316230"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ea typeface="+mn-ea"/>
              </a:defRPr>
            </a:lvl4pPr>
            <a:lvl5pPr marL="1681480"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ea typeface="+mn-ea"/>
              </a:defRPr>
            </a:lvl5pPr>
          </a:lstStyle>
          <a:p>
            <a:pPr marL="0" lvl="0" indent="0" algn="ctr" eaLnBrk="1" hangingPunct="1">
              <a:spcBef>
                <a:spcPct val="0"/>
              </a:spcBef>
              <a:buClrTx/>
              <a:buSzTx/>
              <a:buFontTx/>
              <a:buNone/>
            </a:pPr>
            <a:r>
              <a:rPr lang="zh-CN" altLang="en-US" sz="2400" b="1" dirty="0">
                <a:solidFill>
                  <a:srgbClr val="870078"/>
                </a:solidFill>
                <a:latin typeface="楷体" charset="0"/>
                <a:ea typeface="楷体" charset="0"/>
                <a:cs typeface="楷体" charset="0"/>
              </a:rPr>
              <a:t>场景</a:t>
            </a:r>
            <a:r>
              <a:rPr lang="en-US" altLang="zh-CN" sz="2400" b="1" dirty="0">
                <a:solidFill>
                  <a:srgbClr val="870078"/>
                </a:solidFill>
                <a:latin typeface="楷体" charset="0"/>
                <a:ea typeface="楷体" charset="0"/>
                <a:cs typeface="楷体" charset="0"/>
              </a:rPr>
              <a:t>/</a:t>
            </a:r>
            <a:r>
              <a:rPr lang="zh-CN" altLang="en-US" sz="2400" b="1" dirty="0">
                <a:solidFill>
                  <a:srgbClr val="870078"/>
                </a:solidFill>
                <a:latin typeface="楷体" charset="0"/>
                <a:ea typeface="楷体" charset="0"/>
                <a:cs typeface="楷体" charset="0"/>
              </a:rPr>
              <a:t>用例分析</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sym typeface="+mn-ea"/>
              </a:rPr>
              <a:t>业务需求开发使用的技术</a:t>
            </a:r>
            <a:endParaRPr kumimoji="1" lang="zh-CN" altLang="en-US" sz="3200" b="1" dirty="0">
              <a:latin typeface="微软雅黑" panose="020B0503020204020204" pitchFamily="34" charset="-122"/>
              <a:ea typeface="微软雅黑" panose="020B0503020204020204" pitchFamily="34" charset="-122"/>
            </a:endParaRPr>
          </a:p>
        </p:txBody>
      </p:sp>
      <p:sp>
        <p:nvSpPr>
          <p:cNvPr id="3" name="内容占位符 2"/>
          <p:cNvSpPr txBox="1"/>
          <p:nvPr/>
        </p:nvSpPr>
        <p:spPr>
          <a:xfrm>
            <a:off x="628650" y="137557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buFont typeface="Wingdings" panose="05000000000000000000" charset="0"/>
              <a:buChar char=""/>
            </a:pPr>
            <a:endParaRPr kumimoji="1" lang="en-US" altLang="zh-CN" dirty="0">
              <a:solidFill>
                <a:srgbClr val="870078"/>
              </a:solidFill>
              <a:latin typeface="KaiTi" panose="02010609060101010101" pitchFamily="49" charset="-122"/>
              <a:ea typeface="KaiTi" panose="02010609060101010101" pitchFamily="49" charset="-122"/>
            </a:endParaRPr>
          </a:p>
          <a:p>
            <a:pPr>
              <a:buClr>
                <a:srgbClr val="231240"/>
              </a:buClr>
              <a:buFont typeface="Wingdings" panose="05000000000000000000" charset="0"/>
              <a:buChar char=""/>
            </a:pPr>
            <a:r>
              <a:rPr kumimoji="1" lang="en-US" altLang="zh-CN" b="1" dirty="0">
                <a:solidFill>
                  <a:srgbClr val="870078"/>
                </a:solidFill>
                <a:latin typeface="KaiTi" panose="02010609060101010101" pitchFamily="49" charset="-122"/>
                <a:ea typeface="KaiTi" panose="02010609060101010101" pitchFamily="49" charset="-122"/>
              </a:rPr>
              <a:t>目标模型</a:t>
            </a:r>
            <a:r>
              <a:rPr kumimoji="1" lang="en-US" altLang="zh-CN" dirty="0">
                <a:latin typeface="KaiTi" panose="02010609060101010101" pitchFamily="49" charset="-122"/>
                <a:ea typeface="KaiTi" panose="02010609060101010101" pitchFamily="49" charset="-122"/>
              </a:rPr>
              <a:t>用于组织系统的目标、特性、任务等与业务需求相关的内容</a:t>
            </a:r>
            <a:r>
              <a:rPr kumimoji="1" lang="zh-CN" altLang="en-US" dirty="0">
                <a:latin typeface="KaiTi" panose="02010609060101010101" pitchFamily="49" charset="-122"/>
                <a:ea typeface="KaiTi" panose="02010609060101010101" pitchFamily="49" charset="-122"/>
              </a:rPr>
              <a:t>。</a:t>
            </a:r>
            <a:endParaRPr kumimoji="1" lang="en-US" altLang="zh-CN" dirty="0">
              <a:latin typeface="KaiTi" panose="02010609060101010101" pitchFamily="49" charset="-122"/>
              <a:ea typeface="KaiTi" panose="02010609060101010101" pitchFamily="49" charset="-122"/>
            </a:endParaRPr>
          </a:p>
          <a:p>
            <a:pPr>
              <a:buClr>
                <a:srgbClr val="231240"/>
              </a:buClr>
              <a:buFont typeface="Wingdings" panose="05000000000000000000" charset="0"/>
              <a:buChar char=""/>
            </a:pPr>
            <a:endParaRPr kumimoji="1" lang="en-US" altLang="zh-CN" dirty="0">
              <a:latin typeface="KaiTi" panose="02010609060101010101" pitchFamily="49" charset="-122"/>
              <a:ea typeface="KaiTi" panose="02010609060101010101" pitchFamily="49" charset="-122"/>
            </a:endParaRPr>
          </a:p>
          <a:p>
            <a:pPr>
              <a:buClr>
                <a:srgbClr val="231240"/>
              </a:buClr>
              <a:buFont typeface="Wingdings" panose="05000000000000000000" charset="0"/>
              <a:buChar char=""/>
            </a:pPr>
            <a:r>
              <a:rPr kumimoji="1" lang="en-US" altLang="zh-CN" b="1" dirty="0">
                <a:solidFill>
                  <a:srgbClr val="870078"/>
                </a:solidFill>
                <a:latin typeface="KaiTi" panose="02010609060101010101" pitchFamily="49" charset="-122"/>
                <a:ea typeface="KaiTi" panose="02010609060101010101" pitchFamily="49" charset="-122"/>
              </a:rPr>
              <a:t>目标分析过程</a:t>
            </a:r>
            <a:r>
              <a:rPr kumimoji="1" lang="en-US" altLang="zh-CN" dirty="0">
                <a:latin typeface="KaiTi" panose="02010609060101010101" pitchFamily="49" charset="-122"/>
                <a:ea typeface="KaiTi" panose="02010609060101010101" pitchFamily="49" charset="-122"/>
              </a:rPr>
              <a:t>是建立目标模型并验证其正确性、完备性、一致性的过程。</a:t>
            </a:r>
          </a:p>
          <a:p>
            <a:endParaRPr kumimoji="1" lang="en-US" altLang="zh-CN" dirty="0">
              <a:latin typeface="KaiTi" panose="02010609060101010101" pitchFamily="49" charset="-122"/>
              <a:ea typeface="KaiTi" panose="02010609060101010101" pitchFamily="49" charset="-122"/>
            </a:endParaRPr>
          </a:p>
        </p:txBody>
      </p:sp>
      <p:sp>
        <p:nvSpPr>
          <p:cNvPr id="6" name="文本框 5"/>
          <p:cNvSpPr txBox="1"/>
          <p:nvPr/>
        </p:nvSpPr>
        <p:spPr>
          <a:xfrm>
            <a:off x="151596" y="16999"/>
            <a:ext cx="297688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sym typeface="+mn-ea"/>
              </a:rPr>
              <a:t>用户需求开发活动的展开</a:t>
            </a:r>
            <a:endParaRPr kumimoji="1" lang="en-US" altLang="zh-CN" sz="2000" dirty="0">
              <a:solidFill>
                <a:schemeClr val="bg1"/>
              </a:solidFill>
              <a:latin typeface="KaiTi" panose="02010609060101010101" pitchFamily="49" charset="-122"/>
              <a:ea typeface="KaiTi" panose="02010609060101010101" pitchFamily="49"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sym typeface="+mn-ea"/>
              </a:rPr>
              <a:t>用户需求开发使用的技术</a:t>
            </a:r>
            <a:endParaRPr kumimoji="1" lang="zh-CN" altLang="en-US" sz="3200" b="1" dirty="0">
              <a:latin typeface="微软雅黑" panose="020B0503020204020204" pitchFamily="34" charset="-122"/>
              <a:ea typeface="微软雅黑" panose="020B0503020204020204" pitchFamily="34" charset="-122"/>
            </a:endParaRPr>
          </a:p>
        </p:txBody>
      </p:sp>
      <p:sp>
        <p:nvSpPr>
          <p:cNvPr id="3" name="内容占位符 2"/>
          <p:cNvSpPr txBox="1"/>
          <p:nvPr/>
        </p:nvSpPr>
        <p:spPr>
          <a:xfrm>
            <a:off x="628650" y="141367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buClr>
                <a:srgbClr val="231240"/>
              </a:buClr>
              <a:buFont typeface="Wingdings" panose="05000000000000000000" charset="0"/>
              <a:buChar char=""/>
            </a:pPr>
            <a:r>
              <a:rPr kumimoji="1" lang="en-US" altLang="zh-CN" b="1" dirty="0">
                <a:solidFill>
                  <a:srgbClr val="870078"/>
                </a:solidFill>
                <a:latin typeface="KaiTi" panose="02010609060101010101" pitchFamily="49" charset="-122"/>
                <a:ea typeface="KaiTi" panose="02010609060101010101" pitchFamily="49" charset="-122"/>
              </a:rPr>
              <a:t>用例/场景模型</a:t>
            </a:r>
            <a:r>
              <a:rPr kumimoji="1" lang="en-US" altLang="zh-CN" dirty="0">
                <a:latin typeface="KaiTi" panose="02010609060101010101" pitchFamily="49" charset="-122"/>
                <a:ea typeface="KaiTi" panose="02010609060101010101" pitchFamily="49" charset="-122"/>
              </a:rPr>
              <a:t>用于组织用户需求的相关内容</a:t>
            </a:r>
            <a:r>
              <a:rPr kumimoji="1" lang="zh-CN" altLang="en-US" dirty="0">
                <a:latin typeface="KaiTi" panose="02010609060101010101" pitchFamily="49" charset="-122"/>
                <a:ea typeface="KaiTi" panose="02010609060101010101" pitchFamily="49" charset="-122"/>
              </a:rPr>
              <a:t>。</a:t>
            </a:r>
            <a:endParaRPr kumimoji="1" lang="en-US" altLang="zh-CN" dirty="0">
              <a:latin typeface="KaiTi" panose="02010609060101010101" pitchFamily="49" charset="-122"/>
              <a:ea typeface="KaiTi" panose="02010609060101010101" pitchFamily="49" charset="-122"/>
            </a:endParaRPr>
          </a:p>
          <a:p>
            <a:pPr>
              <a:buClr>
                <a:srgbClr val="231240"/>
              </a:buClr>
              <a:buFont typeface="Wingdings" panose="05000000000000000000" charset="0"/>
              <a:buChar char=""/>
            </a:pPr>
            <a:endParaRPr kumimoji="1" lang="en-US" altLang="zh-CN" dirty="0">
              <a:latin typeface="KaiTi" panose="02010609060101010101" pitchFamily="49" charset="-122"/>
              <a:ea typeface="KaiTi" panose="02010609060101010101" pitchFamily="49" charset="-122"/>
            </a:endParaRPr>
          </a:p>
          <a:p>
            <a:pPr>
              <a:buClr>
                <a:srgbClr val="231240"/>
              </a:buClr>
              <a:buFont typeface="Wingdings" panose="05000000000000000000" charset="0"/>
              <a:buChar char=""/>
            </a:pPr>
            <a:r>
              <a:rPr kumimoji="1" lang="en-US" altLang="zh-CN" b="1" dirty="0">
                <a:solidFill>
                  <a:srgbClr val="870078"/>
                </a:solidFill>
                <a:latin typeface="KaiTi" panose="02010609060101010101" pitchFamily="49" charset="-122"/>
                <a:ea typeface="KaiTi" panose="02010609060101010101" pitchFamily="49" charset="-122"/>
              </a:rPr>
              <a:t>用例/场景分析</a:t>
            </a:r>
            <a:r>
              <a:rPr kumimoji="1" lang="en-US" altLang="zh-CN" dirty="0">
                <a:latin typeface="KaiTi" panose="02010609060101010101" pitchFamily="49" charset="-122"/>
                <a:ea typeface="KaiTi" panose="02010609060101010101" pitchFamily="49" charset="-122"/>
              </a:rPr>
              <a:t>是建立用例/场景模型的过程</a:t>
            </a:r>
            <a:r>
              <a:rPr kumimoji="1" lang="zh-CN" altLang="en-US" dirty="0">
                <a:latin typeface="KaiTi" panose="02010609060101010101" pitchFamily="49" charset="-122"/>
                <a:ea typeface="KaiTi" panose="02010609060101010101" pitchFamily="49" charset="-122"/>
              </a:rPr>
              <a:t>。</a:t>
            </a:r>
            <a:endParaRPr kumimoji="1" lang="en-US" altLang="zh-CN" dirty="0">
              <a:latin typeface="KaiTi" panose="02010609060101010101" pitchFamily="49" charset="-122"/>
              <a:ea typeface="KaiTi" panose="02010609060101010101" pitchFamily="49" charset="-122"/>
            </a:endParaRPr>
          </a:p>
          <a:p>
            <a:pPr>
              <a:buFont typeface="Wingdings" panose="05000000000000000000" charset="0"/>
              <a:buChar char=""/>
            </a:pPr>
            <a:endParaRPr kumimoji="1" lang="en-US" altLang="zh-CN" dirty="0">
              <a:latin typeface="KaiTi" panose="02010609060101010101" pitchFamily="49" charset="-122"/>
              <a:ea typeface="KaiTi" panose="02010609060101010101" pitchFamily="49" charset="-122"/>
            </a:endParaRPr>
          </a:p>
          <a:p>
            <a:pPr>
              <a:buFont typeface="Wingdings" panose="05000000000000000000" charset="0"/>
              <a:buChar char=""/>
            </a:pPr>
            <a:r>
              <a:rPr kumimoji="1" lang="en-US" altLang="zh-CN" dirty="0">
                <a:latin typeface="KaiTi" panose="02010609060101010101" pitchFamily="49" charset="-122"/>
                <a:ea typeface="KaiTi" panose="02010609060101010101" pitchFamily="49" charset="-122"/>
              </a:rPr>
              <a:t>需要特殊说明的是：用例/场景分析无法完成对用户需求正确性、完备性、一致性的验证</a:t>
            </a:r>
            <a:r>
              <a:rPr kumimoji="1" lang="zh-CN" altLang="en-US" dirty="0">
                <a:latin typeface="KaiTi" panose="02010609060101010101" pitchFamily="49" charset="-122"/>
                <a:ea typeface="KaiTi" panose="02010609060101010101" pitchFamily="49" charset="-122"/>
              </a:rPr>
              <a:t>。</a:t>
            </a:r>
            <a:endParaRPr kumimoji="1" lang="en-US" altLang="zh-CN" dirty="0">
              <a:latin typeface="KaiTi" panose="02010609060101010101" pitchFamily="49" charset="-122"/>
              <a:ea typeface="KaiTi" panose="02010609060101010101" pitchFamily="49" charset="-122"/>
            </a:endParaRPr>
          </a:p>
          <a:p>
            <a:endParaRPr kumimoji="1" lang="en-US" altLang="zh-CN" dirty="0">
              <a:latin typeface="KaiTi" panose="02010609060101010101" pitchFamily="49" charset="-122"/>
              <a:ea typeface="KaiTi" panose="02010609060101010101" pitchFamily="49" charset="-122"/>
            </a:endParaRPr>
          </a:p>
        </p:txBody>
      </p:sp>
      <p:sp>
        <p:nvSpPr>
          <p:cNvPr id="6" name="文本框 5"/>
          <p:cNvSpPr txBox="1"/>
          <p:nvPr/>
        </p:nvSpPr>
        <p:spPr>
          <a:xfrm>
            <a:off x="151596" y="16999"/>
            <a:ext cx="297688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sym typeface="+mn-ea"/>
              </a:rPr>
              <a:t>用户需求开发活动的展开</a:t>
            </a:r>
            <a:endParaRPr kumimoji="1" lang="en-US" altLang="zh-CN" sz="2000" dirty="0">
              <a:solidFill>
                <a:schemeClr val="bg1"/>
              </a:solidFill>
              <a:latin typeface="KaiTi" panose="02010609060101010101" pitchFamily="49" charset="-122"/>
              <a:ea typeface="KaiTi" panose="02010609060101010101" pitchFamily="49"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sym typeface="+mn-ea"/>
              </a:rPr>
              <a:t>系统级需求开发使用的技术</a:t>
            </a:r>
            <a:endParaRPr kumimoji="1" lang="zh-CN" altLang="en-US" sz="3200" b="1" dirty="0">
              <a:latin typeface="微软雅黑" panose="020B0503020204020204" pitchFamily="34" charset="-122"/>
              <a:ea typeface="微软雅黑" panose="020B0503020204020204" pitchFamily="34" charset="-122"/>
            </a:endParaRPr>
          </a:p>
        </p:txBody>
      </p:sp>
      <p:sp>
        <p:nvSpPr>
          <p:cNvPr id="3" name="内容占位符 2"/>
          <p:cNvSpPr txBox="1"/>
          <p:nvPr/>
        </p:nvSpPr>
        <p:spPr>
          <a:xfrm>
            <a:off x="628650" y="141367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buClr>
                <a:srgbClr val="231240"/>
              </a:buClr>
              <a:buFont typeface="Wingdings" panose="05000000000000000000" charset="0"/>
              <a:buChar char=""/>
            </a:pPr>
            <a:r>
              <a:rPr kumimoji="1" lang="en-US" altLang="zh-CN" b="1" dirty="0">
                <a:solidFill>
                  <a:srgbClr val="870078"/>
                </a:solidFill>
                <a:latin typeface="KaiTi" panose="02010609060101010101" pitchFamily="49" charset="-122"/>
                <a:ea typeface="KaiTi" panose="02010609060101010101" pitchFamily="49" charset="-122"/>
              </a:rPr>
              <a:t>面向对象分析模型或结构化分析模型</a:t>
            </a:r>
            <a:r>
              <a:rPr kumimoji="1" lang="en-US" altLang="zh-CN" dirty="0">
                <a:latin typeface="KaiTi" panose="02010609060101010101" pitchFamily="49" charset="-122"/>
                <a:ea typeface="KaiTi" panose="02010609060101010101" pitchFamily="49" charset="-122"/>
              </a:rPr>
              <a:t>用于描述软件解决方案的细节知识，组织和指导系统级需求的建立。</a:t>
            </a:r>
          </a:p>
          <a:p>
            <a:pPr>
              <a:buClr>
                <a:srgbClr val="231240"/>
              </a:buClr>
              <a:buFont typeface="Wingdings" panose="05000000000000000000" charset="0"/>
              <a:buChar char=""/>
            </a:pPr>
            <a:endParaRPr kumimoji="1" lang="en-US" altLang="zh-CN" dirty="0">
              <a:latin typeface="KaiTi" panose="02010609060101010101" pitchFamily="49" charset="-122"/>
              <a:ea typeface="KaiTi" panose="02010609060101010101" pitchFamily="49" charset="-122"/>
            </a:endParaRPr>
          </a:p>
          <a:p>
            <a:pPr>
              <a:buClr>
                <a:srgbClr val="231240"/>
              </a:buClr>
              <a:buFont typeface="Wingdings" panose="05000000000000000000" charset="0"/>
              <a:buChar char=""/>
            </a:pPr>
            <a:r>
              <a:rPr kumimoji="1" lang="en-US" altLang="zh-CN" b="1" dirty="0">
                <a:solidFill>
                  <a:srgbClr val="870078"/>
                </a:solidFill>
                <a:latin typeface="KaiTi" panose="02010609060101010101" pitchFamily="49" charset="-122"/>
                <a:ea typeface="KaiTi" panose="02010609060101010101" pitchFamily="49" charset="-122"/>
              </a:rPr>
              <a:t>面向对象分析或结构化分析</a:t>
            </a:r>
            <a:r>
              <a:rPr kumimoji="1" lang="en-US" altLang="zh-CN" dirty="0">
                <a:latin typeface="KaiTi" panose="02010609060101010101" pitchFamily="49" charset="-122"/>
                <a:ea typeface="KaiTi" panose="02010609060101010101" pitchFamily="49" charset="-122"/>
              </a:rPr>
              <a:t>是建立面向对象分析模型或结构化分析模型的过程，同时还能够验证系统级需求和用户需求的正确性、完备性和一致性。</a:t>
            </a:r>
          </a:p>
          <a:p>
            <a:pPr>
              <a:buClr>
                <a:srgbClr val="231240"/>
              </a:buClr>
            </a:pPr>
            <a:endParaRPr kumimoji="1" lang="en-US" altLang="zh-CN" dirty="0">
              <a:latin typeface="KaiTi" panose="02010609060101010101" pitchFamily="49" charset="-122"/>
              <a:ea typeface="KaiTi" panose="02010609060101010101" pitchFamily="49" charset="-122"/>
            </a:endParaRPr>
          </a:p>
        </p:txBody>
      </p:sp>
      <p:sp>
        <p:nvSpPr>
          <p:cNvPr id="6" name="文本框 5"/>
          <p:cNvSpPr txBox="1"/>
          <p:nvPr/>
        </p:nvSpPr>
        <p:spPr>
          <a:xfrm>
            <a:off x="151596" y="16999"/>
            <a:ext cx="297688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sym typeface="+mn-ea"/>
              </a:rPr>
              <a:t>用户需求开发活动的展开</a:t>
            </a:r>
            <a:endParaRPr kumimoji="1" lang="en-US" altLang="zh-CN" sz="2000" dirty="0">
              <a:solidFill>
                <a:schemeClr val="bg1"/>
              </a:solidFill>
              <a:latin typeface="KaiTi" panose="02010609060101010101" pitchFamily="49" charset="-122"/>
              <a:ea typeface="KaiTi" panose="02010609060101010101" pitchFamily="49"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用例</a:t>
            </a:r>
            <a:r>
              <a:rPr kumimoji="1" lang="en-US" altLang="zh-CN" sz="3200" b="1" dirty="0">
                <a:latin typeface="微软雅黑" panose="020B0503020204020204" pitchFamily="34" charset="-122"/>
                <a:ea typeface="微软雅黑" panose="020B0503020204020204" pitchFamily="34" charset="-122"/>
              </a:rPr>
              <a:t>/</a:t>
            </a:r>
            <a:r>
              <a:rPr kumimoji="1" lang="zh-CN" altLang="en-US" sz="3200" b="1" dirty="0">
                <a:latin typeface="微软雅黑" panose="020B0503020204020204" pitchFamily="34" charset="-122"/>
                <a:ea typeface="微软雅黑" panose="020B0503020204020204" pitchFamily="34" charset="-122"/>
              </a:rPr>
              <a:t>场景模型的总结</a:t>
            </a:r>
          </a:p>
        </p:txBody>
      </p:sp>
      <p:sp>
        <p:nvSpPr>
          <p:cNvPr id="3" name="内容占位符 2"/>
          <p:cNvSpPr txBox="1"/>
          <p:nvPr/>
        </p:nvSpPr>
        <p:spPr>
          <a:xfrm>
            <a:off x="628650" y="1430817"/>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buFont typeface="Wingdings" panose="05000000000000000000" charset="0"/>
              <a:buChar char=""/>
            </a:pPr>
            <a:r>
              <a:rPr kumimoji="1" lang="en-US" altLang="zh-CN" dirty="0">
                <a:latin typeface="KaiTi" panose="02010609060101010101" pitchFamily="49" charset="-122"/>
                <a:ea typeface="KaiTi" panose="02010609060101010101" pitchFamily="49" charset="-122"/>
              </a:rPr>
              <a:t>用例/场景模型在用户需求开发活动中有着</a:t>
            </a:r>
            <a:r>
              <a:rPr kumimoji="1" lang="en-US" altLang="zh-CN" b="1" dirty="0">
                <a:solidFill>
                  <a:srgbClr val="870078"/>
                </a:solidFill>
                <a:latin typeface="KaiTi" panose="02010609060101010101" pitchFamily="49" charset="-122"/>
                <a:ea typeface="KaiTi" panose="02010609060101010101" pitchFamily="49" charset="-122"/>
              </a:rPr>
              <a:t>主线索</a:t>
            </a:r>
            <a:r>
              <a:rPr kumimoji="1" lang="en-US" altLang="zh-CN" dirty="0">
                <a:latin typeface="KaiTi" panose="02010609060101010101" pitchFamily="49" charset="-122"/>
                <a:ea typeface="KaiTi" panose="02010609060101010101" pitchFamily="49" charset="-122"/>
              </a:rPr>
              <a:t>的作用</a:t>
            </a:r>
          </a:p>
          <a:p>
            <a:pPr lvl="1"/>
            <a:r>
              <a:rPr kumimoji="1" lang="en-US" altLang="zh-CN" dirty="0">
                <a:latin typeface="KaiTi" panose="02010609060101010101" pitchFamily="49" charset="-122"/>
                <a:ea typeface="KaiTi" panose="02010609060101010101" pitchFamily="49" charset="-122"/>
              </a:rPr>
              <a:t>能够有效、及时地将获取的用户需求组织起来，展现、提供给分析活动</a:t>
            </a:r>
          </a:p>
          <a:p>
            <a:pPr lvl="1"/>
            <a:r>
              <a:rPr kumimoji="1" lang="en-US" altLang="zh-CN" dirty="0">
                <a:latin typeface="KaiTi" panose="02010609060101010101" pitchFamily="49" charset="-122"/>
                <a:ea typeface="KaiTi" panose="02010609060101010101" pitchFamily="49" charset="-122"/>
              </a:rPr>
              <a:t>在得到分析结果后指导后续获取活动</a:t>
            </a:r>
          </a:p>
          <a:p>
            <a:pPr>
              <a:buFont typeface="Wingdings" panose="05000000000000000000" charset="0"/>
              <a:buChar char=""/>
            </a:pPr>
            <a:r>
              <a:rPr kumimoji="1" lang="en-US" altLang="zh-CN" dirty="0">
                <a:latin typeface="KaiTi" panose="02010609060101010101" pitchFamily="49" charset="-122"/>
                <a:ea typeface="KaiTi" panose="02010609060101010101" pitchFamily="49" charset="-122"/>
              </a:rPr>
              <a:t>用例/场景模型的</a:t>
            </a:r>
            <a:r>
              <a:rPr kumimoji="1" lang="en-US" altLang="zh-CN" b="1" dirty="0">
                <a:solidFill>
                  <a:srgbClr val="870078"/>
                </a:solidFill>
                <a:latin typeface="KaiTi" panose="02010609060101010101" pitchFamily="49" charset="-122"/>
                <a:ea typeface="KaiTi" panose="02010609060101010101" pitchFamily="49" charset="-122"/>
              </a:rPr>
              <a:t>主要应用目标</a:t>
            </a:r>
            <a:endParaRPr kumimoji="1" lang="en-US" altLang="zh-CN" dirty="0">
              <a:latin typeface="KaiTi" panose="02010609060101010101" pitchFamily="49" charset="-122"/>
              <a:ea typeface="KaiTi" panose="02010609060101010101" pitchFamily="49" charset="-122"/>
            </a:endParaRPr>
          </a:p>
          <a:p>
            <a:pPr lvl="1"/>
            <a:r>
              <a:rPr kumimoji="1" lang="en-US" altLang="zh-CN" dirty="0">
                <a:latin typeface="KaiTi" panose="02010609060101010101" pitchFamily="49" charset="-122"/>
                <a:ea typeface="KaiTi" panose="02010609060101010101" pitchFamily="49" charset="-122"/>
              </a:rPr>
              <a:t>组织用户需求的内容</a:t>
            </a:r>
          </a:p>
          <a:p>
            <a:pPr lvl="1"/>
            <a:r>
              <a:rPr kumimoji="1" lang="en-US" altLang="zh-CN" dirty="0">
                <a:latin typeface="KaiTi" panose="02010609060101010101" pitchFamily="49" charset="-122"/>
                <a:ea typeface="KaiTi" panose="02010609060101010101" pitchFamily="49" charset="-122"/>
              </a:rPr>
              <a:t>将其组织结果提供给面向对象分析或结构化分析</a:t>
            </a:r>
          </a:p>
          <a:p>
            <a:pPr lvl="1"/>
            <a:r>
              <a:rPr kumimoji="1" lang="en-US" altLang="zh-CN" dirty="0">
                <a:latin typeface="KaiTi" panose="02010609060101010101" pitchFamily="49" charset="-122"/>
                <a:ea typeface="KaiTi" panose="02010609060101010101" pitchFamily="49" charset="-122"/>
              </a:rPr>
              <a:t>让面向对象分析或结构化分析进行地更顺利和更有目的性</a:t>
            </a:r>
          </a:p>
        </p:txBody>
      </p:sp>
      <p:sp>
        <p:nvSpPr>
          <p:cNvPr id="6" name="文本框 5"/>
          <p:cNvSpPr txBox="1"/>
          <p:nvPr/>
        </p:nvSpPr>
        <p:spPr>
          <a:xfrm>
            <a:off x="151596" y="16999"/>
            <a:ext cx="297688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sym typeface="+mn-ea"/>
              </a:rPr>
              <a:t>用户需求开发活动的展开</a:t>
            </a:r>
            <a:endParaRPr kumimoji="1" lang="en-US" altLang="zh-CN" sz="2000" dirty="0">
              <a:solidFill>
                <a:schemeClr val="bg1"/>
              </a:solidFill>
              <a:latin typeface="KaiTi" panose="02010609060101010101" pitchFamily="49" charset="-122"/>
              <a:ea typeface="KaiTi"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目录</a:t>
            </a:r>
          </a:p>
        </p:txBody>
      </p:sp>
      <p:sp>
        <p:nvSpPr>
          <p:cNvPr id="7" name="内容占位符 2"/>
          <p:cNvSpPr txBox="1"/>
          <p:nvPr/>
        </p:nvSpPr>
        <p:spPr>
          <a:xfrm>
            <a:off x="628650" y="1431290"/>
            <a:ext cx="7886700" cy="4745355"/>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kumimoji="1" lang="zh-CN" altLang="en-US" dirty="0">
                <a:solidFill>
                  <a:schemeClr val="tx1"/>
                </a:solidFill>
                <a:latin typeface="KaiTi" panose="02010609060101010101" pitchFamily="49" charset="-122"/>
                <a:ea typeface="KaiTi" panose="02010609060101010101" pitchFamily="49" charset="-122"/>
              </a:rPr>
              <a:t>用户需求开发活动的展开</a:t>
            </a:r>
          </a:p>
          <a:p>
            <a:r>
              <a:rPr kumimoji="1" lang="en-US" altLang="zh-CN" sz="2800" dirty="0">
                <a:solidFill>
                  <a:srgbClr val="FF0000"/>
                </a:solidFill>
                <a:latin typeface="KaiTi" panose="02010609060101010101" pitchFamily="49" charset="-122"/>
                <a:ea typeface="KaiTi" panose="02010609060101010101" pitchFamily="49" charset="-122"/>
                <a:sym typeface="+mn-ea"/>
              </a:rPr>
              <a:t>用例与场景</a:t>
            </a:r>
            <a:endParaRPr kumimoji="1" lang="en-US" altLang="zh-CN" sz="2800" dirty="0">
              <a:solidFill>
                <a:srgbClr val="FF0000"/>
              </a:solidFill>
              <a:latin typeface="KaiTi" panose="02010609060101010101" pitchFamily="49" charset="-122"/>
              <a:ea typeface="KaiTi" panose="02010609060101010101" pitchFamily="49" charset="-122"/>
            </a:endParaRPr>
          </a:p>
          <a:p>
            <a:pPr lvl="1"/>
            <a:r>
              <a:rPr kumimoji="1" lang="en-US" altLang="zh-CN" sz="2800" dirty="0">
                <a:solidFill>
                  <a:srgbClr val="FF0000"/>
                </a:solidFill>
                <a:latin typeface="KaiTi" panose="02010609060101010101" pitchFamily="49" charset="-122"/>
                <a:ea typeface="KaiTi" panose="02010609060101010101" pitchFamily="49" charset="-122"/>
                <a:sym typeface="+mn-ea"/>
              </a:rPr>
              <a:t>什么是用例/场景</a:t>
            </a:r>
            <a:endParaRPr kumimoji="1" lang="en-US" altLang="zh-CN" sz="2800" dirty="0">
              <a:solidFill>
                <a:srgbClr val="FF0000"/>
              </a:solidFill>
              <a:latin typeface="KaiTi" panose="02010609060101010101" pitchFamily="49" charset="-122"/>
              <a:ea typeface="KaiTi" panose="02010609060101010101" pitchFamily="49" charset="-122"/>
            </a:endParaRPr>
          </a:p>
          <a:p>
            <a:pPr lvl="1"/>
            <a:r>
              <a:rPr kumimoji="1" lang="en-US" altLang="zh-CN" sz="2800" dirty="0">
                <a:solidFill>
                  <a:srgbClr val="FF0000"/>
                </a:solidFill>
                <a:latin typeface="KaiTi" panose="02010609060101010101" pitchFamily="49" charset="-122"/>
                <a:ea typeface="KaiTi" panose="02010609060101010101" pitchFamily="49" charset="-122"/>
                <a:sym typeface="+mn-ea"/>
              </a:rPr>
              <a:t>用例/场景的组织特点</a:t>
            </a:r>
            <a:endParaRPr kumimoji="1" lang="en-US" altLang="zh-CN" sz="2800" dirty="0">
              <a:solidFill>
                <a:srgbClr val="FF0000"/>
              </a:solidFill>
              <a:latin typeface="KaiTi" panose="02010609060101010101" pitchFamily="49" charset="-122"/>
              <a:ea typeface="KaiTi" panose="02010609060101010101" pitchFamily="49" charset="-122"/>
            </a:endParaRPr>
          </a:p>
          <a:p>
            <a:pPr lvl="1"/>
            <a:r>
              <a:rPr kumimoji="1" lang="en-US" altLang="zh-CN" sz="2800" dirty="0">
                <a:solidFill>
                  <a:srgbClr val="FF0000"/>
                </a:solidFill>
                <a:latin typeface="KaiTi" panose="02010609060101010101" pitchFamily="49" charset="-122"/>
                <a:ea typeface="KaiTi" panose="02010609060101010101" pitchFamily="49" charset="-122"/>
                <a:sym typeface="+mn-ea"/>
              </a:rPr>
              <a:t>用例/场景的层次性</a:t>
            </a:r>
            <a:endParaRPr kumimoji="1" lang="en-US" altLang="zh-CN" sz="2800" dirty="0">
              <a:solidFill>
                <a:srgbClr val="FF0000"/>
              </a:solidFill>
              <a:latin typeface="KaiTi" panose="02010609060101010101" pitchFamily="49" charset="-122"/>
              <a:ea typeface="KaiTi" panose="02010609060101010101" pitchFamily="49" charset="-122"/>
            </a:endParaRPr>
          </a:p>
          <a:p>
            <a:pPr lvl="1"/>
            <a:r>
              <a:rPr kumimoji="1" lang="en-US" altLang="zh-CN" sz="2800" dirty="0">
                <a:solidFill>
                  <a:srgbClr val="FF0000"/>
                </a:solidFill>
                <a:latin typeface="KaiTi" panose="02010609060101010101" pitchFamily="49" charset="-122"/>
                <a:ea typeface="KaiTi" panose="02010609060101010101" pitchFamily="49" charset="-122"/>
                <a:sym typeface="+mn-ea"/>
              </a:rPr>
              <a:t>基于用例/场景进行软件开发</a:t>
            </a:r>
            <a:endParaRPr kumimoji="1" lang="zh-CN" altLang="en-US" dirty="0">
              <a:solidFill>
                <a:schemeClr val="tx1"/>
              </a:solidFill>
              <a:latin typeface="KaiTi" panose="02010609060101010101" pitchFamily="49" charset="-122"/>
              <a:ea typeface="KaiTi" panose="02010609060101010101" pitchFamily="49" charset="-122"/>
            </a:endParaRPr>
          </a:p>
          <a:p>
            <a:r>
              <a:rPr kumimoji="1" lang="en-US" altLang="zh-CN" dirty="0">
                <a:latin typeface="KaiTi" panose="02010609060101010101" pitchFamily="49" charset="-122"/>
                <a:ea typeface="KaiTi" panose="02010609060101010101" pitchFamily="49" charset="-122"/>
                <a:sym typeface="+mn-ea"/>
              </a:rPr>
              <a:t>用例/场景模型</a:t>
            </a:r>
            <a:endParaRPr kumimoji="1" lang="en-US" altLang="zh-CN" dirty="0">
              <a:latin typeface="KaiTi" panose="02010609060101010101" pitchFamily="49" charset="-122"/>
              <a:ea typeface="KaiTi" panose="02010609060101010101" pitchFamily="49" charset="-122"/>
            </a:endParaRPr>
          </a:p>
          <a:p>
            <a:r>
              <a:rPr kumimoji="1" lang="en-US" altLang="zh-CN" dirty="0" err="1">
                <a:latin typeface="KaiTi" panose="02010609060101010101" pitchFamily="49" charset="-122"/>
                <a:ea typeface="KaiTi" panose="02010609060101010101" pitchFamily="49" charset="-122"/>
                <a:sym typeface="+mn-ea"/>
              </a:rPr>
              <a:t>以用例</a:t>
            </a:r>
            <a:r>
              <a:rPr kumimoji="1" lang="en-US" altLang="zh-CN" dirty="0">
                <a:latin typeface="KaiTi" panose="02010609060101010101" pitchFamily="49" charset="-122"/>
                <a:ea typeface="KaiTi" panose="02010609060101010101" pitchFamily="49" charset="-122"/>
                <a:sym typeface="+mn-ea"/>
              </a:rPr>
              <a:t>/场景模型为主线索开展用户需求开发</a:t>
            </a:r>
            <a:endParaRPr kumimoji="1" lang="en-US" altLang="zh-CN" dirty="0">
              <a:latin typeface="KaiTi" panose="02010609060101010101" pitchFamily="49" charset="-122"/>
              <a:ea typeface="KaiTi" panose="02010609060101010101" pitchFamily="49" charset="-122"/>
            </a:endParaRPr>
          </a:p>
          <a:p>
            <a:r>
              <a:rPr kumimoji="1" lang="en-US" altLang="zh-CN" dirty="0">
                <a:latin typeface="KaiTi" panose="02010609060101010101" pitchFamily="49" charset="-122"/>
                <a:ea typeface="KaiTi" panose="02010609060101010101" pitchFamily="49" charset="-122"/>
                <a:sym typeface="+mn-ea"/>
              </a:rPr>
              <a:t>用户故事</a:t>
            </a:r>
            <a:endParaRPr kumimoji="1" lang="en-US" altLang="zh-CN" dirty="0">
              <a:latin typeface="KaiTi" panose="02010609060101010101" pitchFamily="49" charset="-122"/>
              <a:ea typeface="KaiTi" panose="02010609060101010101" pitchFamily="49" charset="-122"/>
            </a:endParaRPr>
          </a:p>
          <a:p>
            <a:endParaRPr kumimoji="1" lang="en-US" altLang="zh-CN" dirty="0">
              <a:solidFill>
                <a:srgbClr val="FF0000"/>
              </a:solidFill>
              <a:latin typeface="KaiTi" panose="02010609060101010101" pitchFamily="49" charset="-122"/>
              <a:ea typeface="KaiTi" panose="02010609060101010101" pitchFamily="49" charset="-122"/>
            </a:endParaRPr>
          </a:p>
          <a:p>
            <a:pPr lvl="1"/>
            <a:endParaRPr kumimoji="1" lang="en-US" altLang="zh-CN" dirty="0">
              <a:solidFill>
                <a:srgbClr val="FF0000"/>
              </a:solidFill>
              <a:latin typeface="KaiTi" panose="02010609060101010101" pitchFamily="49" charset="-122"/>
              <a:ea typeface="KaiTi" panose="02010609060101010101" pitchFamily="49" charset="-122"/>
            </a:endParaRPr>
          </a:p>
          <a:p>
            <a:pPr lvl="1"/>
            <a:endParaRPr kumimoji="1" lang="en-US" altLang="zh-CN" dirty="0">
              <a:solidFill>
                <a:srgbClr val="FF0000"/>
              </a:solidFill>
              <a:latin typeface="KaiTi" panose="02010609060101010101" pitchFamily="49" charset="-122"/>
              <a:ea typeface="KaiTi" panose="02010609060101010101" pitchFamily="49" charset="-122"/>
            </a:endParaRPr>
          </a:p>
          <a:p>
            <a:endParaRPr kumimoji="1" lang="en-US" altLang="zh-CN" dirty="0">
              <a:solidFill>
                <a:srgbClr val="FF0000"/>
              </a:solidFill>
              <a:latin typeface="KaiTi" panose="02010609060101010101" pitchFamily="49" charset="-122"/>
              <a:ea typeface="KaiTi" panose="02010609060101010101" pitchFamily="49" charset="-122"/>
            </a:endParaRPr>
          </a:p>
        </p:txBody>
      </p:sp>
      <p:sp>
        <p:nvSpPr>
          <p:cNvPr id="8" name="文本框 7"/>
          <p:cNvSpPr txBox="1"/>
          <p:nvPr/>
        </p:nvSpPr>
        <p:spPr>
          <a:xfrm>
            <a:off x="151596" y="16999"/>
            <a:ext cx="697627" cy="400110"/>
          </a:xfrm>
          <a:prstGeom prst="rect">
            <a:avLst/>
          </a:prstGeom>
          <a:noFill/>
        </p:spPr>
        <p:txBody>
          <a:bodyPr wrap="none" rtlCol="0">
            <a:spAutoFit/>
          </a:bodyPr>
          <a:lstStyle/>
          <a:p>
            <a:r>
              <a:rPr kumimoji="1" lang="zh-CN" altLang="en-US" sz="2000" dirty="0">
                <a:solidFill>
                  <a:schemeClr val="bg1"/>
                </a:solidFill>
                <a:latin typeface="KaiTi" panose="02010609060101010101" pitchFamily="49" charset="-122"/>
                <a:ea typeface="KaiTi" panose="02010609060101010101" pitchFamily="49" charset="-122"/>
              </a:rPr>
              <a:t>目录</a:t>
            </a:r>
            <a:endParaRPr kumimoji="1" lang="en-US" altLang="zh-CN" sz="2000" dirty="0">
              <a:solidFill>
                <a:schemeClr val="bg1"/>
              </a:solidFill>
              <a:latin typeface="KaiTi" panose="02010609060101010101" pitchFamily="49" charset="-122"/>
              <a:ea typeface="KaiTi" panose="02010609060101010101" pitchFamily="49"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场景</a:t>
            </a:r>
          </a:p>
        </p:txBody>
      </p:sp>
      <p:sp>
        <p:nvSpPr>
          <p:cNvPr id="3" name="内容占位符 2"/>
          <p:cNvSpPr txBox="1"/>
          <p:nvPr/>
        </p:nvSpPr>
        <p:spPr>
          <a:xfrm>
            <a:off x="628650" y="1430817"/>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fontAlgn="auto">
              <a:lnSpc>
                <a:spcPct val="120000"/>
              </a:lnSpc>
              <a:buFont typeface="Wingdings" panose="05000000000000000000" charset="0"/>
              <a:buChar char=""/>
            </a:pPr>
            <a:r>
              <a:rPr kumimoji="1" lang="en-US" altLang="zh-CN" dirty="0">
                <a:latin typeface="KaiTi" panose="02010609060101010101" pitchFamily="49" charset="-122"/>
                <a:ea typeface="KaiTi" panose="02010609060101010101" pitchFamily="49" charset="-122"/>
              </a:rPr>
              <a:t>场景是</a:t>
            </a:r>
            <a:r>
              <a:rPr kumimoji="1" lang="en-US" altLang="zh-CN" b="1" dirty="0">
                <a:solidFill>
                  <a:srgbClr val="870078"/>
                </a:solidFill>
                <a:latin typeface="KaiTi" panose="02010609060101010101" pitchFamily="49" charset="-122"/>
                <a:ea typeface="KaiTi" panose="02010609060101010101" pitchFamily="49" charset="-122"/>
              </a:rPr>
              <a:t>对行为或者事件序列的描述</a:t>
            </a:r>
            <a:r>
              <a:rPr kumimoji="1" lang="en-US" altLang="zh-CN" dirty="0">
                <a:latin typeface="KaiTi" panose="02010609060101010101" pitchFamily="49" charset="-122"/>
                <a:ea typeface="KaiTi" panose="02010609060101010101" pitchFamily="49" charset="-122"/>
              </a:rPr>
              <a:t>，序列中的行为和事件是系统需要完成的一个任务的特殊示例</a:t>
            </a:r>
          </a:p>
          <a:p>
            <a:pPr fontAlgn="auto">
              <a:lnSpc>
                <a:spcPct val="120000"/>
              </a:lnSpc>
              <a:buFont typeface="Wingdings" panose="05000000000000000000" charset="0"/>
              <a:buChar char=""/>
            </a:pPr>
            <a:r>
              <a:rPr kumimoji="1" lang="en-US" altLang="zh-CN" dirty="0">
                <a:latin typeface="KaiTi" panose="02010609060101010101" pitchFamily="49" charset="-122"/>
                <a:ea typeface="KaiTi" panose="02010609060101010101" pitchFamily="49" charset="-122"/>
              </a:rPr>
              <a:t>场景包含有</a:t>
            </a:r>
            <a:r>
              <a:rPr kumimoji="1" lang="en-US" altLang="zh-CN" b="1" dirty="0">
                <a:solidFill>
                  <a:srgbClr val="870078"/>
                </a:solidFill>
                <a:latin typeface="KaiTi" panose="02010609060101010101" pitchFamily="49" charset="-122"/>
                <a:ea typeface="KaiTi" panose="02010609060101010101" pitchFamily="49" charset="-122"/>
              </a:rPr>
              <a:t>行为序列和行为发生的环境</a:t>
            </a:r>
            <a:r>
              <a:rPr kumimoji="1" lang="en-US" altLang="zh-CN" dirty="0">
                <a:latin typeface="KaiTi" panose="02010609060101010101" pitchFamily="49" charset="-122"/>
                <a:ea typeface="KaiTi" panose="02010609060101010101" pitchFamily="49" charset="-122"/>
              </a:rPr>
              <a:t>，环境描述了行为的主体、客体和上下文设置</a:t>
            </a:r>
          </a:p>
          <a:p>
            <a:pPr fontAlgn="auto">
              <a:lnSpc>
                <a:spcPct val="120000"/>
              </a:lnSpc>
              <a:buFont typeface="Wingdings" panose="05000000000000000000" charset="0"/>
              <a:buChar char=""/>
            </a:pPr>
            <a:r>
              <a:rPr kumimoji="1" lang="en-US" altLang="zh-CN" dirty="0">
                <a:latin typeface="KaiTi" panose="02010609060101010101" pitchFamily="49" charset="-122"/>
                <a:ea typeface="KaiTi" panose="02010609060101010101" pitchFamily="49" charset="-122"/>
              </a:rPr>
              <a:t>场景具有</a:t>
            </a:r>
            <a:r>
              <a:rPr kumimoji="1" lang="en-US" altLang="zh-CN" b="1" dirty="0">
                <a:solidFill>
                  <a:srgbClr val="870078"/>
                </a:solidFill>
                <a:latin typeface="KaiTi" panose="02010609060101010101" pitchFamily="49" charset="-122"/>
                <a:ea typeface="KaiTi" panose="02010609060101010101" pitchFamily="49" charset="-122"/>
              </a:rPr>
              <a:t>重点描述真实世界</a:t>
            </a:r>
            <a:r>
              <a:rPr kumimoji="1" lang="en-US" altLang="zh-CN" dirty="0">
                <a:latin typeface="KaiTi" panose="02010609060101010101" pitchFamily="49" charset="-122"/>
                <a:ea typeface="KaiTi" panose="02010609060101010101" pitchFamily="49" charset="-122"/>
              </a:rPr>
              <a:t>的特征，它利用情景、行为者之间的交互、事件随时间的演化等方式来叙述性地描述系统的使用</a:t>
            </a:r>
          </a:p>
          <a:p>
            <a:pPr>
              <a:lnSpc>
                <a:spcPct val="100000"/>
              </a:lnSpc>
            </a:pPr>
            <a:endParaRPr kumimoji="1" lang="en-US" altLang="zh-CN" dirty="0">
              <a:latin typeface="KaiTi" panose="02010609060101010101" pitchFamily="49" charset="-122"/>
              <a:ea typeface="KaiTi" panose="02010609060101010101" pitchFamily="49" charset="-122"/>
            </a:endParaRPr>
          </a:p>
        </p:txBody>
      </p:sp>
      <p:sp>
        <p:nvSpPr>
          <p:cNvPr id="6" name="文本框 5"/>
          <p:cNvSpPr txBox="1"/>
          <p:nvPr/>
        </p:nvSpPr>
        <p:spPr>
          <a:xfrm>
            <a:off x="151596" y="16999"/>
            <a:ext cx="145288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rPr>
              <a:t>用例与场景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以场景为单位组织用户需求（和问题域特性）</a:t>
            </a:r>
          </a:p>
        </p:txBody>
      </p:sp>
      <p:sp>
        <p:nvSpPr>
          <p:cNvPr id="3" name="内容占位符 2"/>
          <p:cNvSpPr txBox="1"/>
          <p:nvPr/>
        </p:nvSpPr>
        <p:spPr>
          <a:xfrm>
            <a:off x="628650" y="1430817"/>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buFont typeface="Wingdings" panose="05000000000000000000" charset="0"/>
              <a:buChar char=""/>
            </a:pPr>
            <a:r>
              <a:rPr kumimoji="1" lang="en-US" altLang="zh-CN" dirty="0">
                <a:latin typeface="KaiTi" panose="02010609060101010101" pitchFamily="49" charset="-122"/>
                <a:ea typeface="KaiTi" panose="02010609060101010101" pitchFamily="49" charset="-122"/>
              </a:rPr>
              <a:t>很受实践者欢迎</a:t>
            </a:r>
          </a:p>
          <a:p>
            <a:pPr lvl="1"/>
            <a:r>
              <a:rPr kumimoji="1" lang="en-US" altLang="zh-CN" dirty="0">
                <a:latin typeface="KaiTi" panose="02010609060101010101" pitchFamily="49" charset="-122"/>
                <a:ea typeface="KaiTi" panose="02010609060101010101" pitchFamily="49" charset="-122"/>
              </a:rPr>
              <a:t>易于接受</a:t>
            </a:r>
          </a:p>
          <a:p>
            <a:pPr lvl="1"/>
            <a:r>
              <a:rPr kumimoji="1" lang="en-US" altLang="zh-CN" dirty="0">
                <a:latin typeface="KaiTi" panose="02010609060101010101" pitchFamily="49" charset="-122"/>
                <a:ea typeface="KaiTi" panose="02010609060101010101" pitchFamily="49" charset="-122"/>
              </a:rPr>
              <a:t>易于使用</a:t>
            </a:r>
          </a:p>
          <a:p>
            <a:pPr lvl="1"/>
            <a:r>
              <a:rPr kumimoji="1" lang="en-US" altLang="zh-CN" dirty="0">
                <a:latin typeface="KaiTi" panose="02010609060101010101" pitchFamily="49" charset="-122"/>
                <a:ea typeface="KaiTi" panose="02010609060101010101" pitchFamily="49" charset="-122"/>
              </a:rPr>
              <a:t>用例驱动</a:t>
            </a:r>
          </a:p>
          <a:p>
            <a:pPr lvl="1"/>
            <a:endParaRPr kumimoji="1" lang="en-US" altLang="zh-CN" dirty="0">
              <a:latin typeface="KaiTi" panose="02010609060101010101" pitchFamily="49" charset="-122"/>
              <a:ea typeface="KaiTi" panose="02010609060101010101" pitchFamily="49" charset="-122"/>
            </a:endParaRPr>
          </a:p>
          <a:p>
            <a:pPr>
              <a:buFont typeface="Wingdings" panose="05000000000000000000" charset="0"/>
              <a:buChar char=""/>
            </a:pPr>
            <a:r>
              <a:rPr kumimoji="1" lang="en-US" altLang="zh-CN" dirty="0">
                <a:latin typeface="KaiTi" panose="02010609060101010101" pitchFamily="49" charset="-122"/>
                <a:ea typeface="KaiTi" panose="02010609060101010101" pitchFamily="49" charset="-122"/>
              </a:rPr>
              <a:t>方法多样，差异性很大</a:t>
            </a:r>
          </a:p>
          <a:p>
            <a:pPr lvl="1"/>
            <a:r>
              <a:rPr kumimoji="1" lang="en-US" altLang="zh-CN" dirty="0">
                <a:latin typeface="KaiTi" panose="02010609060101010101" pitchFamily="49" charset="-122"/>
                <a:ea typeface="KaiTi" panose="02010609060101010101" pitchFamily="49" charset="-122"/>
              </a:rPr>
              <a:t>可以用来处理 业务需求 和系统级需求</a:t>
            </a:r>
          </a:p>
          <a:p>
            <a:pPr lvl="1"/>
            <a:r>
              <a:rPr kumimoji="1" lang="en-US" altLang="zh-CN" dirty="0">
                <a:latin typeface="KaiTi" panose="02010609060101010101" pitchFamily="49" charset="-122"/>
                <a:ea typeface="KaiTi" panose="02010609060101010101" pitchFamily="49" charset="-122"/>
              </a:rPr>
              <a:t>还可以用来处理  设计问题、测试问题……</a:t>
            </a:r>
          </a:p>
        </p:txBody>
      </p:sp>
      <p:sp>
        <p:nvSpPr>
          <p:cNvPr id="6" name="文本框 5"/>
          <p:cNvSpPr txBox="1"/>
          <p:nvPr/>
        </p:nvSpPr>
        <p:spPr>
          <a:xfrm>
            <a:off x="151596" y="16999"/>
            <a:ext cx="145288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rPr>
              <a:t>用例与场景</a:t>
            </a:r>
          </a:p>
        </p:txBody>
      </p:sp>
      <p:pic>
        <p:nvPicPr>
          <p:cNvPr id="4" name="图片 3" descr="截屏2024-11-14 09.41.33"/>
          <p:cNvPicPr>
            <a:picLocks noChangeAspect="1"/>
          </p:cNvPicPr>
          <p:nvPr/>
        </p:nvPicPr>
        <p:blipFill>
          <a:blip r:embed="rId2"/>
          <a:stretch>
            <a:fillRect/>
          </a:stretch>
        </p:blipFill>
        <p:spPr>
          <a:xfrm>
            <a:off x="4451985" y="1722755"/>
            <a:ext cx="1576070" cy="1536065"/>
          </a:xfrm>
          <a:prstGeom prst="rect">
            <a:avLst/>
          </a:prstGeom>
        </p:spPr>
      </p:pic>
      <p:sp>
        <p:nvSpPr>
          <p:cNvPr id="5" name="云形标注 4"/>
          <p:cNvSpPr/>
          <p:nvPr/>
        </p:nvSpPr>
        <p:spPr>
          <a:xfrm rot="420000">
            <a:off x="5853430" y="1343025"/>
            <a:ext cx="1576705" cy="1187450"/>
          </a:xfrm>
          <a:prstGeom prst="cloudCallou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2000">
                <a:solidFill>
                  <a:schemeClr val="tx1"/>
                </a:solidFill>
                <a:effectLst>
                  <a:glow rad="63500">
                    <a:schemeClr val="accent1">
                      <a:satMod val="175000"/>
                      <a:alpha val="40000"/>
                    </a:schemeClr>
                  </a:glow>
                </a:effectLst>
                <a:latin typeface="Times New Roman Regular" panose="02020603050405020304" charset="0"/>
                <a:cs typeface="Times New Roman Regular" panose="02020603050405020304" charset="0"/>
              </a:rPr>
              <a:t>Happy</a:t>
            </a:r>
            <a:r>
              <a:rPr lang="zh-CN" altLang="en-US" sz="2000">
                <a:solidFill>
                  <a:schemeClr val="tx1"/>
                </a:solidFill>
                <a:effectLst>
                  <a:glow rad="63500">
                    <a:schemeClr val="accent1">
                      <a:satMod val="175000"/>
                      <a:alpha val="40000"/>
                    </a:schemeClr>
                  </a:glow>
                </a:effectLst>
                <a:latin typeface="Times New Roman Regular" panose="02020603050405020304" charset="0"/>
                <a:cs typeface="Times New Roman Regular" panose="0202060305040502030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5862"/>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场景类型及其使用程度分布</a:t>
            </a:r>
          </a:p>
        </p:txBody>
      </p:sp>
      <p:sp>
        <p:nvSpPr>
          <p:cNvPr id="3" name="内容占位符 2"/>
          <p:cNvSpPr txBox="1"/>
          <p:nvPr/>
        </p:nvSpPr>
        <p:spPr>
          <a:xfrm>
            <a:off x="628650" y="1430817"/>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kumimoji="1" lang="en-US" altLang="zh-CN" dirty="0">
                <a:latin typeface="KaiTi" panose="02010609060101010101" pitchFamily="49" charset="-122"/>
                <a:ea typeface="KaiTi" panose="02010609060101010101" pitchFamily="49" charset="-122"/>
                <a:sym typeface="+mn-ea"/>
              </a:rPr>
              <a:t>从宽泛的意义上讲，示例、情景、上下文环境的叙述性描述、原型、序列图、脚本等都是场景常见的表现形式</a:t>
            </a:r>
            <a:endParaRPr kumimoji="1" lang="en-US" altLang="zh-CN" dirty="0">
              <a:latin typeface="KaiTi" panose="02010609060101010101" pitchFamily="49" charset="-122"/>
              <a:ea typeface="KaiTi" panose="02010609060101010101" pitchFamily="49" charset="-122"/>
            </a:endParaRPr>
          </a:p>
          <a:p>
            <a:endParaRPr kumimoji="1" lang="en-US" altLang="zh-CN" dirty="0">
              <a:latin typeface="KaiTi" panose="02010609060101010101" pitchFamily="49" charset="-122"/>
              <a:ea typeface="KaiTi" panose="02010609060101010101" pitchFamily="49" charset="-122"/>
            </a:endParaRPr>
          </a:p>
        </p:txBody>
      </p:sp>
      <p:sp>
        <p:nvSpPr>
          <p:cNvPr id="6" name="文本框 5"/>
          <p:cNvSpPr txBox="1"/>
          <p:nvPr/>
        </p:nvSpPr>
        <p:spPr>
          <a:xfrm>
            <a:off x="151596" y="16999"/>
            <a:ext cx="145288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rPr>
              <a:t>用例与场景</a:t>
            </a:r>
          </a:p>
        </p:txBody>
      </p:sp>
      <p:graphicFrame>
        <p:nvGraphicFramePr>
          <p:cNvPr id="13317" name="Object 4"/>
          <p:cNvGraphicFramePr>
            <a:graphicFrameLocks noChangeAspect="1"/>
          </p:cNvGraphicFramePr>
          <p:nvPr>
            <p:custDataLst>
              <p:tags r:id="rId1"/>
            </p:custDataLst>
          </p:nvPr>
        </p:nvGraphicFramePr>
        <p:xfrm>
          <a:off x="309880" y="2611120"/>
          <a:ext cx="8244205" cy="3698875"/>
        </p:xfrm>
        <a:graphic>
          <a:graphicData uri="http://schemas.openxmlformats.org/presentationml/2006/ole">
            <mc:AlternateContent xmlns:mc="http://schemas.openxmlformats.org/markup-compatibility/2006">
              <mc:Choice xmlns:v="urn:schemas-microsoft-com:vml" Requires="v">
                <p:oleObj r:id="rId3" imgW="4475480" imgH="2007870" progId="MSGraph.Chart.8">
                  <p:embed/>
                </p:oleObj>
              </mc:Choice>
              <mc:Fallback>
                <p:oleObj r:id="rId3" imgW="4475480" imgH="2007870" progId="MSGraph.Chart.8">
                  <p:embed/>
                  <p:pic>
                    <p:nvPicPr>
                      <p:cNvPr id="13317" name="Object 4"/>
                      <p:cNvPicPr/>
                      <p:nvPr/>
                    </p:nvPicPr>
                    <p:blipFill>
                      <a:blip r:embed="rId4"/>
                      <a:stretch>
                        <a:fillRect/>
                      </a:stretch>
                    </p:blipFill>
                    <p:spPr>
                      <a:xfrm>
                        <a:off x="309880" y="2611120"/>
                        <a:ext cx="8244205" cy="3698875"/>
                      </a:xfrm>
                      <a:prstGeom prst="rect">
                        <a:avLst/>
                      </a:prstGeom>
                      <a:noFill/>
                      <a:ln w="38100">
                        <a:noFill/>
                        <a:miter/>
                      </a:ln>
                    </p:spPr>
                  </p:pic>
                </p:oleObj>
              </mc:Fallback>
            </mc:AlternateContent>
          </a:graphicData>
        </a:graphic>
      </p:graphicFrame>
      <p:grpSp>
        <p:nvGrpSpPr>
          <p:cNvPr id="10" name="组合 9"/>
          <p:cNvGrpSpPr/>
          <p:nvPr/>
        </p:nvGrpSpPr>
        <p:grpSpPr>
          <a:xfrm>
            <a:off x="7955915" y="5570220"/>
            <a:ext cx="953770" cy="624441"/>
            <a:chOff x="11284" y="3713"/>
            <a:chExt cx="1631" cy="1070"/>
          </a:xfrm>
        </p:grpSpPr>
        <p:grpSp>
          <p:nvGrpSpPr>
            <p:cNvPr id="9" name="组合 8"/>
            <p:cNvGrpSpPr/>
            <p:nvPr/>
          </p:nvGrpSpPr>
          <p:grpSpPr>
            <a:xfrm>
              <a:off x="11284" y="3713"/>
              <a:ext cx="1617" cy="720"/>
              <a:chOff x="11284" y="3713"/>
              <a:chExt cx="1524" cy="628"/>
            </a:xfrm>
          </p:grpSpPr>
          <p:sp>
            <p:nvSpPr>
              <p:cNvPr id="5" name="矩形 4"/>
              <p:cNvSpPr/>
              <p:nvPr/>
            </p:nvSpPr>
            <p:spPr>
              <a:xfrm>
                <a:off x="11284" y="3713"/>
                <a:ext cx="1525" cy="628"/>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矩形 6"/>
              <p:cNvSpPr/>
              <p:nvPr/>
            </p:nvSpPr>
            <p:spPr>
              <a:xfrm>
                <a:off x="11451" y="3853"/>
                <a:ext cx="335" cy="299"/>
              </a:xfrm>
              <a:prstGeom prst="rect">
                <a:avLst/>
              </a:prstGeom>
              <a:solidFill>
                <a:srgbClr val="9999FF"/>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8" name="文本框 7"/>
            <p:cNvSpPr txBox="1"/>
            <p:nvPr/>
          </p:nvSpPr>
          <p:spPr>
            <a:xfrm>
              <a:off x="11817" y="3783"/>
              <a:ext cx="1098" cy="1000"/>
            </a:xfrm>
            <a:prstGeom prst="rect">
              <a:avLst/>
            </a:prstGeom>
            <a:noFill/>
          </p:spPr>
          <p:txBody>
            <a:bodyPr wrap="square" rtlCol="0">
              <a:spAutoFit/>
            </a:bodyPr>
            <a:lstStyle/>
            <a:p>
              <a:r>
                <a:rPr lang="zh-CN" altLang="en-US" sz="1600">
                  <a:latin typeface="楷体" charset="0"/>
                  <a:ea typeface="楷体" charset="0"/>
                </a:rPr>
                <a:t>数量</a:t>
              </a:r>
            </a:p>
          </p:txBody>
        </p:sp>
      </p:grpSp>
      <p:sp>
        <p:nvSpPr>
          <p:cNvPr id="11" name="文本框 10"/>
          <p:cNvSpPr txBox="1"/>
          <p:nvPr/>
        </p:nvSpPr>
        <p:spPr>
          <a:xfrm>
            <a:off x="217170" y="5864225"/>
            <a:ext cx="3959860" cy="522605"/>
          </a:xfrm>
          <a:prstGeom prst="rect">
            <a:avLst/>
          </a:prstGeom>
          <a:noFill/>
          <a:ln>
            <a:noFill/>
          </a:ln>
        </p:spPr>
        <p:txBody>
          <a:bodyPr wrap="square" rtlCol="0">
            <a:noAutofit/>
          </a:bodyPr>
          <a:lstStyle/>
          <a:p>
            <a:r>
              <a:rPr lang="zh-CN" altLang="en-US" sz="900">
                <a:latin typeface="Times New Roman Regular" panose="02020603050405020304" charset="0"/>
                <a:cs typeface="Times New Roman Regular" panose="02020603050405020304" charset="0"/>
              </a:rPr>
              <a:t>Jarke M, Pohl K, Haumer P, et al. Scenario use in european software organisations-Results from site visits and Questionnaires[J]. ESPRIT Reactive Long Term Research Project, 1997, 21.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用例</a:t>
            </a:r>
          </a:p>
        </p:txBody>
      </p:sp>
      <p:sp>
        <p:nvSpPr>
          <p:cNvPr id="3" name="内容占位符 2"/>
          <p:cNvSpPr txBox="1"/>
          <p:nvPr/>
        </p:nvSpPr>
        <p:spPr>
          <a:xfrm>
            <a:off x="628650" y="1430817"/>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buFont typeface="Wingdings" panose="05000000000000000000" charset="0"/>
              <a:buChar char=""/>
            </a:pPr>
            <a:r>
              <a:rPr kumimoji="1" lang="en-US" altLang="zh-CN" dirty="0">
                <a:latin typeface="KaiTi" panose="02010609060101010101" pitchFamily="49" charset="-122"/>
                <a:ea typeface="KaiTi" panose="02010609060101010101" pitchFamily="49" charset="-122"/>
              </a:rPr>
              <a:t>用例</a:t>
            </a:r>
          </a:p>
          <a:p>
            <a:pPr lvl="1">
              <a:buFont typeface="Arial" panose="020B0604020202090204" pitchFamily="34" charset="0"/>
              <a:buChar char="•"/>
            </a:pPr>
            <a:r>
              <a:rPr kumimoji="1" lang="en-US" altLang="zh-CN" dirty="0">
                <a:latin typeface="KaiTi" panose="02010609060101010101" pitchFamily="49" charset="-122"/>
                <a:ea typeface="KaiTi" panose="02010609060101010101" pitchFamily="49" charset="-122"/>
              </a:rPr>
              <a:t>相关</a:t>
            </a:r>
            <a:r>
              <a:rPr kumimoji="1" lang="en-US" altLang="zh-CN" b="1" dirty="0">
                <a:solidFill>
                  <a:srgbClr val="870078"/>
                </a:solidFill>
                <a:latin typeface="KaiTi" panose="02010609060101010101" pitchFamily="49" charset="-122"/>
                <a:ea typeface="KaiTi" panose="02010609060101010101" pitchFamily="49" charset="-122"/>
              </a:rPr>
              <a:t>场景集合</a:t>
            </a:r>
            <a:r>
              <a:rPr kumimoji="1" lang="en-US" altLang="zh-CN" dirty="0">
                <a:latin typeface="KaiTi" panose="02010609060101010101" pitchFamily="49" charset="-122"/>
                <a:ea typeface="KaiTi" panose="02010609060101010101" pitchFamily="49" charset="-122"/>
              </a:rPr>
              <a:t>的叙述性的</a:t>
            </a:r>
            <a:r>
              <a:rPr kumimoji="1" lang="en-US" altLang="zh-CN" b="1" dirty="0">
                <a:solidFill>
                  <a:srgbClr val="870078"/>
                </a:solidFill>
                <a:latin typeface="KaiTi" panose="02010609060101010101" pitchFamily="49" charset="-122"/>
                <a:ea typeface="KaiTi" panose="02010609060101010101" pitchFamily="49" charset="-122"/>
              </a:rPr>
              <a:t>文本描述</a:t>
            </a:r>
            <a:r>
              <a:rPr kumimoji="1" lang="en-US" altLang="zh-CN" dirty="0">
                <a:latin typeface="KaiTi" panose="02010609060101010101" pitchFamily="49" charset="-122"/>
                <a:ea typeface="KaiTi" panose="02010609060101010101" pitchFamily="49" charset="-122"/>
              </a:rPr>
              <a:t> </a:t>
            </a:r>
          </a:p>
          <a:p>
            <a:pPr lvl="1">
              <a:buFont typeface="Arial" panose="020B0604020202090204" pitchFamily="34" charset="0"/>
              <a:buChar char="•"/>
            </a:pPr>
            <a:r>
              <a:rPr kumimoji="1" lang="en-US" altLang="zh-CN" dirty="0">
                <a:latin typeface="Times New Roman Regular" panose="02020603050405020304" charset="0"/>
                <a:ea typeface="KaiTi" panose="02010609060101010101" pitchFamily="49" charset="-122"/>
                <a:cs typeface="Times New Roman Regular" panose="02020603050405020304" charset="0"/>
              </a:rPr>
              <a:t>用例的概念是[Jacobson1992]最先在Objectory方法中提出的</a:t>
            </a:r>
          </a:p>
          <a:p>
            <a:pPr algn="l">
              <a:lnSpc>
                <a:spcPct val="100000"/>
              </a:lnSpc>
              <a:buFont typeface="Wingdings" panose="05000000000000000000" charset="0"/>
              <a:buChar char=""/>
            </a:pPr>
            <a:r>
              <a:rPr kumimoji="1" lang="en-US" altLang="zh-CN" sz="2400" dirty="0">
                <a:latin typeface="Times New Roman Regular" panose="02020603050405020304" charset="0"/>
                <a:ea typeface="楷体" charset="0"/>
                <a:cs typeface="Times New Roman Regular" panose="02020603050405020304" charset="0"/>
              </a:rPr>
              <a:t>UML</a:t>
            </a:r>
            <a:r>
              <a:rPr kumimoji="1" lang="en-US" altLang="zh-CN" dirty="0">
                <a:latin typeface="楷体" charset="0"/>
                <a:ea typeface="楷体" charset="0"/>
                <a:cs typeface="楷体" charset="0"/>
              </a:rPr>
              <a:t>将用例定义为“在系统（或者子系统或者类）和外部对象的</a:t>
            </a:r>
            <a:r>
              <a:rPr kumimoji="1" lang="en-US" altLang="zh-CN" b="1" dirty="0">
                <a:solidFill>
                  <a:srgbClr val="870078"/>
                </a:solidFill>
                <a:latin typeface="楷体" charset="0"/>
                <a:ea typeface="楷体" charset="0"/>
                <a:cs typeface="楷体" charset="0"/>
              </a:rPr>
              <a:t>交互</a:t>
            </a:r>
            <a:r>
              <a:rPr kumimoji="1" lang="en-US" altLang="zh-CN" dirty="0">
                <a:latin typeface="楷体" charset="0"/>
                <a:ea typeface="楷体" charset="0"/>
                <a:cs typeface="楷体" charset="0"/>
              </a:rPr>
              <a:t>当中所执行的</a:t>
            </a:r>
            <a:r>
              <a:rPr kumimoji="1" lang="en-US" altLang="zh-CN" b="1" dirty="0">
                <a:solidFill>
                  <a:srgbClr val="870078"/>
                </a:solidFill>
                <a:latin typeface="楷体" charset="0"/>
                <a:ea typeface="楷体" charset="0"/>
                <a:cs typeface="楷体" charset="0"/>
              </a:rPr>
              <a:t>行为序列的描述</a:t>
            </a:r>
            <a:r>
              <a:rPr kumimoji="1" lang="en-US" altLang="zh-CN" dirty="0">
                <a:latin typeface="楷体" charset="0"/>
                <a:ea typeface="楷体" charset="0"/>
                <a:cs typeface="楷体" charset="0"/>
              </a:rPr>
              <a:t>，包括各种不同的序列和错误的序列，它们能够联合提供一种有价值的服</a:t>
            </a:r>
            <a:r>
              <a:rPr kumimoji="1" lang="zh-CN" altLang="en-US" dirty="0">
                <a:latin typeface="楷体" charset="0"/>
                <a:ea typeface="楷体" charset="0"/>
                <a:cs typeface="楷体" charset="0"/>
              </a:rPr>
              <a:t>务”</a:t>
            </a:r>
            <a:r>
              <a:rPr kumimoji="1" lang="en-US" altLang="zh-CN" dirty="0">
                <a:latin typeface="Times New Roman Regular" panose="02020603050405020304" charset="0"/>
                <a:ea typeface="楷体" charset="0"/>
                <a:cs typeface="Times New Roman Regular" panose="02020603050405020304" charset="0"/>
              </a:rPr>
              <a:t>[Rumbaugh2004]</a:t>
            </a:r>
          </a:p>
        </p:txBody>
      </p:sp>
      <p:sp>
        <p:nvSpPr>
          <p:cNvPr id="6" name="文本框 5"/>
          <p:cNvSpPr txBox="1"/>
          <p:nvPr/>
        </p:nvSpPr>
        <p:spPr>
          <a:xfrm>
            <a:off x="151596" y="16999"/>
            <a:ext cx="145288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rPr>
              <a:t>用例与场景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5862"/>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用例与场景的关系</a:t>
            </a:r>
          </a:p>
        </p:txBody>
      </p:sp>
      <p:sp>
        <p:nvSpPr>
          <p:cNvPr id="3" name="内容占位符 2"/>
          <p:cNvSpPr txBox="1"/>
          <p:nvPr/>
        </p:nvSpPr>
        <p:spPr>
          <a:xfrm>
            <a:off x="628650" y="1430817"/>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spcAft>
                <a:spcPts val="600"/>
              </a:spcAft>
              <a:buFont typeface="Wingdings" panose="05000000000000000000" charset="0"/>
              <a:buChar char=""/>
            </a:pPr>
            <a:r>
              <a:rPr kumimoji="1" lang="en-US" altLang="zh-CN" dirty="0">
                <a:latin typeface="KaiTi" panose="02010609060101010101" pitchFamily="49" charset="-122"/>
                <a:ea typeface="KaiTi" panose="02010609060101010101" pitchFamily="49" charset="-122"/>
              </a:rPr>
              <a:t>每个</a:t>
            </a:r>
            <a:r>
              <a:rPr kumimoji="1" lang="en-US" altLang="zh-CN" b="1" dirty="0">
                <a:solidFill>
                  <a:srgbClr val="870078"/>
                </a:solidFill>
                <a:latin typeface="KaiTi" panose="02010609060101010101" pitchFamily="49" charset="-122"/>
                <a:ea typeface="KaiTi" panose="02010609060101010101" pitchFamily="49" charset="-122"/>
              </a:rPr>
              <a:t>用例是对相关场景集合</a:t>
            </a:r>
            <a:r>
              <a:rPr kumimoji="1" lang="en-US" altLang="zh-CN" dirty="0">
                <a:latin typeface="KaiTi" panose="02010609060101010101" pitchFamily="49" charset="-122"/>
                <a:ea typeface="KaiTi" panose="02010609060101010101" pitchFamily="49" charset="-122"/>
              </a:rPr>
              <a:t>——同一个目标下的多个场景的叙述性的文本描述</a:t>
            </a:r>
          </a:p>
          <a:p>
            <a:pPr lvl="1">
              <a:spcAft>
                <a:spcPts val="1800"/>
              </a:spcAft>
            </a:pPr>
            <a:r>
              <a:rPr kumimoji="1" lang="en-US" altLang="zh-CN" dirty="0">
                <a:latin typeface="KaiTi" panose="02010609060101010101" pitchFamily="49" charset="-122"/>
                <a:ea typeface="KaiTi" panose="02010609060101010101" pitchFamily="49" charset="-122"/>
              </a:rPr>
              <a:t>这些场景是用户和系统之间的交互行为序列，互有重合、互为补充共同实现用户的目的</a:t>
            </a:r>
          </a:p>
          <a:p>
            <a:pPr>
              <a:spcAft>
                <a:spcPts val="2400"/>
              </a:spcAft>
              <a:buFont typeface="Wingdings" panose="05000000000000000000" charset="0"/>
              <a:buChar char=""/>
            </a:pPr>
            <a:r>
              <a:rPr kumimoji="1" lang="en-US" altLang="zh-CN" dirty="0">
                <a:latin typeface="KaiTi" panose="02010609060101010101" pitchFamily="49" charset="-122"/>
                <a:ea typeface="KaiTi" panose="02010609060101010101" pitchFamily="49" charset="-122"/>
                <a:sym typeface="+mn-ea"/>
              </a:rPr>
              <a:t>一个用例承载了所有和用户某一个</a:t>
            </a:r>
            <a:r>
              <a:rPr kumimoji="1" lang="en-US" altLang="zh-CN" b="1" dirty="0">
                <a:solidFill>
                  <a:srgbClr val="870078"/>
                </a:solidFill>
                <a:latin typeface="KaiTi" panose="02010609060101010101" pitchFamily="49" charset="-122"/>
                <a:ea typeface="KaiTi" panose="02010609060101010101" pitchFamily="49" charset="-122"/>
                <a:sym typeface="+mn-ea"/>
              </a:rPr>
              <a:t>目标相关</a:t>
            </a:r>
            <a:r>
              <a:rPr kumimoji="1" lang="en-US" altLang="zh-CN" dirty="0">
                <a:latin typeface="KaiTi" panose="02010609060101010101" pitchFamily="49" charset="-122"/>
                <a:ea typeface="KaiTi" panose="02010609060101010101" pitchFamily="49" charset="-122"/>
                <a:sym typeface="+mn-ea"/>
              </a:rPr>
              <a:t>的成功和失败场景的集合</a:t>
            </a:r>
          </a:p>
          <a:p>
            <a:pPr>
              <a:spcAft>
                <a:spcPts val="2400"/>
              </a:spcAft>
              <a:buFont typeface="Wingdings" panose="05000000000000000000" charset="0"/>
              <a:buChar char=""/>
            </a:pPr>
            <a:r>
              <a:rPr kumimoji="1" lang="en-US" altLang="zh-CN" dirty="0">
                <a:latin typeface="KaiTi" panose="02010609060101010101" pitchFamily="49" charset="-122"/>
                <a:ea typeface="KaiTi" panose="02010609060101010101" pitchFamily="49" charset="-122"/>
              </a:rPr>
              <a:t>用例是一个理想的容器，以外部视图和描述系统可观察行为的方式记录系统的</a:t>
            </a:r>
            <a:r>
              <a:rPr kumimoji="1" lang="en-US" altLang="zh-CN" b="1" dirty="0">
                <a:solidFill>
                  <a:srgbClr val="870078"/>
                </a:solidFill>
                <a:latin typeface="KaiTi" panose="02010609060101010101" pitchFamily="49" charset="-122"/>
                <a:ea typeface="KaiTi" panose="02010609060101010101" pitchFamily="49" charset="-122"/>
              </a:rPr>
              <a:t>功能需求</a:t>
            </a:r>
            <a:endParaRPr kumimoji="1" lang="en-US" altLang="zh-CN" b="1" dirty="0">
              <a:latin typeface="KaiTi" panose="02010609060101010101" pitchFamily="49" charset="-122"/>
              <a:ea typeface="KaiTi" panose="02010609060101010101" pitchFamily="49" charset="-122"/>
            </a:endParaRPr>
          </a:p>
          <a:p>
            <a:endParaRPr kumimoji="1" lang="en-US" altLang="zh-CN" dirty="0">
              <a:latin typeface="KaiTi" panose="02010609060101010101" pitchFamily="49" charset="-122"/>
              <a:ea typeface="KaiTi" panose="02010609060101010101" pitchFamily="49" charset="-122"/>
            </a:endParaRPr>
          </a:p>
          <a:p>
            <a:endParaRPr kumimoji="1" lang="en-US" altLang="zh-CN" dirty="0">
              <a:latin typeface="KaiTi" panose="02010609060101010101" pitchFamily="49" charset="-122"/>
              <a:ea typeface="KaiTi" panose="02010609060101010101" pitchFamily="49" charset="-122"/>
            </a:endParaRPr>
          </a:p>
        </p:txBody>
      </p:sp>
      <p:sp>
        <p:nvSpPr>
          <p:cNvPr id="6" name="文本框 5"/>
          <p:cNvSpPr txBox="1"/>
          <p:nvPr/>
        </p:nvSpPr>
        <p:spPr>
          <a:xfrm>
            <a:off x="151596" y="16999"/>
            <a:ext cx="145288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rPr>
              <a:t>用例与场景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5862"/>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用例与场景的关系示例</a:t>
            </a:r>
          </a:p>
        </p:txBody>
      </p:sp>
      <p:sp>
        <p:nvSpPr>
          <p:cNvPr id="3" name="内容占位符 2"/>
          <p:cNvSpPr txBox="1"/>
          <p:nvPr/>
        </p:nvSpPr>
        <p:spPr>
          <a:xfrm>
            <a:off x="628650" y="1430817"/>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endParaRPr kumimoji="1" lang="en-US" altLang="zh-CN" dirty="0">
              <a:latin typeface="KaiTi" panose="02010609060101010101" pitchFamily="49" charset="-122"/>
              <a:ea typeface="KaiTi" panose="02010609060101010101" pitchFamily="49" charset="-122"/>
            </a:endParaRPr>
          </a:p>
          <a:p>
            <a:endParaRPr kumimoji="1" lang="en-US" altLang="zh-CN" dirty="0">
              <a:latin typeface="KaiTi" panose="02010609060101010101" pitchFamily="49" charset="-122"/>
              <a:ea typeface="KaiTi" panose="02010609060101010101" pitchFamily="49" charset="-122"/>
            </a:endParaRPr>
          </a:p>
        </p:txBody>
      </p:sp>
      <p:sp>
        <p:nvSpPr>
          <p:cNvPr id="6" name="文本框 5"/>
          <p:cNvSpPr txBox="1"/>
          <p:nvPr/>
        </p:nvSpPr>
        <p:spPr>
          <a:xfrm>
            <a:off x="151596" y="16999"/>
            <a:ext cx="145288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rPr>
              <a:t>用例与场景</a:t>
            </a:r>
          </a:p>
        </p:txBody>
      </p:sp>
      <p:pic>
        <p:nvPicPr>
          <p:cNvPr id="7" name="图片 6" descr="截屏2024-11-12 14.56.57"/>
          <p:cNvPicPr>
            <a:picLocks noChangeAspect="1"/>
          </p:cNvPicPr>
          <p:nvPr/>
        </p:nvPicPr>
        <p:blipFill>
          <a:blip r:embed="rId2"/>
          <a:stretch>
            <a:fillRect/>
          </a:stretch>
        </p:blipFill>
        <p:spPr>
          <a:xfrm>
            <a:off x="812800" y="1104900"/>
            <a:ext cx="7432675" cy="4976495"/>
          </a:xfrm>
          <a:prstGeom prst="rect">
            <a:avLst/>
          </a:prstGeom>
        </p:spPr>
      </p:pic>
      <p:sp>
        <p:nvSpPr>
          <p:cNvPr id="12" name="文本框 11"/>
          <p:cNvSpPr txBox="1"/>
          <p:nvPr/>
        </p:nvSpPr>
        <p:spPr>
          <a:xfrm>
            <a:off x="4724400" y="5262880"/>
            <a:ext cx="3644265" cy="931545"/>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w="9525" cap="flat" cmpd="sng">
            <a:noFill/>
            <a:prstDash val="solid"/>
          </a:ln>
        </p:spPr>
        <p:txBody>
          <a:bodyPr wrap="square" rtlCol="0">
            <a:noAutofit/>
          </a:bodyPr>
          <a:lstStyle/>
          <a:p>
            <a:r>
              <a:rPr lang="zh-CN" altLang="en-US">
                <a:solidFill>
                  <a:srgbClr val="7030A0"/>
                </a:solidFill>
                <a:latin typeface="楷体" charset="0"/>
                <a:ea typeface="楷体" charset="0"/>
                <a:cs typeface="楷体" charset="0"/>
                <a:sym typeface="+mn-ea"/>
              </a:rPr>
              <a:t>用例是一个理想的容器，以外部视图和描述系统可观察行为的方式记录系统的功能需求。</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5862"/>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用例与场景的关系案例——汇文书刊</a:t>
            </a:r>
          </a:p>
        </p:txBody>
      </p:sp>
      <p:sp>
        <p:nvSpPr>
          <p:cNvPr id="3" name="内容占位符 2"/>
          <p:cNvSpPr txBox="1"/>
          <p:nvPr/>
        </p:nvSpPr>
        <p:spPr>
          <a:xfrm>
            <a:off x="628650" y="1430817"/>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endParaRPr kumimoji="1" lang="en-US" altLang="zh-CN" dirty="0">
              <a:latin typeface="KaiTi" panose="02010609060101010101" pitchFamily="49" charset="-122"/>
              <a:ea typeface="KaiTi" panose="02010609060101010101" pitchFamily="49" charset="-122"/>
            </a:endParaRPr>
          </a:p>
          <a:p>
            <a:endParaRPr kumimoji="1" lang="en-US" altLang="zh-CN" dirty="0">
              <a:latin typeface="KaiTi" panose="02010609060101010101" pitchFamily="49" charset="-122"/>
              <a:ea typeface="KaiTi" panose="02010609060101010101" pitchFamily="49" charset="-122"/>
            </a:endParaRPr>
          </a:p>
        </p:txBody>
      </p:sp>
      <p:sp>
        <p:nvSpPr>
          <p:cNvPr id="6" name="文本框 5"/>
          <p:cNvSpPr txBox="1"/>
          <p:nvPr/>
        </p:nvSpPr>
        <p:spPr>
          <a:xfrm>
            <a:off x="151596" y="16999"/>
            <a:ext cx="145288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rPr>
              <a:t>用例与场景</a:t>
            </a:r>
          </a:p>
        </p:txBody>
      </p:sp>
      <p:grpSp>
        <p:nvGrpSpPr>
          <p:cNvPr id="22" name="组合 21"/>
          <p:cNvGrpSpPr/>
          <p:nvPr/>
        </p:nvGrpSpPr>
        <p:grpSpPr>
          <a:xfrm>
            <a:off x="720090" y="1754505"/>
            <a:ext cx="3805555" cy="4262755"/>
            <a:chOff x="718" y="3041"/>
            <a:chExt cx="5993" cy="6713"/>
          </a:xfrm>
        </p:grpSpPr>
        <p:sp>
          <p:nvSpPr>
            <p:cNvPr id="10" name="圆角矩形 9"/>
            <p:cNvSpPr/>
            <p:nvPr/>
          </p:nvSpPr>
          <p:spPr>
            <a:xfrm>
              <a:off x="718" y="5807"/>
              <a:ext cx="2412" cy="1125"/>
            </a:xfrm>
            <a:prstGeom prst="roundRect">
              <a:avLst/>
            </a:prstGeom>
            <a:solidFill>
              <a:schemeClr val="accent1">
                <a:lumMod val="5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400">
                  <a:latin typeface="楷体" charset="0"/>
                  <a:ea typeface="楷体" charset="0"/>
                </a:rPr>
                <a:t>购书场景</a:t>
              </a:r>
            </a:p>
          </p:txBody>
        </p:sp>
        <p:grpSp>
          <p:nvGrpSpPr>
            <p:cNvPr id="17" name="组合 16"/>
            <p:cNvGrpSpPr/>
            <p:nvPr/>
          </p:nvGrpSpPr>
          <p:grpSpPr>
            <a:xfrm>
              <a:off x="4577" y="3041"/>
              <a:ext cx="2134" cy="6713"/>
              <a:chOff x="4456" y="3041"/>
              <a:chExt cx="2134" cy="6713"/>
            </a:xfrm>
          </p:grpSpPr>
          <p:sp>
            <p:nvSpPr>
              <p:cNvPr id="11" name="圆角矩形 10"/>
              <p:cNvSpPr/>
              <p:nvPr/>
            </p:nvSpPr>
            <p:spPr>
              <a:xfrm>
                <a:off x="4456" y="3041"/>
                <a:ext cx="2135" cy="939"/>
              </a:xfrm>
              <a:prstGeom prst="roundRect">
                <a:avLst/>
              </a:prstGeom>
              <a:solidFill>
                <a:schemeClr val="accent6">
                  <a:lumMod val="5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a:latin typeface="楷体" charset="0"/>
                    <a:ea typeface="楷体" charset="0"/>
                  </a:rPr>
                  <a:t>顺利下单</a:t>
                </a:r>
              </a:p>
            </p:txBody>
          </p:sp>
          <p:sp>
            <p:nvSpPr>
              <p:cNvPr id="13" name="圆角矩形 12"/>
              <p:cNvSpPr/>
              <p:nvPr>
                <p:custDataLst>
                  <p:tags r:id="rId2"/>
                </p:custDataLst>
              </p:nvPr>
            </p:nvSpPr>
            <p:spPr>
              <a:xfrm>
                <a:off x="4456" y="4453"/>
                <a:ext cx="2135" cy="1032"/>
              </a:xfrm>
              <a:prstGeom prst="roundRect">
                <a:avLst/>
              </a:prstGeom>
              <a:solidFill>
                <a:schemeClr val="accent6">
                  <a:lumMod val="5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buClrTx/>
                  <a:buSzTx/>
                  <a:buFontTx/>
                </a:pPr>
                <a:r>
                  <a:rPr lang="zh-CN" altLang="en-US" sz="2000">
                    <a:latin typeface="楷体" charset="0"/>
                    <a:ea typeface="楷体" charset="0"/>
                  </a:rPr>
                  <a:t>库存不足未能下单</a:t>
                </a:r>
              </a:p>
            </p:txBody>
          </p:sp>
          <p:sp>
            <p:nvSpPr>
              <p:cNvPr id="14" name="圆角矩形 13"/>
              <p:cNvSpPr/>
              <p:nvPr>
                <p:custDataLst>
                  <p:tags r:id="rId3"/>
                </p:custDataLst>
              </p:nvPr>
            </p:nvSpPr>
            <p:spPr>
              <a:xfrm>
                <a:off x="4456" y="5958"/>
                <a:ext cx="2135" cy="973"/>
              </a:xfrm>
              <a:prstGeom prst="roundRect">
                <a:avLst/>
              </a:prstGeom>
              <a:solidFill>
                <a:schemeClr val="accent6">
                  <a:lumMod val="5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a:latin typeface="楷体" charset="0"/>
                    <a:ea typeface="楷体" charset="0"/>
                  </a:rPr>
                  <a:t>支付失败未能下单</a:t>
                </a:r>
                <a:endParaRPr lang="zh-CN" altLang="en-US"/>
              </a:p>
            </p:txBody>
          </p:sp>
          <p:sp>
            <p:nvSpPr>
              <p:cNvPr id="15" name="圆角矩形 14"/>
              <p:cNvSpPr/>
              <p:nvPr>
                <p:custDataLst>
                  <p:tags r:id="rId4"/>
                </p:custDataLst>
              </p:nvPr>
            </p:nvSpPr>
            <p:spPr>
              <a:xfrm>
                <a:off x="4456" y="7404"/>
                <a:ext cx="2135" cy="939"/>
              </a:xfrm>
              <a:prstGeom prst="roundRect">
                <a:avLst/>
              </a:prstGeom>
              <a:solidFill>
                <a:schemeClr val="accent6">
                  <a:lumMod val="5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a:latin typeface="楷体" charset="0"/>
                    <a:ea typeface="楷体" charset="0"/>
                  </a:rPr>
                  <a:t>中途取消未能下单</a:t>
                </a:r>
              </a:p>
            </p:txBody>
          </p:sp>
          <p:sp>
            <p:nvSpPr>
              <p:cNvPr id="16" name="圆角矩形 15"/>
              <p:cNvSpPr/>
              <p:nvPr>
                <p:custDataLst>
                  <p:tags r:id="rId5"/>
                </p:custDataLst>
              </p:nvPr>
            </p:nvSpPr>
            <p:spPr>
              <a:xfrm>
                <a:off x="4456" y="8816"/>
                <a:ext cx="2135" cy="939"/>
              </a:xfrm>
              <a:prstGeom prst="roundRect">
                <a:avLst/>
              </a:prstGeom>
              <a:solidFill>
                <a:schemeClr val="accent6">
                  <a:lumMod val="5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a:latin typeface="楷体" charset="0"/>
                    <a:ea typeface="楷体" charset="0"/>
                  </a:rPr>
                  <a:t>信息缺失未能下单</a:t>
                </a:r>
                <a:endParaRPr lang="zh-CN" altLang="en-US"/>
              </a:p>
            </p:txBody>
          </p:sp>
        </p:grpSp>
        <p:sp>
          <p:nvSpPr>
            <p:cNvPr id="18" name="左大括号 17"/>
            <p:cNvSpPr/>
            <p:nvPr/>
          </p:nvSpPr>
          <p:spPr>
            <a:xfrm>
              <a:off x="3271" y="3332"/>
              <a:ext cx="1027" cy="6002"/>
            </a:xfrm>
            <a:prstGeom prst="leftBrace">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grpSp>
      <p:sp>
        <p:nvSpPr>
          <p:cNvPr id="23" name="文本框 22"/>
          <p:cNvSpPr txBox="1"/>
          <p:nvPr/>
        </p:nvSpPr>
        <p:spPr>
          <a:xfrm>
            <a:off x="5193030" y="2045970"/>
            <a:ext cx="3044825" cy="2837180"/>
          </a:xfrm>
          <a:prstGeom prst="rect">
            <a:avLst/>
          </a:prstGeom>
          <a:noFill/>
          <a:ln w="19050" cap="rnd" cmpd="sng">
            <a:solidFill>
              <a:srgbClr val="870078"/>
            </a:solidFill>
            <a:prstDash val="dashDot"/>
          </a:ln>
        </p:spPr>
        <p:txBody>
          <a:bodyPr wrap="square" rtlCol="0" anchor="ctr" anchorCtr="1">
            <a:noAutofit/>
          </a:bodyPr>
          <a:lstStyle/>
          <a:p>
            <a:r>
              <a:rPr lang="zh-CN" altLang="en-US" sz="2000" b="1" dirty="0">
                <a:solidFill>
                  <a:srgbClr val="870078"/>
                </a:solidFill>
                <a:latin typeface="楷体" charset="0"/>
                <a:ea typeface="楷体" charset="0"/>
                <a:cs typeface="楷体" charset="0"/>
              </a:rPr>
              <a:t>共同前提要求：</a:t>
            </a:r>
          </a:p>
          <a:p>
            <a:r>
              <a:rPr lang="zh-CN" altLang="en-US" sz="2000" dirty="0">
                <a:latin typeface="楷体" charset="0"/>
                <a:ea typeface="楷体" charset="0"/>
                <a:cs typeface="楷体" charset="0"/>
              </a:rPr>
              <a:t>用户已注册并登录，商品已上传并在库存中</a:t>
            </a:r>
          </a:p>
          <a:p>
            <a:endParaRPr lang="zh-CN" altLang="en-US" sz="2000" dirty="0">
              <a:solidFill>
                <a:srgbClr val="870078"/>
              </a:solidFill>
              <a:latin typeface="楷体" charset="0"/>
              <a:ea typeface="楷体" charset="0"/>
              <a:cs typeface="楷体" charset="0"/>
            </a:endParaRPr>
          </a:p>
          <a:p>
            <a:r>
              <a:rPr lang="zh-CN" altLang="en-US" sz="2000" b="1" dirty="0">
                <a:solidFill>
                  <a:srgbClr val="870078"/>
                </a:solidFill>
                <a:latin typeface="楷体" charset="0"/>
                <a:ea typeface="楷体" charset="0"/>
                <a:cs typeface="楷体" charset="0"/>
              </a:rPr>
              <a:t>共同结果要求：</a:t>
            </a:r>
          </a:p>
          <a:p>
            <a:r>
              <a:rPr lang="zh-CN" altLang="en-US" sz="2000" dirty="0">
                <a:latin typeface="楷体" charset="0"/>
                <a:ea typeface="楷体" charset="0"/>
                <a:cs typeface="楷体" charset="0"/>
              </a:rPr>
              <a:t>系统成功生成订单，库存数据同步更新</a:t>
            </a:r>
          </a:p>
        </p:txBody>
      </p:sp>
      <p:sp>
        <p:nvSpPr>
          <p:cNvPr id="5" name="文本框 4"/>
          <p:cNvSpPr txBox="1"/>
          <p:nvPr/>
        </p:nvSpPr>
        <p:spPr>
          <a:xfrm>
            <a:off x="492125" y="1109345"/>
            <a:ext cx="7103745" cy="368300"/>
          </a:xfrm>
          <a:prstGeom prst="rect">
            <a:avLst/>
          </a:prstGeom>
          <a:noFill/>
        </p:spPr>
        <p:txBody>
          <a:bodyPr wrap="square" rtlCol="0">
            <a:spAutoFit/>
          </a:bodyPr>
          <a:lstStyle/>
          <a:p>
            <a:r>
              <a:rPr lang="zh-CN" altLang="en-US">
                <a:latin typeface="楷体" charset="0"/>
                <a:ea typeface="楷体" charset="0"/>
              </a:rPr>
              <a:t>在金蝶为汇文书刊定制的网上书店购物商城系统中进行线上下单购书</a:t>
            </a:r>
          </a:p>
        </p:txBody>
      </p:sp>
      <p:pic>
        <p:nvPicPr>
          <p:cNvPr id="4" name="图片 3">
            <a:hlinkClick r:id="rId7" action="ppaction://hlinkfile"/>
          </p:cNvPr>
          <p:cNvPicPr>
            <a:picLocks noChangeAspect="1"/>
          </p:cNvPicPr>
          <p:nvPr>
            <p:custDataLst>
              <p:tags r:id="rId1"/>
            </p:custDataLst>
          </p:nvPr>
        </p:nvPicPr>
        <p:blipFill>
          <a:blip r:embed="rId8"/>
          <a:stretch>
            <a:fillRect/>
          </a:stretch>
        </p:blipFill>
        <p:spPr>
          <a:xfrm>
            <a:off x="7509366" y="595368"/>
            <a:ext cx="1215822" cy="65623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5862"/>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场景1：顺利下单</a:t>
            </a:r>
          </a:p>
        </p:txBody>
      </p:sp>
      <p:sp>
        <p:nvSpPr>
          <p:cNvPr id="3" name="内容占位符 2"/>
          <p:cNvSpPr txBox="1"/>
          <p:nvPr/>
        </p:nvSpPr>
        <p:spPr>
          <a:xfrm>
            <a:off x="628650" y="1430817"/>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kumimoji="1" lang="en-US" altLang="zh-CN" dirty="0">
                <a:latin typeface="KaiTi" panose="02010609060101010101" pitchFamily="49" charset="-122"/>
                <a:ea typeface="KaiTi" panose="02010609060101010101" pitchFamily="49" charset="-122"/>
              </a:rPr>
              <a:t>客户浏览图书商城并选择所需图书，点击“加入购物车”。</a:t>
            </a:r>
          </a:p>
          <a:p>
            <a:r>
              <a:rPr kumimoji="1" lang="en-US" altLang="zh-CN" dirty="0">
                <a:latin typeface="KaiTi" panose="02010609060101010101" pitchFamily="49" charset="-122"/>
                <a:ea typeface="KaiTi" panose="02010609060101010101" pitchFamily="49" charset="-122"/>
              </a:rPr>
              <a:t>客户进入购物车页面，查看所选图书并确认数量与总价。</a:t>
            </a:r>
          </a:p>
          <a:p>
            <a:r>
              <a:rPr kumimoji="1" lang="en-US" altLang="zh-CN" dirty="0">
                <a:latin typeface="KaiTi" panose="02010609060101010101" pitchFamily="49" charset="-122"/>
                <a:ea typeface="KaiTi" panose="02010609060101010101" pitchFamily="49" charset="-122"/>
              </a:rPr>
              <a:t>客户填写收货信息（收货地址、联系方式）。</a:t>
            </a:r>
          </a:p>
          <a:p>
            <a:r>
              <a:rPr kumimoji="1" lang="en-US" altLang="zh-CN" dirty="0">
                <a:latin typeface="KaiTi" panose="02010609060101010101" pitchFamily="49" charset="-122"/>
                <a:ea typeface="KaiTi" panose="02010609060101010101" pitchFamily="49" charset="-122"/>
              </a:rPr>
              <a:t>客户选择支付方式并完成支付。</a:t>
            </a:r>
          </a:p>
          <a:p>
            <a:r>
              <a:rPr kumimoji="1" lang="en-US" altLang="zh-CN" dirty="0">
                <a:latin typeface="KaiTi" panose="02010609060101010101" pitchFamily="49" charset="-122"/>
                <a:ea typeface="KaiTi" panose="02010609060101010101" pitchFamily="49" charset="-122"/>
              </a:rPr>
              <a:t>系统生成订单并实时更新库存，发送订单确认通知给客户。</a:t>
            </a:r>
          </a:p>
          <a:p>
            <a:r>
              <a:rPr kumimoji="1" lang="en-US" altLang="zh-CN" dirty="0">
                <a:latin typeface="KaiTi" panose="02010609060101010101" pitchFamily="49" charset="-122"/>
                <a:ea typeface="KaiTi" panose="02010609060101010101" pitchFamily="49" charset="-122"/>
              </a:rPr>
              <a:t>仓储人员收到发货请求</a:t>
            </a:r>
            <a:r>
              <a:rPr kumimoji="1" lang="zh-CN" altLang="en-US" dirty="0">
                <a:latin typeface="KaiTi" panose="02010609060101010101" pitchFamily="49" charset="-122"/>
                <a:ea typeface="KaiTi" panose="02010609060101010101" pitchFamily="49" charset="-122"/>
              </a:rPr>
              <a:t>，</a:t>
            </a:r>
            <a:r>
              <a:rPr kumimoji="1" lang="en-US" altLang="zh-CN" dirty="0">
                <a:latin typeface="KaiTi" panose="02010609060101010101" pitchFamily="49" charset="-122"/>
                <a:ea typeface="KaiTi" panose="02010609060101010101" pitchFamily="49" charset="-122"/>
              </a:rPr>
              <a:t>安排图书配送。</a:t>
            </a:r>
          </a:p>
          <a:p>
            <a:endParaRPr kumimoji="1" lang="en-US" altLang="zh-CN" dirty="0">
              <a:latin typeface="KaiTi" panose="02010609060101010101" pitchFamily="49" charset="-122"/>
              <a:ea typeface="KaiTi" panose="02010609060101010101" pitchFamily="49" charset="-122"/>
            </a:endParaRPr>
          </a:p>
        </p:txBody>
      </p:sp>
      <p:sp>
        <p:nvSpPr>
          <p:cNvPr id="6" name="文本框 5"/>
          <p:cNvSpPr txBox="1"/>
          <p:nvPr/>
        </p:nvSpPr>
        <p:spPr>
          <a:xfrm>
            <a:off x="151596" y="16999"/>
            <a:ext cx="145288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rPr>
              <a:t>用例与场景</a:t>
            </a:r>
          </a:p>
        </p:txBody>
      </p:sp>
      <p:pic>
        <p:nvPicPr>
          <p:cNvPr id="4" name="图片 3">
            <a:hlinkClick r:id="rId3" action="ppaction://hlinkfile"/>
          </p:cNvPr>
          <p:cNvPicPr>
            <a:picLocks noChangeAspect="1"/>
          </p:cNvPicPr>
          <p:nvPr>
            <p:custDataLst>
              <p:tags r:id="rId1"/>
            </p:custDataLst>
          </p:nvPr>
        </p:nvPicPr>
        <p:blipFill>
          <a:blip r:embed="rId4"/>
          <a:stretch>
            <a:fillRect/>
          </a:stretch>
        </p:blipFill>
        <p:spPr>
          <a:xfrm>
            <a:off x="7475076" y="561078"/>
            <a:ext cx="1215822" cy="65623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5862"/>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场景2：库存不足，未能下单</a:t>
            </a:r>
          </a:p>
        </p:txBody>
      </p:sp>
      <p:sp>
        <p:nvSpPr>
          <p:cNvPr id="3" name="内容占位符 2"/>
          <p:cNvSpPr txBox="1"/>
          <p:nvPr/>
        </p:nvSpPr>
        <p:spPr>
          <a:xfrm>
            <a:off x="628650" y="1430817"/>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kumimoji="1" lang="en-US" altLang="zh-CN" dirty="0">
                <a:latin typeface="KaiTi" panose="02010609060101010101" pitchFamily="49" charset="-122"/>
                <a:ea typeface="KaiTi" panose="02010609060101010101" pitchFamily="49" charset="-122"/>
              </a:rPr>
              <a:t>客户浏览图书商城并选择所需图书，点击“加入购物车”。</a:t>
            </a:r>
          </a:p>
          <a:p>
            <a:r>
              <a:rPr kumimoji="1" lang="en-US" altLang="zh-CN" dirty="0">
                <a:latin typeface="KaiTi" panose="02010609060101010101" pitchFamily="49" charset="-122"/>
                <a:ea typeface="KaiTi" panose="02010609060101010101" pitchFamily="49" charset="-122"/>
              </a:rPr>
              <a:t>客户进入购物车页面并准备下单。</a:t>
            </a:r>
          </a:p>
          <a:p>
            <a:r>
              <a:rPr kumimoji="1" lang="en-US" altLang="zh-CN" dirty="0">
                <a:latin typeface="KaiTi" panose="02010609060101010101" pitchFamily="49" charset="-122"/>
                <a:ea typeface="KaiTi" panose="02010609060101010101" pitchFamily="49" charset="-122"/>
              </a:rPr>
              <a:t>系统发现某些图书库存不足，提示客户缺货，无法完成订单。</a:t>
            </a:r>
          </a:p>
          <a:p>
            <a:r>
              <a:rPr kumimoji="1" lang="en-US" altLang="zh-CN" dirty="0">
                <a:latin typeface="KaiTi" panose="02010609060101010101" pitchFamily="49" charset="-122"/>
                <a:ea typeface="KaiTi" panose="02010609060101010101" pitchFamily="49" charset="-122"/>
              </a:rPr>
              <a:t>客户选择删除缺货商品或调整图书数量，然后重新尝试下单。</a:t>
            </a:r>
          </a:p>
        </p:txBody>
      </p:sp>
      <p:sp>
        <p:nvSpPr>
          <p:cNvPr id="6" name="文本框 5"/>
          <p:cNvSpPr txBox="1"/>
          <p:nvPr/>
        </p:nvSpPr>
        <p:spPr>
          <a:xfrm>
            <a:off x="151596" y="16999"/>
            <a:ext cx="145288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rPr>
              <a:t>用例与场景</a:t>
            </a:r>
          </a:p>
        </p:txBody>
      </p:sp>
      <p:pic>
        <p:nvPicPr>
          <p:cNvPr id="4" name="图片 3">
            <a:hlinkClick r:id="rId3" action="ppaction://hlinkfile"/>
          </p:cNvPr>
          <p:cNvPicPr>
            <a:picLocks noChangeAspect="1"/>
          </p:cNvPicPr>
          <p:nvPr>
            <p:custDataLst>
              <p:tags r:id="rId1"/>
            </p:custDataLst>
          </p:nvPr>
        </p:nvPicPr>
        <p:blipFill>
          <a:blip r:embed="rId4"/>
          <a:stretch>
            <a:fillRect/>
          </a:stretch>
        </p:blipFill>
        <p:spPr>
          <a:xfrm>
            <a:off x="7475076" y="561078"/>
            <a:ext cx="1215822" cy="65623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5862"/>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场景3：支付失败，未能下单</a:t>
            </a:r>
          </a:p>
        </p:txBody>
      </p:sp>
      <p:sp>
        <p:nvSpPr>
          <p:cNvPr id="3" name="内容占位符 2"/>
          <p:cNvSpPr txBox="1"/>
          <p:nvPr/>
        </p:nvSpPr>
        <p:spPr>
          <a:xfrm>
            <a:off x="628650" y="1430817"/>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kumimoji="1" lang="en-US" altLang="zh-CN" dirty="0">
                <a:latin typeface="KaiTi" panose="02010609060101010101" pitchFamily="49" charset="-122"/>
                <a:ea typeface="KaiTi" panose="02010609060101010101" pitchFamily="49" charset="-122"/>
              </a:rPr>
              <a:t>客户浏览图书商城，选择所需图书并加入购物车。</a:t>
            </a:r>
          </a:p>
          <a:p>
            <a:r>
              <a:rPr kumimoji="1" lang="en-US" altLang="zh-CN" dirty="0">
                <a:latin typeface="KaiTi" panose="02010609060101010101" pitchFamily="49" charset="-122"/>
                <a:ea typeface="KaiTi" panose="02010609060101010101" pitchFamily="49" charset="-122"/>
              </a:rPr>
              <a:t>客户进入购物车页面确认所需图书，填写收货信息并选择支付方式。</a:t>
            </a:r>
          </a:p>
          <a:p>
            <a:r>
              <a:rPr kumimoji="1" lang="en-US" altLang="zh-CN" dirty="0">
                <a:latin typeface="KaiTi" panose="02010609060101010101" pitchFamily="49" charset="-122"/>
                <a:ea typeface="KaiTi" panose="02010609060101010101" pitchFamily="49" charset="-122"/>
              </a:rPr>
              <a:t>客户尝试完成支付，但因账户余额不足或支付系统故障导致支付失败。</a:t>
            </a:r>
          </a:p>
          <a:p>
            <a:r>
              <a:rPr kumimoji="1" lang="en-US" altLang="zh-CN" dirty="0">
                <a:latin typeface="KaiTi" panose="02010609060101010101" pitchFamily="49" charset="-122"/>
                <a:ea typeface="KaiTi" panose="02010609060101010101" pitchFamily="49" charset="-122"/>
              </a:rPr>
              <a:t>系统提示支付失败，客户可选择更换支付方式或稍后重试。</a:t>
            </a:r>
          </a:p>
        </p:txBody>
      </p:sp>
      <p:sp>
        <p:nvSpPr>
          <p:cNvPr id="6" name="文本框 5"/>
          <p:cNvSpPr txBox="1"/>
          <p:nvPr/>
        </p:nvSpPr>
        <p:spPr>
          <a:xfrm>
            <a:off x="151596" y="16999"/>
            <a:ext cx="145288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rPr>
              <a:t>用例与场景</a:t>
            </a:r>
          </a:p>
        </p:txBody>
      </p:sp>
      <p:pic>
        <p:nvPicPr>
          <p:cNvPr id="4" name="图片 3">
            <a:hlinkClick r:id="rId3" action="ppaction://hlinkfile"/>
          </p:cNvPr>
          <p:cNvPicPr>
            <a:picLocks noChangeAspect="1"/>
          </p:cNvPicPr>
          <p:nvPr>
            <p:custDataLst>
              <p:tags r:id="rId1"/>
            </p:custDataLst>
          </p:nvPr>
        </p:nvPicPr>
        <p:blipFill>
          <a:blip r:embed="rId4"/>
          <a:stretch>
            <a:fillRect/>
          </a:stretch>
        </p:blipFill>
        <p:spPr>
          <a:xfrm>
            <a:off x="7475076" y="561078"/>
            <a:ext cx="1215822" cy="65623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5862"/>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场景4：中途取消，未能下单</a:t>
            </a:r>
          </a:p>
        </p:txBody>
      </p:sp>
      <p:sp>
        <p:nvSpPr>
          <p:cNvPr id="3" name="内容占位符 2"/>
          <p:cNvSpPr txBox="1"/>
          <p:nvPr/>
        </p:nvSpPr>
        <p:spPr>
          <a:xfrm>
            <a:off x="628650" y="144161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kumimoji="1" lang="en-US" altLang="zh-CN" dirty="0">
                <a:latin typeface="KaiTi" panose="02010609060101010101" pitchFamily="49" charset="-122"/>
                <a:ea typeface="KaiTi" panose="02010609060101010101" pitchFamily="49" charset="-122"/>
              </a:rPr>
              <a:t>客户浏览图书商城并选择所需图书加入购物车。</a:t>
            </a:r>
          </a:p>
          <a:p>
            <a:r>
              <a:rPr kumimoji="1" lang="en-US" altLang="zh-CN" dirty="0">
                <a:latin typeface="KaiTi" panose="02010609060101010101" pitchFamily="49" charset="-122"/>
                <a:ea typeface="KaiTi" panose="02010609060101010101" pitchFamily="49" charset="-122"/>
              </a:rPr>
              <a:t>客户进入购物车页面并准备下单。</a:t>
            </a:r>
          </a:p>
          <a:p>
            <a:r>
              <a:rPr kumimoji="1" lang="en-US" altLang="zh-CN" dirty="0">
                <a:latin typeface="KaiTi" panose="02010609060101010101" pitchFamily="49" charset="-122"/>
                <a:ea typeface="KaiTi" panose="02010609060101010101" pitchFamily="49" charset="-122"/>
              </a:rPr>
              <a:t>客户在填写收货信息时决定取消订单，点击“取消”。</a:t>
            </a:r>
          </a:p>
          <a:p>
            <a:r>
              <a:rPr kumimoji="1" lang="en-US" altLang="zh-CN" dirty="0">
                <a:latin typeface="KaiTi" panose="02010609060101010101" pitchFamily="49" charset="-122"/>
                <a:ea typeface="KaiTi" panose="02010609060101010101" pitchFamily="49" charset="-122"/>
              </a:rPr>
              <a:t>系统取消当前订单操作，返回客户至购物车页面。</a:t>
            </a:r>
          </a:p>
        </p:txBody>
      </p:sp>
      <p:sp>
        <p:nvSpPr>
          <p:cNvPr id="6" name="文本框 5"/>
          <p:cNvSpPr txBox="1"/>
          <p:nvPr/>
        </p:nvSpPr>
        <p:spPr>
          <a:xfrm>
            <a:off x="151596" y="16999"/>
            <a:ext cx="145288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rPr>
              <a:t>用例与场景</a:t>
            </a:r>
          </a:p>
        </p:txBody>
      </p:sp>
      <p:pic>
        <p:nvPicPr>
          <p:cNvPr id="4" name="图片 3">
            <a:hlinkClick r:id="rId3" action="ppaction://hlinkfile"/>
          </p:cNvPr>
          <p:cNvPicPr>
            <a:picLocks noChangeAspect="1"/>
          </p:cNvPicPr>
          <p:nvPr>
            <p:custDataLst>
              <p:tags r:id="rId1"/>
            </p:custDataLst>
          </p:nvPr>
        </p:nvPicPr>
        <p:blipFill>
          <a:blip r:embed="rId4"/>
          <a:stretch>
            <a:fillRect/>
          </a:stretch>
        </p:blipFill>
        <p:spPr>
          <a:xfrm>
            <a:off x="7475076" y="561078"/>
            <a:ext cx="1215822" cy="65623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5862"/>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场景5：信息缺失，未能下单</a:t>
            </a:r>
          </a:p>
        </p:txBody>
      </p:sp>
      <p:sp>
        <p:nvSpPr>
          <p:cNvPr id="3" name="内容占位符 2"/>
          <p:cNvSpPr txBox="1"/>
          <p:nvPr/>
        </p:nvSpPr>
        <p:spPr>
          <a:xfrm>
            <a:off x="628650" y="1430817"/>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kumimoji="1" lang="en-US" altLang="zh-CN" dirty="0">
                <a:latin typeface="KaiTi" panose="02010609060101010101" pitchFamily="49" charset="-122"/>
                <a:ea typeface="KaiTi" panose="02010609060101010101" pitchFamily="49" charset="-122"/>
              </a:rPr>
              <a:t>客户浏览图书商城，选择所需图书并加入购物车。</a:t>
            </a:r>
          </a:p>
          <a:p>
            <a:r>
              <a:rPr kumimoji="1" lang="en-US" altLang="zh-CN" dirty="0">
                <a:latin typeface="KaiTi" panose="02010609060101010101" pitchFamily="49" charset="-122"/>
                <a:ea typeface="KaiTi" panose="02010609060101010101" pitchFamily="49" charset="-122"/>
              </a:rPr>
              <a:t>客户进入购物车页面并尝试下单。</a:t>
            </a:r>
          </a:p>
          <a:p>
            <a:r>
              <a:rPr kumimoji="1" lang="en-US" altLang="zh-CN" dirty="0">
                <a:latin typeface="KaiTi" panose="02010609060101010101" pitchFamily="49" charset="-122"/>
                <a:ea typeface="KaiTi" panose="02010609060101010101" pitchFamily="49" charset="-122"/>
              </a:rPr>
              <a:t>客户未填写完整的收货信息，系统提示信息缺失。</a:t>
            </a:r>
          </a:p>
          <a:p>
            <a:r>
              <a:rPr kumimoji="1" lang="en-US" altLang="zh-CN" dirty="0">
                <a:latin typeface="KaiTi" panose="02010609060101010101" pitchFamily="49" charset="-122"/>
                <a:ea typeface="KaiTi" panose="02010609060101010101" pitchFamily="49" charset="-122"/>
              </a:rPr>
              <a:t>客户补充完整信息后继续下单。</a:t>
            </a:r>
          </a:p>
        </p:txBody>
      </p:sp>
      <p:sp>
        <p:nvSpPr>
          <p:cNvPr id="6" name="文本框 5"/>
          <p:cNvSpPr txBox="1"/>
          <p:nvPr/>
        </p:nvSpPr>
        <p:spPr>
          <a:xfrm>
            <a:off x="151596" y="16999"/>
            <a:ext cx="145288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rPr>
              <a:t>用例与场景</a:t>
            </a:r>
          </a:p>
        </p:txBody>
      </p:sp>
      <p:pic>
        <p:nvPicPr>
          <p:cNvPr id="4" name="图片 3">
            <a:hlinkClick r:id="rId3" action="ppaction://hlinkfile"/>
          </p:cNvPr>
          <p:cNvPicPr>
            <a:picLocks noChangeAspect="1"/>
          </p:cNvPicPr>
          <p:nvPr>
            <p:custDataLst>
              <p:tags r:id="rId1"/>
            </p:custDataLst>
          </p:nvPr>
        </p:nvPicPr>
        <p:blipFill>
          <a:blip r:embed="rId4"/>
          <a:stretch>
            <a:fillRect/>
          </a:stretch>
        </p:blipFill>
        <p:spPr>
          <a:xfrm>
            <a:off x="7475076" y="561078"/>
            <a:ext cx="1215822" cy="65623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5862"/>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用例与场景的关系案例——汇文书刊</a:t>
            </a:r>
          </a:p>
        </p:txBody>
      </p:sp>
      <p:sp>
        <p:nvSpPr>
          <p:cNvPr id="3" name="内容占位符 2"/>
          <p:cNvSpPr txBox="1"/>
          <p:nvPr/>
        </p:nvSpPr>
        <p:spPr>
          <a:xfrm>
            <a:off x="628650" y="1430817"/>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endParaRPr kumimoji="1" lang="en-US" altLang="zh-CN" dirty="0">
              <a:latin typeface="KaiTi" panose="02010609060101010101" pitchFamily="49" charset="-122"/>
              <a:ea typeface="KaiTi" panose="02010609060101010101" pitchFamily="49" charset="-122"/>
            </a:endParaRPr>
          </a:p>
          <a:p>
            <a:endParaRPr kumimoji="1" lang="en-US" altLang="zh-CN" dirty="0">
              <a:latin typeface="KaiTi" panose="02010609060101010101" pitchFamily="49" charset="-122"/>
              <a:ea typeface="KaiTi" panose="02010609060101010101" pitchFamily="49" charset="-122"/>
            </a:endParaRPr>
          </a:p>
        </p:txBody>
      </p:sp>
      <p:sp>
        <p:nvSpPr>
          <p:cNvPr id="6" name="文本框 5"/>
          <p:cNvSpPr txBox="1"/>
          <p:nvPr/>
        </p:nvSpPr>
        <p:spPr>
          <a:xfrm>
            <a:off x="151596" y="16999"/>
            <a:ext cx="145288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rPr>
              <a:t>用例与场景</a:t>
            </a:r>
          </a:p>
        </p:txBody>
      </p:sp>
      <p:sp>
        <p:nvSpPr>
          <p:cNvPr id="8" name="文本框 7"/>
          <p:cNvSpPr txBox="1"/>
          <p:nvPr/>
        </p:nvSpPr>
        <p:spPr>
          <a:xfrm>
            <a:off x="998855" y="1562735"/>
            <a:ext cx="3749675" cy="368300"/>
          </a:xfrm>
          <a:prstGeom prst="rect">
            <a:avLst/>
          </a:prstGeom>
          <a:noFill/>
        </p:spPr>
        <p:txBody>
          <a:bodyPr wrap="square" rtlCol="0">
            <a:spAutoFit/>
          </a:bodyPr>
          <a:lstStyle/>
          <a:p>
            <a:endParaRPr lang="zh-CN" altLang="en-US"/>
          </a:p>
        </p:txBody>
      </p:sp>
      <p:sp>
        <p:nvSpPr>
          <p:cNvPr id="20" name="文本框 19"/>
          <p:cNvSpPr txBox="1"/>
          <p:nvPr/>
        </p:nvSpPr>
        <p:spPr>
          <a:xfrm>
            <a:off x="436245" y="1354455"/>
            <a:ext cx="4136390" cy="4764405"/>
          </a:xfrm>
          <a:prstGeom prst="rect">
            <a:avLst/>
          </a:prstGeom>
          <a:noFill/>
        </p:spPr>
        <p:txBody>
          <a:bodyPr wrap="square" rtlCol="0">
            <a:noAutofit/>
          </a:bodyPr>
          <a:lstStyle/>
          <a:p>
            <a:r>
              <a:rPr lang="zh-CN" altLang="en-US" sz="1600" b="1" dirty="0">
                <a:solidFill>
                  <a:srgbClr val="870078"/>
                </a:solidFill>
                <a:latin typeface="楷体" charset="0"/>
                <a:ea typeface="楷体" charset="0"/>
                <a:cs typeface="楷体" charset="0"/>
                <a:sym typeface="+mn-ea"/>
              </a:rPr>
              <a:t>用例：汇文图书商城系统——客户线上下单</a:t>
            </a:r>
            <a:endParaRPr lang="zh-CN" altLang="en-US" sz="1600" b="1" dirty="0">
              <a:solidFill>
                <a:srgbClr val="870078"/>
              </a:solidFill>
              <a:latin typeface="楷体" charset="0"/>
              <a:ea typeface="楷体" charset="0"/>
              <a:cs typeface="楷体" charset="0"/>
            </a:endParaRPr>
          </a:p>
          <a:p>
            <a:r>
              <a:rPr lang="zh-CN" altLang="en-US" sz="1600" b="1" dirty="0">
                <a:solidFill>
                  <a:srgbClr val="870078"/>
                </a:solidFill>
                <a:latin typeface="楷体" charset="0"/>
                <a:ea typeface="楷体" charset="0"/>
                <a:cs typeface="楷体" charset="0"/>
              </a:rPr>
              <a:t>前置条件：</a:t>
            </a:r>
            <a:r>
              <a:rPr lang="zh-CN" altLang="en-US" sz="1600" dirty="0">
                <a:latin typeface="楷体" charset="0"/>
                <a:ea typeface="楷体" charset="0"/>
                <a:cs typeface="楷体" charset="0"/>
              </a:rPr>
              <a:t>客户已登录并将选择图书加入到购物车</a:t>
            </a:r>
            <a:r>
              <a:rPr lang="en-US" altLang="zh-CN" sz="1600" dirty="0">
                <a:latin typeface="楷体" charset="0"/>
                <a:ea typeface="楷体" charset="0"/>
                <a:cs typeface="楷体" charset="0"/>
              </a:rPr>
              <a:t>,</a:t>
            </a:r>
            <a:r>
              <a:rPr lang="zh-CN" altLang="en-US" sz="1600" dirty="0">
                <a:latin typeface="楷体" charset="0"/>
                <a:ea typeface="楷体" charset="0"/>
                <a:cs typeface="楷体" charset="0"/>
              </a:rPr>
              <a:t>图书库存充足</a:t>
            </a:r>
          </a:p>
          <a:p>
            <a:r>
              <a:rPr lang="zh-CN" altLang="en-US" sz="1600" b="1" dirty="0">
                <a:solidFill>
                  <a:srgbClr val="870078"/>
                </a:solidFill>
                <a:latin typeface="楷体" charset="0"/>
                <a:ea typeface="楷体" charset="0"/>
                <a:cs typeface="楷体" charset="0"/>
              </a:rPr>
              <a:t>后置条件：</a:t>
            </a:r>
            <a:r>
              <a:rPr lang="zh-CN" altLang="en-US" sz="1600" dirty="0">
                <a:latin typeface="楷体" charset="0"/>
                <a:ea typeface="楷体" charset="0"/>
                <a:cs typeface="楷体" charset="0"/>
              </a:rPr>
              <a:t>客户的订单已成功生成并保存至系统。</a:t>
            </a:r>
          </a:p>
          <a:p>
            <a:r>
              <a:rPr lang="zh-CN" altLang="en-US" sz="1600" b="1" dirty="0">
                <a:solidFill>
                  <a:srgbClr val="870078"/>
                </a:solidFill>
                <a:latin typeface="楷体" charset="0"/>
                <a:ea typeface="楷体" charset="0"/>
                <a:cs typeface="楷体" charset="0"/>
              </a:rPr>
              <a:t>正常流程：</a:t>
            </a:r>
          </a:p>
          <a:p>
            <a:r>
              <a:rPr lang="zh-CN" altLang="en-US" sz="1600" dirty="0">
                <a:latin typeface="Times New Roman Regular" panose="02020603050405020304" charset="0"/>
                <a:ea typeface="楷体" charset="0"/>
                <a:cs typeface="Times New Roman Regular" panose="02020603050405020304" charset="0"/>
              </a:rPr>
              <a:t>1. 客户下单</a:t>
            </a:r>
          </a:p>
          <a:p>
            <a:r>
              <a:rPr lang="zh-CN" altLang="en-US" sz="1600" dirty="0">
                <a:latin typeface="Times New Roman Regular" panose="02020603050405020304" charset="0"/>
                <a:ea typeface="楷体" charset="0"/>
                <a:cs typeface="Times New Roman Regular" panose="02020603050405020304" charset="0"/>
              </a:rPr>
              <a:t>2. 客户进入购物车页面，确认购买的图书种类和数量。</a:t>
            </a:r>
          </a:p>
          <a:p>
            <a:r>
              <a:rPr lang="zh-CN" altLang="en-US" sz="1600" dirty="0">
                <a:latin typeface="Times New Roman Regular" panose="02020603050405020304" charset="0"/>
                <a:ea typeface="楷体" charset="0"/>
                <a:cs typeface="Times New Roman Regular" panose="02020603050405020304" charset="0"/>
              </a:rPr>
              <a:t>3. 客户填写或确认收货地址和联系方式。</a:t>
            </a:r>
          </a:p>
          <a:p>
            <a:r>
              <a:rPr lang="zh-CN" altLang="en-US" sz="1600" dirty="0">
                <a:latin typeface="Times New Roman Regular" panose="02020603050405020304" charset="0"/>
                <a:ea typeface="楷体" charset="0"/>
                <a:cs typeface="Times New Roman Regular" panose="02020603050405020304" charset="0"/>
              </a:rPr>
              <a:t>4. 客户选择支付方式（如银行卡、微信、支付宝）并完成支付。</a:t>
            </a:r>
          </a:p>
          <a:p>
            <a:r>
              <a:rPr lang="zh-CN" altLang="en-US" sz="1600" dirty="0">
                <a:latin typeface="Times New Roman Regular" panose="02020603050405020304" charset="0"/>
                <a:ea typeface="楷体" charset="0"/>
                <a:cs typeface="Times New Roman Regular" panose="02020603050405020304" charset="0"/>
              </a:rPr>
              <a:t>5. 系统自动生成订单，并实时扣减相应的图书库存。</a:t>
            </a:r>
          </a:p>
          <a:p>
            <a:r>
              <a:rPr lang="zh-CN" altLang="en-US" sz="1600" dirty="0">
                <a:latin typeface="Times New Roman Regular" panose="02020603050405020304" charset="0"/>
                <a:ea typeface="楷体" charset="0"/>
                <a:cs typeface="Times New Roman Regular" panose="02020603050405020304" charset="0"/>
              </a:rPr>
              <a:t>6. 客户在订单页面查看生成的订单详情，系统自动发送订单确认通知（短信或邮件）。</a:t>
            </a:r>
          </a:p>
          <a:p>
            <a:r>
              <a:rPr lang="zh-CN" altLang="en-US" sz="1600" dirty="0">
                <a:latin typeface="Times New Roman Regular" panose="02020603050405020304" charset="0"/>
                <a:ea typeface="楷体" charset="0"/>
                <a:cs typeface="Times New Roman Regular" panose="02020603050405020304" charset="0"/>
              </a:rPr>
              <a:t>7. 系统将订单状态更新为“待发货”，仓储人员收到发货请求。</a:t>
            </a:r>
          </a:p>
          <a:p>
            <a:endParaRPr lang="zh-CN" altLang="en-US" sz="1600" dirty="0">
              <a:latin typeface="楷体" charset="0"/>
              <a:ea typeface="楷体" charset="0"/>
              <a:cs typeface="楷体" charset="0"/>
            </a:endParaRPr>
          </a:p>
          <a:p>
            <a:endParaRPr lang="zh-CN" altLang="en-US" sz="1600" dirty="0">
              <a:latin typeface="楷体" charset="0"/>
              <a:ea typeface="楷体" charset="0"/>
              <a:cs typeface="楷体" charset="0"/>
            </a:endParaRPr>
          </a:p>
        </p:txBody>
      </p:sp>
      <p:sp>
        <p:nvSpPr>
          <p:cNvPr id="4" name="文本框 3"/>
          <p:cNvSpPr txBox="1"/>
          <p:nvPr/>
        </p:nvSpPr>
        <p:spPr>
          <a:xfrm>
            <a:off x="4748530" y="1383030"/>
            <a:ext cx="4060825" cy="4186555"/>
          </a:xfrm>
          <a:prstGeom prst="rect">
            <a:avLst/>
          </a:prstGeom>
          <a:noFill/>
        </p:spPr>
        <p:txBody>
          <a:bodyPr wrap="square" rtlCol="0">
            <a:noAutofit/>
          </a:bodyPr>
          <a:lstStyle/>
          <a:p>
            <a:r>
              <a:rPr lang="zh-CN" altLang="en-US" sz="1600" b="1" dirty="0">
                <a:solidFill>
                  <a:srgbClr val="870078"/>
                </a:solidFill>
                <a:latin typeface="楷体" charset="0"/>
                <a:ea typeface="楷体" charset="0"/>
                <a:cs typeface="楷体" charset="0"/>
                <a:sym typeface="+mn-ea"/>
              </a:rPr>
              <a:t>异常流程：</a:t>
            </a:r>
            <a:endParaRPr lang="zh-CN" altLang="en-US" sz="1600" b="1" dirty="0">
              <a:solidFill>
                <a:srgbClr val="870078"/>
              </a:solidFill>
              <a:latin typeface="楷体" charset="0"/>
              <a:ea typeface="楷体" charset="0"/>
              <a:cs typeface="楷体" charset="0"/>
            </a:endParaRPr>
          </a:p>
          <a:p>
            <a:pPr>
              <a:lnSpc>
                <a:spcPct val="100000"/>
              </a:lnSpc>
            </a:pPr>
            <a:r>
              <a:rPr lang="en-US" altLang="zh-CN" sz="1600" dirty="0">
                <a:latin typeface="Times New Roman Regular" panose="02020603050405020304" charset="0"/>
                <a:ea typeface="楷体" charset="0"/>
                <a:cs typeface="Times New Roman Regular" panose="02020603050405020304" charset="0"/>
                <a:sym typeface="+mn-ea"/>
              </a:rPr>
              <a:t>2a. </a:t>
            </a:r>
            <a:r>
              <a:rPr lang="zh-CN" altLang="en-US" sz="1600" dirty="0">
                <a:latin typeface="Times New Roman Regular" panose="02020603050405020304" charset="0"/>
                <a:ea typeface="楷体" charset="0"/>
                <a:cs typeface="Times New Roman Regular" panose="02020603050405020304" charset="0"/>
                <a:sym typeface="+mn-ea"/>
              </a:rPr>
              <a:t>图书库存不足，系统会提示客户缺货</a:t>
            </a:r>
          </a:p>
          <a:p>
            <a:pPr>
              <a:lnSpc>
                <a:spcPct val="100000"/>
              </a:lnSpc>
            </a:pPr>
            <a:r>
              <a:rPr lang="zh-CN" altLang="en-US" sz="1600" dirty="0">
                <a:latin typeface="Times New Roman Regular" panose="02020603050405020304" charset="0"/>
                <a:ea typeface="楷体" charset="0"/>
                <a:cs typeface="Times New Roman Regular" panose="02020603050405020304" charset="0"/>
                <a:sym typeface="+mn-ea"/>
              </a:rPr>
              <a:t> </a:t>
            </a:r>
            <a:r>
              <a:rPr lang="en-US" altLang="zh-CN" sz="1600" dirty="0">
                <a:latin typeface="Times New Roman Regular" panose="02020603050405020304" charset="0"/>
                <a:ea typeface="楷体" charset="0"/>
                <a:cs typeface="Times New Roman Regular" panose="02020603050405020304" charset="0"/>
                <a:sym typeface="+mn-ea"/>
              </a:rPr>
              <a:t>    1.</a:t>
            </a:r>
            <a:r>
              <a:rPr lang="zh-CN" altLang="en-US" sz="1600" dirty="0">
                <a:latin typeface="Times New Roman Regular" panose="02020603050405020304" charset="0"/>
                <a:ea typeface="楷体" charset="0"/>
                <a:cs typeface="Times New Roman Regular" panose="02020603050405020304" charset="0"/>
                <a:sym typeface="+mn-ea"/>
              </a:rPr>
              <a:t>客户可选择删除缺货商品或取消订单</a:t>
            </a:r>
          </a:p>
          <a:p>
            <a:r>
              <a:rPr lang="en-US" altLang="zh-CN" sz="1600" dirty="0">
                <a:latin typeface="Times New Roman Regular" panose="02020603050405020304" charset="0"/>
                <a:ea typeface="楷体" charset="0"/>
                <a:cs typeface="Times New Roman Regular" panose="02020603050405020304" charset="0"/>
                <a:sym typeface="+mn-ea"/>
              </a:rPr>
              <a:t>3a. </a:t>
            </a:r>
            <a:r>
              <a:rPr lang="zh-CN" altLang="en-US" sz="1600" dirty="0">
                <a:latin typeface="Times New Roman Regular" panose="02020603050405020304" charset="0"/>
                <a:ea typeface="楷体" charset="0"/>
                <a:cs typeface="Times New Roman Regular" panose="02020603050405020304" charset="0"/>
                <a:sym typeface="+mn-ea"/>
              </a:rPr>
              <a:t>收货地址缺失或错误</a:t>
            </a:r>
          </a:p>
          <a:p>
            <a:r>
              <a:rPr lang="zh-CN" altLang="en-US" sz="1600" dirty="0">
                <a:latin typeface="Times New Roman Regular" panose="02020603050405020304" charset="0"/>
                <a:ea typeface="楷体" charset="0"/>
                <a:cs typeface="Times New Roman Regular" panose="02020603050405020304" charset="0"/>
                <a:sym typeface="+mn-ea"/>
              </a:rPr>
              <a:t> </a:t>
            </a:r>
            <a:r>
              <a:rPr lang="en-US" altLang="zh-CN" sz="1600" dirty="0">
                <a:latin typeface="Times New Roman Regular" panose="02020603050405020304" charset="0"/>
                <a:ea typeface="楷体" charset="0"/>
                <a:cs typeface="Times New Roman Regular" panose="02020603050405020304" charset="0"/>
                <a:sym typeface="+mn-ea"/>
              </a:rPr>
              <a:t>    1.</a:t>
            </a:r>
            <a:r>
              <a:rPr lang="zh-CN" altLang="en-US" sz="1600" dirty="0">
                <a:latin typeface="Times New Roman Regular" panose="02020603050405020304" charset="0"/>
                <a:ea typeface="楷体" charset="0"/>
                <a:cs typeface="Times New Roman Regular" panose="02020603050405020304" charset="0"/>
                <a:sym typeface="+mn-ea"/>
              </a:rPr>
              <a:t>系统会提示客户补充或修改地址</a:t>
            </a:r>
            <a:endParaRPr lang="zh-CN" altLang="en-US" sz="1600" dirty="0">
              <a:latin typeface="Times New Roman Regular" panose="02020603050405020304" charset="0"/>
              <a:ea typeface="楷体" charset="0"/>
              <a:cs typeface="Times New Roman Regular" panose="02020603050405020304" charset="0"/>
            </a:endParaRPr>
          </a:p>
          <a:p>
            <a:r>
              <a:rPr lang="en-US" altLang="zh-CN" sz="1600" dirty="0">
                <a:latin typeface="Times New Roman Regular" panose="02020603050405020304" charset="0"/>
                <a:ea typeface="楷体" charset="0"/>
                <a:cs typeface="Times New Roman Regular" panose="02020603050405020304" charset="0"/>
                <a:sym typeface="+mn-ea"/>
              </a:rPr>
              <a:t>4a. </a:t>
            </a:r>
            <a:r>
              <a:rPr lang="zh-CN" altLang="en-US" sz="1600" dirty="0">
                <a:latin typeface="Times New Roman Regular" panose="02020603050405020304" charset="0"/>
                <a:ea typeface="楷体" charset="0"/>
                <a:cs typeface="Times New Roman Regular" panose="02020603050405020304" charset="0"/>
                <a:sym typeface="+mn-ea"/>
              </a:rPr>
              <a:t>支付失败</a:t>
            </a:r>
          </a:p>
          <a:p>
            <a:r>
              <a:rPr lang="zh-CN" altLang="en-US" sz="1600" dirty="0">
                <a:latin typeface="Times New Roman Regular" panose="02020603050405020304" charset="0"/>
                <a:ea typeface="楷体" charset="0"/>
                <a:cs typeface="Times New Roman Regular" panose="02020603050405020304" charset="0"/>
                <a:sym typeface="+mn-ea"/>
              </a:rPr>
              <a:t> </a:t>
            </a:r>
            <a:r>
              <a:rPr lang="en-US" altLang="zh-CN" sz="1600" dirty="0">
                <a:latin typeface="Times New Roman Regular" panose="02020603050405020304" charset="0"/>
                <a:ea typeface="楷体" charset="0"/>
                <a:cs typeface="Times New Roman Regular" panose="02020603050405020304" charset="0"/>
                <a:sym typeface="+mn-ea"/>
              </a:rPr>
              <a:t>    1.</a:t>
            </a:r>
            <a:r>
              <a:rPr lang="zh-CN" altLang="en-US" sz="1600" dirty="0">
                <a:latin typeface="Times New Roman Regular" panose="02020603050405020304" charset="0"/>
                <a:ea typeface="楷体" charset="0"/>
                <a:cs typeface="Times New Roman Regular" panose="02020603050405020304" charset="0"/>
                <a:sym typeface="+mn-ea"/>
              </a:rPr>
              <a:t>系统提示客户重新选择支付方式或检查支付信息</a:t>
            </a:r>
            <a:endParaRPr lang="zh-CN" altLang="en-US" sz="1600" dirty="0">
              <a:latin typeface="Times New Roman Regular" panose="02020603050405020304" charset="0"/>
              <a:ea typeface="楷体" charset="0"/>
              <a:cs typeface="Times New Roman Regular" panose="02020603050405020304" charset="0"/>
            </a:endParaRPr>
          </a:p>
          <a:p>
            <a:r>
              <a:rPr lang="en-US" altLang="zh-CN" sz="1600" dirty="0">
                <a:latin typeface="Times New Roman Regular" panose="02020603050405020304" charset="0"/>
                <a:ea typeface="楷体" charset="0"/>
                <a:cs typeface="Times New Roman Regular" panose="02020603050405020304" charset="0"/>
                <a:sym typeface="+mn-ea"/>
              </a:rPr>
              <a:t>4b. </a:t>
            </a:r>
            <a:r>
              <a:rPr lang="zh-CN" altLang="en-US" sz="1600" dirty="0">
                <a:latin typeface="Times New Roman Regular" panose="02020603050405020304" charset="0"/>
                <a:ea typeface="楷体" charset="0"/>
                <a:cs typeface="Times New Roman Regular" panose="02020603050405020304" charset="0"/>
                <a:sym typeface="+mn-ea"/>
              </a:rPr>
              <a:t>客户下单时库存充足，但在支付完成前库存不足</a:t>
            </a:r>
          </a:p>
          <a:p>
            <a:r>
              <a:rPr lang="zh-CN" altLang="en-US" sz="1600" dirty="0">
                <a:latin typeface="Times New Roman Regular" panose="02020603050405020304" charset="0"/>
                <a:ea typeface="楷体" charset="0"/>
                <a:cs typeface="Times New Roman Regular" panose="02020603050405020304" charset="0"/>
                <a:sym typeface="+mn-ea"/>
              </a:rPr>
              <a:t> </a:t>
            </a:r>
            <a:r>
              <a:rPr lang="en-US" altLang="zh-CN" sz="1600" dirty="0">
                <a:latin typeface="Times New Roman Regular" panose="02020603050405020304" charset="0"/>
                <a:ea typeface="楷体" charset="0"/>
                <a:cs typeface="Times New Roman Regular" panose="02020603050405020304" charset="0"/>
                <a:sym typeface="+mn-ea"/>
              </a:rPr>
              <a:t>     1.</a:t>
            </a:r>
            <a:r>
              <a:rPr lang="zh-CN" altLang="en-US" sz="1600" dirty="0">
                <a:latin typeface="Times New Roman Regular" panose="02020603050405020304" charset="0"/>
                <a:ea typeface="楷体" charset="0"/>
                <a:cs typeface="Times New Roman Regular" panose="02020603050405020304" charset="0"/>
                <a:sym typeface="+mn-ea"/>
              </a:rPr>
              <a:t>系统取消订单  </a:t>
            </a:r>
            <a:endParaRPr lang="zh-CN" altLang="en-US" sz="1600" dirty="0">
              <a:latin typeface="Times New Roman Regular" panose="02020603050405020304" charset="0"/>
              <a:ea typeface="楷体" charset="0"/>
              <a:cs typeface="Times New Roman Regular" panose="02020603050405020304" charset="0"/>
            </a:endParaRPr>
          </a:p>
          <a:p>
            <a:endParaRPr lang="zh-CN" altLang="en-US" sz="1600" dirty="0">
              <a:latin typeface="楷体" charset="0"/>
              <a:ea typeface="楷体" charset="0"/>
              <a:cs typeface="楷体" charset="0"/>
            </a:endParaRPr>
          </a:p>
          <a:p>
            <a:r>
              <a:rPr lang="zh-CN" altLang="en-US" sz="1600" dirty="0">
                <a:latin typeface="楷体" charset="0"/>
                <a:ea typeface="楷体" charset="0"/>
                <a:cs typeface="楷体" charset="0"/>
                <a:sym typeface="+mn-ea"/>
              </a:rPr>
              <a:t>  </a:t>
            </a:r>
            <a:endParaRPr lang="zh-CN" altLang="en-US" sz="1600" dirty="0">
              <a:latin typeface="楷体" charset="0"/>
              <a:ea typeface="楷体" charset="0"/>
              <a:cs typeface="楷体" charset="0"/>
            </a:endParaRPr>
          </a:p>
          <a:p>
            <a:endParaRPr lang="zh-CN" altLang="en-US" sz="1600" dirty="0">
              <a:latin typeface="楷体" charset="0"/>
              <a:ea typeface="楷体" charset="0"/>
              <a:cs typeface="楷体" charset="0"/>
            </a:endParaRPr>
          </a:p>
        </p:txBody>
      </p:sp>
      <p:pic>
        <p:nvPicPr>
          <p:cNvPr id="5" name="图片 4">
            <a:hlinkClick r:id="rId3" action="ppaction://hlinkfile"/>
          </p:cNvPr>
          <p:cNvPicPr>
            <a:picLocks noChangeAspect="1"/>
          </p:cNvPicPr>
          <p:nvPr>
            <p:custDataLst>
              <p:tags r:id="rId1"/>
            </p:custDataLst>
          </p:nvPr>
        </p:nvPicPr>
        <p:blipFill>
          <a:blip r:embed="rId4"/>
          <a:stretch>
            <a:fillRect/>
          </a:stretch>
        </p:blipFill>
        <p:spPr>
          <a:xfrm>
            <a:off x="7475076" y="561078"/>
            <a:ext cx="1215822" cy="65623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用例/场景的组织特点</a:t>
            </a:r>
          </a:p>
        </p:txBody>
      </p:sp>
      <p:sp>
        <p:nvSpPr>
          <p:cNvPr id="3" name="内容占位符 2"/>
          <p:cNvSpPr txBox="1"/>
          <p:nvPr>
            <p:custDataLst>
              <p:tags r:id="rId1"/>
            </p:custDataLst>
          </p:nvPr>
        </p:nvSpPr>
        <p:spPr>
          <a:xfrm>
            <a:off x="628650" y="1430817"/>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endParaRPr kumimoji="1" lang="en-US" altLang="zh-CN" dirty="0">
              <a:latin typeface="KaiTi" panose="02010609060101010101" pitchFamily="49" charset="-122"/>
              <a:ea typeface="KaiTi" panose="02010609060101010101" pitchFamily="49" charset="-122"/>
            </a:endParaRPr>
          </a:p>
        </p:txBody>
      </p:sp>
      <p:sp>
        <p:nvSpPr>
          <p:cNvPr id="6" name="文本框 5"/>
          <p:cNvSpPr txBox="1"/>
          <p:nvPr/>
        </p:nvSpPr>
        <p:spPr>
          <a:xfrm>
            <a:off x="151596" y="16999"/>
            <a:ext cx="145288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rPr>
              <a:t>用例与场景</a:t>
            </a:r>
          </a:p>
        </p:txBody>
      </p:sp>
      <p:graphicFrame>
        <p:nvGraphicFramePr>
          <p:cNvPr id="17412" name="对象 3"/>
          <p:cNvGraphicFramePr>
            <a:graphicFrameLocks noChangeAspect="1"/>
          </p:cNvGraphicFramePr>
          <p:nvPr>
            <p:custDataLst>
              <p:tags r:id="rId2"/>
            </p:custDataLst>
          </p:nvPr>
        </p:nvGraphicFramePr>
        <p:xfrm>
          <a:off x="628650" y="1251585"/>
          <a:ext cx="6393180" cy="4999990"/>
        </p:xfrm>
        <a:graphic>
          <a:graphicData uri="http://schemas.openxmlformats.org/presentationml/2006/ole">
            <mc:AlternateContent xmlns:mc="http://schemas.openxmlformats.org/markup-compatibility/2006">
              <mc:Choice xmlns:v="urn:schemas-microsoft-com:vml" Requires="v">
                <p:oleObj r:id="rId4" imgW="9550400" imgH="6985000" progId="Visio.Drawing.11">
                  <p:embed/>
                </p:oleObj>
              </mc:Choice>
              <mc:Fallback>
                <p:oleObj r:id="rId4" imgW="9550400" imgH="6985000" progId="Visio.Drawing.11">
                  <p:embed/>
                  <p:pic>
                    <p:nvPicPr>
                      <p:cNvPr id="17412" name="对象 3"/>
                      <p:cNvPicPr/>
                      <p:nvPr/>
                    </p:nvPicPr>
                    <p:blipFill>
                      <a:blip r:embed="rId5"/>
                      <a:stretch>
                        <a:fillRect/>
                      </a:stretch>
                    </p:blipFill>
                    <p:spPr>
                      <a:xfrm>
                        <a:off x="628650" y="1251585"/>
                        <a:ext cx="6393180" cy="4999990"/>
                      </a:xfrm>
                      <a:prstGeom prst="rect">
                        <a:avLst/>
                      </a:prstGeom>
                      <a:noFill/>
                      <a:ln w="38100">
                        <a:noFill/>
                        <a:miter/>
                      </a:ln>
                    </p:spPr>
                  </p:pic>
                </p:oleObj>
              </mc:Fallback>
            </mc:AlternateContent>
          </a:graphicData>
        </a:graphic>
      </p:graphicFrame>
      <p:sp>
        <p:nvSpPr>
          <p:cNvPr id="13" name="文本框 12"/>
          <p:cNvSpPr txBox="1"/>
          <p:nvPr/>
        </p:nvSpPr>
        <p:spPr>
          <a:xfrm>
            <a:off x="6718935" y="2059305"/>
            <a:ext cx="2330450" cy="1559560"/>
          </a:xfrm>
          <a:prstGeom prst="rect">
            <a:avLst/>
          </a:prstGeom>
          <a:noFill/>
          <a:ln w="12700">
            <a:solidFill>
              <a:schemeClr val="tx1">
                <a:lumMod val="65000"/>
                <a:lumOff val="35000"/>
              </a:schemeClr>
            </a:solidFill>
            <a:prstDash val="dashDot"/>
          </a:ln>
        </p:spPr>
        <p:txBody>
          <a:bodyPr wrap="square" rtlCol="0">
            <a:noAutofit/>
          </a:bodyPr>
          <a:lstStyle/>
          <a:p>
            <a:r>
              <a:rPr lang="zh-CN" altLang="en-US">
                <a:latin typeface="楷体" charset="0"/>
                <a:ea typeface="楷体" charset="0"/>
                <a:cs typeface="楷体" charset="0"/>
              </a:rPr>
              <a:t>将原本独立的多个需求组织成一个个故事，让用户、客户等应用领域中的涉众看起来更容易理解和接受。</a:t>
            </a:r>
          </a:p>
        </p:txBody>
      </p:sp>
      <p:sp>
        <p:nvSpPr>
          <p:cNvPr id="17" name="文本框 16"/>
          <p:cNvSpPr txBox="1"/>
          <p:nvPr/>
        </p:nvSpPr>
        <p:spPr>
          <a:xfrm>
            <a:off x="6718935" y="4337685"/>
            <a:ext cx="2271395" cy="963930"/>
          </a:xfrm>
          <a:prstGeom prst="rect">
            <a:avLst/>
          </a:prstGeom>
          <a:noFill/>
          <a:ln>
            <a:solidFill>
              <a:schemeClr val="tx1"/>
            </a:solidFill>
            <a:prstDash val="dashDot"/>
          </a:ln>
        </p:spPr>
        <p:txBody>
          <a:bodyPr wrap="square" rtlCol="0">
            <a:noAutofit/>
          </a:bodyPr>
          <a:lstStyle/>
          <a:p>
            <a:r>
              <a:rPr lang="zh-CN" altLang="en-US">
                <a:latin typeface="楷体" charset="0"/>
                <a:ea typeface="楷体" charset="0"/>
                <a:cs typeface="楷体" charset="0"/>
                <a:sym typeface="+mn-ea"/>
              </a:rPr>
              <a:t>每一条需求都独立于其他需求，这更符合开发者的视角</a:t>
            </a:r>
            <a:endParaRPr lang="zh-CN" altLang="en-US"/>
          </a:p>
        </p:txBody>
      </p:sp>
      <p:sp>
        <p:nvSpPr>
          <p:cNvPr id="20" name="文本框 19"/>
          <p:cNvSpPr txBox="1"/>
          <p:nvPr/>
        </p:nvSpPr>
        <p:spPr>
          <a:xfrm>
            <a:off x="6660515" y="1576070"/>
            <a:ext cx="2330450" cy="483235"/>
          </a:xfrm>
          <a:prstGeom prst="rect">
            <a:avLst/>
          </a:prstGeom>
          <a:noFill/>
        </p:spPr>
        <p:txBody>
          <a:bodyPr wrap="square" rtlCol="0">
            <a:noAutofit/>
          </a:bodyPr>
          <a:lstStyle/>
          <a:p>
            <a:r>
              <a:rPr lang="zh-CN" altLang="en-US">
                <a:solidFill>
                  <a:srgbClr val="7030A0"/>
                </a:solidFill>
                <a:effectLst>
                  <a:outerShdw blurRad="50800" dist="38100" dir="2700000" algn="tl" rotWithShape="0">
                    <a:prstClr val="black">
                      <a:alpha val="40000"/>
                    </a:prstClr>
                  </a:outerShdw>
                </a:effectLst>
                <a:latin typeface="楷体" charset="0"/>
                <a:ea typeface="楷体" charset="0"/>
                <a:cs typeface="楷体" charset="0"/>
                <a:sym typeface="+mn-ea"/>
              </a:rPr>
              <a:t>用例/场景的组织方式</a:t>
            </a:r>
          </a:p>
          <a:p>
            <a:endParaRPr lang="zh-CN" altLang="en-US"/>
          </a:p>
        </p:txBody>
      </p:sp>
      <p:sp>
        <p:nvSpPr>
          <p:cNvPr id="21" name="文本框 20"/>
          <p:cNvSpPr txBox="1"/>
          <p:nvPr/>
        </p:nvSpPr>
        <p:spPr>
          <a:xfrm>
            <a:off x="6718935" y="3938905"/>
            <a:ext cx="2272030" cy="398780"/>
          </a:xfrm>
          <a:prstGeom prst="rect">
            <a:avLst/>
          </a:prstGeom>
          <a:noFill/>
        </p:spPr>
        <p:txBody>
          <a:bodyPr wrap="square" rtlCol="0">
            <a:noAutofit/>
          </a:bodyPr>
          <a:lstStyle/>
          <a:p>
            <a:r>
              <a:rPr lang="zh-CN" altLang="en-US">
                <a:solidFill>
                  <a:srgbClr val="7030A0"/>
                </a:solidFill>
                <a:effectLst>
                  <a:outerShdw blurRad="50800" dist="38100" dir="2700000" algn="tl" rotWithShape="0">
                    <a:prstClr val="black">
                      <a:alpha val="40000"/>
                    </a:prstClr>
                  </a:outerShdw>
                </a:effectLst>
                <a:latin typeface="楷体" charset="0"/>
                <a:ea typeface="楷体" charset="0"/>
                <a:cs typeface="楷体" charset="0"/>
              </a:rPr>
              <a:t>用户需求列表</a:t>
            </a:r>
          </a:p>
          <a:p>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用例描述格式</a:t>
            </a:r>
          </a:p>
        </p:txBody>
      </p:sp>
      <p:sp>
        <p:nvSpPr>
          <p:cNvPr id="3" name="内容占位符 2"/>
          <p:cNvSpPr txBox="1"/>
          <p:nvPr/>
        </p:nvSpPr>
        <p:spPr>
          <a:xfrm>
            <a:off x="628650" y="1430817"/>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endParaRPr kumimoji="1" lang="en-US" altLang="zh-CN" dirty="0">
              <a:latin typeface="KaiTi" panose="02010609060101010101" pitchFamily="49" charset="-122"/>
              <a:ea typeface="KaiTi" panose="02010609060101010101" pitchFamily="49" charset="-122"/>
            </a:endParaRPr>
          </a:p>
        </p:txBody>
      </p:sp>
      <p:sp>
        <p:nvSpPr>
          <p:cNvPr id="6" name="文本框 5"/>
          <p:cNvSpPr txBox="1"/>
          <p:nvPr/>
        </p:nvSpPr>
        <p:spPr>
          <a:xfrm>
            <a:off x="151596" y="16999"/>
            <a:ext cx="145288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rPr>
              <a:t>用例与场景</a:t>
            </a:r>
          </a:p>
        </p:txBody>
      </p:sp>
      <p:pic>
        <p:nvPicPr>
          <p:cNvPr id="4" name="图片 3" descr="截屏2024-11-12 16.07.50"/>
          <p:cNvPicPr>
            <a:picLocks noChangeAspect="1"/>
          </p:cNvPicPr>
          <p:nvPr/>
        </p:nvPicPr>
        <p:blipFill>
          <a:blip r:embed="rId2"/>
          <a:stretch>
            <a:fillRect/>
          </a:stretch>
        </p:blipFill>
        <p:spPr>
          <a:xfrm>
            <a:off x="688975" y="1101090"/>
            <a:ext cx="5386705" cy="5289550"/>
          </a:xfrm>
          <a:prstGeom prst="rect">
            <a:avLst/>
          </a:prstGeom>
        </p:spPr>
      </p:pic>
      <p:sp>
        <p:nvSpPr>
          <p:cNvPr id="5" name="文本框 4"/>
          <p:cNvSpPr txBox="1"/>
          <p:nvPr/>
        </p:nvSpPr>
        <p:spPr>
          <a:xfrm>
            <a:off x="6075680" y="1708150"/>
            <a:ext cx="2937510" cy="2916555"/>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w="9525" cap="flat" cmpd="sng">
            <a:noFill/>
            <a:prstDash val="dashDot"/>
          </a:ln>
          <a:effectLst>
            <a:outerShdw blurRad="50800" dist="38100" dir="2700000" algn="tl" rotWithShape="0">
              <a:prstClr val="black">
                <a:alpha val="40000"/>
              </a:prstClr>
            </a:outerShdw>
          </a:effectLst>
        </p:spPr>
        <p:txBody>
          <a:bodyPr wrap="square" rtlCol="0" anchor="ctr" anchorCtr="0">
            <a:noAutofit/>
          </a:bodyPr>
          <a:lstStyle/>
          <a:p>
            <a:r>
              <a:rPr lang="zh-CN" altLang="en-US">
                <a:latin typeface="楷体" charset="0"/>
                <a:ea typeface="楷体" charset="0"/>
                <a:cs typeface="楷体" charset="0"/>
              </a:rPr>
              <a:t>用例/场景不仅可以将多个</a:t>
            </a:r>
            <a:r>
              <a:rPr lang="zh-CN" altLang="en-US">
                <a:solidFill>
                  <a:srgbClr val="870078"/>
                </a:solidFill>
                <a:latin typeface="楷体" charset="0"/>
                <a:ea typeface="楷体" charset="0"/>
                <a:cs typeface="楷体" charset="0"/>
              </a:rPr>
              <a:t>独立的</a:t>
            </a:r>
            <a:r>
              <a:rPr lang="zh-CN" altLang="en-US">
                <a:latin typeface="楷体" charset="0"/>
                <a:ea typeface="楷体" charset="0"/>
                <a:cs typeface="楷体" charset="0"/>
              </a:rPr>
              <a:t>功能需求组织为故事，还能够</a:t>
            </a:r>
            <a:r>
              <a:rPr lang="zh-CN" altLang="en-US">
                <a:solidFill>
                  <a:srgbClr val="870078"/>
                </a:solidFill>
                <a:latin typeface="楷体" charset="0"/>
                <a:ea typeface="楷体" charset="0"/>
                <a:cs typeface="楷体" charset="0"/>
              </a:rPr>
              <a:t>以功能为中心</a:t>
            </a:r>
            <a:r>
              <a:rPr lang="zh-CN" altLang="en-US">
                <a:latin typeface="楷体" charset="0"/>
                <a:ea typeface="楷体" charset="0"/>
                <a:cs typeface="楷体" charset="0"/>
              </a:rPr>
              <a:t>，将涉众及目标、问题域知识（例如业务规则）、质量需求（特殊需求部分）、对外接口（特殊需求部分）、假设与依赖等众多的相关内容也组织在一起。</a:t>
            </a:r>
          </a:p>
        </p:txBody>
      </p:sp>
      <p:sp>
        <p:nvSpPr>
          <p:cNvPr id="7" name="文本框 6"/>
          <p:cNvSpPr txBox="1"/>
          <p:nvPr/>
        </p:nvSpPr>
        <p:spPr>
          <a:xfrm>
            <a:off x="6221095" y="5081905"/>
            <a:ext cx="2747010" cy="922020"/>
          </a:xfrm>
          <a:prstGeom prst="rect">
            <a:avLst/>
          </a:prstGeom>
          <a:noFill/>
          <a:ln>
            <a:solidFill>
              <a:schemeClr val="tx1"/>
            </a:solidFill>
            <a:prstDash val="dashDot"/>
          </a:ln>
        </p:spPr>
        <p:txBody>
          <a:bodyPr wrap="square" rtlCol="0">
            <a:spAutoFit/>
          </a:bodyPr>
          <a:lstStyle/>
          <a:p>
            <a:r>
              <a:rPr lang="zh-CN" altLang="en-US">
                <a:latin typeface="楷体" charset="0"/>
                <a:ea typeface="楷体" charset="0"/>
                <a:cs typeface="楷体" charset="0"/>
              </a:rPr>
              <a:t>该模版仅仅是一个参考模版，具体的用例描述方式还需要参考用例的内容。</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用例/场景的优缺点</a:t>
            </a:r>
          </a:p>
        </p:txBody>
      </p:sp>
      <p:sp>
        <p:nvSpPr>
          <p:cNvPr id="3" name="内容占位符 2"/>
          <p:cNvSpPr txBox="1"/>
          <p:nvPr/>
        </p:nvSpPr>
        <p:spPr>
          <a:xfrm>
            <a:off x="628650" y="1392717"/>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buFont typeface="Wingdings" panose="05000000000000000000" charset="0"/>
              <a:buChar char=""/>
            </a:pPr>
            <a:r>
              <a:rPr kumimoji="1" lang="en-US" altLang="zh-CN" dirty="0">
                <a:latin typeface="KaiTi" panose="02010609060101010101" pitchFamily="49" charset="-122"/>
                <a:ea typeface="KaiTi" panose="02010609060101010101" pitchFamily="49" charset="-122"/>
              </a:rPr>
              <a:t>用例/场景</a:t>
            </a:r>
            <a:r>
              <a:rPr kumimoji="1" lang="en-US" altLang="zh-CN" b="1" dirty="0">
                <a:solidFill>
                  <a:srgbClr val="870078"/>
                </a:solidFill>
                <a:latin typeface="KaiTi" panose="02010609060101010101" pitchFamily="49" charset="-122"/>
                <a:ea typeface="KaiTi" panose="02010609060101010101" pitchFamily="49" charset="-122"/>
              </a:rPr>
              <a:t>以内聚的功能为中心</a:t>
            </a:r>
            <a:r>
              <a:rPr kumimoji="1" lang="en-US" altLang="zh-CN" dirty="0">
                <a:latin typeface="KaiTi" panose="02010609060101010101" pitchFamily="49" charset="-122"/>
                <a:ea typeface="KaiTi" panose="02010609060101010101" pitchFamily="49" charset="-122"/>
              </a:rPr>
              <a:t>组织各种知识</a:t>
            </a:r>
            <a:r>
              <a:rPr kumimoji="1" lang="zh-CN" altLang="en-US" dirty="0">
                <a:latin typeface="KaiTi" panose="02010609060101010101" pitchFamily="49" charset="-122"/>
                <a:ea typeface="KaiTi" panose="02010609060101010101" pitchFamily="49" charset="-122"/>
              </a:rPr>
              <a:t>，</a:t>
            </a:r>
            <a:r>
              <a:rPr kumimoji="1" lang="en-US" altLang="zh-CN" dirty="0">
                <a:latin typeface="KaiTi" panose="02010609060101010101" pitchFamily="49" charset="-122"/>
                <a:ea typeface="KaiTi" panose="02010609060101010101" pitchFamily="49" charset="-122"/>
              </a:rPr>
              <a:t>取得了易于理解的效果，也产生了弱点：</a:t>
            </a:r>
          </a:p>
          <a:p>
            <a:pPr lvl="1">
              <a:lnSpc>
                <a:spcPct val="100000"/>
              </a:lnSpc>
            </a:pPr>
            <a:r>
              <a:rPr kumimoji="1" lang="en-US" altLang="zh-CN" sz="2000" dirty="0">
                <a:latin typeface="KaiTi" panose="02010609060101010101" pitchFamily="49" charset="-122"/>
                <a:ea typeface="KaiTi" panose="02010609060101010101" pitchFamily="49" charset="-122"/>
              </a:rPr>
              <a:t>它只考虑其他内容与功能需求之间的联系，却</a:t>
            </a:r>
            <a:r>
              <a:rPr kumimoji="1" lang="en-US" altLang="zh-CN" sz="2000" dirty="0">
                <a:solidFill>
                  <a:schemeClr val="tx1"/>
                </a:solidFill>
                <a:latin typeface="KaiTi" panose="02010609060101010101" pitchFamily="49" charset="-122"/>
                <a:ea typeface="KaiTi" panose="02010609060101010101" pitchFamily="49" charset="-122"/>
              </a:rPr>
              <a:t>无法描述其他内容相互之间的联系</a:t>
            </a:r>
          </a:p>
          <a:p>
            <a:pPr lvl="1">
              <a:lnSpc>
                <a:spcPct val="100000"/>
              </a:lnSpc>
            </a:pPr>
            <a:endParaRPr kumimoji="1" lang="en-US" altLang="zh-CN" sz="2000" b="1" dirty="0">
              <a:solidFill>
                <a:srgbClr val="870078"/>
              </a:solidFill>
              <a:latin typeface="KaiTi" panose="02010609060101010101" pitchFamily="49" charset="-122"/>
              <a:ea typeface="KaiTi" panose="02010609060101010101" pitchFamily="49" charset="-122"/>
            </a:endParaRPr>
          </a:p>
          <a:p>
            <a:pPr lvl="1">
              <a:lnSpc>
                <a:spcPct val="100000"/>
              </a:lnSpc>
            </a:pPr>
            <a:endParaRPr kumimoji="1" lang="en-US" altLang="zh-CN" b="1" dirty="0">
              <a:latin typeface="KaiTi" panose="02010609060101010101" pitchFamily="49" charset="-122"/>
              <a:ea typeface="KaiTi" panose="02010609060101010101" pitchFamily="49" charset="-122"/>
            </a:endParaRPr>
          </a:p>
          <a:p>
            <a:pPr lvl="1">
              <a:lnSpc>
                <a:spcPct val="100000"/>
              </a:lnSpc>
            </a:pPr>
            <a:r>
              <a:rPr kumimoji="1" lang="en-US" altLang="zh-CN" sz="2000" dirty="0">
                <a:latin typeface="KaiTi" panose="02010609060101010101" pitchFamily="49" charset="-122"/>
                <a:ea typeface="KaiTi" panose="02010609060101010101" pitchFamily="49" charset="-122"/>
              </a:rPr>
              <a:t>它只考虑了存在联系的事实，却</a:t>
            </a:r>
            <a:r>
              <a:rPr kumimoji="1" lang="en-US" altLang="zh-CN" sz="2000" dirty="0">
                <a:solidFill>
                  <a:schemeClr val="tx1"/>
                </a:solidFill>
                <a:latin typeface="KaiTi" panose="02010609060101010101" pitchFamily="49" charset="-122"/>
                <a:ea typeface="KaiTi" panose="02010609060101010101" pitchFamily="49" charset="-122"/>
              </a:rPr>
              <a:t>无法分析联系的合理性</a:t>
            </a:r>
            <a:endParaRPr kumimoji="1" lang="en-US" altLang="zh-CN" sz="2000" dirty="0">
              <a:solidFill>
                <a:srgbClr val="870078"/>
              </a:solidFill>
              <a:latin typeface="KaiTi" panose="02010609060101010101" pitchFamily="49" charset="-122"/>
              <a:ea typeface="KaiTi" panose="02010609060101010101" pitchFamily="49" charset="-122"/>
            </a:endParaRPr>
          </a:p>
          <a:p>
            <a:pPr marL="0" indent="0">
              <a:buNone/>
            </a:pPr>
            <a:endParaRPr kumimoji="1" lang="en-US" altLang="zh-CN" sz="2000" dirty="0">
              <a:solidFill>
                <a:srgbClr val="870078"/>
              </a:solidFill>
              <a:latin typeface="KaiTi" panose="02010609060101010101" pitchFamily="49" charset="-122"/>
              <a:ea typeface="KaiTi" panose="02010609060101010101" pitchFamily="49" charset="-122"/>
            </a:endParaRPr>
          </a:p>
        </p:txBody>
      </p:sp>
      <p:sp>
        <p:nvSpPr>
          <p:cNvPr id="6" name="文本框 5"/>
          <p:cNvSpPr txBox="1"/>
          <p:nvPr/>
        </p:nvSpPr>
        <p:spPr>
          <a:xfrm>
            <a:off x="151596" y="16999"/>
            <a:ext cx="145288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rPr>
              <a:t>用例与场景</a:t>
            </a:r>
          </a:p>
        </p:txBody>
      </p:sp>
      <p:sp>
        <p:nvSpPr>
          <p:cNvPr id="4" name="文本框 3"/>
          <p:cNvSpPr txBox="1"/>
          <p:nvPr/>
        </p:nvSpPr>
        <p:spPr>
          <a:xfrm>
            <a:off x="629285" y="5013960"/>
            <a:ext cx="7887335" cy="1142365"/>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w="28575" cap="flat" cmpd="sng">
            <a:noFill/>
            <a:prstDash val="lgDashDot"/>
          </a:ln>
        </p:spPr>
        <p:txBody>
          <a:bodyPr wrap="square" rtlCol="0" anchor="ctr" anchorCtr="0">
            <a:noAutofit/>
          </a:bodyPr>
          <a:lstStyle/>
          <a:p>
            <a:r>
              <a:rPr kumimoji="1" lang="en-US" altLang="zh-CN" dirty="0">
                <a:latin typeface="KaiTi" panose="02010609060101010101" pitchFamily="49" charset="-122"/>
                <a:ea typeface="KaiTi" panose="02010609060101010101" pitchFamily="49" charset="-122"/>
                <a:sym typeface="+mn-ea"/>
              </a:rPr>
              <a:t>虽然用例/场景的优点非常明显，但它毕竟只是一种</a:t>
            </a:r>
            <a:r>
              <a:rPr kumimoji="1" lang="en-US" altLang="zh-CN" b="1" dirty="0">
                <a:solidFill>
                  <a:srgbClr val="870078"/>
                </a:solidFill>
                <a:latin typeface="KaiTi" panose="02010609060101010101" pitchFamily="49" charset="-122"/>
                <a:ea typeface="KaiTi" panose="02010609060101010101" pitchFamily="49" charset="-122"/>
                <a:sym typeface="+mn-ea"/>
              </a:rPr>
              <a:t>组织形式</a:t>
            </a:r>
            <a:r>
              <a:rPr kumimoji="1" lang="en-US" altLang="zh-CN" dirty="0">
                <a:latin typeface="KaiTi" panose="02010609060101010101" pitchFamily="49" charset="-122"/>
                <a:ea typeface="KaiTi" panose="02010609060101010101" pitchFamily="49" charset="-122"/>
                <a:sym typeface="+mn-ea"/>
              </a:rPr>
              <a:t>，不能寄希望于单凭用例/场景模型解决所有问题，目标模型、面向对象分析模型或结构化模型等其他的模型形式仍然是必要的。</a:t>
            </a:r>
            <a:endParaRPr lang="zh-CN" altLang="en-US" dirty="0"/>
          </a:p>
        </p:txBody>
      </p:sp>
      <p:sp>
        <p:nvSpPr>
          <p:cNvPr id="7" name="圆角矩形 13"/>
          <p:cNvSpPr/>
          <p:nvPr>
            <p:custDataLst>
              <p:tags r:id="rId1"/>
            </p:custDataLst>
          </p:nvPr>
        </p:nvSpPr>
        <p:spPr>
          <a:xfrm>
            <a:off x="629285" y="4183380"/>
            <a:ext cx="7886700" cy="559435"/>
          </a:xfrm>
          <a:prstGeom prst="roundRect">
            <a:avLst/>
          </a:prstGeom>
          <a:noFill/>
        </p:spPr>
        <p:style>
          <a:lnRef idx="2">
            <a:schemeClr val="accent1">
              <a:lumMod val="75000"/>
            </a:schemeClr>
          </a:lnRef>
          <a:fillRef idx="1">
            <a:schemeClr val="accent1"/>
          </a:fillRef>
          <a:effectRef idx="0">
            <a:srgbClr val="FFFFFF"/>
          </a:effectRef>
          <a:fontRef idx="minor">
            <a:schemeClr val="lt1"/>
          </a:fontRef>
        </p:style>
        <p:txBody>
          <a:bodyPr lIns="0" tIns="288290" rIns="0" rtlCol="0" anchor="ctr" anchorCtr="1"/>
          <a:lstStyle/>
          <a:p>
            <a:pPr marL="0" lvl="2"/>
            <a:r>
              <a:rPr kumimoji="1" lang="en-US" altLang="zh-CN" dirty="0">
                <a:solidFill>
                  <a:schemeClr val="tx1"/>
                </a:solidFill>
                <a:latin typeface="KaiTi" panose="02010609060101010101" pitchFamily="49" charset="-122"/>
                <a:ea typeface="KaiTi" panose="02010609060101010101" pitchFamily="49" charset="-122"/>
                <a:sym typeface="+mn-ea"/>
              </a:rPr>
              <a:t>例如有无遗漏功能需求、数据需求及业务规则是否充分、质量需求是否可</a:t>
            </a:r>
            <a:r>
              <a:rPr kumimoji="1" lang="zh-CN" altLang="en-US" dirty="0">
                <a:solidFill>
                  <a:schemeClr val="tx1"/>
                </a:solidFill>
                <a:latin typeface="KaiTi" panose="02010609060101010101" pitchFamily="49" charset="-122"/>
                <a:ea typeface="KaiTi" panose="02010609060101010101" pitchFamily="49" charset="-122"/>
                <a:sym typeface="+mn-ea"/>
              </a:rPr>
              <a:t>行</a:t>
            </a:r>
            <a:endParaRPr kumimoji="1" lang="en-US" altLang="zh-CN" dirty="0">
              <a:solidFill>
                <a:schemeClr val="tx1"/>
              </a:solidFill>
              <a:latin typeface="KaiTi" panose="02010609060101010101" pitchFamily="49" charset="-122"/>
              <a:ea typeface="KaiTi" panose="02010609060101010101" pitchFamily="49" charset="-122"/>
            </a:endParaRPr>
          </a:p>
          <a:p>
            <a:pPr marL="914400" lvl="3"/>
            <a:endParaRPr kumimoji="1" lang="en-US" altLang="zh-CN" dirty="0">
              <a:solidFill>
                <a:schemeClr val="tx1"/>
              </a:solidFill>
              <a:latin typeface="KaiTi" panose="02010609060101010101" pitchFamily="49" charset="-122"/>
              <a:ea typeface="KaiTi" panose="02010609060101010101" pitchFamily="49" charset="-122"/>
              <a:sym typeface="+mn-ea"/>
            </a:endParaRPr>
          </a:p>
        </p:txBody>
      </p:sp>
      <p:sp>
        <p:nvSpPr>
          <p:cNvPr id="9" name="圆角矩形 13"/>
          <p:cNvSpPr/>
          <p:nvPr>
            <p:custDataLst>
              <p:tags r:id="rId2"/>
            </p:custDataLst>
          </p:nvPr>
        </p:nvSpPr>
        <p:spPr>
          <a:xfrm>
            <a:off x="627380" y="3004820"/>
            <a:ext cx="7889240" cy="495935"/>
          </a:xfrm>
          <a:prstGeom prst="roundRect">
            <a:avLst/>
          </a:prstGeom>
          <a:noFill/>
        </p:spPr>
        <p:style>
          <a:lnRef idx="2">
            <a:schemeClr val="accent1">
              <a:lumMod val="75000"/>
            </a:schemeClr>
          </a:lnRef>
          <a:fillRef idx="1">
            <a:schemeClr val="accent1"/>
          </a:fillRef>
          <a:effectRef idx="0">
            <a:srgbClr val="FFFFFF"/>
          </a:effectRef>
          <a:fontRef idx="minor">
            <a:schemeClr val="lt1"/>
          </a:fontRef>
        </p:style>
        <p:txBody>
          <a:bodyPr lIns="0" tIns="288290" rIns="0" rtlCol="0" anchor="ctr" anchorCtr="1"/>
          <a:lstStyle/>
          <a:p>
            <a:pPr marL="0" lvl="3"/>
            <a:r>
              <a:rPr kumimoji="1" lang="en-US" altLang="zh-CN" dirty="0">
                <a:solidFill>
                  <a:schemeClr val="tx1"/>
                </a:solidFill>
                <a:latin typeface="KaiTi" panose="02010609060101010101" pitchFamily="49" charset="-122"/>
                <a:ea typeface="KaiTi" panose="02010609060101010101" pitchFamily="49" charset="-122"/>
                <a:sym typeface="+mn-ea"/>
              </a:rPr>
              <a:t>例如质量需求的相互依赖、界面需求的跳转、对外接口需求与质量需求的联</a:t>
            </a:r>
            <a:r>
              <a:rPr kumimoji="1" lang="zh-CN" altLang="en-US" dirty="0">
                <a:solidFill>
                  <a:schemeClr val="tx1"/>
                </a:solidFill>
                <a:latin typeface="KaiTi" panose="02010609060101010101" pitchFamily="49" charset="-122"/>
                <a:ea typeface="KaiTi" panose="02010609060101010101" pitchFamily="49" charset="-122"/>
                <a:sym typeface="+mn-ea"/>
              </a:rPr>
              <a:t>系</a:t>
            </a:r>
          </a:p>
          <a:p>
            <a:pPr marL="914400" lvl="3"/>
            <a:endParaRPr kumimoji="1" lang="en-US" altLang="zh-CN" dirty="0">
              <a:solidFill>
                <a:schemeClr val="tx1"/>
              </a:solidFill>
              <a:latin typeface="KaiTi" panose="02010609060101010101" pitchFamily="49" charset="-122"/>
              <a:ea typeface="KaiTi" panose="02010609060101010101" pitchFamily="49"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1"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1"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4" grpId="1" animBg="1"/>
      <p:bldP spid="7" grpId="0" bldLvl="0" animBg="1"/>
      <p:bldP spid="7" grpId="1" animBg="1"/>
      <p:bldP spid="9" grpId="0" bldLvl="0" animBg="1"/>
      <p:bldP spid="9"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用例/场景的层次性</a:t>
            </a:r>
          </a:p>
        </p:txBody>
      </p:sp>
      <p:sp>
        <p:nvSpPr>
          <p:cNvPr id="3" name="内容占位符 2"/>
          <p:cNvSpPr txBox="1"/>
          <p:nvPr/>
        </p:nvSpPr>
        <p:spPr>
          <a:xfrm>
            <a:off x="628650" y="1392717"/>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buFont typeface="Wingdings" panose="05000000000000000000" charset="0"/>
              <a:buChar char=""/>
            </a:pPr>
            <a:r>
              <a:rPr kumimoji="1" lang="en-US" altLang="zh-CN" dirty="0">
                <a:latin typeface="KaiTi" panose="02010609060101010101" pitchFamily="49" charset="-122"/>
                <a:ea typeface="KaiTi" panose="02010609060101010101" pitchFamily="49" charset="-122"/>
              </a:rPr>
              <a:t>用例/场景是</a:t>
            </a:r>
            <a:r>
              <a:rPr kumimoji="1" lang="en-US" altLang="zh-CN" b="1" dirty="0">
                <a:solidFill>
                  <a:srgbClr val="870078"/>
                </a:solidFill>
                <a:latin typeface="KaiTi" panose="02010609060101010101" pitchFamily="49" charset="-122"/>
                <a:ea typeface="KaiTi" panose="02010609060101010101" pitchFamily="49" charset="-122"/>
              </a:rPr>
              <a:t>对需求的组织</a:t>
            </a:r>
            <a:r>
              <a:rPr kumimoji="1" lang="en-US" altLang="zh-CN" dirty="0">
                <a:latin typeface="KaiTi" panose="02010609060101010101" pitchFamily="49" charset="-122"/>
                <a:ea typeface="KaiTi" panose="02010609060101010101" pitchFamily="49" charset="-122"/>
              </a:rPr>
              <a:t>，需求是有层次性的，那么用例/场景自然也是有层次性的</a:t>
            </a:r>
            <a:r>
              <a:rPr kumimoji="1" lang="zh-CN" altLang="en-US" dirty="0">
                <a:latin typeface="KaiTi" panose="02010609060101010101" pitchFamily="49" charset="-122"/>
                <a:ea typeface="KaiTi" panose="02010609060101010101" pitchFamily="49" charset="-122"/>
              </a:rPr>
              <a:t>。</a:t>
            </a:r>
            <a:endParaRPr kumimoji="1" lang="en-US" altLang="zh-CN" dirty="0">
              <a:latin typeface="KaiTi" panose="02010609060101010101" pitchFamily="49" charset="-122"/>
              <a:ea typeface="KaiTi" panose="02010609060101010101" pitchFamily="49" charset="-122"/>
            </a:endParaRPr>
          </a:p>
          <a:p>
            <a:pPr marL="0" indent="0">
              <a:buFont typeface="Wingdings" panose="05000000000000000000" charset="0"/>
              <a:buNone/>
            </a:pPr>
            <a:endParaRPr kumimoji="1" lang="zh-CN" altLang="en-US" dirty="0">
              <a:latin typeface="KaiTi" panose="02010609060101010101" pitchFamily="49" charset="-122"/>
              <a:ea typeface="KaiTi" panose="02010609060101010101" pitchFamily="49" charset="-122"/>
            </a:endParaRPr>
          </a:p>
        </p:txBody>
      </p:sp>
      <p:sp>
        <p:nvSpPr>
          <p:cNvPr id="6" name="文本框 5"/>
          <p:cNvSpPr txBox="1"/>
          <p:nvPr/>
        </p:nvSpPr>
        <p:spPr>
          <a:xfrm>
            <a:off x="151596" y="16999"/>
            <a:ext cx="145288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rPr>
              <a:t>用例与场景</a:t>
            </a:r>
          </a:p>
        </p:txBody>
      </p:sp>
      <p:grpSp>
        <p:nvGrpSpPr>
          <p:cNvPr id="23" name="组合 22"/>
          <p:cNvGrpSpPr/>
          <p:nvPr/>
        </p:nvGrpSpPr>
        <p:grpSpPr>
          <a:xfrm>
            <a:off x="653415" y="2726690"/>
            <a:ext cx="7729220" cy="2689860"/>
            <a:chOff x="990" y="4059"/>
            <a:chExt cx="12172" cy="4236"/>
          </a:xfrm>
        </p:grpSpPr>
        <p:sp>
          <p:nvSpPr>
            <p:cNvPr id="10" name="圆角矩形 9"/>
            <p:cNvSpPr/>
            <p:nvPr>
              <p:custDataLst>
                <p:tags r:id="rId1"/>
              </p:custDataLst>
            </p:nvPr>
          </p:nvSpPr>
          <p:spPr>
            <a:xfrm>
              <a:off x="990" y="5750"/>
              <a:ext cx="2411" cy="1043"/>
            </a:xfrm>
            <a:prstGeom prst="roundRect">
              <a:avLst/>
            </a:prstGeom>
            <a:solidFill>
              <a:schemeClr val="accent1">
                <a:lumMod val="5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400">
                  <a:latin typeface="楷体" charset="0"/>
                  <a:ea typeface="楷体" charset="0"/>
                </a:rPr>
                <a:t>需求工程</a:t>
              </a:r>
            </a:p>
          </p:txBody>
        </p:sp>
        <p:sp>
          <p:nvSpPr>
            <p:cNvPr id="11" name="圆角矩形 10"/>
            <p:cNvSpPr/>
            <p:nvPr>
              <p:custDataLst>
                <p:tags r:id="rId2"/>
              </p:custDataLst>
            </p:nvPr>
          </p:nvSpPr>
          <p:spPr>
            <a:xfrm>
              <a:off x="3886" y="4059"/>
              <a:ext cx="2135" cy="939"/>
            </a:xfrm>
            <a:prstGeom prst="roundRect">
              <a:avLst/>
            </a:prstGeom>
            <a:solidFill>
              <a:schemeClr val="accent6">
                <a:lumMod val="5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a:latin typeface="楷体" charset="0"/>
                  <a:ea typeface="楷体" charset="0"/>
                </a:rPr>
                <a:t>早期阶段</a:t>
              </a:r>
            </a:p>
          </p:txBody>
        </p:sp>
        <p:sp>
          <p:nvSpPr>
            <p:cNvPr id="5" name="圆角矩形 4"/>
            <p:cNvSpPr/>
            <p:nvPr>
              <p:custDataLst>
                <p:tags r:id="rId3"/>
              </p:custDataLst>
            </p:nvPr>
          </p:nvSpPr>
          <p:spPr>
            <a:xfrm>
              <a:off x="3886" y="5750"/>
              <a:ext cx="2135" cy="939"/>
            </a:xfrm>
            <a:prstGeom prst="roundRect">
              <a:avLst/>
            </a:prstGeom>
            <a:solidFill>
              <a:schemeClr val="accent6">
                <a:lumMod val="5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a:latin typeface="楷体" charset="0"/>
                  <a:ea typeface="楷体" charset="0"/>
                </a:rPr>
                <a:t>中期阶段</a:t>
              </a:r>
            </a:p>
          </p:txBody>
        </p:sp>
        <p:sp>
          <p:nvSpPr>
            <p:cNvPr id="7" name="圆角矩形 6"/>
            <p:cNvSpPr/>
            <p:nvPr>
              <p:custDataLst>
                <p:tags r:id="rId4"/>
              </p:custDataLst>
            </p:nvPr>
          </p:nvSpPr>
          <p:spPr>
            <a:xfrm>
              <a:off x="3886" y="7357"/>
              <a:ext cx="2135" cy="939"/>
            </a:xfrm>
            <a:prstGeom prst="roundRect">
              <a:avLst/>
            </a:prstGeom>
            <a:solidFill>
              <a:schemeClr val="accent6">
                <a:lumMod val="5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a:latin typeface="楷体" charset="0"/>
                  <a:ea typeface="楷体" charset="0"/>
                </a:rPr>
                <a:t>后期阶段</a:t>
              </a:r>
            </a:p>
          </p:txBody>
        </p:sp>
        <p:sp>
          <p:nvSpPr>
            <p:cNvPr id="8" name="圆角矩形 7"/>
            <p:cNvSpPr/>
            <p:nvPr>
              <p:custDataLst>
                <p:tags r:id="rId5"/>
              </p:custDataLst>
            </p:nvPr>
          </p:nvSpPr>
          <p:spPr>
            <a:xfrm>
              <a:off x="7985" y="7357"/>
              <a:ext cx="2135" cy="939"/>
            </a:xfrm>
            <a:prstGeom prst="roundRect">
              <a:avLst/>
            </a:prstGeom>
            <a:solidFill>
              <a:schemeClr val="accent6">
                <a:lumMod val="5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a:latin typeface="楷体" charset="0"/>
                  <a:ea typeface="楷体" charset="0"/>
                </a:rPr>
                <a:t>系统交互层次</a:t>
              </a:r>
            </a:p>
          </p:txBody>
        </p:sp>
        <p:sp>
          <p:nvSpPr>
            <p:cNvPr id="13" name="圆角矩形 12"/>
            <p:cNvSpPr/>
            <p:nvPr>
              <p:custDataLst>
                <p:tags r:id="rId6"/>
              </p:custDataLst>
            </p:nvPr>
          </p:nvSpPr>
          <p:spPr>
            <a:xfrm>
              <a:off x="7985" y="5645"/>
              <a:ext cx="2135" cy="939"/>
            </a:xfrm>
            <a:prstGeom prst="roundRect">
              <a:avLst/>
            </a:prstGeom>
            <a:solidFill>
              <a:schemeClr val="accent6">
                <a:lumMod val="5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a:latin typeface="楷体" charset="0"/>
                  <a:ea typeface="楷体" charset="0"/>
                </a:rPr>
                <a:t>用户任务层次</a:t>
              </a:r>
            </a:p>
          </p:txBody>
        </p:sp>
        <p:sp>
          <p:nvSpPr>
            <p:cNvPr id="14" name="圆角矩形 13"/>
            <p:cNvSpPr/>
            <p:nvPr>
              <p:custDataLst>
                <p:tags r:id="rId7"/>
              </p:custDataLst>
            </p:nvPr>
          </p:nvSpPr>
          <p:spPr>
            <a:xfrm>
              <a:off x="7985" y="4059"/>
              <a:ext cx="2135" cy="939"/>
            </a:xfrm>
            <a:prstGeom prst="roundRect">
              <a:avLst/>
            </a:prstGeom>
            <a:solidFill>
              <a:schemeClr val="accent6">
                <a:lumMod val="5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000">
                  <a:latin typeface="楷体" charset="0"/>
                  <a:ea typeface="楷体" charset="0"/>
                </a:rPr>
                <a:t>概要</a:t>
              </a:r>
            </a:p>
          </p:txBody>
        </p:sp>
        <p:sp>
          <p:nvSpPr>
            <p:cNvPr id="15" name="圆角矩形 14"/>
            <p:cNvSpPr/>
            <p:nvPr>
              <p:custDataLst>
                <p:tags r:id="rId8"/>
              </p:custDataLst>
            </p:nvPr>
          </p:nvSpPr>
          <p:spPr>
            <a:xfrm>
              <a:off x="10750" y="5645"/>
              <a:ext cx="2412" cy="1031"/>
            </a:xfrm>
            <a:prstGeom prst="roundRect">
              <a:avLst/>
            </a:prstGeom>
            <a:solidFill>
              <a:schemeClr val="accent1">
                <a:lumMod val="5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sz="2400">
                  <a:latin typeface="楷体" charset="0"/>
                  <a:ea typeface="楷体" charset="0"/>
                </a:rPr>
                <a:t>用例场景描述</a:t>
              </a:r>
            </a:p>
          </p:txBody>
        </p:sp>
        <p:sp>
          <p:nvSpPr>
            <p:cNvPr id="16" name="左大括号 15"/>
            <p:cNvSpPr/>
            <p:nvPr/>
          </p:nvSpPr>
          <p:spPr>
            <a:xfrm>
              <a:off x="3627" y="4407"/>
              <a:ext cx="119" cy="3654"/>
            </a:xfrm>
            <a:prstGeom prst="leftBrace">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8" name="右大括号 17"/>
            <p:cNvSpPr/>
            <p:nvPr/>
          </p:nvSpPr>
          <p:spPr>
            <a:xfrm>
              <a:off x="10330" y="4463"/>
              <a:ext cx="265" cy="3529"/>
            </a:xfrm>
            <a:prstGeom prst="rightBrace">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20" name="右箭头 19"/>
            <p:cNvSpPr/>
            <p:nvPr/>
          </p:nvSpPr>
          <p:spPr>
            <a:xfrm>
              <a:off x="6034" y="4407"/>
              <a:ext cx="1931" cy="362"/>
            </a:xfrm>
            <a:prstGeom prst="rightArrow">
              <a:avLst/>
            </a:prstGeom>
            <a:solidFill>
              <a:schemeClr val="accent2">
                <a:lumMod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1" name="右箭头 20"/>
            <p:cNvSpPr/>
            <p:nvPr>
              <p:custDataLst>
                <p:tags r:id="rId9"/>
              </p:custDataLst>
            </p:nvPr>
          </p:nvSpPr>
          <p:spPr>
            <a:xfrm>
              <a:off x="6021" y="5997"/>
              <a:ext cx="1931" cy="362"/>
            </a:xfrm>
            <a:prstGeom prst="rightArrow">
              <a:avLst/>
            </a:prstGeom>
            <a:solidFill>
              <a:schemeClr val="accent2">
                <a:lumMod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2" name="右箭头 21"/>
            <p:cNvSpPr/>
            <p:nvPr>
              <p:custDataLst>
                <p:tags r:id="rId10"/>
              </p:custDataLst>
            </p:nvPr>
          </p:nvSpPr>
          <p:spPr>
            <a:xfrm>
              <a:off x="6021" y="7675"/>
              <a:ext cx="1931" cy="362"/>
            </a:xfrm>
            <a:prstGeom prst="rightArrow">
              <a:avLst/>
            </a:prstGeom>
            <a:solidFill>
              <a:schemeClr val="accent2">
                <a:lumMod val="5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抽象用例示例</a:t>
            </a:r>
          </a:p>
        </p:txBody>
      </p:sp>
      <p:sp>
        <p:nvSpPr>
          <p:cNvPr id="3" name="内容占位符 2"/>
          <p:cNvSpPr txBox="1"/>
          <p:nvPr/>
        </p:nvSpPr>
        <p:spPr>
          <a:xfrm>
            <a:off x="628650" y="1392717"/>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buFont typeface="Wingdings" panose="05000000000000000000" charset="0"/>
              <a:buChar char=""/>
            </a:pPr>
            <a:endParaRPr kumimoji="1" lang="zh-CN" altLang="en-US" dirty="0">
              <a:latin typeface="KaiTi" panose="02010609060101010101" pitchFamily="49" charset="-122"/>
              <a:ea typeface="KaiTi" panose="02010609060101010101" pitchFamily="49" charset="-122"/>
            </a:endParaRPr>
          </a:p>
        </p:txBody>
      </p:sp>
      <p:sp>
        <p:nvSpPr>
          <p:cNvPr id="6" name="文本框 5"/>
          <p:cNvSpPr txBox="1"/>
          <p:nvPr/>
        </p:nvSpPr>
        <p:spPr>
          <a:xfrm>
            <a:off x="151596" y="16999"/>
            <a:ext cx="145288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rPr>
              <a:t>用例与场景</a:t>
            </a:r>
          </a:p>
        </p:txBody>
      </p:sp>
      <p:pic>
        <p:nvPicPr>
          <p:cNvPr id="7" name="图片 6" descr="截屏2024-11-12 16.38.36"/>
          <p:cNvPicPr>
            <a:picLocks noChangeAspect="1"/>
          </p:cNvPicPr>
          <p:nvPr/>
        </p:nvPicPr>
        <p:blipFill>
          <a:blip r:embed="rId2"/>
          <a:stretch>
            <a:fillRect/>
          </a:stretch>
        </p:blipFill>
        <p:spPr>
          <a:xfrm>
            <a:off x="699135" y="1878965"/>
            <a:ext cx="7745095" cy="4057650"/>
          </a:xfrm>
          <a:prstGeom prst="rect">
            <a:avLst/>
          </a:prstGeom>
        </p:spPr>
      </p:pic>
      <p:sp>
        <p:nvSpPr>
          <p:cNvPr id="4" name="文本框 3"/>
          <p:cNvSpPr txBox="1"/>
          <p:nvPr/>
        </p:nvSpPr>
        <p:spPr>
          <a:xfrm>
            <a:off x="786765" y="1251585"/>
            <a:ext cx="7657465" cy="654685"/>
          </a:xfrm>
          <a:prstGeom prst="rect">
            <a:avLst/>
          </a:prstGeom>
          <a:noFill/>
          <a:ln>
            <a:noFill/>
            <a:prstDash val="lgDashDot"/>
          </a:ln>
        </p:spPr>
        <p:txBody>
          <a:bodyPr wrap="square" rtlCol="0">
            <a:noAutofit/>
          </a:bodyPr>
          <a:lstStyle/>
          <a:p>
            <a:pPr indent="0">
              <a:buFont typeface="Wingdings" panose="05000000000000000000" charset="0"/>
              <a:buNone/>
            </a:pPr>
            <a:r>
              <a:rPr kumimoji="1" lang="en-US" altLang="zh-CN" dirty="0">
                <a:latin typeface="KaiTi" panose="02010609060101010101" pitchFamily="49" charset="-122"/>
                <a:ea typeface="KaiTi" panose="02010609060101010101" pitchFamily="49" charset="-122"/>
                <a:sym typeface="+mn-ea"/>
              </a:rPr>
              <a:t>用例/场景可以用于组织</a:t>
            </a:r>
            <a:r>
              <a:rPr kumimoji="1" lang="en-US" altLang="zh-CN" b="1" dirty="0">
                <a:solidFill>
                  <a:srgbClr val="870078"/>
                </a:solidFill>
                <a:latin typeface="KaiTi" panose="02010609060101010101" pitchFamily="49" charset="-122"/>
                <a:ea typeface="KaiTi" panose="02010609060101010101" pitchFamily="49" charset="-122"/>
                <a:sym typeface="+mn-ea"/>
              </a:rPr>
              <a:t>业务需求</a:t>
            </a:r>
            <a:r>
              <a:rPr kumimoji="1" lang="en-US" altLang="zh-CN" dirty="0">
                <a:latin typeface="KaiTi" panose="02010609060101010101" pitchFamily="49" charset="-122"/>
                <a:ea typeface="KaiTi" panose="02010609060101010101" pitchFamily="49" charset="-122"/>
                <a:sym typeface="+mn-ea"/>
              </a:rPr>
              <a:t>内容</a:t>
            </a:r>
            <a:r>
              <a:rPr kumimoji="1" lang="zh-CN" altLang="en-US" dirty="0">
                <a:latin typeface="KaiTi" panose="02010609060101010101" pitchFamily="49" charset="-122"/>
                <a:ea typeface="KaiTi" panose="02010609060101010101" pitchFamily="49" charset="-122"/>
                <a:sym typeface="+mn-ea"/>
              </a:rPr>
              <a:t>。</a:t>
            </a:r>
            <a:r>
              <a:rPr kumimoji="1" lang="en-US" altLang="zh-CN" dirty="0">
                <a:latin typeface="KaiTi" panose="02010609060101010101" pitchFamily="49" charset="-122"/>
                <a:ea typeface="KaiTi" panose="02010609060101010101" pitchFamily="49" charset="-122"/>
                <a:sym typeface="+mn-ea"/>
              </a:rPr>
              <a:t>场景描述可以只是一段抽象的文字描述</a:t>
            </a:r>
            <a:r>
              <a:rPr kumimoji="1" lang="zh-CN" altLang="en-US" dirty="0">
                <a:latin typeface="KaiTi" panose="02010609060101010101" pitchFamily="49" charset="-122"/>
                <a:ea typeface="KaiTi" panose="02010609060101010101" pitchFamily="49" charset="-122"/>
                <a:sym typeface="+mn-ea"/>
              </a:rPr>
              <a:t>，</a:t>
            </a:r>
            <a:r>
              <a:rPr kumimoji="1" lang="en-US" altLang="zh-CN" dirty="0">
                <a:latin typeface="KaiTi" panose="02010609060101010101" pitchFamily="49" charset="-122"/>
                <a:ea typeface="KaiTi" panose="02010609060101010101" pitchFamily="49" charset="-122"/>
                <a:sym typeface="+mn-ea"/>
              </a:rPr>
              <a:t>也可以是对</a:t>
            </a:r>
            <a:r>
              <a:rPr kumimoji="1" lang="en-US" altLang="zh-CN" b="1" dirty="0">
                <a:solidFill>
                  <a:srgbClr val="870078"/>
                </a:solidFill>
                <a:latin typeface="KaiTi" panose="02010609060101010101" pitchFamily="49" charset="-122"/>
                <a:ea typeface="KaiTi" panose="02010609060101010101" pitchFamily="49" charset="-122"/>
                <a:sym typeface="+mn-ea"/>
              </a:rPr>
              <a:t>业务过程</a:t>
            </a:r>
            <a:r>
              <a:rPr kumimoji="1" lang="en-US" altLang="zh-CN" dirty="0">
                <a:latin typeface="KaiTi" panose="02010609060101010101" pitchFamily="49" charset="-122"/>
                <a:ea typeface="KaiTi" panose="02010609060101010101" pitchFamily="49" charset="-122"/>
                <a:sym typeface="+mn-ea"/>
              </a:rPr>
              <a:t>的描</a:t>
            </a:r>
            <a:r>
              <a:rPr kumimoji="1" lang="zh-CN" altLang="en-US" dirty="0">
                <a:latin typeface="KaiTi" panose="02010609060101010101" pitchFamily="49" charset="-122"/>
                <a:ea typeface="KaiTi" panose="02010609060101010101" pitchFamily="49" charset="-122"/>
                <a:sym typeface="+mn-ea"/>
              </a:rPr>
              <a:t>述</a:t>
            </a:r>
            <a:endParaRPr kumimoji="1" lang="zh-CN" altLang="en-US" dirty="0">
              <a:latin typeface="KaiTi" panose="02010609060101010101" pitchFamily="49" charset="-122"/>
              <a:ea typeface="KaiTi" panose="02010609060101010101" pitchFamily="49" charset="-122"/>
            </a:endParaRPr>
          </a:p>
          <a:p>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用户用例示例</a:t>
            </a:r>
          </a:p>
        </p:txBody>
      </p:sp>
      <p:sp>
        <p:nvSpPr>
          <p:cNvPr id="3" name="内容占位符 2"/>
          <p:cNvSpPr txBox="1"/>
          <p:nvPr/>
        </p:nvSpPr>
        <p:spPr>
          <a:xfrm>
            <a:off x="628650" y="1392717"/>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buFont typeface="Wingdings" panose="05000000000000000000" charset="0"/>
              <a:buChar char=""/>
            </a:pPr>
            <a:endParaRPr kumimoji="1" lang="zh-CN" altLang="en-US" dirty="0">
              <a:latin typeface="KaiTi" panose="02010609060101010101" pitchFamily="49" charset="-122"/>
              <a:ea typeface="KaiTi" panose="02010609060101010101" pitchFamily="49" charset="-122"/>
            </a:endParaRPr>
          </a:p>
        </p:txBody>
      </p:sp>
      <p:sp>
        <p:nvSpPr>
          <p:cNvPr id="6" name="文本框 5"/>
          <p:cNvSpPr txBox="1"/>
          <p:nvPr/>
        </p:nvSpPr>
        <p:spPr>
          <a:xfrm>
            <a:off x="151596" y="16999"/>
            <a:ext cx="145288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rPr>
              <a:t>用例与场景</a:t>
            </a:r>
          </a:p>
        </p:txBody>
      </p:sp>
      <p:pic>
        <p:nvPicPr>
          <p:cNvPr id="4" name="图片 3" descr="截屏2024-11-12 16.41.03"/>
          <p:cNvPicPr>
            <a:picLocks noChangeAspect="1"/>
          </p:cNvPicPr>
          <p:nvPr/>
        </p:nvPicPr>
        <p:blipFill>
          <a:blip r:embed="rId2"/>
          <a:stretch>
            <a:fillRect/>
          </a:stretch>
        </p:blipFill>
        <p:spPr>
          <a:xfrm>
            <a:off x="695325" y="1178560"/>
            <a:ext cx="6427470" cy="5191760"/>
          </a:xfrm>
          <a:prstGeom prst="rect">
            <a:avLst/>
          </a:prstGeom>
        </p:spPr>
      </p:pic>
      <p:sp>
        <p:nvSpPr>
          <p:cNvPr id="5" name="文本框 4"/>
          <p:cNvSpPr txBox="1"/>
          <p:nvPr/>
        </p:nvSpPr>
        <p:spPr>
          <a:xfrm>
            <a:off x="7046595" y="1602105"/>
            <a:ext cx="1993900" cy="3175957"/>
          </a:xfrm>
          <a:prstGeom prst="rect">
            <a:avLst/>
          </a:prstGeom>
          <a:noFill/>
          <a:ln w="19050">
            <a:solidFill>
              <a:srgbClr val="7030A0"/>
            </a:solidFill>
            <a:prstDash val="dashDot"/>
          </a:ln>
        </p:spPr>
        <p:txBody>
          <a:bodyPr wrap="square" rIns="36195" rtlCol="0" anchor="ctr" anchorCtr="0">
            <a:noAutofit/>
          </a:bodyPr>
          <a:lstStyle/>
          <a:p>
            <a:r>
              <a:rPr lang="en-US" altLang="zh-CN" b="1" dirty="0">
                <a:latin typeface="楷体" charset="0"/>
                <a:ea typeface="楷体" charset="0"/>
                <a:cs typeface="楷体" charset="0"/>
              </a:rPr>
              <a:t>·</a:t>
            </a:r>
            <a:r>
              <a:rPr lang="zh-CN" altLang="en-US" dirty="0">
                <a:latin typeface="楷体" charset="0"/>
                <a:ea typeface="楷体" charset="0"/>
                <a:cs typeface="楷体" charset="0"/>
              </a:rPr>
              <a:t>用例/场景可以用于组织</a:t>
            </a:r>
            <a:r>
              <a:rPr lang="zh-CN" altLang="en-US" b="1" dirty="0">
                <a:solidFill>
                  <a:srgbClr val="870078"/>
                </a:solidFill>
                <a:latin typeface="楷体" charset="0"/>
                <a:ea typeface="楷体" charset="0"/>
                <a:cs typeface="楷体" charset="0"/>
              </a:rPr>
              <a:t>用户需求</a:t>
            </a:r>
            <a:r>
              <a:rPr lang="zh-CN" altLang="en-US" dirty="0">
                <a:latin typeface="楷体" charset="0"/>
                <a:ea typeface="楷体" charset="0"/>
                <a:cs typeface="楷体" charset="0"/>
              </a:rPr>
              <a:t>的内容。</a:t>
            </a:r>
          </a:p>
          <a:p>
            <a:endParaRPr lang="zh-CN" altLang="en-US" dirty="0">
              <a:latin typeface="楷体" charset="0"/>
              <a:ea typeface="楷体" charset="0"/>
              <a:cs typeface="楷体" charset="0"/>
            </a:endParaRPr>
          </a:p>
          <a:p>
            <a:r>
              <a:rPr lang="en-US" altLang="zh-CN" b="1" dirty="0">
                <a:latin typeface="楷体" charset="0"/>
                <a:ea typeface="楷体" charset="0"/>
                <a:cs typeface="楷体" charset="0"/>
              </a:rPr>
              <a:t>·</a:t>
            </a:r>
            <a:r>
              <a:rPr lang="zh-CN" altLang="en-US" dirty="0">
                <a:latin typeface="楷体" charset="0"/>
                <a:ea typeface="楷体" charset="0"/>
                <a:cs typeface="楷体" charset="0"/>
              </a:rPr>
              <a:t>为了让故事连贯起来，场景描述中也经常会添加一些不属于用户需求的内容，例如两个涉众之间的</a:t>
            </a:r>
            <a:r>
              <a:rPr lang="zh-CN" altLang="en-US" b="1" dirty="0">
                <a:solidFill>
                  <a:srgbClr val="870078"/>
                </a:solidFill>
                <a:latin typeface="楷体" charset="0"/>
                <a:ea typeface="楷体" charset="0"/>
                <a:cs typeface="楷体" charset="0"/>
              </a:rPr>
              <a:t>外部互动</a:t>
            </a:r>
            <a:r>
              <a:rPr lang="zh-CN" altLang="en-US" dirty="0">
                <a:latin typeface="楷体" charset="0"/>
                <a:ea typeface="楷体" charset="0"/>
                <a:cs typeface="楷体" charset="0"/>
              </a:rPr>
              <a:t>。</a:t>
            </a:r>
          </a:p>
          <a:p>
            <a:endParaRPr lang="zh-CN" altLang="en-US" dirty="0">
              <a:latin typeface="楷体" charset="0"/>
              <a:ea typeface="楷体" charset="0"/>
              <a:cs typeface="楷体"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系统用例示例</a:t>
            </a:r>
          </a:p>
        </p:txBody>
      </p:sp>
      <p:sp>
        <p:nvSpPr>
          <p:cNvPr id="3" name="内容占位符 2"/>
          <p:cNvSpPr txBox="1"/>
          <p:nvPr/>
        </p:nvSpPr>
        <p:spPr>
          <a:xfrm>
            <a:off x="628650" y="1392717"/>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buFont typeface="Wingdings" panose="05000000000000000000" charset="0"/>
              <a:buChar char=""/>
            </a:pPr>
            <a:endParaRPr kumimoji="1" lang="zh-CN" altLang="en-US" dirty="0">
              <a:latin typeface="KaiTi" panose="02010609060101010101" pitchFamily="49" charset="-122"/>
              <a:ea typeface="KaiTi" panose="02010609060101010101" pitchFamily="49" charset="-122"/>
            </a:endParaRPr>
          </a:p>
        </p:txBody>
      </p:sp>
      <p:sp>
        <p:nvSpPr>
          <p:cNvPr id="6" name="文本框 5"/>
          <p:cNvSpPr txBox="1"/>
          <p:nvPr/>
        </p:nvSpPr>
        <p:spPr>
          <a:xfrm>
            <a:off x="151596" y="16999"/>
            <a:ext cx="145288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rPr>
              <a:t>用例与场景</a:t>
            </a:r>
          </a:p>
        </p:txBody>
      </p:sp>
      <p:sp>
        <p:nvSpPr>
          <p:cNvPr id="4" name="文本框 3"/>
          <p:cNvSpPr txBox="1"/>
          <p:nvPr/>
        </p:nvSpPr>
        <p:spPr>
          <a:xfrm>
            <a:off x="7131685" y="1802765"/>
            <a:ext cx="1860550" cy="3239314"/>
          </a:xfrm>
          <a:prstGeom prst="rect">
            <a:avLst/>
          </a:prstGeom>
          <a:noFill/>
          <a:ln w="19050">
            <a:solidFill>
              <a:srgbClr val="870078"/>
            </a:solidFill>
            <a:prstDash val="dashDot"/>
          </a:ln>
        </p:spPr>
        <p:txBody>
          <a:bodyPr wrap="square" rtlCol="0" anchor="ctr" anchorCtr="1">
            <a:noAutofit/>
          </a:bodyPr>
          <a:lstStyle/>
          <a:p>
            <a:r>
              <a:rPr lang="en-US" altLang="zh-CN" dirty="0">
                <a:latin typeface="楷体" charset="0"/>
                <a:ea typeface="楷体" charset="0"/>
                <a:cs typeface="楷体" charset="0"/>
              </a:rPr>
              <a:t>·</a:t>
            </a:r>
            <a:r>
              <a:rPr lang="zh-CN" altLang="en-US" dirty="0">
                <a:latin typeface="楷体" charset="0"/>
                <a:ea typeface="楷体" charset="0"/>
                <a:cs typeface="楷体" charset="0"/>
              </a:rPr>
              <a:t>用例/场景可以用于</a:t>
            </a:r>
            <a:r>
              <a:rPr lang="zh-CN" altLang="en-US" b="1" dirty="0">
                <a:latin typeface="楷体" charset="0"/>
                <a:ea typeface="楷体" charset="0"/>
                <a:cs typeface="楷体" charset="0"/>
              </a:rPr>
              <a:t>组织</a:t>
            </a:r>
            <a:r>
              <a:rPr lang="zh-CN" altLang="en-US" b="1" dirty="0">
                <a:solidFill>
                  <a:srgbClr val="870078"/>
                </a:solidFill>
                <a:latin typeface="楷体" charset="0"/>
                <a:ea typeface="楷体" charset="0"/>
                <a:cs typeface="楷体" charset="0"/>
              </a:rPr>
              <a:t>系统级需求</a:t>
            </a:r>
            <a:r>
              <a:rPr lang="zh-CN" altLang="en-US" dirty="0">
                <a:latin typeface="楷体" charset="0"/>
                <a:ea typeface="楷体" charset="0"/>
                <a:cs typeface="楷体" charset="0"/>
              </a:rPr>
              <a:t>的内容。</a:t>
            </a:r>
          </a:p>
          <a:p>
            <a:endParaRPr lang="zh-CN" altLang="en-US" dirty="0">
              <a:latin typeface="楷体" charset="0"/>
              <a:ea typeface="楷体" charset="0"/>
              <a:cs typeface="楷体" charset="0"/>
            </a:endParaRPr>
          </a:p>
          <a:p>
            <a:r>
              <a:rPr lang="en-US" altLang="zh-CN" dirty="0">
                <a:latin typeface="楷体" charset="0"/>
                <a:ea typeface="楷体" charset="0"/>
                <a:cs typeface="楷体" charset="0"/>
              </a:rPr>
              <a:t>·</a:t>
            </a:r>
            <a:r>
              <a:rPr lang="zh-CN" altLang="en-US" dirty="0">
                <a:latin typeface="楷体" charset="0"/>
                <a:ea typeface="楷体" charset="0"/>
                <a:cs typeface="楷体" charset="0"/>
              </a:rPr>
              <a:t>系统级需求级别的用例/场景描述由系统级需求连接而成，每个步骤都是一次</a:t>
            </a:r>
            <a:r>
              <a:rPr lang="zh-CN" altLang="en-US" b="1" dirty="0">
                <a:solidFill>
                  <a:srgbClr val="870078"/>
                </a:solidFill>
                <a:latin typeface="楷体" charset="0"/>
                <a:ea typeface="楷体" charset="0"/>
                <a:cs typeface="楷体" charset="0"/>
              </a:rPr>
              <a:t>外界与系统的交互</a:t>
            </a:r>
          </a:p>
        </p:txBody>
      </p:sp>
      <p:pic>
        <p:nvPicPr>
          <p:cNvPr id="5" name="图片 4" descr="截屏2024-11-13 09.33.50"/>
          <p:cNvPicPr>
            <a:picLocks noChangeAspect="1"/>
          </p:cNvPicPr>
          <p:nvPr/>
        </p:nvPicPr>
        <p:blipFill>
          <a:blip r:embed="rId2"/>
          <a:srcRect l="-269" t="411" r="6959" b="-411"/>
          <a:stretch>
            <a:fillRect/>
          </a:stretch>
        </p:blipFill>
        <p:spPr>
          <a:xfrm>
            <a:off x="447675" y="1271270"/>
            <a:ext cx="6598920" cy="479425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系统用例示例——扩展流程</a:t>
            </a:r>
          </a:p>
        </p:txBody>
      </p:sp>
      <p:sp>
        <p:nvSpPr>
          <p:cNvPr id="3" name="内容占位符 2"/>
          <p:cNvSpPr txBox="1"/>
          <p:nvPr/>
        </p:nvSpPr>
        <p:spPr>
          <a:xfrm>
            <a:off x="628650" y="1392717"/>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buFont typeface="Wingdings" panose="05000000000000000000" charset="0"/>
              <a:buChar char=""/>
            </a:pPr>
            <a:endParaRPr kumimoji="1" lang="zh-CN" altLang="en-US" dirty="0">
              <a:latin typeface="KaiTi" panose="02010609060101010101" pitchFamily="49" charset="-122"/>
              <a:ea typeface="KaiTi" panose="02010609060101010101" pitchFamily="49" charset="-122"/>
            </a:endParaRPr>
          </a:p>
        </p:txBody>
      </p:sp>
      <p:sp>
        <p:nvSpPr>
          <p:cNvPr id="6" name="文本框 5"/>
          <p:cNvSpPr txBox="1"/>
          <p:nvPr/>
        </p:nvSpPr>
        <p:spPr>
          <a:xfrm>
            <a:off x="151596" y="16999"/>
            <a:ext cx="145288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rPr>
              <a:t>用例与场景</a:t>
            </a:r>
          </a:p>
        </p:txBody>
      </p:sp>
      <p:sp>
        <p:nvSpPr>
          <p:cNvPr id="4" name="文本框 3"/>
          <p:cNvSpPr txBox="1"/>
          <p:nvPr/>
        </p:nvSpPr>
        <p:spPr>
          <a:xfrm>
            <a:off x="7451725" y="1569720"/>
            <a:ext cx="1548765" cy="2987675"/>
          </a:xfrm>
          <a:prstGeom prst="rect">
            <a:avLst/>
          </a:prstGeom>
          <a:noFill/>
          <a:ln w="19050">
            <a:solidFill>
              <a:srgbClr val="870078"/>
            </a:solidFill>
            <a:prstDash val="dashDot"/>
          </a:ln>
        </p:spPr>
        <p:txBody>
          <a:bodyPr wrap="square" lIns="252095" rtlCol="0" anchor="ctr" anchorCtr="1">
            <a:noAutofit/>
          </a:bodyPr>
          <a:lstStyle/>
          <a:p>
            <a:r>
              <a:rPr lang="zh-CN" altLang="en-US" dirty="0">
                <a:solidFill>
                  <a:schemeClr val="tx1"/>
                </a:solidFill>
                <a:latin typeface="Times New Roman" panose="02020603050405020304" pitchFamily="18" charset="0"/>
                <a:ea typeface="楷体" charset="0"/>
                <a:cs typeface="Times New Roman" panose="02020603050405020304" pitchFamily="18" charset="0"/>
              </a:rPr>
              <a:t>正常流程步骤5和扩展流程6a-1是为了让故事</a:t>
            </a:r>
            <a:r>
              <a:rPr lang="zh-CN" altLang="en-US" b="1" dirty="0">
                <a:solidFill>
                  <a:srgbClr val="870078"/>
                </a:solidFill>
                <a:latin typeface="Times New Roman" panose="02020603050405020304" pitchFamily="18" charset="0"/>
                <a:ea typeface="楷体" charset="0"/>
                <a:cs typeface="Times New Roman" panose="02020603050405020304" pitchFamily="18" charset="0"/>
              </a:rPr>
              <a:t>连贯</a:t>
            </a:r>
            <a:r>
              <a:rPr lang="zh-CN" altLang="en-US" dirty="0">
                <a:solidFill>
                  <a:schemeClr val="tx1"/>
                </a:solidFill>
                <a:latin typeface="Times New Roman" panose="02020603050405020304" pitchFamily="18" charset="0"/>
                <a:ea typeface="楷体" charset="0"/>
                <a:cs typeface="Times New Roman" panose="02020603050405020304" pitchFamily="18" charset="0"/>
              </a:rPr>
              <a:t>起来而添加的内容，它们是</a:t>
            </a:r>
            <a:r>
              <a:rPr lang="zh-CN" altLang="en-US" b="1" dirty="0">
                <a:solidFill>
                  <a:srgbClr val="870078"/>
                </a:solidFill>
                <a:latin typeface="Times New Roman" panose="02020603050405020304" pitchFamily="18" charset="0"/>
                <a:ea typeface="楷体" charset="0"/>
                <a:cs typeface="Times New Roman" panose="02020603050405020304" pitchFamily="18" charset="0"/>
              </a:rPr>
              <a:t>外界与外界的交</a:t>
            </a:r>
          </a:p>
          <a:p>
            <a:r>
              <a:rPr lang="zh-CN" altLang="en-US" b="1" dirty="0">
                <a:solidFill>
                  <a:srgbClr val="870078"/>
                </a:solidFill>
                <a:latin typeface="Times New Roman" panose="02020603050405020304" pitchFamily="18" charset="0"/>
                <a:ea typeface="楷体" charset="0"/>
                <a:cs typeface="Times New Roman" panose="02020603050405020304" pitchFamily="18" charset="0"/>
              </a:rPr>
              <a:t>互。</a:t>
            </a:r>
            <a:endParaRPr lang="en-US" altLang="zh-CN" b="1" dirty="0">
              <a:solidFill>
                <a:srgbClr val="870078"/>
              </a:solidFill>
              <a:latin typeface="Times New Roman" panose="02020603050405020304" pitchFamily="18" charset="0"/>
              <a:ea typeface="楷体" charset="0"/>
              <a:cs typeface="Times New Roman" panose="02020603050405020304" pitchFamily="18" charset="0"/>
            </a:endParaRPr>
          </a:p>
        </p:txBody>
      </p:sp>
      <p:pic>
        <p:nvPicPr>
          <p:cNvPr id="7" name="图片 6" descr="截屏2024-11-13 09.44.38"/>
          <p:cNvPicPr>
            <a:picLocks noChangeAspect="1"/>
          </p:cNvPicPr>
          <p:nvPr/>
        </p:nvPicPr>
        <p:blipFill>
          <a:blip r:embed="rId2"/>
          <a:srcRect l="896" r="2298"/>
          <a:stretch>
            <a:fillRect/>
          </a:stretch>
        </p:blipFill>
        <p:spPr>
          <a:xfrm>
            <a:off x="306705" y="1325880"/>
            <a:ext cx="7145020" cy="483044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系统用例示例——扩展流程续表</a:t>
            </a:r>
          </a:p>
        </p:txBody>
      </p:sp>
      <p:sp>
        <p:nvSpPr>
          <p:cNvPr id="3" name="内容占位符 2"/>
          <p:cNvSpPr txBox="1"/>
          <p:nvPr/>
        </p:nvSpPr>
        <p:spPr>
          <a:xfrm>
            <a:off x="628650" y="1392717"/>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buFont typeface="Wingdings" panose="05000000000000000000" charset="0"/>
              <a:buChar char=""/>
            </a:pPr>
            <a:endParaRPr kumimoji="1" lang="zh-CN" altLang="en-US" dirty="0">
              <a:latin typeface="KaiTi" panose="02010609060101010101" pitchFamily="49" charset="-122"/>
              <a:ea typeface="KaiTi" panose="02010609060101010101" pitchFamily="49" charset="-122"/>
            </a:endParaRPr>
          </a:p>
        </p:txBody>
      </p:sp>
      <p:sp>
        <p:nvSpPr>
          <p:cNvPr id="6" name="文本框 5"/>
          <p:cNvSpPr txBox="1"/>
          <p:nvPr/>
        </p:nvSpPr>
        <p:spPr>
          <a:xfrm>
            <a:off x="151596" y="16999"/>
            <a:ext cx="145288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rPr>
              <a:t>用例与场景</a:t>
            </a:r>
          </a:p>
        </p:txBody>
      </p:sp>
      <p:pic>
        <p:nvPicPr>
          <p:cNvPr id="5" name="图片 4" descr="截屏2024-11-13 09.51.09"/>
          <p:cNvPicPr>
            <a:picLocks noChangeAspect="1"/>
          </p:cNvPicPr>
          <p:nvPr/>
        </p:nvPicPr>
        <p:blipFill>
          <a:blip r:embed="rId2"/>
          <a:srcRect l="855" t="1008" r="8508" b="1503"/>
          <a:stretch>
            <a:fillRect/>
          </a:stretch>
        </p:blipFill>
        <p:spPr>
          <a:xfrm>
            <a:off x="628650" y="1821815"/>
            <a:ext cx="8013700" cy="359092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系统用例示例——业务规则</a:t>
            </a:r>
            <a:r>
              <a:rPr kumimoji="1" lang="en-US" altLang="zh-CN" sz="3200" b="1" dirty="0">
                <a:latin typeface="微软雅黑" panose="020B0503020204020204" pitchFamily="34" charset="-122"/>
                <a:ea typeface="微软雅黑" panose="020B0503020204020204" pitchFamily="34" charset="-122"/>
              </a:rPr>
              <a:t>&amp;</a:t>
            </a:r>
            <a:r>
              <a:rPr kumimoji="1" lang="zh-CN" altLang="en-US" sz="3200" b="1" dirty="0">
                <a:latin typeface="微软雅黑" panose="020B0503020204020204" pitchFamily="34" charset="-122"/>
                <a:ea typeface="微软雅黑" panose="020B0503020204020204" pitchFamily="34" charset="-122"/>
              </a:rPr>
              <a:t>特殊需求</a:t>
            </a:r>
          </a:p>
        </p:txBody>
      </p:sp>
      <p:sp>
        <p:nvSpPr>
          <p:cNvPr id="3" name="内容占位符 2"/>
          <p:cNvSpPr txBox="1"/>
          <p:nvPr/>
        </p:nvSpPr>
        <p:spPr>
          <a:xfrm>
            <a:off x="628650" y="1392717"/>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buFont typeface="Wingdings" panose="05000000000000000000" charset="0"/>
              <a:buChar char=""/>
            </a:pPr>
            <a:endParaRPr kumimoji="1" lang="zh-CN" altLang="en-US" dirty="0">
              <a:latin typeface="KaiTi" panose="02010609060101010101" pitchFamily="49" charset="-122"/>
              <a:ea typeface="KaiTi" panose="02010609060101010101" pitchFamily="49" charset="-122"/>
            </a:endParaRPr>
          </a:p>
        </p:txBody>
      </p:sp>
      <p:sp>
        <p:nvSpPr>
          <p:cNvPr id="6" name="文本框 5"/>
          <p:cNvSpPr txBox="1"/>
          <p:nvPr/>
        </p:nvSpPr>
        <p:spPr>
          <a:xfrm>
            <a:off x="151596" y="16999"/>
            <a:ext cx="145288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rPr>
              <a:t>用例与场景</a:t>
            </a:r>
          </a:p>
        </p:txBody>
      </p:sp>
      <p:pic>
        <p:nvPicPr>
          <p:cNvPr id="4" name="图片 3" descr="截屏2024-11-13 09.52.36"/>
          <p:cNvPicPr>
            <a:picLocks noChangeAspect="1"/>
          </p:cNvPicPr>
          <p:nvPr/>
        </p:nvPicPr>
        <p:blipFill>
          <a:blip r:embed="rId2"/>
          <a:srcRect l="656" t="980" r="3007" b="2406"/>
          <a:stretch>
            <a:fillRect/>
          </a:stretch>
        </p:blipFill>
        <p:spPr>
          <a:xfrm>
            <a:off x="572135" y="1617345"/>
            <a:ext cx="7833360" cy="356933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基于用例/场景进行软件开发</a:t>
            </a:r>
          </a:p>
        </p:txBody>
      </p:sp>
      <p:sp>
        <p:nvSpPr>
          <p:cNvPr id="3" name="内容占位符 2"/>
          <p:cNvSpPr txBox="1"/>
          <p:nvPr/>
        </p:nvSpPr>
        <p:spPr>
          <a:xfrm>
            <a:off x="628650" y="1430817"/>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buClr>
                <a:srgbClr val="231240"/>
              </a:buClr>
              <a:buFont typeface="Wingdings" panose="05000000000000000000" charset="0"/>
              <a:buChar char=""/>
            </a:pPr>
            <a:r>
              <a:rPr kumimoji="1" lang="en-US" altLang="zh-CN" b="1" dirty="0">
                <a:solidFill>
                  <a:srgbClr val="870078"/>
                </a:solidFill>
                <a:latin typeface="KaiTi" panose="02010609060101010101" pitchFamily="49" charset="-122"/>
                <a:ea typeface="KaiTi" panose="02010609060101010101" pitchFamily="49" charset="-122"/>
              </a:rPr>
              <a:t>用例驱动</a:t>
            </a:r>
            <a:r>
              <a:rPr kumimoji="1" lang="en-US" altLang="zh-CN" dirty="0">
                <a:latin typeface="KaiTi" panose="02010609060101010101" pitchFamily="49" charset="-122"/>
                <a:ea typeface="KaiTi" panose="02010609060101010101" pitchFamily="49" charset="-122"/>
              </a:rPr>
              <a:t>的软件开发某种程度上就是</a:t>
            </a:r>
            <a:r>
              <a:rPr kumimoji="1" lang="en-US" altLang="zh-CN" b="1" dirty="0">
                <a:solidFill>
                  <a:srgbClr val="870078"/>
                </a:solidFill>
                <a:latin typeface="KaiTi" panose="02010609060101010101" pitchFamily="49" charset="-122"/>
                <a:ea typeface="KaiTi" panose="02010609060101010101" pitchFamily="49" charset="-122"/>
              </a:rPr>
              <a:t>需求驱动</a:t>
            </a:r>
            <a:r>
              <a:rPr kumimoji="1" lang="en-US" altLang="zh-CN" dirty="0">
                <a:latin typeface="KaiTi" panose="02010609060101010101" pitchFamily="49" charset="-122"/>
                <a:ea typeface="KaiTi" panose="02010609060101010101" pitchFamily="49" charset="-122"/>
              </a:rPr>
              <a:t>的软件开发</a:t>
            </a:r>
          </a:p>
          <a:p>
            <a:pPr lvl="1"/>
            <a:r>
              <a:rPr kumimoji="1" lang="en-US" altLang="zh-CN" dirty="0">
                <a:latin typeface="KaiTi" panose="02010609060101010101" pitchFamily="49" charset="-122"/>
                <a:ea typeface="KaiTi" panose="02010609060101010101" pitchFamily="49" charset="-122"/>
              </a:rPr>
              <a:t>用例/场景是需求的组织，所以只要需求起作用的地方用例/场景就可以起作用。</a:t>
            </a:r>
          </a:p>
          <a:p>
            <a:pPr lvl="1"/>
            <a:r>
              <a:rPr kumimoji="1" lang="en-US" altLang="zh-CN" dirty="0">
                <a:latin typeface="KaiTi" panose="02010609060101010101" pitchFamily="49" charset="-122"/>
                <a:ea typeface="KaiTi" panose="02010609060101010101" pitchFamily="49" charset="-122"/>
              </a:rPr>
              <a:t>需求能够驱动</a:t>
            </a:r>
            <a:r>
              <a:rPr kumimoji="1" lang="en-US" altLang="zh-CN" b="1" dirty="0">
                <a:solidFill>
                  <a:srgbClr val="870078"/>
                </a:solidFill>
                <a:latin typeface="KaiTi" panose="02010609060101010101" pitchFamily="49" charset="-122"/>
                <a:ea typeface="KaiTi" panose="02010609060101010101" pitchFamily="49" charset="-122"/>
              </a:rPr>
              <a:t>项目管理、设计、构造、集成、测试、维护</a:t>
            </a:r>
            <a:r>
              <a:rPr kumimoji="1" lang="en-US" altLang="zh-CN" dirty="0">
                <a:latin typeface="KaiTi" panose="02010609060101010101" pitchFamily="49" charset="-122"/>
                <a:ea typeface="KaiTi" panose="02010609060101010101" pitchFamily="49" charset="-122"/>
              </a:rPr>
              <a:t>等后续的软件开发活动，用例/场景也能驱动它们</a:t>
            </a:r>
          </a:p>
          <a:p>
            <a:pPr>
              <a:buFont typeface="Wingdings" panose="05000000000000000000" charset="0"/>
              <a:buChar char=""/>
            </a:pPr>
            <a:r>
              <a:rPr kumimoji="1" lang="en-US" altLang="zh-CN" dirty="0">
                <a:latin typeface="KaiTi" panose="02010609060101010101" pitchFamily="49" charset="-122"/>
                <a:ea typeface="KaiTi" panose="02010609060101010101" pitchFamily="49" charset="-122"/>
              </a:rPr>
              <a:t>除了能够组织需求之后，用例/场景也可以用来</a:t>
            </a:r>
            <a:r>
              <a:rPr kumimoji="1" lang="en-US" altLang="zh-CN" b="1" dirty="0">
                <a:solidFill>
                  <a:srgbClr val="870078"/>
                </a:solidFill>
                <a:latin typeface="KaiTi" panose="02010609060101010101" pitchFamily="49" charset="-122"/>
                <a:ea typeface="KaiTi" panose="02010609060101010101" pitchFamily="49" charset="-122"/>
              </a:rPr>
              <a:t>组织其他内容</a:t>
            </a:r>
            <a:endParaRPr kumimoji="1" lang="en-US" altLang="zh-CN" b="1" dirty="0">
              <a:latin typeface="KaiTi" panose="02010609060101010101" pitchFamily="49" charset="-122"/>
              <a:ea typeface="KaiTi" panose="02010609060101010101" pitchFamily="49" charset="-122"/>
            </a:endParaRPr>
          </a:p>
          <a:p>
            <a:pPr lvl="1"/>
            <a:r>
              <a:rPr kumimoji="1" lang="en-US" altLang="zh-CN" dirty="0">
                <a:latin typeface="KaiTi" panose="02010609060101010101" pitchFamily="49" charset="-122"/>
                <a:ea typeface="KaiTi" panose="02010609060101010101" pitchFamily="49" charset="-122"/>
              </a:rPr>
              <a:t>例如软件设计中的对象协作过程、软件构造中的算法执行过程、软件测试中的测试用例执行过程</a:t>
            </a:r>
          </a:p>
        </p:txBody>
      </p:sp>
      <p:sp>
        <p:nvSpPr>
          <p:cNvPr id="6" name="文本框 5"/>
          <p:cNvSpPr txBox="1"/>
          <p:nvPr/>
        </p:nvSpPr>
        <p:spPr>
          <a:xfrm>
            <a:off x="151596" y="16999"/>
            <a:ext cx="145288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rPr>
              <a:t>用例与场景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基于用例/场景进行软件开发</a:t>
            </a:r>
          </a:p>
        </p:txBody>
      </p:sp>
      <p:sp>
        <p:nvSpPr>
          <p:cNvPr id="3" name="内容占位符 2"/>
          <p:cNvSpPr txBox="1"/>
          <p:nvPr/>
        </p:nvSpPr>
        <p:spPr>
          <a:xfrm>
            <a:off x="628650" y="1430817"/>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Font typeface="Wingdings" panose="05000000000000000000" charset="0"/>
              <a:buNone/>
            </a:pPr>
            <a:endParaRPr kumimoji="1" lang="en-US" altLang="zh-CN" dirty="0">
              <a:latin typeface="KaiTi" panose="02010609060101010101" pitchFamily="49" charset="-122"/>
              <a:ea typeface="KaiTi" panose="02010609060101010101" pitchFamily="49" charset="-122"/>
            </a:endParaRPr>
          </a:p>
        </p:txBody>
      </p:sp>
      <p:sp>
        <p:nvSpPr>
          <p:cNvPr id="6" name="文本框 5"/>
          <p:cNvSpPr txBox="1"/>
          <p:nvPr/>
        </p:nvSpPr>
        <p:spPr>
          <a:xfrm>
            <a:off x="151596" y="16999"/>
            <a:ext cx="145288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rPr>
              <a:t>用例与场景</a:t>
            </a:r>
          </a:p>
        </p:txBody>
      </p:sp>
      <p:sp>
        <p:nvSpPr>
          <p:cNvPr id="4" name="文本框 3"/>
          <p:cNvSpPr txBox="1"/>
          <p:nvPr/>
        </p:nvSpPr>
        <p:spPr>
          <a:xfrm>
            <a:off x="628650" y="1431925"/>
            <a:ext cx="7600950" cy="724535"/>
          </a:xfrm>
          <a:prstGeom prst="rect">
            <a:avLst/>
          </a:prstGeom>
          <a:noFill/>
        </p:spPr>
        <p:txBody>
          <a:bodyPr wrap="square" rtlCol="0">
            <a:noAutofit/>
          </a:bodyPr>
          <a:lstStyle/>
          <a:p>
            <a:r>
              <a:rPr lang="zh-CN" altLang="en-US" sz="2000" dirty="0">
                <a:latin typeface="楷体" charset="0"/>
                <a:ea typeface="楷体" charset="0"/>
                <a:cs typeface="楷体" charset="0"/>
              </a:rPr>
              <a:t>虽然用例/场景</a:t>
            </a:r>
            <a:r>
              <a:rPr lang="zh-CN" altLang="en-US" sz="2000" b="1" dirty="0">
                <a:solidFill>
                  <a:srgbClr val="870078"/>
                </a:solidFill>
                <a:latin typeface="楷体" charset="0"/>
                <a:ea typeface="楷体" charset="0"/>
                <a:cs typeface="楷体" charset="0"/>
              </a:rPr>
              <a:t>较多地</a:t>
            </a:r>
            <a:r>
              <a:rPr lang="zh-CN" altLang="en-US" sz="2000" dirty="0">
                <a:latin typeface="楷体" charset="0"/>
                <a:ea typeface="楷体" charset="0"/>
                <a:cs typeface="楷体" charset="0"/>
              </a:rPr>
              <a:t>用在需求工程，尤其是用户需求获取阶段，但其他的软件开发阶段也会广泛使用用例/场景。</a:t>
            </a:r>
          </a:p>
        </p:txBody>
      </p:sp>
      <p:graphicFrame>
        <p:nvGraphicFramePr>
          <p:cNvPr id="15365" name="Object 4"/>
          <p:cNvGraphicFramePr>
            <a:graphicFrameLocks noChangeAspect="1"/>
          </p:cNvGraphicFramePr>
          <p:nvPr>
            <p:custDataLst>
              <p:tags r:id="rId1"/>
            </p:custDataLst>
          </p:nvPr>
        </p:nvGraphicFramePr>
        <p:xfrm>
          <a:off x="384810" y="2446655"/>
          <a:ext cx="7553960" cy="3747770"/>
        </p:xfrm>
        <a:graphic>
          <a:graphicData uri="http://schemas.openxmlformats.org/presentationml/2006/ole">
            <mc:AlternateContent xmlns:mc="http://schemas.openxmlformats.org/markup-compatibility/2006">
              <mc:Choice xmlns:v="urn:schemas-microsoft-com:vml" Requires="v">
                <p:oleObj r:id="rId6" imgW="3485515" imgH="1739265" progId="MSGraph.Chart.8">
                  <p:embed/>
                </p:oleObj>
              </mc:Choice>
              <mc:Fallback>
                <p:oleObj r:id="rId6" imgW="3485515" imgH="1739265" progId="MSGraph.Chart.8">
                  <p:embed/>
                  <p:pic>
                    <p:nvPicPr>
                      <p:cNvPr id="15365" name="Object 4"/>
                      <p:cNvPicPr/>
                      <p:nvPr/>
                    </p:nvPicPr>
                    <p:blipFill>
                      <a:blip r:embed="rId7"/>
                      <a:stretch>
                        <a:fillRect/>
                      </a:stretch>
                    </p:blipFill>
                    <p:spPr>
                      <a:xfrm>
                        <a:off x="384810" y="2446655"/>
                        <a:ext cx="7553960" cy="3747770"/>
                      </a:xfrm>
                      <a:prstGeom prst="rect">
                        <a:avLst/>
                      </a:prstGeom>
                      <a:noFill/>
                      <a:ln w="38100">
                        <a:noFill/>
                        <a:miter/>
                      </a:ln>
                    </p:spPr>
                  </p:pic>
                </p:oleObj>
              </mc:Fallback>
            </mc:AlternateContent>
          </a:graphicData>
        </a:graphic>
      </p:graphicFrame>
      <p:grpSp>
        <p:nvGrpSpPr>
          <p:cNvPr id="10" name="组合 9"/>
          <p:cNvGrpSpPr/>
          <p:nvPr/>
        </p:nvGrpSpPr>
        <p:grpSpPr>
          <a:xfrm>
            <a:off x="7835265" y="4540885"/>
            <a:ext cx="953770" cy="624441"/>
            <a:chOff x="11284" y="3713"/>
            <a:chExt cx="1631" cy="1070"/>
          </a:xfrm>
        </p:grpSpPr>
        <p:grpSp>
          <p:nvGrpSpPr>
            <p:cNvPr id="9" name="组合 8"/>
            <p:cNvGrpSpPr/>
            <p:nvPr/>
          </p:nvGrpSpPr>
          <p:grpSpPr>
            <a:xfrm>
              <a:off x="11284" y="3713"/>
              <a:ext cx="1617" cy="720"/>
              <a:chOff x="11284" y="3713"/>
              <a:chExt cx="1524" cy="628"/>
            </a:xfrm>
          </p:grpSpPr>
          <p:sp>
            <p:nvSpPr>
              <p:cNvPr id="7" name="矩形 6"/>
              <p:cNvSpPr/>
              <p:nvPr>
                <p:custDataLst>
                  <p:tags r:id="rId3"/>
                </p:custDataLst>
              </p:nvPr>
            </p:nvSpPr>
            <p:spPr>
              <a:xfrm>
                <a:off x="11284" y="3713"/>
                <a:ext cx="1525" cy="628"/>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7"/>
              <p:cNvSpPr/>
              <p:nvPr>
                <p:custDataLst>
                  <p:tags r:id="rId4"/>
                </p:custDataLst>
              </p:nvPr>
            </p:nvSpPr>
            <p:spPr>
              <a:xfrm>
                <a:off x="11451" y="3853"/>
                <a:ext cx="335" cy="299"/>
              </a:xfrm>
              <a:prstGeom prst="rect">
                <a:avLst/>
              </a:prstGeom>
              <a:solidFill>
                <a:srgbClr val="9999FF"/>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11" name="文本框 10"/>
            <p:cNvSpPr txBox="1"/>
            <p:nvPr>
              <p:custDataLst>
                <p:tags r:id="rId2"/>
              </p:custDataLst>
            </p:nvPr>
          </p:nvSpPr>
          <p:spPr>
            <a:xfrm>
              <a:off x="11817" y="3783"/>
              <a:ext cx="1098" cy="1000"/>
            </a:xfrm>
            <a:prstGeom prst="rect">
              <a:avLst/>
            </a:prstGeom>
            <a:noFill/>
          </p:spPr>
          <p:txBody>
            <a:bodyPr wrap="square" rtlCol="0">
              <a:spAutoFit/>
            </a:bodyPr>
            <a:lstStyle/>
            <a:p>
              <a:r>
                <a:rPr lang="zh-CN" altLang="en-US" sz="1600">
                  <a:latin typeface="楷体" charset="0"/>
                  <a:ea typeface="楷体" charset="0"/>
                </a:rPr>
                <a:t>数量</a:t>
              </a: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目录</a:t>
            </a:r>
          </a:p>
        </p:txBody>
      </p:sp>
      <p:sp>
        <p:nvSpPr>
          <p:cNvPr id="7" name="内容占位符 2"/>
          <p:cNvSpPr txBox="1"/>
          <p:nvPr/>
        </p:nvSpPr>
        <p:spPr>
          <a:xfrm>
            <a:off x="628650" y="141367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kumimoji="1" lang="zh-CN" altLang="en-US" dirty="0">
                <a:latin typeface="KaiTi" panose="02010609060101010101" pitchFamily="49" charset="-122"/>
                <a:ea typeface="KaiTi" panose="02010609060101010101" pitchFamily="49" charset="-122"/>
              </a:rPr>
              <a:t>用户需求开发活动的展开</a:t>
            </a:r>
            <a:endParaRPr kumimoji="1" lang="en-US" altLang="zh-CN" dirty="0">
              <a:latin typeface="KaiTi" panose="02010609060101010101" pitchFamily="49" charset="-122"/>
              <a:ea typeface="KaiTi" panose="02010609060101010101" pitchFamily="49" charset="-122"/>
            </a:endParaRPr>
          </a:p>
          <a:p>
            <a:r>
              <a:rPr kumimoji="1" lang="zh-CN" altLang="en-US" dirty="0">
                <a:latin typeface="KaiTi" panose="02010609060101010101" pitchFamily="49" charset="-122"/>
                <a:ea typeface="KaiTi" panose="02010609060101010101" pitchFamily="49" charset="-122"/>
              </a:rPr>
              <a:t>用例与场景</a:t>
            </a:r>
            <a:endParaRPr kumimoji="1" lang="en-US" altLang="zh-CN" dirty="0">
              <a:latin typeface="KaiTi" panose="02010609060101010101" pitchFamily="49" charset="-122"/>
              <a:ea typeface="KaiTi" panose="02010609060101010101" pitchFamily="49" charset="-122"/>
            </a:endParaRPr>
          </a:p>
          <a:p>
            <a:r>
              <a:rPr kumimoji="1" lang="zh-CN" altLang="en-US" dirty="0">
                <a:solidFill>
                  <a:srgbClr val="FF0000"/>
                </a:solidFill>
                <a:latin typeface="KaiTi" panose="02010609060101010101" pitchFamily="49" charset="-122"/>
                <a:ea typeface="KaiTi" panose="02010609060101010101" pitchFamily="49" charset="-122"/>
              </a:rPr>
              <a:t>用例</a:t>
            </a:r>
            <a:r>
              <a:rPr kumimoji="1" lang="en-US" altLang="zh-CN" dirty="0">
                <a:solidFill>
                  <a:srgbClr val="FF0000"/>
                </a:solidFill>
                <a:latin typeface="KaiTi" panose="02010609060101010101" pitchFamily="49" charset="-122"/>
                <a:ea typeface="KaiTi" panose="02010609060101010101" pitchFamily="49" charset="-122"/>
              </a:rPr>
              <a:t>/</a:t>
            </a:r>
            <a:r>
              <a:rPr kumimoji="1" lang="zh-CN" altLang="en-US" dirty="0">
                <a:solidFill>
                  <a:srgbClr val="FF0000"/>
                </a:solidFill>
                <a:latin typeface="KaiTi" panose="02010609060101010101" pitchFamily="49" charset="-122"/>
                <a:ea typeface="KaiTi" panose="02010609060101010101" pitchFamily="49" charset="-122"/>
              </a:rPr>
              <a:t>场景模型</a:t>
            </a:r>
            <a:endParaRPr kumimoji="1" lang="en-US" altLang="zh-CN" dirty="0">
              <a:solidFill>
                <a:srgbClr val="FF0000"/>
              </a:solidFill>
              <a:latin typeface="KaiTi" panose="02010609060101010101" pitchFamily="49" charset="-122"/>
              <a:ea typeface="KaiTi" panose="02010609060101010101" pitchFamily="49" charset="-122"/>
            </a:endParaRPr>
          </a:p>
          <a:p>
            <a:pPr lvl="1"/>
            <a:r>
              <a:rPr kumimoji="1" lang="zh-CN" altLang="en-US" dirty="0">
                <a:solidFill>
                  <a:srgbClr val="FF0000"/>
                </a:solidFill>
                <a:latin typeface="KaiTi" panose="02010609060101010101" pitchFamily="49" charset="-122"/>
                <a:ea typeface="KaiTi" panose="02010609060101010101" pitchFamily="49" charset="-122"/>
              </a:rPr>
              <a:t>场景的定位</a:t>
            </a:r>
            <a:endParaRPr kumimoji="1" lang="en-US" altLang="zh-CN" dirty="0">
              <a:solidFill>
                <a:srgbClr val="FF0000"/>
              </a:solidFill>
              <a:latin typeface="KaiTi" panose="02010609060101010101" pitchFamily="49" charset="-122"/>
              <a:ea typeface="KaiTi" panose="02010609060101010101" pitchFamily="49" charset="-122"/>
            </a:endParaRPr>
          </a:p>
          <a:p>
            <a:pPr lvl="1"/>
            <a:r>
              <a:rPr kumimoji="1" lang="zh-CN" altLang="en-US" dirty="0">
                <a:solidFill>
                  <a:srgbClr val="FF0000"/>
                </a:solidFill>
                <a:latin typeface="KaiTi" panose="02010609060101010101" pitchFamily="49" charset="-122"/>
                <a:ea typeface="KaiTi" panose="02010609060101010101" pitchFamily="49" charset="-122"/>
              </a:rPr>
              <a:t>用例的定位</a:t>
            </a:r>
            <a:endParaRPr kumimoji="1" lang="en-US" altLang="zh-CN" dirty="0">
              <a:solidFill>
                <a:srgbClr val="FF0000"/>
              </a:solidFill>
              <a:latin typeface="KaiTi" panose="02010609060101010101" pitchFamily="49" charset="-122"/>
              <a:ea typeface="KaiTi" panose="02010609060101010101" pitchFamily="49" charset="-122"/>
            </a:endParaRPr>
          </a:p>
          <a:p>
            <a:pPr lvl="1"/>
            <a:r>
              <a:rPr kumimoji="1" lang="zh-CN" altLang="en-US" dirty="0">
                <a:solidFill>
                  <a:srgbClr val="FF0000"/>
                </a:solidFill>
                <a:latin typeface="KaiTi" panose="02010609060101010101" pitchFamily="49" charset="-122"/>
                <a:ea typeface="KaiTi" panose="02010609060101010101" pitchFamily="49" charset="-122"/>
              </a:rPr>
              <a:t>理解用例相关概念</a:t>
            </a:r>
            <a:endParaRPr kumimoji="1" lang="en-US" altLang="zh-CN" dirty="0">
              <a:solidFill>
                <a:srgbClr val="FF0000"/>
              </a:solidFill>
              <a:latin typeface="KaiTi" panose="02010609060101010101" pitchFamily="49" charset="-122"/>
              <a:ea typeface="KaiTi" panose="02010609060101010101" pitchFamily="49" charset="-122"/>
            </a:endParaRPr>
          </a:p>
          <a:p>
            <a:pPr lvl="1"/>
            <a:r>
              <a:rPr kumimoji="1" lang="zh-CN" altLang="en-US" dirty="0">
                <a:solidFill>
                  <a:srgbClr val="FF0000"/>
                </a:solidFill>
                <a:latin typeface="KaiTi" panose="02010609060101010101" pitchFamily="49" charset="-122"/>
                <a:ea typeface="KaiTi" panose="02010609060101010101" pitchFamily="49" charset="-122"/>
              </a:rPr>
              <a:t>用例图</a:t>
            </a:r>
            <a:endParaRPr kumimoji="1" lang="en-US" altLang="zh-CN" dirty="0">
              <a:solidFill>
                <a:srgbClr val="FF0000"/>
              </a:solidFill>
              <a:latin typeface="KaiTi" panose="02010609060101010101" pitchFamily="49" charset="-122"/>
              <a:ea typeface="KaiTi" panose="02010609060101010101" pitchFamily="49" charset="-122"/>
            </a:endParaRPr>
          </a:p>
          <a:p>
            <a:r>
              <a:rPr kumimoji="1" lang="zh-CN" altLang="en-US" dirty="0">
                <a:latin typeface="KaiTi" panose="02010609060101010101" pitchFamily="49" charset="-122"/>
                <a:ea typeface="KaiTi" panose="02010609060101010101" pitchFamily="49" charset="-122"/>
              </a:rPr>
              <a:t>以用例</a:t>
            </a:r>
            <a:r>
              <a:rPr kumimoji="1" lang="en-US" altLang="zh-CN" dirty="0">
                <a:latin typeface="KaiTi" panose="02010609060101010101" pitchFamily="49" charset="-122"/>
                <a:ea typeface="KaiTi" panose="02010609060101010101" pitchFamily="49" charset="-122"/>
              </a:rPr>
              <a:t>/</a:t>
            </a:r>
            <a:r>
              <a:rPr kumimoji="1" lang="zh-CN" altLang="en-US" dirty="0">
                <a:latin typeface="KaiTi" panose="02010609060101010101" pitchFamily="49" charset="-122"/>
                <a:ea typeface="KaiTi" panose="02010609060101010101" pitchFamily="49" charset="-122"/>
              </a:rPr>
              <a:t>场景模型为主线索开展用户需求开发</a:t>
            </a:r>
            <a:endParaRPr kumimoji="1" lang="en-US" altLang="zh-CN" dirty="0">
              <a:latin typeface="KaiTi" panose="02010609060101010101" pitchFamily="49" charset="-122"/>
              <a:ea typeface="KaiTi" panose="02010609060101010101" pitchFamily="49" charset="-122"/>
            </a:endParaRPr>
          </a:p>
          <a:p>
            <a:r>
              <a:rPr kumimoji="1" lang="zh-CN" altLang="en-US" dirty="0">
                <a:latin typeface="KaiTi" panose="02010609060101010101" pitchFamily="49" charset="-122"/>
                <a:ea typeface="KaiTi" panose="02010609060101010101" pitchFamily="49" charset="-122"/>
              </a:rPr>
              <a:t>用户故事</a:t>
            </a:r>
            <a:endParaRPr kumimoji="1" lang="en-US" altLang="zh-CN" dirty="0">
              <a:latin typeface="KaiTi" panose="02010609060101010101" pitchFamily="49" charset="-122"/>
              <a:ea typeface="KaiTi" panose="02010609060101010101" pitchFamily="49" charset="-122"/>
            </a:endParaRPr>
          </a:p>
        </p:txBody>
      </p:sp>
      <p:sp>
        <p:nvSpPr>
          <p:cNvPr id="8" name="文本框 7"/>
          <p:cNvSpPr txBox="1"/>
          <p:nvPr/>
        </p:nvSpPr>
        <p:spPr>
          <a:xfrm>
            <a:off x="151596" y="16999"/>
            <a:ext cx="697627" cy="400110"/>
          </a:xfrm>
          <a:prstGeom prst="rect">
            <a:avLst/>
          </a:prstGeom>
          <a:noFill/>
        </p:spPr>
        <p:txBody>
          <a:bodyPr wrap="none" rtlCol="0">
            <a:spAutoFit/>
          </a:bodyPr>
          <a:lstStyle/>
          <a:p>
            <a:r>
              <a:rPr kumimoji="1" lang="zh-CN" altLang="en-US" sz="2000" dirty="0">
                <a:solidFill>
                  <a:schemeClr val="bg1"/>
                </a:solidFill>
                <a:latin typeface="KaiTi" panose="02010609060101010101" pitchFamily="49" charset="-122"/>
                <a:ea typeface="KaiTi" panose="02010609060101010101" pitchFamily="49" charset="-122"/>
              </a:rPr>
              <a:t>目录</a:t>
            </a:r>
            <a:endParaRPr kumimoji="1" lang="en-US" altLang="zh-CN" sz="2000" dirty="0">
              <a:solidFill>
                <a:schemeClr val="bg1"/>
              </a:solidFill>
              <a:latin typeface="KaiTi" panose="02010609060101010101" pitchFamily="49" charset="-122"/>
              <a:ea typeface="KaiTi" panose="02010609060101010101" pitchFamily="49"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用例</a:t>
            </a:r>
            <a:r>
              <a:rPr kumimoji="1" lang="en-US" altLang="zh-CN" sz="3200" b="1" dirty="0">
                <a:latin typeface="微软雅黑" panose="020B0503020204020204" pitchFamily="34" charset="-122"/>
                <a:ea typeface="微软雅黑" panose="020B0503020204020204" pitchFamily="34" charset="-122"/>
              </a:rPr>
              <a:t>/</a:t>
            </a:r>
            <a:r>
              <a:rPr kumimoji="1" lang="zh-CN" altLang="en-US" sz="3200" b="1" dirty="0">
                <a:latin typeface="微软雅黑" panose="020B0503020204020204" pitchFamily="34" charset="-122"/>
                <a:ea typeface="微软雅黑" panose="020B0503020204020204" pitchFamily="34" charset="-122"/>
              </a:rPr>
              <a:t>场景</a:t>
            </a:r>
          </a:p>
        </p:txBody>
      </p:sp>
      <p:sp>
        <p:nvSpPr>
          <p:cNvPr id="3" name="内容占位符 2"/>
          <p:cNvSpPr txBox="1"/>
          <p:nvPr/>
        </p:nvSpPr>
        <p:spPr>
          <a:xfrm>
            <a:off x="628650" y="141367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spcAft>
                <a:spcPts val="2400"/>
              </a:spcAft>
              <a:buFont typeface="Wingdings" panose="05000000000000000000" pitchFamily="2" charset="2"/>
              <a:buChar char="Ø"/>
            </a:pPr>
            <a:r>
              <a:rPr kumimoji="1" lang="zh-CN" altLang="en-US" dirty="0">
                <a:latin typeface="KaiTi" panose="02010609060101010101" pitchFamily="49" charset="-122"/>
                <a:ea typeface="KaiTi" panose="02010609060101010101" pitchFamily="49" charset="-122"/>
              </a:rPr>
              <a:t>只是需求内容的组织方式</a:t>
            </a:r>
            <a:endParaRPr kumimoji="1" lang="en-US" altLang="zh-CN" dirty="0">
              <a:latin typeface="KaiTi" panose="02010609060101010101" pitchFamily="49" charset="-122"/>
              <a:ea typeface="KaiTi" panose="02010609060101010101" pitchFamily="49" charset="-122"/>
            </a:endParaRPr>
          </a:p>
          <a:p>
            <a:pPr>
              <a:spcAft>
                <a:spcPts val="2400"/>
              </a:spcAft>
              <a:buFont typeface="Wingdings" panose="05000000000000000000" pitchFamily="2" charset="2"/>
              <a:buChar char="Ø"/>
            </a:pPr>
            <a:r>
              <a:rPr kumimoji="1" lang="zh-CN" altLang="en-US" dirty="0">
                <a:latin typeface="KaiTi" panose="02010609060101010101" pitchFamily="49" charset="-122"/>
                <a:ea typeface="KaiTi" panose="02010609060101010101" pitchFamily="49" charset="-122"/>
              </a:rPr>
              <a:t>不是基于形式化理论的分析技术</a:t>
            </a:r>
            <a:endParaRPr kumimoji="1" lang="en-US" altLang="zh-CN" dirty="0">
              <a:latin typeface="KaiTi" panose="02010609060101010101" pitchFamily="49" charset="-122"/>
              <a:ea typeface="KaiTi" panose="02010609060101010101" pitchFamily="49" charset="-122"/>
            </a:endParaRPr>
          </a:p>
          <a:p>
            <a:pPr>
              <a:spcAft>
                <a:spcPts val="2400"/>
              </a:spcAft>
              <a:buFont typeface="Wingdings" panose="05000000000000000000" pitchFamily="2" charset="2"/>
              <a:buChar char="Ø"/>
            </a:pPr>
            <a:r>
              <a:rPr kumimoji="1" lang="zh-CN" altLang="en-US" dirty="0">
                <a:latin typeface="KaiTi" panose="02010609060101010101" pitchFamily="49" charset="-122"/>
                <a:ea typeface="KaiTi" panose="02010609060101010101" pitchFamily="49" charset="-122"/>
              </a:rPr>
              <a:t>没有形成严谨、准确的语法、语义和语用体系</a:t>
            </a:r>
            <a:endParaRPr kumimoji="1" lang="en-US" altLang="zh-CN" dirty="0">
              <a:latin typeface="KaiTi" panose="02010609060101010101" pitchFamily="49" charset="-122"/>
              <a:ea typeface="KaiTi" panose="02010609060101010101" pitchFamily="49" charset="-122"/>
            </a:endParaRPr>
          </a:p>
          <a:p>
            <a:pPr>
              <a:spcAft>
                <a:spcPts val="2400"/>
              </a:spcAft>
              <a:buFont typeface="Wingdings" panose="05000000000000000000" pitchFamily="2" charset="2"/>
              <a:buChar char="Ø"/>
            </a:pPr>
            <a:r>
              <a:rPr kumimoji="1" lang="zh-CN" altLang="en-US" dirty="0">
                <a:latin typeface="KaiTi" panose="02010609060101010101" pitchFamily="49" charset="-122"/>
                <a:ea typeface="KaiTi" panose="02010609060101010101" pitchFamily="49" charset="-122"/>
              </a:rPr>
              <a:t>只有一些实践中总结出来的原则与经验</a:t>
            </a:r>
            <a:endParaRPr kumimoji="1" lang="en-US" altLang="zh-CN" dirty="0">
              <a:latin typeface="KaiTi" panose="02010609060101010101" pitchFamily="49" charset="-122"/>
              <a:ea typeface="KaiTi" panose="02010609060101010101" pitchFamily="49" charset="-122"/>
            </a:endParaRPr>
          </a:p>
        </p:txBody>
      </p:sp>
      <p:sp>
        <p:nvSpPr>
          <p:cNvPr id="6" name="文本框 5"/>
          <p:cNvSpPr txBox="1"/>
          <p:nvPr/>
        </p:nvSpPr>
        <p:spPr>
          <a:xfrm>
            <a:off x="151596" y="16999"/>
            <a:ext cx="1851789" cy="400110"/>
          </a:xfrm>
          <a:prstGeom prst="rect">
            <a:avLst/>
          </a:prstGeom>
          <a:noFill/>
        </p:spPr>
        <p:txBody>
          <a:bodyPr wrap="none" rtlCol="0">
            <a:spAutoFit/>
          </a:bodyPr>
          <a:lstStyle/>
          <a:p>
            <a:r>
              <a:rPr kumimoji="1" lang="zh-CN" altLang="en-US" sz="2000" dirty="0">
                <a:solidFill>
                  <a:schemeClr val="bg1"/>
                </a:solidFill>
                <a:latin typeface="KaiTi" panose="02010609060101010101" pitchFamily="49" charset="-122"/>
                <a:ea typeface="KaiTi" panose="02010609060101010101" pitchFamily="49" charset="-122"/>
              </a:rPr>
              <a:t>用例</a:t>
            </a:r>
            <a:r>
              <a:rPr kumimoji="1" lang="en-US" altLang="zh-CN" sz="2000" dirty="0">
                <a:solidFill>
                  <a:schemeClr val="bg1"/>
                </a:solidFill>
                <a:latin typeface="KaiTi" panose="02010609060101010101" pitchFamily="49" charset="-122"/>
                <a:ea typeface="KaiTi" panose="02010609060101010101" pitchFamily="49" charset="-122"/>
              </a:rPr>
              <a:t>/</a:t>
            </a:r>
            <a:r>
              <a:rPr kumimoji="1" lang="zh-CN" altLang="en-US" sz="2000" dirty="0">
                <a:solidFill>
                  <a:schemeClr val="bg1"/>
                </a:solidFill>
                <a:latin typeface="KaiTi" panose="02010609060101010101" pitchFamily="49" charset="-122"/>
                <a:ea typeface="KaiTi" panose="02010609060101010101" pitchFamily="49" charset="-122"/>
              </a:rPr>
              <a:t>场景模型</a:t>
            </a:r>
            <a:endParaRPr kumimoji="1" lang="en-US" altLang="zh-CN" sz="2000" dirty="0">
              <a:solidFill>
                <a:schemeClr val="bg1"/>
              </a:solidFill>
              <a:latin typeface="KaiTi" panose="02010609060101010101" pitchFamily="49" charset="-122"/>
              <a:ea typeface="KaiTi" panose="02010609060101010101" pitchFamily="49"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场景的定位</a:t>
            </a:r>
          </a:p>
        </p:txBody>
      </p:sp>
      <p:sp>
        <p:nvSpPr>
          <p:cNvPr id="3" name="内容占位符 2"/>
          <p:cNvSpPr txBox="1"/>
          <p:nvPr/>
        </p:nvSpPr>
        <p:spPr>
          <a:xfrm>
            <a:off x="628650" y="141367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kumimoji="1" lang="zh-CN" altLang="en-US" sz="2400" dirty="0">
                <a:latin typeface="KaiTi" panose="02010609060101010101" pitchFamily="49" charset="-122"/>
                <a:ea typeface="KaiTi" panose="02010609060101010101" pitchFamily="49" charset="-122"/>
              </a:rPr>
              <a:t>不同用途的“场景”在</a:t>
            </a:r>
            <a:r>
              <a:rPr kumimoji="1" lang="zh-CN" altLang="en-US" sz="2400" b="1" dirty="0">
                <a:solidFill>
                  <a:srgbClr val="870078"/>
                </a:solidFill>
                <a:latin typeface="KaiTi" panose="02010609060101010101" pitchFamily="49" charset="-122"/>
                <a:ea typeface="KaiTi" panose="02010609060101010101" pitchFamily="49" charset="-122"/>
              </a:rPr>
              <a:t>形式、目的、内容</a:t>
            </a:r>
            <a:r>
              <a:rPr kumimoji="1" lang="zh-CN" altLang="en-US" sz="2400" dirty="0">
                <a:latin typeface="KaiTi" panose="02010609060101010101" pitchFamily="49" charset="-122"/>
                <a:ea typeface="KaiTi" panose="02010609060101010101" pitchFamily="49" charset="-122"/>
              </a:rPr>
              <a:t>和</a:t>
            </a:r>
            <a:r>
              <a:rPr kumimoji="1" lang="zh-CN" altLang="en-US" sz="2400" b="1" dirty="0">
                <a:solidFill>
                  <a:srgbClr val="870078"/>
                </a:solidFill>
                <a:latin typeface="KaiTi" panose="02010609060101010101" pitchFamily="49" charset="-122"/>
                <a:ea typeface="KaiTi" panose="02010609060101010101" pitchFamily="49" charset="-122"/>
              </a:rPr>
              <a:t>生命周期</a:t>
            </a:r>
            <a:r>
              <a:rPr kumimoji="1" lang="zh-CN" altLang="en-US" sz="2400" dirty="0">
                <a:latin typeface="KaiTi" panose="02010609060101010101" pitchFamily="49" charset="-122"/>
                <a:ea typeface="KaiTi" panose="02010609060101010101" pitchFamily="49" charset="-122"/>
              </a:rPr>
              <a:t>四个方面都有差异</a:t>
            </a:r>
            <a:endParaRPr kumimoji="1" lang="en-US" altLang="zh-CN" sz="2400" dirty="0">
              <a:latin typeface="KaiTi" panose="02010609060101010101" pitchFamily="49" charset="-122"/>
              <a:ea typeface="KaiTi" panose="02010609060101010101" pitchFamily="49" charset="-122"/>
            </a:endParaRPr>
          </a:p>
        </p:txBody>
      </p:sp>
      <p:sp>
        <p:nvSpPr>
          <p:cNvPr id="6" name="文本框 5"/>
          <p:cNvSpPr txBox="1"/>
          <p:nvPr/>
        </p:nvSpPr>
        <p:spPr>
          <a:xfrm>
            <a:off x="151596" y="16999"/>
            <a:ext cx="1851789" cy="400110"/>
          </a:xfrm>
          <a:prstGeom prst="rect">
            <a:avLst/>
          </a:prstGeom>
          <a:noFill/>
        </p:spPr>
        <p:txBody>
          <a:bodyPr wrap="none" rtlCol="0">
            <a:spAutoFit/>
          </a:bodyPr>
          <a:lstStyle/>
          <a:p>
            <a:r>
              <a:rPr kumimoji="1" lang="zh-CN" altLang="en-US" sz="2000" dirty="0">
                <a:solidFill>
                  <a:schemeClr val="bg1"/>
                </a:solidFill>
                <a:latin typeface="KaiTi" panose="02010609060101010101" pitchFamily="49" charset="-122"/>
                <a:ea typeface="KaiTi" panose="02010609060101010101" pitchFamily="49" charset="-122"/>
              </a:rPr>
              <a:t>用例</a:t>
            </a:r>
            <a:r>
              <a:rPr kumimoji="1" lang="en-US" altLang="zh-CN" sz="2000" dirty="0">
                <a:solidFill>
                  <a:schemeClr val="bg1"/>
                </a:solidFill>
                <a:latin typeface="KaiTi" panose="02010609060101010101" pitchFamily="49" charset="-122"/>
                <a:ea typeface="KaiTi" panose="02010609060101010101" pitchFamily="49" charset="-122"/>
              </a:rPr>
              <a:t>/</a:t>
            </a:r>
            <a:r>
              <a:rPr kumimoji="1" lang="zh-CN" altLang="en-US" sz="2000" dirty="0">
                <a:solidFill>
                  <a:schemeClr val="bg1"/>
                </a:solidFill>
                <a:latin typeface="KaiTi" panose="02010609060101010101" pitchFamily="49" charset="-122"/>
                <a:ea typeface="KaiTi" panose="02010609060101010101" pitchFamily="49" charset="-122"/>
              </a:rPr>
              <a:t>场景模型</a:t>
            </a:r>
            <a:endParaRPr kumimoji="1" lang="en-US" altLang="zh-CN" sz="2000" dirty="0">
              <a:solidFill>
                <a:schemeClr val="bg1"/>
              </a:solidFill>
              <a:latin typeface="KaiTi" panose="02010609060101010101" pitchFamily="49" charset="-122"/>
              <a:ea typeface="KaiTi" panose="02010609060101010101" pitchFamily="49" charset="-122"/>
            </a:endParaRPr>
          </a:p>
        </p:txBody>
      </p:sp>
      <p:pic>
        <p:nvPicPr>
          <p:cNvPr id="5" name="图片 4"/>
          <p:cNvPicPr>
            <a:picLocks noChangeAspect="1"/>
          </p:cNvPicPr>
          <p:nvPr/>
        </p:nvPicPr>
        <p:blipFill>
          <a:blip r:embed="rId2"/>
          <a:stretch>
            <a:fillRect/>
          </a:stretch>
        </p:blipFill>
        <p:spPr>
          <a:xfrm>
            <a:off x="1457871" y="2151529"/>
            <a:ext cx="5854331" cy="4327672"/>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5"/>
          <a:stretch>
            <a:fillRect/>
          </a:stretch>
        </p:blipFill>
        <p:spPr>
          <a:xfrm>
            <a:off x="1279027" y="2436994"/>
            <a:ext cx="6349504" cy="3673424"/>
          </a:xfrm>
          <a:prstGeom prst="rect">
            <a:avLst/>
          </a:prstGeom>
        </p:spPr>
      </p:pic>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场景的定位</a:t>
            </a:r>
          </a:p>
        </p:txBody>
      </p:sp>
      <p:sp>
        <p:nvSpPr>
          <p:cNvPr id="3" name="内容占位符 2"/>
          <p:cNvSpPr txBox="1"/>
          <p:nvPr/>
        </p:nvSpPr>
        <p:spPr>
          <a:xfrm>
            <a:off x="628650" y="141367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kumimoji="1" lang="zh-CN" altLang="en-US" sz="2400" dirty="0">
                <a:latin typeface="KaiTi" panose="02010609060101010101" pitchFamily="49" charset="-122"/>
                <a:ea typeface="KaiTi" panose="02010609060101010101" pitchFamily="49" charset="-122"/>
              </a:rPr>
              <a:t>场景的</a:t>
            </a:r>
            <a:r>
              <a:rPr kumimoji="1" lang="zh-CN" altLang="en-US" sz="2400" b="1" dirty="0">
                <a:solidFill>
                  <a:srgbClr val="870078"/>
                </a:solidFill>
                <a:latin typeface="KaiTi" panose="02010609060101010101" pitchFamily="49" charset="-122"/>
                <a:ea typeface="KaiTi" panose="02010609060101010101" pitchFamily="49" charset="-122"/>
              </a:rPr>
              <a:t>形式</a:t>
            </a:r>
            <a:r>
              <a:rPr kumimoji="1" lang="zh-CN" altLang="en-US" sz="2400" dirty="0">
                <a:latin typeface="KaiTi" panose="02010609060101010101" pitchFamily="49" charset="-122"/>
                <a:ea typeface="KaiTi" panose="02010609060101010101" pitchFamily="49" charset="-122"/>
              </a:rPr>
              <a:t>：场景的表达模式</a:t>
            </a:r>
            <a:endParaRPr kumimoji="1" lang="en-US" altLang="zh-CN" sz="2400" dirty="0">
              <a:latin typeface="KaiTi" panose="02010609060101010101" pitchFamily="49" charset="-122"/>
              <a:ea typeface="KaiTi" panose="02010609060101010101" pitchFamily="49" charset="-122"/>
            </a:endParaRPr>
          </a:p>
          <a:p>
            <a:pPr lvl="1">
              <a:buFont typeface="Arial" panose="020B0604020202090204" pitchFamily="34" charset="0"/>
              <a:buChar char="•"/>
            </a:pPr>
            <a:r>
              <a:rPr kumimoji="1" lang="zh-CN" altLang="en-US" sz="2000" dirty="0">
                <a:latin typeface="KaiTi" panose="02010609060101010101" pitchFamily="49" charset="-122"/>
                <a:ea typeface="KaiTi" panose="02010609060101010101" pitchFamily="49" charset="-122"/>
              </a:rPr>
              <a:t>在用户需求开发中，建议使用表格、结构化文本、模版等半形式化语言，以静态的场景外观为主</a:t>
            </a:r>
            <a:endParaRPr kumimoji="1" lang="en-US" altLang="zh-CN" sz="2000" dirty="0">
              <a:latin typeface="KaiTi" panose="02010609060101010101" pitchFamily="49" charset="-122"/>
              <a:ea typeface="KaiTi" panose="02010609060101010101" pitchFamily="49" charset="-122"/>
            </a:endParaRPr>
          </a:p>
          <a:p>
            <a:pPr lvl="1">
              <a:buFont typeface="Wingdings" panose="05000000000000000000" pitchFamily="2" charset="2"/>
              <a:buChar char="Ø"/>
            </a:pPr>
            <a:endParaRPr kumimoji="1" lang="en-US" altLang="zh-CN" dirty="0">
              <a:latin typeface="KaiTi" panose="02010609060101010101" pitchFamily="49" charset="-122"/>
              <a:ea typeface="KaiTi" panose="02010609060101010101" pitchFamily="49" charset="-122"/>
            </a:endParaRPr>
          </a:p>
          <a:p>
            <a:pPr lvl="1"/>
            <a:endParaRPr kumimoji="1" lang="en-US" altLang="zh-CN" dirty="0">
              <a:latin typeface="KaiTi" panose="02010609060101010101" pitchFamily="49" charset="-122"/>
              <a:ea typeface="KaiTi" panose="02010609060101010101" pitchFamily="49" charset="-122"/>
            </a:endParaRPr>
          </a:p>
        </p:txBody>
      </p:sp>
      <p:sp>
        <p:nvSpPr>
          <p:cNvPr id="6" name="文本框 5"/>
          <p:cNvSpPr txBox="1"/>
          <p:nvPr/>
        </p:nvSpPr>
        <p:spPr>
          <a:xfrm>
            <a:off x="151596" y="16999"/>
            <a:ext cx="1851789" cy="400110"/>
          </a:xfrm>
          <a:prstGeom prst="rect">
            <a:avLst/>
          </a:prstGeom>
          <a:noFill/>
        </p:spPr>
        <p:txBody>
          <a:bodyPr wrap="none" rtlCol="0">
            <a:spAutoFit/>
          </a:bodyPr>
          <a:lstStyle/>
          <a:p>
            <a:r>
              <a:rPr kumimoji="1" lang="zh-CN" altLang="en-US" sz="2000" dirty="0">
                <a:solidFill>
                  <a:schemeClr val="bg1"/>
                </a:solidFill>
                <a:latin typeface="KaiTi" panose="02010609060101010101" pitchFamily="49" charset="-122"/>
                <a:ea typeface="KaiTi" panose="02010609060101010101" pitchFamily="49" charset="-122"/>
              </a:rPr>
              <a:t>用例</a:t>
            </a:r>
            <a:r>
              <a:rPr kumimoji="1" lang="en-US" altLang="zh-CN" sz="2000" dirty="0">
                <a:solidFill>
                  <a:schemeClr val="bg1"/>
                </a:solidFill>
                <a:latin typeface="KaiTi" panose="02010609060101010101" pitchFamily="49" charset="-122"/>
                <a:ea typeface="KaiTi" panose="02010609060101010101" pitchFamily="49" charset="-122"/>
              </a:rPr>
              <a:t>/</a:t>
            </a:r>
            <a:r>
              <a:rPr kumimoji="1" lang="zh-CN" altLang="en-US" sz="2000" dirty="0">
                <a:solidFill>
                  <a:schemeClr val="bg1"/>
                </a:solidFill>
                <a:latin typeface="KaiTi" panose="02010609060101010101" pitchFamily="49" charset="-122"/>
                <a:ea typeface="KaiTi" panose="02010609060101010101" pitchFamily="49" charset="-122"/>
              </a:rPr>
              <a:t>场景模型</a:t>
            </a:r>
            <a:endParaRPr kumimoji="1" lang="en-US" altLang="zh-CN" sz="2000" dirty="0">
              <a:solidFill>
                <a:schemeClr val="bg1"/>
              </a:solidFill>
              <a:latin typeface="KaiTi" panose="02010609060101010101" pitchFamily="49" charset="-122"/>
              <a:ea typeface="KaiTi" panose="02010609060101010101" pitchFamily="49" charset="-122"/>
            </a:endParaRPr>
          </a:p>
        </p:txBody>
      </p:sp>
      <p:sp>
        <p:nvSpPr>
          <p:cNvPr id="4" name="文本框 1"/>
          <p:cNvSpPr txBox="1"/>
          <p:nvPr/>
        </p:nvSpPr>
        <p:spPr>
          <a:xfrm>
            <a:off x="2849740" y="6071784"/>
            <a:ext cx="3583255" cy="307777"/>
          </a:xfrm>
          <a:prstGeom prst="rect">
            <a:avLst/>
          </a:prstGeom>
          <a:noFill/>
          <a:ln w="9525">
            <a:noFill/>
          </a:ln>
        </p:spPr>
        <p:txBody>
          <a:bodyPr wrap="square" anchor="t" anchorCtr="0">
            <a:spAutoFit/>
          </a:bodyPr>
          <a:lstStyle/>
          <a:p>
            <a:r>
              <a:rPr lang="zh-CN" altLang="en-US" sz="1400" dirty="0">
                <a:latin typeface="Times New Roman" panose="02020603050405020304" pitchFamily="18" charset="0"/>
                <a:ea typeface="楷体" panose="02010609060101010101" pitchFamily="49" charset="-122"/>
              </a:rPr>
              <a:t>场景的不同媒介形式在实践中的应用程度</a:t>
            </a:r>
          </a:p>
        </p:txBody>
      </p:sp>
      <p:grpSp>
        <p:nvGrpSpPr>
          <p:cNvPr id="10" name="组合 9"/>
          <p:cNvGrpSpPr/>
          <p:nvPr/>
        </p:nvGrpSpPr>
        <p:grpSpPr>
          <a:xfrm>
            <a:off x="7724775" y="2655570"/>
            <a:ext cx="887730" cy="399415"/>
            <a:chOff x="11284" y="3713"/>
            <a:chExt cx="1631" cy="720"/>
          </a:xfrm>
        </p:grpSpPr>
        <p:grpSp>
          <p:nvGrpSpPr>
            <p:cNvPr id="9" name="组合 8"/>
            <p:cNvGrpSpPr/>
            <p:nvPr/>
          </p:nvGrpSpPr>
          <p:grpSpPr>
            <a:xfrm>
              <a:off x="11284" y="3713"/>
              <a:ext cx="1617" cy="720"/>
              <a:chOff x="11284" y="3713"/>
              <a:chExt cx="1524" cy="628"/>
            </a:xfrm>
          </p:grpSpPr>
          <p:sp>
            <p:nvSpPr>
              <p:cNvPr id="7" name="矩形 6"/>
              <p:cNvSpPr/>
              <p:nvPr>
                <p:custDataLst>
                  <p:tags r:id="rId2"/>
                </p:custDataLst>
              </p:nvPr>
            </p:nvSpPr>
            <p:spPr>
              <a:xfrm>
                <a:off x="11284" y="3713"/>
                <a:ext cx="1525" cy="628"/>
              </a:xfrm>
              <a:prstGeom prst="rect">
                <a:avLst/>
              </a:prstGeom>
              <a:noFill/>
              <a:ln>
                <a:solidFill>
                  <a:schemeClr val="tx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矩形 7"/>
              <p:cNvSpPr/>
              <p:nvPr>
                <p:custDataLst>
                  <p:tags r:id="rId3"/>
                </p:custDataLst>
              </p:nvPr>
            </p:nvSpPr>
            <p:spPr>
              <a:xfrm>
                <a:off x="11451" y="3853"/>
                <a:ext cx="335" cy="299"/>
              </a:xfrm>
              <a:prstGeom prst="rect">
                <a:avLst/>
              </a:prstGeom>
              <a:solidFill>
                <a:srgbClr val="9999FF"/>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12" name="文本框 11"/>
            <p:cNvSpPr txBox="1"/>
            <p:nvPr>
              <p:custDataLst>
                <p:tags r:id="rId1"/>
              </p:custDataLst>
            </p:nvPr>
          </p:nvSpPr>
          <p:spPr>
            <a:xfrm>
              <a:off x="11817" y="3783"/>
              <a:ext cx="1098" cy="608"/>
            </a:xfrm>
            <a:prstGeom prst="rect">
              <a:avLst/>
            </a:prstGeom>
            <a:noFill/>
          </p:spPr>
          <p:txBody>
            <a:bodyPr wrap="square" rtlCol="0">
              <a:spAutoFit/>
            </a:bodyPr>
            <a:lstStyle/>
            <a:p>
              <a:r>
                <a:rPr lang="zh-CN" altLang="en-US" sz="1600">
                  <a:latin typeface="楷体" charset="0"/>
                  <a:ea typeface="楷体" charset="0"/>
                </a:rPr>
                <a:t>数量</a:t>
              </a: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场景的定位</a:t>
            </a:r>
          </a:p>
        </p:txBody>
      </p:sp>
      <p:sp>
        <p:nvSpPr>
          <p:cNvPr id="3" name="内容占位符 2"/>
          <p:cNvSpPr txBox="1"/>
          <p:nvPr/>
        </p:nvSpPr>
        <p:spPr>
          <a:xfrm>
            <a:off x="628650" y="1413672"/>
            <a:ext cx="8038832" cy="4993567"/>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spcAft>
                <a:spcPts val="600"/>
              </a:spcAft>
              <a:buFont typeface="Wingdings" panose="05000000000000000000" pitchFamily="2" charset="2"/>
              <a:buChar char="Ø"/>
            </a:pPr>
            <a:r>
              <a:rPr kumimoji="1" lang="zh-CN" altLang="en-US" sz="2400" dirty="0">
                <a:latin typeface="KaiTi" panose="02010609060101010101" pitchFamily="49" charset="-122"/>
                <a:ea typeface="KaiTi" panose="02010609060101010101" pitchFamily="49" charset="-122"/>
              </a:rPr>
              <a:t>场景的</a:t>
            </a:r>
            <a:r>
              <a:rPr kumimoji="1" lang="zh-CN" altLang="en-US" sz="2400" b="1" dirty="0">
                <a:solidFill>
                  <a:srgbClr val="870078"/>
                </a:solidFill>
                <a:latin typeface="KaiTi" panose="02010609060101010101" pitchFamily="49" charset="-122"/>
                <a:ea typeface="KaiTi" panose="02010609060101010101" pitchFamily="49" charset="-122"/>
              </a:rPr>
              <a:t>内容</a:t>
            </a:r>
            <a:r>
              <a:rPr kumimoji="1" lang="zh-CN" altLang="en-US" sz="2400" dirty="0">
                <a:latin typeface="KaiTi" panose="02010609060101010101" pitchFamily="49" charset="-122"/>
                <a:ea typeface="KaiTi" panose="02010609060101010101" pitchFamily="49" charset="-122"/>
              </a:rPr>
              <a:t>：场景的表达的知识类型，包括六个方面</a:t>
            </a:r>
            <a:endParaRPr kumimoji="1" lang="en-US" altLang="zh-CN" sz="2400" dirty="0">
              <a:latin typeface="KaiTi" panose="02010609060101010101" pitchFamily="49" charset="-122"/>
              <a:ea typeface="KaiTi" panose="02010609060101010101" pitchFamily="49" charset="-122"/>
            </a:endParaRPr>
          </a:p>
          <a:p>
            <a:pPr lvl="1">
              <a:lnSpc>
                <a:spcPct val="110000"/>
              </a:lnSpc>
              <a:spcAft>
                <a:spcPts val="1800"/>
              </a:spcAft>
              <a:buClr>
                <a:srgbClr val="231240"/>
              </a:buClr>
              <a:buFont typeface="Arial" panose="020B0604020202090204" pitchFamily="34" charset="0"/>
              <a:buChar char="•"/>
            </a:pPr>
            <a:r>
              <a:rPr kumimoji="1" lang="zh-CN" altLang="en-US" sz="2000" b="1" dirty="0">
                <a:solidFill>
                  <a:srgbClr val="870078"/>
                </a:solidFill>
                <a:latin typeface="KaiTi" panose="02010609060101010101" pitchFamily="49" charset="-122"/>
                <a:ea typeface="KaiTi" panose="02010609060101010101" pitchFamily="49" charset="-122"/>
              </a:rPr>
              <a:t>主要关注点</a:t>
            </a:r>
            <a:r>
              <a:rPr kumimoji="1" lang="en-US" altLang="zh-CN" sz="2000" dirty="0">
                <a:latin typeface="KaiTi" panose="02010609060101010101" pitchFamily="49" charset="-122"/>
                <a:ea typeface="KaiTi" panose="02010609060101010101" pitchFamily="49" charset="-122"/>
              </a:rPr>
              <a:t>:</a:t>
            </a:r>
            <a:r>
              <a:rPr kumimoji="1" lang="zh-CN" altLang="en-US" sz="2000" dirty="0">
                <a:latin typeface="KaiTi" panose="02010609060101010101" pitchFamily="49" charset="-122"/>
                <a:ea typeface="KaiTi" panose="02010609060101010101" pitchFamily="49" charset="-122"/>
              </a:rPr>
              <a:t>关于现在的，关于未来的，</a:t>
            </a:r>
            <a:r>
              <a:rPr kumimoji="1" lang="zh-CN" altLang="en-US" sz="2000" b="1" dirty="0">
                <a:solidFill>
                  <a:srgbClr val="870078"/>
                </a:solidFill>
                <a:latin typeface="KaiTi" panose="02010609060101010101" pitchFamily="49" charset="-122"/>
                <a:ea typeface="KaiTi" panose="02010609060101010101" pitchFamily="49" charset="-122"/>
              </a:rPr>
              <a:t>关于解决方案的</a:t>
            </a:r>
            <a:endParaRPr kumimoji="1" lang="en-US" altLang="zh-CN" sz="2000" b="1" dirty="0">
              <a:solidFill>
                <a:srgbClr val="870078"/>
              </a:solidFill>
              <a:latin typeface="KaiTi" panose="02010609060101010101" pitchFamily="49" charset="-122"/>
              <a:ea typeface="KaiTi" panose="02010609060101010101" pitchFamily="49" charset="-122"/>
            </a:endParaRPr>
          </a:p>
          <a:p>
            <a:pPr lvl="1">
              <a:lnSpc>
                <a:spcPct val="110000"/>
              </a:lnSpc>
              <a:spcAft>
                <a:spcPts val="1800"/>
              </a:spcAft>
              <a:buClr>
                <a:srgbClr val="231240"/>
              </a:buClr>
              <a:buFont typeface="Arial" panose="020B0604020202090204" pitchFamily="34" charset="0"/>
              <a:buChar char="•"/>
            </a:pPr>
            <a:r>
              <a:rPr kumimoji="1" lang="zh-CN" altLang="en-US" sz="2000" b="1" dirty="0">
                <a:solidFill>
                  <a:srgbClr val="870078"/>
                </a:solidFill>
                <a:latin typeface="KaiTi" panose="02010609060101010101" pitchFamily="49" charset="-122"/>
                <a:ea typeface="KaiTi" panose="02010609060101010101" pitchFamily="49" charset="-122"/>
              </a:rPr>
              <a:t>上下文环境</a:t>
            </a:r>
            <a:r>
              <a:rPr kumimoji="1" lang="en-US" altLang="zh-CN" sz="2000" dirty="0">
                <a:latin typeface="KaiTi" panose="02010609060101010101" pitchFamily="49" charset="-122"/>
                <a:ea typeface="KaiTi" panose="02010609060101010101" pitchFamily="49" charset="-122"/>
              </a:rPr>
              <a:t>:</a:t>
            </a:r>
            <a:r>
              <a:rPr kumimoji="1" lang="zh-CN" altLang="en-US" sz="2000" dirty="0">
                <a:latin typeface="KaiTi" panose="02010609060101010101" pitchFamily="49" charset="-122"/>
                <a:ea typeface="KaiTi" panose="02010609060101010101" pitchFamily="49" charset="-122"/>
              </a:rPr>
              <a:t>系统内部的行为，</a:t>
            </a:r>
            <a:r>
              <a:rPr kumimoji="1" lang="zh-CN" altLang="en-US" sz="2000" b="1" dirty="0">
                <a:solidFill>
                  <a:srgbClr val="870078"/>
                </a:solidFill>
                <a:latin typeface="KaiTi" panose="02010609060101010101" pitchFamily="49" charset="-122"/>
                <a:ea typeface="KaiTi" panose="02010609060101010101" pitchFamily="49" charset="-122"/>
              </a:rPr>
              <a:t>系统和应用环境的交互</a:t>
            </a:r>
            <a:r>
              <a:rPr kumimoji="1" lang="zh-CN" altLang="en-US" sz="2000" dirty="0">
                <a:latin typeface="KaiTi" panose="02010609060101010101" pitchFamily="49" charset="-122"/>
                <a:ea typeface="KaiTi" panose="02010609060101010101" pitchFamily="49" charset="-122"/>
              </a:rPr>
              <a:t>，外部环境的交互</a:t>
            </a:r>
            <a:endParaRPr kumimoji="1" lang="en-US" altLang="zh-CN" sz="2000" dirty="0">
              <a:latin typeface="KaiTi" panose="02010609060101010101" pitchFamily="49" charset="-122"/>
              <a:ea typeface="KaiTi" panose="02010609060101010101" pitchFamily="49" charset="-122"/>
            </a:endParaRPr>
          </a:p>
          <a:p>
            <a:pPr lvl="1">
              <a:lnSpc>
                <a:spcPct val="110000"/>
              </a:lnSpc>
              <a:spcAft>
                <a:spcPts val="1800"/>
              </a:spcAft>
              <a:buClr>
                <a:srgbClr val="231240"/>
              </a:buClr>
              <a:buFont typeface="Arial" panose="020B0604020202090204" pitchFamily="34" charset="0"/>
              <a:buChar char="•"/>
            </a:pPr>
            <a:r>
              <a:rPr kumimoji="1" lang="zh-CN" altLang="en-US" sz="2000" b="1" dirty="0">
                <a:solidFill>
                  <a:srgbClr val="870078"/>
                </a:solidFill>
                <a:latin typeface="KaiTi" panose="02010609060101010101" pitchFamily="49" charset="-122"/>
                <a:ea typeface="KaiTi" panose="02010609060101010101" pitchFamily="49" charset="-122"/>
              </a:rPr>
              <a:t>抽象层次</a:t>
            </a:r>
            <a:r>
              <a:rPr kumimoji="1" lang="en-US" altLang="zh-CN" sz="2000" dirty="0">
                <a:latin typeface="KaiTi" panose="02010609060101010101" pitchFamily="49" charset="-122"/>
                <a:ea typeface="KaiTi" panose="02010609060101010101" pitchFamily="49" charset="-122"/>
              </a:rPr>
              <a:t>:</a:t>
            </a:r>
            <a:r>
              <a:rPr kumimoji="1" lang="zh-CN" altLang="en-US" sz="2000" dirty="0">
                <a:latin typeface="KaiTi" panose="02010609060101010101" pitchFamily="49" charset="-122"/>
                <a:ea typeface="KaiTi" panose="02010609060101010101" pitchFamily="49" charset="-122"/>
              </a:rPr>
              <a:t>具体的、</a:t>
            </a:r>
            <a:r>
              <a:rPr kumimoji="1" lang="zh-CN" altLang="en-US" sz="2000" b="1" dirty="0">
                <a:solidFill>
                  <a:srgbClr val="870078"/>
                </a:solidFill>
                <a:latin typeface="KaiTi" panose="02010609060101010101" pitchFamily="49" charset="-122"/>
                <a:ea typeface="KaiTi" panose="02010609060101010101" pitchFamily="49" charset="-122"/>
              </a:rPr>
              <a:t>抽象的</a:t>
            </a:r>
            <a:r>
              <a:rPr kumimoji="1" lang="zh-CN" altLang="en-US" sz="2000" dirty="0">
                <a:latin typeface="KaiTi" panose="02010609060101010101" pitchFamily="49" charset="-122"/>
                <a:ea typeface="KaiTi" panose="02010609060101010101" pitchFamily="49" charset="-122"/>
              </a:rPr>
              <a:t>、抽象与具体的混合</a:t>
            </a:r>
            <a:endParaRPr kumimoji="1" lang="en-US" altLang="zh-CN" sz="2000" dirty="0">
              <a:latin typeface="KaiTi" panose="02010609060101010101" pitchFamily="49" charset="-122"/>
              <a:ea typeface="KaiTi" panose="02010609060101010101" pitchFamily="49" charset="-122"/>
            </a:endParaRPr>
          </a:p>
          <a:p>
            <a:pPr lvl="1">
              <a:lnSpc>
                <a:spcPct val="110000"/>
              </a:lnSpc>
              <a:spcAft>
                <a:spcPts val="1800"/>
              </a:spcAft>
              <a:buClr>
                <a:srgbClr val="231240"/>
              </a:buClr>
              <a:buFont typeface="Arial" panose="020B0604020202090204" pitchFamily="34" charset="0"/>
              <a:buChar char="•"/>
            </a:pPr>
            <a:r>
              <a:rPr kumimoji="1" lang="zh-CN" altLang="en-US" sz="2000" b="1" dirty="0">
                <a:solidFill>
                  <a:srgbClr val="870078"/>
                </a:solidFill>
                <a:latin typeface="KaiTi" panose="02010609060101010101" pitchFamily="49" charset="-122"/>
                <a:ea typeface="KaiTi" panose="02010609060101010101" pitchFamily="49" charset="-122"/>
              </a:rPr>
              <a:t>覆盖范围</a:t>
            </a:r>
            <a:r>
              <a:rPr kumimoji="1" lang="en-US" altLang="zh-CN" sz="2000" dirty="0">
                <a:latin typeface="KaiTi" panose="02010609060101010101" pitchFamily="49" charset="-122"/>
                <a:ea typeface="KaiTi" panose="02010609060101010101" pitchFamily="49" charset="-122"/>
              </a:rPr>
              <a:t>:</a:t>
            </a:r>
            <a:r>
              <a:rPr kumimoji="1" lang="zh-CN" altLang="en-US" sz="2000" b="1" dirty="0">
                <a:solidFill>
                  <a:srgbClr val="870078"/>
                </a:solidFill>
                <a:latin typeface="KaiTi" panose="02010609060101010101" pitchFamily="49" charset="-122"/>
                <a:ea typeface="KaiTi" panose="02010609060101010101" pitchFamily="49" charset="-122"/>
              </a:rPr>
              <a:t>功能需求</a:t>
            </a:r>
            <a:r>
              <a:rPr kumimoji="1" lang="zh-CN" altLang="en-US" sz="2000" dirty="0">
                <a:latin typeface="KaiTi" panose="02010609060101010101" pitchFamily="49" charset="-122"/>
                <a:ea typeface="KaiTi" panose="02010609060101010101" pitchFamily="49" charset="-122"/>
              </a:rPr>
              <a:t>、非功能需求</a:t>
            </a:r>
            <a:endParaRPr kumimoji="1" lang="en-US" altLang="zh-CN" sz="2000" dirty="0">
              <a:latin typeface="KaiTi" panose="02010609060101010101" pitchFamily="49" charset="-122"/>
              <a:ea typeface="KaiTi" panose="02010609060101010101" pitchFamily="49" charset="-122"/>
            </a:endParaRPr>
          </a:p>
          <a:p>
            <a:pPr lvl="1">
              <a:lnSpc>
                <a:spcPct val="110000"/>
              </a:lnSpc>
              <a:spcAft>
                <a:spcPts val="1800"/>
              </a:spcAft>
              <a:buClr>
                <a:srgbClr val="231240"/>
              </a:buClr>
              <a:buFont typeface="Arial" panose="020B0604020202090204" pitchFamily="34" charset="0"/>
              <a:buChar char="•"/>
            </a:pPr>
            <a:r>
              <a:rPr kumimoji="1" lang="zh-CN" altLang="en-US" sz="2000" b="1" dirty="0">
                <a:solidFill>
                  <a:srgbClr val="870078"/>
                </a:solidFill>
                <a:latin typeface="KaiTi" panose="02010609060101010101" pitchFamily="49" charset="-122"/>
                <a:ea typeface="KaiTi" panose="02010609060101010101" pitchFamily="49" charset="-122"/>
              </a:rPr>
              <a:t>粒度</a:t>
            </a:r>
            <a:r>
              <a:rPr kumimoji="1" lang="en-US" altLang="zh-CN" sz="2000" dirty="0">
                <a:latin typeface="KaiTi" panose="02010609060101010101" pitchFamily="49" charset="-122"/>
                <a:ea typeface="KaiTi" panose="02010609060101010101" pitchFamily="49" charset="-122"/>
              </a:rPr>
              <a:t>:</a:t>
            </a:r>
            <a:r>
              <a:rPr kumimoji="1" lang="zh-CN" altLang="en-US" sz="2000" dirty="0">
                <a:latin typeface="KaiTi" panose="02010609060101010101" pitchFamily="49" charset="-122"/>
                <a:ea typeface="KaiTi" panose="02010609060101010101" pitchFamily="49" charset="-122"/>
              </a:rPr>
              <a:t>整个业务过程、某个任务完成过程、某个交互行为详细处理步骤</a:t>
            </a:r>
            <a:endParaRPr kumimoji="1" lang="en-US" altLang="zh-CN" sz="2000" dirty="0">
              <a:latin typeface="KaiTi" panose="02010609060101010101" pitchFamily="49" charset="-122"/>
              <a:ea typeface="KaiTi" panose="02010609060101010101" pitchFamily="49" charset="-122"/>
            </a:endParaRPr>
          </a:p>
          <a:p>
            <a:pPr lvl="1">
              <a:lnSpc>
                <a:spcPct val="110000"/>
              </a:lnSpc>
              <a:spcAft>
                <a:spcPts val="1800"/>
              </a:spcAft>
              <a:buClr>
                <a:srgbClr val="231240"/>
              </a:buClr>
              <a:buFont typeface="Arial" panose="020B0604020202090204" pitchFamily="34" charset="0"/>
              <a:buChar char="•"/>
            </a:pPr>
            <a:r>
              <a:rPr kumimoji="1" lang="zh-CN" altLang="en-US" sz="2000" b="1" dirty="0">
                <a:solidFill>
                  <a:srgbClr val="870078"/>
                </a:solidFill>
                <a:latin typeface="KaiTi" panose="02010609060101010101" pitchFamily="49" charset="-122"/>
                <a:ea typeface="KaiTi" panose="02010609060101010101" pitchFamily="49" charset="-122"/>
              </a:rPr>
              <a:t>示例类型</a:t>
            </a:r>
            <a:r>
              <a:rPr kumimoji="1" lang="en-US" altLang="zh-CN" sz="2000" dirty="0">
                <a:latin typeface="KaiTi" panose="02010609060101010101" pitchFamily="49" charset="-122"/>
                <a:ea typeface="KaiTi" panose="02010609060101010101" pitchFamily="49" charset="-122"/>
              </a:rPr>
              <a:t>:</a:t>
            </a:r>
            <a:r>
              <a:rPr kumimoji="1" lang="zh-CN" altLang="en-US" sz="2000" dirty="0">
                <a:latin typeface="KaiTi" panose="02010609060101010101" pitchFamily="49" charset="-122"/>
                <a:ea typeface="KaiTi" panose="02010609060101010101" pitchFamily="49" charset="-122"/>
              </a:rPr>
              <a:t>正常流程、异常流程</a:t>
            </a:r>
            <a:endParaRPr kumimoji="1" lang="en-US" altLang="zh-CN" sz="2000" dirty="0">
              <a:latin typeface="KaiTi" panose="02010609060101010101" pitchFamily="49" charset="-122"/>
              <a:ea typeface="KaiTi" panose="02010609060101010101" pitchFamily="49" charset="-122"/>
            </a:endParaRPr>
          </a:p>
        </p:txBody>
      </p:sp>
      <p:sp>
        <p:nvSpPr>
          <p:cNvPr id="6" name="文本框 5"/>
          <p:cNvSpPr txBox="1"/>
          <p:nvPr/>
        </p:nvSpPr>
        <p:spPr>
          <a:xfrm>
            <a:off x="151596" y="16999"/>
            <a:ext cx="1851789" cy="400110"/>
          </a:xfrm>
          <a:prstGeom prst="rect">
            <a:avLst/>
          </a:prstGeom>
          <a:noFill/>
        </p:spPr>
        <p:txBody>
          <a:bodyPr wrap="none" rtlCol="0">
            <a:spAutoFit/>
          </a:bodyPr>
          <a:lstStyle/>
          <a:p>
            <a:r>
              <a:rPr kumimoji="1" lang="zh-CN" altLang="en-US" sz="2000" dirty="0">
                <a:solidFill>
                  <a:schemeClr val="bg1"/>
                </a:solidFill>
                <a:latin typeface="KaiTi" panose="02010609060101010101" pitchFamily="49" charset="-122"/>
                <a:ea typeface="KaiTi" panose="02010609060101010101" pitchFamily="49" charset="-122"/>
              </a:rPr>
              <a:t>用例</a:t>
            </a:r>
            <a:r>
              <a:rPr kumimoji="1" lang="en-US" altLang="zh-CN" sz="2000" dirty="0">
                <a:solidFill>
                  <a:schemeClr val="bg1"/>
                </a:solidFill>
                <a:latin typeface="KaiTi" panose="02010609060101010101" pitchFamily="49" charset="-122"/>
                <a:ea typeface="KaiTi" panose="02010609060101010101" pitchFamily="49" charset="-122"/>
              </a:rPr>
              <a:t>/</a:t>
            </a:r>
            <a:r>
              <a:rPr kumimoji="1" lang="zh-CN" altLang="en-US" sz="2000" dirty="0">
                <a:solidFill>
                  <a:schemeClr val="bg1"/>
                </a:solidFill>
                <a:latin typeface="KaiTi" panose="02010609060101010101" pitchFamily="49" charset="-122"/>
                <a:ea typeface="KaiTi" panose="02010609060101010101" pitchFamily="49" charset="-122"/>
              </a:rPr>
              <a:t>场景模型</a:t>
            </a:r>
            <a:endParaRPr kumimoji="1" lang="en-US" altLang="zh-CN" sz="2000" dirty="0">
              <a:solidFill>
                <a:schemeClr val="bg1"/>
              </a:solidFill>
              <a:latin typeface="KaiTi" panose="02010609060101010101" pitchFamily="49" charset="-122"/>
              <a:ea typeface="KaiTi" panose="02010609060101010101" pitchFamily="49"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场景的定位</a:t>
            </a:r>
          </a:p>
        </p:txBody>
      </p:sp>
      <p:sp>
        <p:nvSpPr>
          <p:cNvPr id="3" name="内容占位符 2"/>
          <p:cNvSpPr txBox="1"/>
          <p:nvPr/>
        </p:nvSpPr>
        <p:spPr>
          <a:xfrm>
            <a:off x="628650" y="1413672"/>
            <a:ext cx="8038832" cy="4993567"/>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spcAft>
                <a:spcPts val="1200"/>
              </a:spcAft>
              <a:buFont typeface="Wingdings" panose="05000000000000000000" pitchFamily="2" charset="2"/>
              <a:buChar char="Ø"/>
            </a:pPr>
            <a:r>
              <a:rPr kumimoji="1" lang="zh-CN" altLang="en-US" sz="2400" dirty="0">
                <a:latin typeface="KaiTi" panose="02010609060101010101" pitchFamily="49" charset="-122"/>
                <a:ea typeface="KaiTi" panose="02010609060101010101" pitchFamily="49" charset="-122"/>
              </a:rPr>
              <a:t>场景的</a:t>
            </a:r>
            <a:r>
              <a:rPr kumimoji="1" lang="zh-CN" altLang="en-US" sz="2400" b="1" dirty="0">
                <a:solidFill>
                  <a:srgbClr val="870078"/>
                </a:solidFill>
                <a:latin typeface="KaiTi" panose="02010609060101010101" pitchFamily="49" charset="-122"/>
                <a:ea typeface="KaiTi" panose="02010609060101010101" pitchFamily="49" charset="-122"/>
              </a:rPr>
              <a:t>目的</a:t>
            </a:r>
            <a:r>
              <a:rPr kumimoji="1" lang="zh-CN" altLang="en-US" sz="2400" dirty="0">
                <a:latin typeface="KaiTi" panose="02010609060101010101" pitchFamily="49" charset="-122"/>
                <a:ea typeface="KaiTi" panose="02010609060101010101" pitchFamily="49" charset="-122"/>
              </a:rPr>
              <a:t>：场景在使用时打算扮演的角色</a:t>
            </a:r>
            <a:endParaRPr kumimoji="1" lang="en-US" altLang="zh-CN" sz="2400" dirty="0">
              <a:latin typeface="KaiTi" panose="02010609060101010101" pitchFamily="49" charset="-122"/>
              <a:ea typeface="KaiTi" panose="02010609060101010101" pitchFamily="49" charset="-122"/>
            </a:endParaRPr>
          </a:p>
          <a:p>
            <a:pPr lvl="1">
              <a:spcBef>
                <a:spcPts val="600"/>
              </a:spcBef>
              <a:spcAft>
                <a:spcPts val="600"/>
              </a:spcAft>
              <a:buClr>
                <a:srgbClr val="231240"/>
              </a:buClr>
              <a:buFont typeface="Arial" panose="020B0604020202090204" pitchFamily="34" charset="0"/>
              <a:buChar char="•"/>
            </a:pPr>
            <a:r>
              <a:rPr kumimoji="1" lang="zh-CN" altLang="en-US" b="1" dirty="0">
                <a:solidFill>
                  <a:srgbClr val="870078"/>
                </a:solidFill>
                <a:latin typeface="KaiTi" panose="02010609060101010101" pitchFamily="49" charset="-122"/>
                <a:ea typeface="KaiTi" panose="02010609060101010101" pitchFamily="49" charset="-122"/>
              </a:rPr>
              <a:t>描述性场景</a:t>
            </a:r>
            <a:r>
              <a:rPr kumimoji="1" lang="en-US" altLang="zh-CN"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(descriptive)</a:t>
            </a:r>
            <a:r>
              <a:rPr kumimoji="1" lang="zh-CN" altLang="en-US" dirty="0">
                <a:latin typeface="KaiTi" panose="02010609060101010101" pitchFamily="49" charset="-122"/>
                <a:ea typeface="KaiTi" panose="02010609060101010101" pitchFamily="49" charset="-122"/>
              </a:rPr>
              <a:t>：</a:t>
            </a:r>
            <a:endParaRPr kumimoji="1" lang="en-US" altLang="zh-CN" dirty="0">
              <a:latin typeface="KaiTi" panose="02010609060101010101" pitchFamily="49" charset="-122"/>
              <a:ea typeface="KaiTi" panose="02010609060101010101" pitchFamily="49" charset="-122"/>
            </a:endParaRPr>
          </a:p>
          <a:p>
            <a:pPr lvl="2">
              <a:spcAft>
                <a:spcPts val="600"/>
              </a:spcAft>
              <a:buClr>
                <a:srgbClr val="231240"/>
              </a:buClr>
              <a:buFont typeface="Arial" panose="020B0604020202090204" pitchFamily="34" charset="0"/>
              <a:buChar char="•"/>
            </a:pPr>
            <a:r>
              <a:rPr kumimoji="1" lang="zh-CN" altLang="en-US" dirty="0">
                <a:latin typeface="KaiTi" panose="02010609060101010101" pitchFamily="49" charset="-122"/>
                <a:ea typeface="KaiTi" panose="02010609060101010101" pitchFamily="49" charset="-122"/>
              </a:rPr>
              <a:t>需求协商</a:t>
            </a:r>
            <a:endParaRPr kumimoji="1" lang="en-US" altLang="zh-CN" dirty="0">
              <a:latin typeface="KaiTi" panose="02010609060101010101" pitchFamily="49" charset="-122"/>
              <a:ea typeface="KaiTi" panose="02010609060101010101" pitchFamily="49" charset="-122"/>
            </a:endParaRPr>
          </a:p>
          <a:p>
            <a:pPr lvl="2">
              <a:spcAft>
                <a:spcPts val="600"/>
              </a:spcAft>
              <a:buClr>
                <a:srgbClr val="231240"/>
              </a:buClr>
              <a:buFont typeface="Arial" panose="020B0604020202090204" pitchFamily="34" charset="0"/>
              <a:buChar char="•"/>
            </a:pPr>
            <a:r>
              <a:rPr kumimoji="1" lang="zh-CN" altLang="en-US" dirty="0">
                <a:latin typeface="KaiTi" panose="02010609060101010101" pitchFamily="49" charset="-122"/>
                <a:ea typeface="KaiTi" panose="02010609060101010101" pitchFamily="49" charset="-122"/>
              </a:rPr>
              <a:t>需求的文档化</a:t>
            </a:r>
            <a:endParaRPr kumimoji="1" lang="en-US" altLang="zh-CN" dirty="0">
              <a:latin typeface="KaiTi" panose="02010609060101010101" pitchFamily="49" charset="-122"/>
              <a:ea typeface="KaiTi" panose="02010609060101010101" pitchFamily="49" charset="-122"/>
            </a:endParaRPr>
          </a:p>
          <a:p>
            <a:pPr lvl="1">
              <a:spcBef>
                <a:spcPts val="600"/>
              </a:spcBef>
              <a:spcAft>
                <a:spcPts val="600"/>
              </a:spcAft>
              <a:buClr>
                <a:srgbClr val="231240"/>
              </a:buClr>
              <a:buFont typeface="Arial" panose="020B0604020202090204" pitchFamily="34" charset="0"/>
              <a:buChar char="•"/>
            </a:pPr>
            <a:r>
              <a:rPr kumimoji="1" lang="zh-CN" altLang="en-US" b="1" dirty="0">
                <a:solidFill>
                  <a:srgbClr val="870078"/>
                </a:solidFill>
                <a:latin typeface="KaiTi" panose="02010609060101010101" pitchFamily="49" charset="-122"/>
                <a:ea typeface="KaiTi" panose="02010609060101010101" pitchFamily="49" charset="-122"/>
              </a:rPr>
              <a:t>探索性场景</a:t>
            </a:r>
            <a:r>
              <a:rPr kumimoji="1" lang="en-US" altLang="zh-CN"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(exploratory) </a:t>
            </a:r>
            <a:r>
              <a:rPr kumimoji="1" lang="zh-CN" altLang="en-US" dirty="0">
                <a:latin typeface="KaiTi" panose="02010609060101010101" pitchFamily="49" charset="-122"/>
                <a:ea typeface="KaiTi" panose="02010609060101010101" pitchFamily="49" charset="-122"/>
              </a:rPr>
              <a:t>：</a:t>
            </a:r>
            <a:endParaRPr kumimoji="1" lang="en-US" altLang="zh-CN" dirty="0">
              <a:latin typeface="KaiTi" panose="02010609060101010101" pitchFamily="49" charset="-122"/>
              <a:ea typeface="KaiTi" panose="02010609060101010101" pitchFamily="49" charset="-122"/>
            </a:endParaRPr>
          </a:p>
          <a:p>
            <a:pPr lvl="2">
              <a:spcAft>
                <a:spcPts val="600"/>
              </a:spcAft>
              <a:buClr>
                <a:srgbClr val="231240"/>
              </a:buClr>
              <a:buFont typeface="Arial" panose="020B0604020202090204" pitchFamily="34" charset="0"/>
              <a:buChar char="•"/>
            </a:pPr>
            <a:r>
              <a:rPr kumimoji="1" lang="zh-CN" altLang="en-US" dirty="0">
                <a:latin typeface="KaiTi" panose="02010609060101010101" pitchFamily="49" charset="-122"/>
                <a:ea typeface="KaiTi" panose="02010609060101010101" pitchFamily="49" charset="-122"/>
              </a:rPr>
              <a:t>需求获取</a:t>
            </a:r>
            <a:endParaRPr kumimoji="1" lang="en-US" altLang="zh-CN" dirty="0">
              <a:latin typeface="KaiTi" panose="02010609060101010101" pitchFamily="49" charset="-122"/>
              <a:ea typeface="KaiTi" panose="02010609060101010101" pitchFamily="49" charset="-122"/>
            </a:endParaRPr>
          </a:p>
          <a:p>
            <a:pPr lvl="2">
              <a:spcAft>
                <a:spcPts val="600"/>
              </a:spcAft>
              <a:buClr>
                <a:srgbClr val="231240"/>
              </a:buClr>
              <a:buFont typeface="Arial" panose="020B0604020202090204" pitchFamily="34" charset="0"/>
              <a:buChar char="•"/>
            </a:pPr>
            <a:r>
              <a:rPr kumimoji="1" lang="zh-CN" altLang="en-US" dirty="0">
                <a:latin typeface="KaiTi" panose="02010609060101010101" pitchFamily="49" charset="-122"/>
                <a:ea typeface="KaiTi" panose="02010609060101010101" pitchFamily="49" charset="-122"/>
              </a:rPr>
              <a:t>需求建模与分析</a:t>
            </a:r>
            <a:endParaRPr kumimoji="1" lang="en-US" altLang="zh-CN" dirty="0">
              <a:latin typeface="KaiTi" panose="02010609060101010101" pitchFamily="49" charset="-122"/>
              <a:ea typeface="KaiTi" panose="02010609060101010101" pitchFamily="49" charset="-122"/>
            </a:endParaRPr>
          </a:p>
          <a:p>
            <a:pPr lvl="1">
              <a:spcBef>
                <a:spcPts val="600"/>
              </a:spcBef>
              <a:spcAft>
                <a:spcPts val="600"/>
              </a:spcAft>
              <a:buClr>
                <a:srgbClr val="231240"/>
              </a:buClr>
              <a:buFont typeface="Arial" panose="020B0604020202090204" pitchFamily="34" charset="0"/>
              <a:buChar char="•"/>
            </a:pPr>
            <a:r>
              <a:rPr kumimoji="1" lang="zh-CN" altLang="en-US" b="1" dirty="0">
                <a:solidFill>
                  <a:srgbClr val="870078"/>
                </a:solidFill>
                <a:latin typeface="KaiTi" panose="02010609060101010101" pitchFamily="49" charset="-122"/>
                <a:ea typeface="KaiTi" panose="02010609060101010101" pitchFamily="49" charset="-122"/>
              </a:rPr>
              <a:t>解释性场景</a:t>
            </a:r>
            <a:r>
              <a:rPr kumimoji="1" lang="en-US" altLang="zh-CN"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(explanatory) </a:t>
            </a:r>
            <a:r>
              <a:rPr kumimoji="1" lang="zh-CN" altLang="en-US" dirty="0">
                <a:latin typeface="KaiTi" panose="02010609060101010101" pitchFamily="49" charset="-122"/>
                <a:ea typeface="KaiTi" panose="02010609060101010101" pitchFamily="49" charset="-122"/>
              </a:rPr>
              <a:t>：</a:t>
            </a:r>
            <a:endParaRPr kumimoji="1" lang="en-US" altLang="zh-CN" dirty="0">
              <a:latin typeface="KaiTi" panose="02010609060101010101" pitchFamily="49" charset="-122"/>
              <a:ea typeface="KaiTi" panose="02010609060101010101" pitchFamily="49" charset="-122"/>
            </a:endParaRPr>
          </a:p>
          <a:p>
            <a:pPr lvl="2">
              <a:spcAft>
                <a:spcPts val="600"/>
              </a:spcAft>
              <a:buClr>
                <a:srgbClr val="231240"/>
              </a:buClr>
              <a:buFont typeface="Arial" panose="020B0604020202090204" pitchFamily="34" charset="0"/>
              <a:buChar char="•"/>
            </a:pPr>
            <a:r>
              <a:rPr kumimoji="1" lang="zh-CN" altLang="en-US" dirty="0">
                <a:latin typeface="KaiTi" panose="02010609060101010101" pitchFamily="49" charset="-122"/>
                <a:ea typeface="KaiTi" panose="02010609060101010101" pitchFamily="49" charset="-122"/>
              </a:rPr>
              <a:t>降低模型的复杂度</a:t>
            </a:r>
            <a:endParaRPr kumimoji="1" lang="en-US" altLang="zh-CN" dirty="0">
              <a:latin typeface="KaiTi" panose="02010609060101010101" pitchFamily="49" charset="-122"/>
              <a:ea typeface="KaiTi" panose="02010609060101010101" pitchFamily="49" charset="-122"/>
            </a:endParaRPr>
          </a:p>
          <a:p>
            <a:pPr lvl="2">
              <a:spcAft>
                <a:spcPts val="600"/>
              </a:spcAft>
              <a:buClr>
                <a:srgbClr val="231240"/>
              </a:buClr>
              <a:buFont typeface="Arial" panose="020B0604020202090204" pitchFamily="34" charset="0"/>
              <a:buChar char="•"/>
            </a:pPr>
            <a:r>
              <a:rPr kumimoji="1" lang="zh-CN" altLang="en-US" dirty="0">
                <a:latin typeface="KaiTi" panose="02010609060101010101" pitchFamily="49" charset="-122"/>
                <a:ea typeface="KaiTi" panose="02010609060101010101" pitchFamily="49" charset="-122"/>
              </a:rPr>
              <a:t>需求验证</a:t>
            </a:r>
            <a:endParaRPr kumimoji="1" lang="en-US" altLang="zh-CN" dirty="0">
              <a:latin typeface="KaiTi" panose="02010609060101010101" pitchFamily="49" charset="-122"/>
              <a:ea typeface="KaiTi" panose="02010609060101010101" pitchFamily="49" charset="-122"/>
            </a:endParaRPr>
          </a:p>
          <a:p>
            <a:pPr lvl="1">
              <a:spcAft>
                <a:spcPts val="1200"/>
              </a:spcAft>
              <a:buClr>
                <a:srgbClr val="231240"/>
              </a:buClr>
              <a:buFont typeface="Wingdings" panose="05000000000000000000" pitchFamily="2" charset="2"/>
              <a:buChar char="Ø"/>
            </a:pPr>
            <a:endParaRPr kumimoji="1" lang="en-US" altLang="zh-CN" dirty="0">
              <a:latin typeface="KaiTi" panose="02010609060101010101" pitchFamily="49" charset="-122"/>
              <a:ea typeface="KaiTi" panose="02010609060101010101" pitchFamily="49" charset="-122"/>
            </a:endParaRPr>
          </a:p>
          <a:p>
            <a:pPr lvl="2">
              <a:spcAft>
                <a:spcPts val="1200"/>
              </a:spcAft>
              <a:buClr>
                <a:srgbClr val="231240"/>
              </a:buClr>
              <a:buFont typeface="Wingdings" panose="05000000000000000000" pitchFamily="2" charset="2"/>
              <a:buChar char="Ø"/>
            </a:pPr>
            <a:endParaRPr kumimoji="1" lang="en-US" altLang="zh-CN" dirty="0">
              <a:latin typeface="KaiTi" panose="02010609060101010101" pitchFamily="49" charset="-122"/>
              <a:ea typeface="KaiTi" panose="02010609060101010101" pitchFamily="49" charset="-122"/>
            </a:endParaRPr>
          </a:p>
          <a:p>
            <a:pPr lvl="2">
              <a:spcAft>
                <a:spcPts val="1200"/>
              </a:spcAft>
              <a:buClr>
                <a:srgbClr val="231240"/>
              </a:buClr>
              <a:buFont typeface="Wingdings" panose="05000000000000000000" pitchFamily="2" charset="2"/>
              <a:buChar char="Ø"/>
            </a:pPr>
            <a:endParaRPr kumimoji="1" lang="en-US" altLang="zh-CN" dirty="0">
              <a:latin typeface="KaiTi" panose="02010609060101010101" pitchFamily="49" charset="-122"/>
              <a:ea typeface="KaiTi" panose="02010609060101010101" pitchFamily="49" charset="-122"/>
            </a:endParaRPr>
          </a:p>
        </p:txBody>
      </p:sp>
      <p:sp>
        <p:nvSpPr>
          <p:cNvPr id="6" name="文本框 5"/>
          <p:cNvSpPr txBox="1"/>
          <p:nvPr/>
        </p:nvSpPr>
        <p:spPr>
          <a:xfrm>
            <a:off x="151596" y="16999"/>
            <a:ext cx="1851789" cy="400110"/>
          </a:xfrm>
          <a:prstGeom prst="rect">
            <a:avLst/>
          </a:prstGeom>
          <a:noFill/>
        </p:spPr>
        <p:txBody>
          <a:bodyPr wrap="none" rtlCol="0">
            <a:spAutoFit/>
          </a:bodyPr>
          <a:lstStyle/>
          <a:p>
            <a:r>
              <a:rPr kumimoji="1" lang="zh-CN" altLang="en-US" sz="2000" dirty="0">
                <a:solidFill>
                  <a:schemeClr val="bg1"/>
                </a:solidFill>
                <a:latin typeface="KaiTi" panose="02010609060101010101" pitchFamily="49" charset="-122"/>
                <a:ea typeface="KaiTi" panose="02010609060101010101" pitchFamily="49" charset="-122"/>
              </a:rPr>
              <a:t>用例</a:t>
            </a:r>
            <a:r>
              <a:rPr kumimoji="1" lang="en-US" altLang="zh-CN" sz="2000" dirty="0">
                <a:solidFill>
                  <a:schemeClr val="bg1"/>
                </a:solidFill>
                <a:latin typeface="KaiTi" panose="02010609060101010101" pitchFamily="49" charset="-122"/>
                <a:ea typeface="KaiTi" panose="02010609060101010101" pitchFamily="49" charset="-122"/>
              </a:rPr>
              <a:t>/</a:t>
            </a:r>
            <a:r>
              <a:rPr kumimoji="1" lang="zh-CN" altLang="en-US" sz="2000" dirty="0">
                <a:solidFill>
                  <a:schemeClr val="bg1"/>
                </a:solidFill>
                <a:latin typeface="KaiTi" panose="02010609060101010101" pitchFamily="49" charset="-122"/>
                <a:ea typeface="KaiTi" panose="02010609060101010101" pitchFamily="49" charset="-122"/>
              </a:rPr>
              <a:t>场景模型</a:t>
            </a:r>
            <a:endParaRPr kumimoji="1" lang="en-US" altLang="zh-CN" sz="2000" dirty="0">
              <a:solidFill>
                <a:schemeClr val="bg1"/>
              </a:solidFill>
              <a:latin typeface="KaiTi" panose="02010609060101010101" pitchFamily="49" charset="-122"/>
              <a:ea typeface="KaiTi" panose="02010609060101010101" pitchFamily="49"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场景的定位</a:t>
            </a:r>
          </a:p>
        </p:txBody>
      </p:sp>
      <p:sp>
        <p:nvSpPr>
          <p:cNvPr id="3" name="内容占位符 2"/>
          <p:cNvSpPr txBox="1"/>
          <p:nvPr/>
        </p:nvSpPr>
        <p:spPr>
          <a:xfrm>
            <a:off x="628650" y="141367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kumimoji="1" lang="zh-CN" altLang="en-US" sz="2400" dirty="0">
                <a:latin typeface="KaiTi" panose="02010609060101010101" pitchFamily="49" charset="-122"/>
                <a:ea typeface="KaiTi" panose="02010609060101010101" pitchFamily="49" charset="-122"/>
              </a:rPr>
              <a:t>场景的</a:t>
            </a:r>
            <a:r>
              <a:rPr kumimoji="1" lang="zh-CN" altLang="en-US" sz="2400" b="1" dirty="0">
                <a:solidFill>
                  <a:srgbClr val="870078"/>
                </a:solidFill>
                <a:latin typeface="KaiTi" panose="02010609060101010101" pitchFamily="49" charset="-122"/>
                <a:ea typeface="KaiTi" panose="02010609060101010101" pitchFamily="49" charset="-122"/>
              </a:rPr>
              <a:t>生命周期</a:t>
            </a:r>
            <a:r>
              <a:rPr kumimoji="1" lang="zh-CN" altLang="en-US" sz="2400" dirty="0">
                <a:latin typeface="KaiTi" panose="02010609060101010101" pitchFamily="49" charset="-122"/>
                <a:ea typeface="KaiTi" panose="02010609060101010101" pitchFamily="49" charset="-122"/>
              </a:rPr>
              <a:t>：关注场景的处理和应用</a:t>
            </a:r>
            <a:endParaRPr kumimoji="1" lang="en-US" altLang="zh-CN" sz="2400" dirty="0">
              <a:latin typeface="KaiTi" panose="02010609060101010101" pitchFamily="49" charset="-122"/>
              <a:ea typeface="KaiTi" panose="02010609060101010101" pitchFamily="49" charset="-122"/>
            </a:endParaRPr>
          </a:p>
        </p:txBody>
      </p:sp>
      <p:sp>
        <p:nvSpPr>
          <p:cNvPr id="6" name="文本框 5"/>
          <p:cNvSpPr txBox="1"/>
          <p:nvPr/>
        </p:nvSpPr>
        <p:spPr>
          <a:xfrm>
            <a:off x="151596" y="16999"/>
            <a:ext cx="1851789" cy="400110"/>
          </a:xfrm>
          <a:prstGeom prst="rect">
            <a:avLst/>
          </a:prstGeom>
          <a:noFill/>
        </p:spPr>
        <p:txBody>
          <a:bodyPr wrap="none" rtlCol="0">
            <a:spAutoFit/>
          </a:bodyPr>
          <a:lstStyle/>
          <a:p>
            <a:r>
              <a:rPr kumimoji="1" lang="zh-CN" altLang="en-US" sz="2000" dirty="0">
                <a:solidFill>
                  <a:schemeClr val="bg1"/>
                </a:solidFill>
                <a:latin typeface="KaiTi" panose="02010609060101010101" pitchFamily="49" charset="-122"/>
                <a:ea typeface="KaiTi" panose="02010609060101010101" pitchFamily="49" charset="-122"/>
              </a:rPr>
              <a:t>用例</a:t>
            </a:r>
            <a:r>
              <a:rPr kumimoji="1" lang="en-US" altLang="zh-CN" sz="2000" dirty="0">
                <a:solidFill>
                  <a:schemeClr val="bg1"/>
                </a:solidFill>
                <a:latin typeface="KaiTi" panose="02010609060101010101" pitchFamily="49" charset="-122"/>
                <a:ea typeface="KaiTi" panose="02010609060101010101" pitchFamily="49" charset="-122"/>
              </a:rPr>
              <a:t>/</a:t>
            </a:r>
            <a:r>
              <a:rPr kumimoji="1" lang="zh-CN" altLang="en-US" sz="2000" dirty="0">
                <a:solidFill>
                  <a:schemeClr val="bg1"/>
                </a:solidFill>
                <a:latin typeface="KaiTi" panose="02010609060101010101" pitchFamily="49" charset="-122"/>
                <a:ea typeface="KaiTi" panose="02010609060101010101" pitchFamily="49" charset="-122"/>
              </a:rPr>
              <a:t>场景模型</a:t>
            </a:r>
            <a:endParaRPr kumimoji="1" lang="en-US" altLang="zh-CN" sz="2000" dirty="0">
              <a:solidFill>
                <a:schemeClr val="bg1"/>
              </a:solidFill>
              <a:latin typeface="KaiTi" panose="02010609060101010101" pitchFamily="49" charset="-122"/>
              <a:ea typeface="KaiTi" panose="02010609060101010101" pitchFamily="49" charset="-122"/>
            </a:endParaRPr>
          </a:p>
        </p:txBody>
      </p:sp>
      <p:sp>
        <p:nvSpPr>
          <p:cNvPr id="7" name="文本框 1"/>
          <p:cNvSpPr txBox="1"/>
          <p:nvPr/>
        </p:nvSpPr>
        <p:spPr>
          <a:xfrm>
            <a:off x="3313375" y="6046633"/>
            <a:ext cx="2494992" cy="307777"/>
          </a:xfrm>
          <a:prstGeom prst="rect">
            <a:avLst/>
          </a:prstGeom>
          <a:noFill/>
          <a:ln w="9525">
            <a:noFill/>
          </a:ln>
        </p:spPr>
        <p:txBody>
          <a:bodyPr wrap="square" anchor="t" anchorCtr="0">
            <a:spAutoFit/>
          </a:bodyPr>
          <a:lstStyle/>
          <a:p>
            <a:r>
              <a:rPr lang="zh-CN" altLang="en-US" sz="1400" dirty="0">
                <a:latin typeface="Times New Roman" panose="02020603050405020304" pitchFamily="18" charset="0"/>
                <a:ea typeface="楷体" panose="02010609060101010101" pitchFamily="49" charset="-122"/>
              </a:rPr>
              <a:t>场景的应用和处理的五种情况</a:t>
            </a:r>
          </a:p>
        </p:txBody>
      </p:sp>
      <p:pic>
        <p:nvPicPr>
          <p:cNvPr id="10" name="图片 9">
            <a:extLst>
              <a:ext uri="{FF2B5EF4-FFF2-40B4-BE49-F238E27FC236}">
                <a16:creationId xmlns:a16="http://schemas.microsoft.com/office/drawing/2014/main" id="{0A5B1E6A-4292-7DB1-1C3A-C8067C758D5C}"/>
              </a:ext>
            </a:extLst>
          </p:cNvPr>
          <p:cNvPicPr>
            <a:picLocks noChangeAspect="1"/>
          </p:cNvPicPr>
          <p:nvPr/>
        </p:nvPicPr>
        <p:blipFill>
          <a:blip r:embed="rId3"/>
          <a:stretch>
            <a:fillRect/>
          </a:stretch>
        </p:blipFill>
        <p:spPr>
          <a:xfrm>
            <a:off x="779172" y="1878636"/>
            <a:ext cx="7736178" cy="3579028"/>
          </a:xfrm>
          <a:prstGeom prst="rect">
            <a:avLst/>
          </a:prstGeom>
        </p:spPr>
      </p:pic>
      <p:sp>
        <p:nvSpPr>
          <p:cNvPr id="11" name="文本框 10">
            <a:extLst>
              <a:ext uri="{FF2B5EF4-FFF2-40B4-BE49-F238E27FC236}">
                <a16:creationId xmlns:a16="http://schemas.microsoft.com/office/drawing/2014/main" id="{9280ADF8-BA25-891A-FC62-9A8345130491}"/>
              </a:ext>
            </a:extLst>
          </p:cNvPr>
          <p:cNvSpPr txBox="1"/>
          <p:nvPr/>
        </p:nvSpPr>
        <p:spPr>
          <a:xfrm>
            <a:off x="830685" y="5534915"/>
            <a:ext cx="1358721" cy="276999"/>
          </a:xfrm>
          <a:prstGeom prst="rect">
            <a:avLst/>
          </a:prstGeom>
          <a:noFill/>
        </p:spPr>
        <p:txBody>
          <a:bodyPr wrap="square" rtlCol="0">
            <a:spAutoFit/>
          </a:bodyPr>
          <a:lstStyle/>
          <a:p>
            <a:r>
              <a:rPr lang="en-US" altLang="zh-CN" sz="1200" dirty="0">
                <a:latin typeface="Times New Roman" panose="02020603050405020304" pitchFamily="18" charset="0"/>
                <a:cs typeface="Times New Roman" panose="02020603050405020304" pitchFamily="18" charset="0"/>
              </a:rPr>
              <a:t>a)</a:t>
            </a:r>
            <a:r>
              <a:rPr lang="zh-CN" altLang="en-US" sz="1200" dirty="0">
                <a:latin typeface="Times New Roman" panose="02020603050405020304" pitchFamily="18" charset="0"/>
                <a:cs typeface="Times New Roman" panose="02020603050405020304" pitchFamily="18" charset="0"/>
              </a:rPr>
              <a:t> </a:t>
            </a:r>
            <a:r>
              <a:rPr lang="zh-CN" altLang="en-US" sz="1200" dirty="0"/>
              <a:t>复杂问题分解</a:t>
            </a:r>
          </a:p>
        </p:txBody>
      </p:sp>
      <p:sp>
        <p:nvSpPr>
          <p:cNvPr id="12" name="文本框 11">
            <a:extLst>
              <a:ext uri="{FF2B5EF4-FFF2-40B4-BE49-F238E27FC236}">
                <a16:creationId xmlns:a16="http://schemas.microsoft.com/office/drawing/2014/main" id="{4F54B6DC-D6FF-756A-6105-9DD3E9F5C8A2}"/>
              </a:ext>
            </a:extLst>
          </p:cNvPr>
          <p:cNvSpPr txBox="1"/>
          <p:nvPr/>
        </p:nvSpPr>
        <p:spPr>
          <a:xfrm>
            <a:off x="2316044" y="5538937"/>
            <a:ext cx="1358721" cy="276999"/>
          </a:xfrm>
          <a:prstGeom prst="rect">
            <a:avLst/>
          </a:prstGeom>
          <a:noFill/>
        </p:spPr>
        <p:txBody>
          <a:bodyPr wrap="square" rtlCol="0">
            <a:spAutoFit/>
          </a:bodyPr>
          <a:lstStyle/>
          <a:p>
            <a:r>
              <a:rPr lang="en-US" altLang="zh-CN" sz="1200" dirty="0">
                <a:latin typeface="Times New Roman" panose="02020603050405020304" pitchFamily="18" charset="0"/>
                <a:cs typeface="Times New Roman" panose="02020603050405020304" pitchFamily="18" charset="0"/>
              </a:rPr>
              <a:t>b) </a:t>
            </a:r>
            <a:r>
              <a:rPr lang="zh-CN" altLang="en-US" sz="1200" dirty="0">
                <a:latin typeface="Times New Roman" panose="02020603050405020304" pitchFamily="18" charset="0"/>
                <a:cs typeface="Times New Roman" panose="02020603050405020304" pitchFamily="18" charset="0"/>
              </a:rPr>
              <a:t>简单直接使用</a:t>
            </a:r>
            <a:endParaRPr lang="zh-CN" altLang="en-US" sz="1200" dirty="0"/>
          </a:p>
        </p:txBody>
      </p:sp>
      <p:sp>
        <p:nvSpPr>
          <p:cNvPr id="13" name="文本框 12">
            <a:extLst>
              <a:ext uri="{FF2B5EF4-FFF2-40B4-BE49-F238E27FC236}">
                <a16:creationId xmlns:a16="http://schemas.microsoft.com/office/drawing/2014/main" id="{014A25AC-FC83-D469-CEE6-CDE8A09ED4AC}"/>
              </a:ext>
            </a:extLst>
          </p:cNvPr>
          <p:cNvSpPr txBox="1"/>
          <p:nvPr/>
        </p:nvSpPr>
        <p:spPr>
          <a:xfrm>
            <a:off x="3793100" y="5534914"/>
            <a:ext cx="1358721" cy="276999"/>
          </a:xfrm>
          <a:prstGeom prst="rect">
            <a:avLst/>
          </a:prstGeom>
          <a:noFill/>
        </p:spPr>
        <p:txBody>
          <a:bodyPr wrap="square" rtlCol="0">
            <a:spAutoFit/>
          </a:bodyPr>
          <a:lstStyle/>
          <a:p>
            <a:r>
              <a:rPr lang="en-US" altLang="zh-CN" sz="1200" dirty="0">
                <a:latin typeface="Times New Roman" panose="02020603050405020304" pitchFamily="18" charset="0"/>
                <a:cs typeface="Times New Roman" panose="02020603050405020304" pitchFamily="18" charset="0"/>
              </a:rPr>
              <a:t>c)</a:t>
            </a:r>
            <a:r>
              <a:rPr lang="zh-CN" altLang="en-US" sz="1200" dirty="0">
                <a:latin typeface="Times New Roman" panose="02020603050405020304" pitchFamily="18" charset="0"/>
                <a:cs typeface="Times New Roman" panose="02020603050405020304" pitchFamily="18" charset="0"/>
              </a:rPr>
              <a:t> 常规需求开发</a:t>
            </a:r>
            <a:endParaRPr lang="zh-CN" altLang="en-US" sz="1200" dirty="0"/>
          </a:p>
        </p:txBody>
      </p:sp>
      <p:sp>
        <p:nvSpPr>
          <p:cNvPr id="14" name="文本框 13">
            <a:extLst>
              <a:ext uri="{FF2B5EF4-FFF2-40B4-BE49-F238E27FC236}">
                <a16:creationId xmlns:a16="http://schemas.microsoft.com/office/drawing/2014/main" id="{FCFCBFCC-7108-7E7E-DA7E-576D37F99694}"/>
              </a:ext>
            </a:extLst>
          </p:cNvPr>
          <p:cNvSpPr txBox="1"/>
          <p:nvPr/>
        </p:nvSpPr>
        <p:spPr>
          <a:xfrm>
            <a:off x="5278459" y="5534915"/>
            <a:ext cx="1358721" cy="276999"/>
          </a:xfrm>
          <a:prstGeom prst="rect">
            <a:avLst/>
          </a:prstGeom>
          <a:noFill/>
        </p:spPr>
        <p:txBody>
          <a:bodyPr wrap="square" rtlCol="0">
            <a:spAutoFit/>
          </a:bodyPr>
          <a:lstStyle/>
          <a:p>
            <a:r>
              <a:rPr lang="en-US" altLang="zh-CN" sz="1200" dirty="0">
                <a:latin typeface="Times New Roman" panose="02020603050405020304" pitchFamily="18" charset="0"/>
                <a:cs typeface="Times New Roman" panose="02020603050405020304" pitchFamily="18" charset="0"/>
              </a:rPr>
              <a:t>d)</a:t>
            </a:r>
            <a:r>
              <a:rPr lang="zh-CN" altLang="en-US" sz="1200" dirty="0">
                <a:latin typeface="Times New Roman" panose="02020603050405020304" pitchFamily="18" charset="0"/>
                <a:cs typeface="Times New Roman" panose="02020603050405020304" pitchFamily="18" charset="0"/>
              </a:rPr>
              <a:t> 借鉴逆向需求</a:t>
            </a:r>
            <a:endParaRPr lang="zh-CN" altLang="en-US" sz="1200" dirty="0"/>
          </a:p>
        </p:txBody>
      </p:sp>
      <p:sp>
        <p:nvSpPr>
          <p:cNvPr id="15" name="文本框 14">
            <a:extLst>
              <a:ext uri="{FF2B5EF4-FFF2-40B4-BE49-F238E27FC236}">
                <a16:creationId xmlns:a16="http://schemas.microsoft.com/office/drawing/2014/main" id="{552944F7-C50F-98CA-0BAF-4C521C7EB01E}"/>
              </a:ext>
            </a:extLst>
          </p:cNvPr>
          <p:cNvSpPr txBox="1"/>
          <p:nvPr/>
        </p:nvSpPr>
        <p:spPr>
          <a:xfrm>
            <a:off x="6788423" y="5534915"/>
            <a:ext cx="1358721" cy="276999"/>
          </a:xfrm>
          <a:prstGeom prst="rect">
            <a:avLst/>
          </a:prstGeom>
          <a:noFill/>
        </p:spPr>
        <p:txBody>
          <a:bodyPr wrap="square" rtlCol="0">
            <a:spAutoFit/>
          </a:bodyPr>
          <a:lstStyle/>
          <a:p>
            <a:r>
              <a:rPr lang="en-US" altLang="zh-CN" sz="1200" dirty="0">
                <a:latin typeface="Times New Roman" panose="02020603050405020304" pitchFamily="18" charset="0"/>
                <a:cs typeface="Times New Roman" panose="02020603050405020304" pitchFamily="18" charset="0"/>
              </a:rPr>
              <a:t>e)</a:t>
            </a:r>
            <a:r>
              <a:rPr lang="zh-CN" altLang="en-US" sz="1200" dirty="0">
                <a:latin typeface="Times New Roman" panose="02020603050405020304" pitchFamily="18" charset="0"/>
                <a:cs typeface="Times New Roman" panose="02020603050405020304" pitchFamily="18" charset="0"/>
              </a:rPr>
              <a:t> </a:t>
            </a:r>
            <a:r>
              <a:rPr lang="zh-CN" altLang="en-US" sz="1200" dirty="0"/>
              <a:t>验证需求阶段</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用例的定位</a:t>
            </a:r>
          </a:p>
        </p:txBody>
      </p:sp>
      <p:sp>
        <p:nvSpPr>
          <p:cNvPr id="3" name="内容占位符 2"/>
          <p:cNvSpPr txBox="1"/>
          <p:nvPr/>
        </p:nvSpPr>
        <p:spPr>
          <a:xfrm>
            <a:off x="628650" y="141367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00000"/>
              </a:lnSpc>
              <a:spcBef>
                <a:spcPts val="0"/>
              </a:spcBef>
              <a:spcAft>
                <a:spcPts val="1200"/>
              </a:spcAft>
              <a:buFont typeface="Wingdings" panose="05000000000000000000" pitchFamily="2" charset="2"/>
              <a:buChar char="Ø"/>
            </a:pPr>
            <a:r>
              <a:rPr kumimoji="1" lang="zh-CN" altLang="en-US" sz="2400" dirty="0">
                <a:latin typeface="KaiTi" panose="02010609060101010101" pitchFamily="49" charset="-122"/>
                <a:ea typeface="KaiTi" panose="02010609060101010101" pitchFamily="49" charset="-122"/>
              </a:rPr>
              <a:t>用例是静态的结构化文本描述。 </a:t>
            </a:r>
          </a:p>
          <a:p>
            <a:pPr>
              <a:lnSpc>
                <a:spcPct val="100000"/>
              </a:lnSpc>
              <a:spcAft>
                <a:spcPts val="1200"/>
              </a:spcAft>
              <a:buFont typeface="Wingdings" panose="05000000000000000000" pitchFamily="2" charset="2"/>
              <a:buChar char="Ø"/>
            </a:pPr>
            <a:r>
              <a:rPr kumimoji="1" lang="zh-CN" altLang="en-US" sz="2400" dirty="0">
                <a:latin typeface="KaiTi" panose="02010609060101010101" pitchFamily="49" charset="-122"/>
                <a:ea typeface="KaiTi" panose="02010609060101010101" pitchFamily="49" charset="-122"/>
              </a:rPr>
              <a:t>用例的内容可以是：对当前世界的描述；对将来确定的解系统的内部行为描述；</a:t>
            </a:r>
            <a:r>
              <a:rPr kumimoji="1" lang="zh-CN" altLang="en-US" sz="2400" b="1" dirty="0">
                <a:solidFill>
                  <a:srgbClr val="870078"/>
                </a:solidFill>
                <a:latin typeface="KaiTi" panose="02010609060101010101" pitchFamily="49" charset="-122"/>
                <a:ea typeface="KaiTi" panose="02010609060101010101" pitchFamily="49" charset="-122"/>
              </a:rPr>
              <a:t>对期待的解决方案的描述。</a:t>
            </a:r>
            <a:endParaRPr kumimoji="1" lang="en-US" altLang="zh-CN" sz="2400" b="1" dirty="0">
              <a:solidFill>
                <a:srgbClr val="870078"/>
              </a:solidFill>
              <a:latin typeface="KaiTi" panose="02010609060101010101" pitchFamily="49" charset="-122"/>
              <a:ea typeface="KaiTi" panose="02010609060101010101" pitchFamily="49" charset="-122"/>
            </a:endParaRPr>
          </a:p>
          <a:p>
            <a:pPr>
              <a:lnSpc>
                <a:spcPct val="100000"/>
              </a:lnSpc>
              <a:spcAft>
                <a:spcPts val="1200"/>
              </a:spcAft>
              <a:buFont typeface="Wingdings" panose="05000000000000000000" pitchFamily="2" charset="2"/>
              <a:buChar char="Ø"/>
            </a:pPr>
            <a:r>
              <a:rPr kumimoji="1" lang="zh-CN" altLang="en-US" sz="2400" dirty="0">
                <a:latin typeface="KaiTi" panose="02010609060101010101" pitchFamily="49" charset="-122"/>
                <a:ea typeface="KaiTi" panose="02010609060101010101" pitchFamily="49" charset="-122"/>
              </a:rPr>
              <a:t>用例可能会被用于描述系统内部的交互，也可能被用于描述系统和环境的交互，还可能会被用于描述</a:t>
            </a:r>
            <a:r>
              <a:rPr kumimoji="1" lang="zh-CN" altLang="en-US" sz="2400" b="1" dirty="0">
                <a:solidFill>
                  <a:srgbClr val="870078"/>
                </a:solidFill>
                <a:latin typeface="KaiTi" panose="02010609060101010101" pitchFamily="49" charset="-122"/>
                <a:ea typeface="KaiTi" panose="02010609060101010101" pitchFamily="49" charset="-122"/>
              </a:rPr>
              <a:t>行为的环境和背景</a:t>
            </a:r>
            <a:r>
              <a:rPr kumimoji="1" lang="zh-CN" altLang="en-US" sz="2400" dirty="0">
                <a:latin typeface="KaiTi" panose="02010609060101010101" pitchFamily="49" charset="-122"/>
                <a:ea typeface="KaiTi" panose="02010609060101010101" pitchFamily="49" charset="-122"/>
              </a:rPr>
              <a:t>。</a:t>
            </a:r>
            <a:endParaRPr kumimoji="1" lang="en-US" altLang="zh-CN" sz="2400" dirty="0">
              <a:latin typeface="KaiTi" panose="02010609060101010101" pitchFamily="49" charset="-122"/>
              <a:ea typeface="KaiTi" panose="02010609060101010101" pitchFamily="49" charset="-122"/>
            </a:endParaRPr>
          </a:p>
          <a:p>
            <a:pPr>
              <a:lnSpc>
                <a:spcPct val="100000"/>
              </a:lnSpc>
              <a:spcAft>
                <a:spcPts val="1200"/>
              </a:spcAft>
              <a:buFont typeface="Wingdings" panose="05000000000000000000" pitchFamily="2" charset="2"/>
              <a:buChar char="Ø"/>
            </a:pPr>
            <a:r>
              <a:rPr kumimoji="1" lang="zh-CN" altLang="en-US" sz="2400" dirty="0">
                <a:latin typeface="KaiTi" panose="02010609060101010101" pitchFamily="49" charset="-122"/>
                <a:ea typeface="KaiTi" panose="02010609060101010101" pitchFamily="49" charset="-122"/>
              </a:rPr>
              <a:t>用例是类型层次的事件描述，主要用来描述功能需求，可以围绕功能需求组织其他需求内容。 </a:t>
            </a:r>
            <a:endParaRPr kumimoji="1" lang="en-US" altLang="zh-CN" sz="2400" dirty="0">
              <a:latin typeface="KaiTi" panose="02010609060101010101" pitchFamily="49" charset="-122"/>
              <a:ea typeface="KaiTi" panose="02010609060101010101" pitchFamily="49" charset="-122"/>
            </a:endParaRPr>
          </a:p>
        </p:txBody>
      </p:sp>
      <p:sp>
        <p:nvSpPr>
          <p:cNvPr id="6" name="文本框 5"/>
          <p:cNvSpPr txBox="1"/>
          <p:nvPr/>
        </p:nvSpPr>
        <p:spPr>
          <a:xfrm>
            <a:off x="151596" y="16999"/>
            <a:ext cx="1851789" cy="400110"/>
          </a:xfrm>
          <a:prstGeom prst="rect">
            <a:avLst/>
          </a:prstGeom>
          <a:noFill/>
        </p:spPr>
        <p:txBody>
          <a:bodyPr wrap="none" rtlCol="0">
            <a:spAutoFit/>
          </a:bodyPr>
          <a:lstStyle/>
          <a:p>
            <a:r>
              <a:rPr kumimoji="1" lang="zh-CN" altLang="en-US" sz="2000" dirty="0">
                <a:solidFill>
                  <a:schemeClr val="bg1"/>
                </a:solidFill>
                <a:latin typeface="KaiTi" panose="02010609060101010101" pitchFamily="49" charset="-122"/>
                <a:ea typeface="KaiTi" panose="02010609060101010101" pitchFamily="49" charset="-122"/>
              </a:rPr>
              <a:t>用例</a:t>
            </a:r>
            <a:r>
              <a:rPr kumimoji="1" lang="en-US" altLang="zh-CN" sz="2000" dirty="0">
                <a:solidFill>
                  <a:schemeClr val="bg1"/>
                </a:solidFill>
                <a:latin typeface="KaiTi" panose="02010609060101010101" pitchFamily="49" charset="-122"/>
                <a:ea typeface="KaiTi" panose="02010609060101010101" pitchFamily="49" charset="-122"/>
              </a:rPr>
              <a:t>/</a:t>
            </a:r>
            <a:r>
              <a:rPr kumimoji="1" lang="zh-CN" altLang="en-US" sz="2000" dirty="0">
                <a:solidFill>
                  <a:schemeClr val="bg1"/>
                </a:solidFill>
                <a:latin typeface="KaiTi" panose="02010609060101010101" pitchFamily="49" charset="-122"/>
                <a:ea typeface="KaiTi" panose="02010609060101010101" pitchFamily="49" charset="-122"/>
              </a:rPr>
              <a:t>场景模型</a:t>
            </a:r>
            <a:endParaRPr kumimoji="1" lang="en-US" altLang="zh-CN" sz="2000" dirty="0">
              <a:solidFill>
                <a:schemeClr val="bg1"/>
              </a:solidFill>
              <a:latin typeface="KaiTi" panose="02010609060101010101" pitchFamily="49" charset="-122"/>
              <a:ea typeface="KaiTi"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用例的定位</a:t>
            </a:r>
          </a:p>
        </p:txBody>
      </p:sp>
      <p:sp>
        <p:nvSpPr>
          <p:cNvPr id="3" name="内容占位符 2"/>
          <p:cNvSpPr txBox="1"/>
          <p:nvPr/>
        </p:nvSpPr>
        <p:spPr>
          <a:xfrm>
            <a:off x="628650" y="141367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00000"/>
              </a:lnSpc>
              <a:spcAft>
                <a:spcPts val="1200"/>
              </a:spcAft>
              <a:buFont typeface="Wingdings" panose="05000000000000000000" pitchFamily="2" charset="2"/>
              <a:buChar char="Ø"/>
            </a:pPr>
            <a:r>
              <a:rPr kumimoji="1" lang="zh-CN" altLang="en-US" sz="2400" dirty="0">
                <a:latin typeface="KaiTi" panose="02010609060101010101" pitchFamily="49" charset="-122"/>
                <a:ea typeface="KaiTi" panose="02010609060101010101" pitchFamily="49" charset="-122"/>
              </a:rPr>
              <a:t>用例可以是比较抽象的，用于描述整个业务过程；也可以是比较具体的，用于描述任务完成过程；还可以是非常具体的，描述</a:t>
            </a:r>
            <a:r>
              <a:rPr kumimoji="1" lang="zh-CN" altLang="en-US" sz="2400" b="1" dirty="0">
                <a:solidFill>
                  <a:srgbClr val="870078"/>
                </a:solidFill>
                <a:latin typeface="KaiTi" panose="02010609060101010101" pitchFamily="49" charset="-122"/>
                <a:ea typeface="KaiTi" panose="02010609060101010101" pitchFamily="49" charset="-122"/>
              </a:rPr>
              <a:t>交互行为详细步骤</a:t>
            </a:r>
            <a:r>
              <a:rPr kumimoji="1" lang="zh-CN" altLang="en-US" sz="2400" dirty="0">
                <a:latin typeface="KaiTi" panose="02010609060101010101" pitchFamily="49" charset="-122"/>
                <a:ea typeface="KaiTi" panose="02010609060101010101" pitchFamily="49" charset="-122"/>
              </a:rPr>
              <a:t>。需求工程的前期会产生前两种描述，最终都转化为第三种。</a:t>
            </a:r>
            <a:endParaRPr kumimoji="1" lang="en-US" altLang="zh-CN" sz="2400" dirty="0">
              <a:latin typeface="KaiTi" panose="02010609060101010101" pitchFamily="49" charset="-122"/>
              <a:ea typeface="KaiTi" panose="02010609060101010101" pitchFamily="49" charset="-122"/>
            </a:endParaRPr>
          </a:p>
          <a:p>
            <a:pPr>
              <a:lnSpc>
                <a:spcPct val="100000"/>
              </a:lnSpc>
              <a:spcAft>
                <a:spcPts val="1200"/>
              </a:spcAft>
              <a:buFont typeface="Wingdings" panose="05000000000000000000" pitchFamily="2" charset="2"/>
              <a:buChar char="Ø"/>
            </a:pPr>
            <a:r>
              <a:rPr kumimoji="1" lang="zh-CN" altLang="en-US" sz="2400" dirty="0">
                <a:latin typeface="KaiTi" panose="02010609060101010101" pitchFamily="49" charset="-122"/>
                <a:ea typeface="KaiTi" panose="02010609060101010101" pitchFamily="49" charset="-122"/>
              </a:rPr>
              <a:t>用例的内容既包含有正常流程，又包含有异常流程。</a:t>
            </a:r>
            <a:endParaRPr kumimoji="1" lang="en-US" altLang="zh-CN" sz="2400" dirty="0">
              <a:latin typeface="KaiTi" panose="02010609060101010101" pitchFamily="49" charset="-122"/>
              <a:ea typeface="KaiTi" panose="02010609060101010101" pitchFamily="49" charset="-122"/>
            </a:endParaRPr>
          </a:p>
          <a:p>
            <a:pPr>
              <a:lnSpc>
                <a:spcPct val="100000"/>
              </a:lnSpc>
              <a:spcAft>
                <a:spcPts val="1200"/>
              </a:spcAft>
              <a:buFont typeface="Wingdings" panose="05000000000000000000" pitchFamily="2" charset="2"/>
              <a:buChar char="Ø"/>
            </a:pPr>
            <a:r>
              <a:rPr kumimoji="1" lang="zh-CN" altLang="en-US" sz="2400" dirty="0">
                <a:latin typeface="KaiTi" panose="02010609060101010101" pitchFamily="49" charset="-122"/>
                <a:ea typeface="KaiTi" panose="02010609060101010101" pitchFamily="49" charset="-122"/>
              </a:rPr>
              <a:t>用例可以用于各种目的的应用，包括</a:t>
            </a:r>
            <a:r>
              <a:rPr kumimoji="1" lang="zh-CN" altLang="en-US" sz="2400" b="1" dirty="0">
                <a:solidFill>
                  <a:srgbClr val="870078"/>
                </a:solidFill>
                <a:latin typeface="KaiTi" panose="02010609060101010101" pitchFamily="49" charset="-122"/>
                <a:ea typeface="KaiTi" panose="02010609060101010101" pitchFamily="49" charset="-122"/>
              </a:rPr>
              <a:t>描述、探索和解释</a:t>
            </a:r>
            <a:r>
              <a:rPr kumimoji="1" lang="zh-CN" altLang="en-US" sz="2400" dirty="0">
                <a:latin typeface="KaiTi" panose="02010609060101010101" pitchFamily="49" charset="-122"/>
                <a:ea typeface="KaiTi" panose="02010609060101010101" pitchFamily="49" charset="-122"/>
              </a:rPr>
              <a:t>。需求获取和需求验证是它在需求工程中的主要应用阶段，它也可以用于需求的建模、交流和协商。</a:t>
            </a:r>
            <a:endParaRPr kumimoji="1" lang="en-US" altLang="zh-CN" sz="2400" dirty="0">
              <a:latin typeface="KaiTi" panose="02010609060101010101" pitchFamily="49" charset="-122"/>
              <a:ea typeface="KaiTi" panose="02010609060101010101" pitchFamily="49" charset="-122"/>
            </a:endParaRPr>
          </a:p>
          <a:p>
            <a:pPr>
              <a:lnSpc>
                <a:spcPct val="100000"/>
              </a:lnSpc>
              <a:spcAft>
                <a:spcPts val="1200"/>
              </a:spcAft>
              <a:buFont typeface="Wingdings" panose="05000000000000000000" pitchFamily="2" charset="2"/>
              <a:buChar char="Ø"/>
            </a:pPr>
            <a:r>
              <a:rPr kumimoji="1" lang="zh-CN" altLang="en-US" sz="2400" dirty="0">
                <a:latin typeface="KaiTi" panose="02010609060101010101" pitchFamily="49" charset="-122"/>
                <a:ea typeface="KaiTi" panose="02010609060101010101" pitchFamily="49" charset="-122"/>
              </a:rPr>
              <a:t>场景的各种生命周期特征、应用和处理过程都适用于用例。 </a:t>
            </a:r>
            <a:endParaRPr kumimoji="1" lang="en-US" altLang="zh-CN" sz="2400" dirty="0">
              <a:latin typeface="KaiTi" panose="02010609060101010101" pitchFamily="49" charset="-122"/>
              <a:ea typeface="KaiTi" panose="02010609060101010101" pitchFamily="49" charset="-122"/>
            </a:endParaRPr>
          </a:p>
        </p:txBody>
      </p:sp>
      <p:sp>
        <p:nvSpPr>
          <p:cNvPr id="6" name="文本框 5"/>
          <p:cNvSpPr txBox="1"/>
          <p:nvPr/>
        </p:nvSpPr>
        <p:spPr>
          <a:xfrm>
            <a:off x="151596" y="16999"/>
            <a:ext cx="1851789" cy="400110"/>
          </a:xfrm>
          <a:prstGeom prst="rect">
            <a:avLst/>
          </a:prstGeom>
          <a:noFill/>
        </p:spPr>
        <p:txBody>
          <a:bodyPr wrap="none" rtlCol="0">
            <a:spAutoFit/>
          </a:bodyPr>
          <a:lstStyle/>
          <a:p>
            <a:r>
              <a:rPr kumimoji="1" lang="zh-CN" altLang="en-US" sz="2000" dirty="0">
                <a:solidFill>
                  <a:schemeClr val="bg1"/>
                </a:solidFill>
                <a:latin typeface="KaiTi" panose="02010609060101010101" pitchFamily="49" charset="-122"/>
                <a:ea typeface="KaiTi" panose="02010609060101010101" pitchFamily="49" charset="-122"/>
              </a:rPr>
              <a:t>用例</a:t>
            </a:r>
            <a:r>
              <a:rPr kumimoji="1" lang="en-US" altLang="zh-CN" sz="2000" dirty="0">
                <a:solidFill>
                  <a:schemeClr val="bg1"/>
                </a:solidFill>
                <a:latin typeface="KaiTi" panose="02010609060101010101" pitchFamily="49" charset="-122"/>
                <a:ea typeface="KaiTi" panose="02010609060101010101" pitchFamily="49" charset="-122"/>
              </a:rPr>
              <a:t>/</a:t>
            </a:r>
            <a:r>
              <a:rPr kumimoji="1" lang="zh-CN" altLang="en-US" sz="2000" dirty="0">
                <a:solidFill>
                  <a:schemeClr val="bg1"/>
                </a:solidFill>
                <a:latin typeface="KaiTi" panose="02010609060101010101" pitchFamily="49" charset="-122"/>
                <a:ea typeface="KaiTi" panose="02010609060101010101" pitchFamily="49" charset="-122"/>
              </a:rPr>
              <a:t>场景模型</a:t>
            </a:r>
            <a:endParaRPr kumimoji="1" lang="en-US" altLang="zh-CN" sz="2000" dirty="0">
              <a:solidFill>
                <a:schemeClr val="bg1"/>
              </a:solidFill>
              <a:latin typeface="KaiTi" panose="02010609060101010101" pitchFamily="49" charset="-122"/>
              <a:ea typeface="KaiTi"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理解用例相关概念</a:t>
            </a:r>
          </a:p>
        </p:txBody>
      </p:sp>
      <p:sp>
        <p:nvSpPr>
          <p:cNvPr id="3" name="内容占位符 2"/>
          <p:cNvSpPr txBox="1"/>
          <p:nvPr/>
        </p:nvSpPr>
        <p:spPr>
          <a:xfrm>
            <a:off x="628650" y="141367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just">
              <a:lnSpc>
                <a:spcPct val="100000"/>
              </a:lnSpc>
              <a:buFont typeface="Wingdings" panose="05000000000000000000" pitchFamily="2" charset="2"/>
              <a:buChar char="Ø"/>
            </a:pPr>
            <a:r>
              <a:rPr kumimoji="1" lang="zh-CN" altLang="en-US" sz="2000" dirty="0">
                <a:latin typeface="Times New Roman" panose="02020603050405020304" pitchFamily="18" charset="0"/>
                <a:ea typeface="KaiTi" panose="02010609060101010101" pitchFamily="49" charset="-122"/>
                <a:cs typeface="Times New Roman" panose="02020603050405020304" pitchFamily="18" charset="0"/>
              </a:rPr>
              <a:t>提出请求的用户被称为</a:t>
            </a:r>
            <a:r>
              <a:rPr kumimoji="1" lang="zh-CN" altLang="en-US" sz="20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主参与者（</a:t>
            </a:r>
            <a:r>
              <a:rPr kumimoji="1" lang="en-US" altLang="zh-CN" sz="20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Primary Actor</a:t>
            </a:r>
            <a:r>
              <a:rPr kumimoji="1" lang="zh-CN" altLang="en-US" sz="20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2000" dirty="0">
                <a:latin typeface="Times New Roman" panose="02020603050405020304" pitchFamily="18" charset="0"/>
                <a:ea typeface="KaiTi" panose="02010609060101010101" pitchFamily="49" charset="-122"/>
                <a:cs typeface="Times New Roman" panose="02020603050405020304" pitchFamily="18" charset="0"/>
              </a:rPr>
              <a:t>，他有一些需要在</a:t>
            </a:r>
            <a:r>
              <a:rPr kumimoji="1" lang="zh-CN" altLang="en-US" sz="20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系统</a:t>
            </a:r>
            <a:r>
              <a:rPr kumimoji="1" lang="zh-CN" altLang="en-US" sz="2000" dirty="0">
                <a:latin typeface="Times New Roman" panose="02020603050405020304" pitchFamily="18" charset="0"/>
                <a:ea typeface="KaiTi" panose="02010609060101010101" pitchFamily="49" charset="-122"/>
                <a:cs typeface="Times New Roman" panose="02020603050405020304" pitchFamily="18" charset="0"/>
              </a:rPr>
              <a:t>协助下才能得以实现的目标。在实现主参与者目标的过程当中，系统可能无法独自完成任务，它可能需要请求其他参与者或者其他系统的协助，那么这些被系统请求的外部对象就被称为</a:t>
            </a:r>
            <a:r>
              <a:rPr kumimoji="1" lang="zh-CN" altLang="en-US" sz="20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辅助参与者（</a:t>
            </a:r>
            <a:r>
              <a:rPr kumimoji="1" lang="en-US" altLang="zh-CN" sz="20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Secondary Actor</a:t>
            </a:r>
            <a:r>
              <a:rPr kumimoji="1" lang="zh-CN" altLang="en-US" sz="20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2000" dirty="0">
                <a:latin typeface="Times New Roman" panose="02020603050405020304" pitchFamily="18" charset="0"/>
                <a:ea typeface="KaiTi" panose="02010609060101010101" pitchFamily="49" charset="-122"/>
                <a:cs typeface="Times New Roman" panose="02020603050405020304" pitchFamily="18" charset="0"/>
              </a:rPr>
              <a:t>。系统本身也被看作是一个参与者，一个需要被实现的</a:t>
            </a:r>
            <a:r>
              <a:rPr kumimoji="1" lang="zh-CN" altLang="en-US" sz="20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系统参与者（</a:t>
            </a:r>
            <a:r>
              <a:rPr kumimoji="1" lang="en-US" altLang="zh-CN" sz="20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System Under Design</a:t>
            </a:r>
            <a:r>
              <a:rPr kumimoji="1" lang="zh-CN" altLang="en-US" sz="20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2000" dirty="0">
                <a:latin typeface="Times New Roman" panose="02020603050405020304" pitchFamily="18" charset="0"/>
                <a:ea typeface="KaiTi" panose="02010609060101010101" pitchFamily="49" charset="-122"/>
                <a:cs typeface="Times New Roman" panose="02020603050405020304" pitchFamily="18" charset="0"/>
              </a:rPr>
              <a:t>。 </a:t>
            </a:r>
          </a:p>
        </p:txBody>
      </p:sp>
      <p:sp>
        <p:nvSpPr>
          <p:cNvPr id="6" name="文本框 5"/>
          <p:cNvSpPr txBox="1"/>
          <p:nvPr/>
        </p:nvSpPr>
        <p:spPr>
          <a:xfrm>
            <a:off x="151596" y="16999"/>
            <a:ext cx="1851789" cy="400110"/>
          </a:xfrm>
          <a:prstGeom prst="rect">
            <a:avLst/>
          </a:prstGeom>
          <a:noFill/>
        </p:spPr>
        <p:txBody>
          <a:bodyPr wrap="none" rtlCol="0">
            <a:spAutoFit/>
          </a:bodyPr>
          <a:lstStyle/>
          <a:p>
            <a:r>
              <a:rPr kumimoji="1" lang="zh-CN" altLang="en-US" sz="2000" dirty="0">
                <a:solidFill>
                  <a:schemeClr val="bg1"/>
                </a:solidFill>
                <a:latin typeface="KaiTi" panose="02010609060101010101" pitchFamily="49" charset="-122"/>
                <a:ea typeface="KaiTi" panose="02010609060101010101" pitchFamily="49" charset="-122"/>
              </a:rPr>
              <a:t>用例</a:t>
            </a:r>
            <a:r>
              <a:rPr kumimoji="1" lang="en-US" altLang="zh-CN" sz="2000" dirty="0">
                <a:solidFill>
                  <a:schemeClr val="bg1"/>
                </a:solidFill>
                <a:latin typeface="KaiTi" panose="02010609060101010101" pitchFamily="49" charset="-122"/>
                <a:ea typeface="KaiTi" panose="02010609060101010101" pitchFamily="49" charset="-122"/>
              </a:rPr>
              <a:t>/</a:t>
            </a:r>
            <a:r>
              <a:rPr kumimoji="1" lang="zh-CN" altLang="en-US" sz="2000" dirty="0">
                <a:solidFill>
                  <a:schemeClr val="bg1"/>
                </a:solidFill>
                <a:latin typeface="KaiTi" panose="02010609060101010101" pitchFamily="49" charset="-122"/>
                <a:ea typeface="KaiTi" panose="02010609060101010101" pitchFamily="49" charset="-122"/>
              </a:rPr>
              <a:t>场景模型</a:t>
            </a:r>
            <a:endParaRPr kumimoji="1" lang="en-US" altLang="zh-CN" sz="2000" dirty="0">
              <a:solidFill>
                <a:schemeClr val="bg1"/>
              </a:solidFill>
              <a:latin typeface="KaiTi" panose="02010609060101010101" pitchFamily="49" charset="-122"/>
              <a:ea typeface="KaiTi" panose="02010609060101010101" pitchFamily="49" charset="-122"/>
            </a:endParaRPr>
          </a:p>
        </p:txBody>
      </p:sp>
      <p:pic>
        <p:nvPicPr>
          <p:cNvPr id="8" name="图片 7"/>
          <p:cNvPicPr>
            <a:picLocks noChangeAspect="1"/>
          </p:cNvPicPr>
          <p:nvPr/>
        </p:nvPicPr>
        <p:blipFill>
          <a:blip r:embed="rId2"/>
          <a:stretch>
            <a:fillRect/>
          </a:stretch>
        </p:blipFill>
        <p:spPr>
          <a:xfrm>
            <a:off x="1062519" y="3415527"/>
            <a:ext cx="7018961" cy="2761436"/>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1602328" y="3710518"/>
            <a:ext cx="5939344" cy="2628833"/>
          </a:xfrm>
          <a:prstGeom prst="rect">
            <a:avLst/>
          </a:prstGeom>
        </p:spPr>
      </p:pic>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理解用例相关概念</a:t>
            </a:r>
          </a:p>
        </p:txBody>
      </p:sp>
      <p:sp>
        <p:nvSpPr>
          <p:cNvPr id="3" name="内容占位符 2"/>
          <p:cNvSpPr txBox="1"/>
          <p:nvPr/>
        </p:nvSpPr>
        <p:spPr>
          <a:xfrm>
            <a:off x="628649" y="1413672"/>
            <a:ext cx="8096787"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just">
              <a:lnSpc>
                <a:spcPct val="100000"/>
              </a:lnSpc>
              <a:buFont typeface="Wingdings" panose="05000000000000000000" pitchFamily="2" charset="2"/>
              <a:buChar char="Ø"/>
            </a:pPr>
            <a:r>
              <a:rPr kumimoji="1" lang="zh-CN" altLang="en-US" sz="2000" dirty="0">
                <a:latin typeface="Times New Roman" panose="02020603050405020304" pitchFamily="18" charset="0"/>
                <a:ea typeface="KaiTi" panose="02010609060101010101" pitchFamily="49" charset="-122"/>
                <a:cs typeface="Times New Roman" panose="02020603050405020304" pitchFamily="18" charset="0"/>
              </a:rPr>
              <a:t>每一个参与者都有一些需要完成的</a:t>
            </a:r>
            <a:r>
              <a:rPr kumimoji="1" lang="zh-CN" altLang="en-US" sz="20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职责（</a:t>
            </a:r>
            <a:r>
              <a:rPr kumimoji="1" lang="en-US" altLang="zh-CN" sz="20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Responsibility</a:t>
            </a:r>
            <a:r>
              <a:rPr kumimoji="1" lang="zh-CN" altLang="en-US" sz="20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2000" dirty="0">
                <a:latin typeface="Times New Roman" panose="02020603050405020304" pitchFamily="18" charset="0"/>
                <a:ea typeface="KaiTi" panose="02010609060101010101" pitchFamily="49" charset="-122"/>
                <a:cs typeface="Times New Roman" panose="02020603050405020304" pitchFamily="18" charset="0"/>
              </a:rPr>
              <a:t>，表现为一系列需要达到的</a:t>
            </a:r>
            <a:r>
              <a:rPr kumimoji="1" lang="zh-CN" altLang="en-US" sz="20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目标（</a:t>
            </a:r>
            <a:r>
              <a:rPr kumimoji="1" lang="en-US" altLang="zh-CN" sz="20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Goal</a:t>
            </a:r>
            <a:r>
              <a:rPr kumimoji="1" lang="zh-CN" altLang="en-US" sz="20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2000" dirty="0">
                <a:latin typeface="Times New Roman" panose="02020603050405020304" pitchFamily="18" charset="0"/>
                <a:ea typeface="KaiTi" panose="02010609060101010101" pitchFamily="49" charset="-122"/>
                <a:cs typeface="Times New Roman" panose="02020603050405020304" pitchFamily="18" charset="0"/>
              </a:rPr>
              <a:t>。为了达到目标，参与者会执行一些</a:t>
            </a:r>
            <a:r>
              <a:rPr kumimoji="1" lang="zh-CN" altLang="en-US" sz="20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行为（</a:t>
            </a:r>
            <a:r>
              <a:rPr kumimoji="1" lang="en-US" altLang="zh-CN" sz="20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Action</a:t>
            </a:r>
            <a:r>
              <a:rPr kumimoji="1" lang="zh-CN" altLang="en-US" sz="20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2000" dirty="0">
                <a:latin typeface="Times New Roman" panose="02020603050405020304" pitchFamily="18" charset="0"/>
                <a:ea typeface="KaiTi" panose="02010609060101010101" pitchFamily="49" charset="-122"/>
                <a:cs typeface="Times New Roman" panose="02020603050405020304" pitchFamily="18" charset="0"/>
              </a:rPr>
              <a:t>。参与者执行的行为会触发自己与其他参与者之间的</a:t>
            </a:r>
            <a:r>
              <a:rPr kumimoji="1" lang="zh-CN" altLang="en-US" sz="20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交互（</a:t>
            </a:r>
            <a:r>
              <a:rPr kumimoji="1" lang="en-US" altLang="zh-CN" sz="20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Interaction</a:t>
            </a:r>
            <a:r>
              <a:rPr kumimoji="1" lang="zh-CN" altLang="en-US" sz="20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2000" dirty="0">
                <a:latin typeface="Times New Roman" panose="02020603050405020304" pitchFamily="18" charset="0"/>
                <a:ea typeface="KaiTi" panose="02010609060101010101" pitchFamily="49" charset="-122"/>
                <a:cs typeface="Times New Roman" panose="02020603050405020304" pitchFamily="18" charset="0"/>
              </a:rPr>
              <a:t>，在交互当中其他参与者履行自己的某些职责，满足发起行为的参与者的目标。在简单的情况下，参与者之间的交互仅仅是一次消息的传递。在复杂的情况下，参与者之间的交互是一系列消息的传递。 </a:t>
            </a:r>
            <a:endParaRPr kumimoji="1" lang="en-US" altLang="zh-CN" sz="2000"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6" name="文本框 5"/>
          <p:cNvSpPr txBox="1"/>
          <p:nvPr/>
        </p:nvSpPr>
        <p:spPr>
          <a:xfrm>
            <a:off x="151596" y="16999"/>
            <a:ext cx="1851789" cy="400110"/>
          </a:xfrm>
          <a:prstGeom prst="rect">
            <a:avLst/>
          </a:prstGeom>
          <a:noFill/>
        </p:spPr>
        <p:txBody>
          <a:bodyPr wrap="none" rtlCol="0">
            <a:spAutoFit/>
          </a:bodyPr>
          <a:lstStyle/>
          <a:p>
            <a:r>
              <a:rPr kumimoji="1" lang="zh-CN" altLang="en-US" sz="2000" dirty="0">
                <a:solidFill>
                  <a:schemeClr val="bg1"/>
                </a:solidFill>
                <a:latin typeface="KaiTi" panose="02010609060101010101" pitchFamily="49" charset="-122"/>
                <a:ea typeface="KaiTi" panose="02010609060101010101" pitchFamily="49" charset="-122"/>
              </a:rPr>
              <a:t>用例</a:t>
            </a:r>
            <a:r>
              <a:rPr kumimoji="1" lang="en-US" altLang="zh-CN" sz="2000" dirty="0">
                <a:solidFill>
                  <a:schemeClr val="bg1"/>
                </a:solidFill>
                <a:latin typeface="KaiTi" panose="02010609060101010101" pitchFamily="49" charset="-122"/>
                <a:ea typeface="KaiTi" panose="02010609060101010101" pitchFamily="49" charset="-122"/>
              </a:rPr>
              <a:t>/</a:t>
            </a:r>
            <a:r>
              <a:rPr kumimoji="1" lang="zh-CN" altLang="en-US" sz="2000" dirty="0">
                <a:solidFill>
                  <a:schemeClr val="bg1"/>
                </a:solidFill>
                <a:latin typeface="KaiTi" panose="02010609060101010101" pitchFamily="49" charset="-122"/>
                <a:ea typeface="KaiTi" panose="02010609060101010101" pitchFamily="49" charset="-122"/>
              </a:rPr>
              <a:t>场景模型</a:t>
            </a:r>
            <a:endParaRPr kumimoji="1" lang="en-US" altLang="zh-CN" sz="2000" dirty="0">
              <a:solidFill>
                <a:schemeClr val="bg1"/>
              </a:solidFill>
              <a:latin typeface="KaiTi" panose="02010609060101010101" pitchFamily="49" charset="-122"/>
              <a:ea typeface="KaiTi" panose="02010609060101010101" pitchFamily="49"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用例图</a:t>
            </a:r>
          </a:p>
        </p:txBody>
      </p:sp>
      <p:sp>
        <p:nvSpPr>
          <p:cNvPr id="3" name="内容占位符 2"/>
          <p:cNvSpPr txBox="1"/>
          <p:nvPr/>
        </p:nvSpPr>
        <p:spPr>
          <a:xfrm>
            <a:off x="628650" y="1413672"/>
            <a:ext cx="8000196"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just">
              <a:lnSpc>
                <a:spcPct val="100000"/>
              </a:lnSpc>
              <a:spcBef>
                <a:spcPts val="1800"/>
              </a:spcBef>
              <a:spcAft>
                <a:spcPts val="3000"/>
              </a:spcAft>
              <a:buFont typeface="Wingdings" panose="05000000000000000000" pitchFamily="2" charset="2"/>
              <a:buChar char="Ø"/>
            </a:pPr>
            <a:r>
              <a:rPr kumimoji="1" lang="zh-CN" altLang="en-US" sz="2400" dirty="0">
                <a:latin typeface="Times New Roman" panose="02020603050405020304" pitchFamily="18" charset="0"/>
                <a:ea typeface="KaiTi" panose="02010609060101010101" pitchFamily="49" charset="-122"/>
                <a:cs typeface="Times New Roman" panose="02020603050405020304" pitchFamily="18" charset="0"/>
              </a:rPr>
              <a:t>需求开发不仅需要描述单个用例的内容，还需要将多个用例联系起来，共同表达系统某一部分甚至整个系统的功能，这就是</a:t>
            </a:r>
            <a:r>
              <a:rPr kumimoji="1" lang="en-US" altLang="zh-CN" sz="2400" dirty="0">
                <a:latin typeface="Times New Roman" panose="02020603050405020304" pitchFamily="18" charset="0"/>
                <a:ea typeface="KaiTi" panose="02010609060101010101" pitchFamily="49" charset="-122"/>
                <a:cs typeface="Times New Roman" panose="02020603050405020304" pitchFamily="18" charset="0"/>
              </a:rPr>
              <a:t>UML</a:t>
            </a:r>
            <a:r>
              <a:rPr kumimoji="1" lang="zh-CN" altLang="en-US" sz="2400" dirty="0">
                <a:latin typeface="Times New Roman" panose="02020603050405020304" pitchFamily="18" charset="0"/>
                <a:ea typeface="KaiTi" panose="02010609060101010101" pitchFamily="49" charset="-122"/>
                <a:cs typeface="Times New Roman" panose="02020603050405020304" pitchFamily="18" charset="0"/>
              </a:rPr>
              <a:t>的</a:t>
            </a:r>
            <a:r>
              <a:rPr kumimoji="1" lang="zh-CN" altLang="en-US" sz="24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用例图</a:t>
            </a:r>
            <a:r>
              <a:rPr kumimoji="1" lang="zh-CN" altLang="en-US" sz="2400" dirty="0">
                <a:latin typeface="Times New Roman" panose="02020603050405020304" pitchFamily="18" charset="0"/>
                <a:ea typeface="KaiTi" panose="02010609060101010101" pitchFamily="49" charset="-122"/>
                <a:cs typeface="Times New Roman" panose="02020603050405020304" pitchFamily="18" charset="0"/>
              </a:rPr>
              <a:t>。</a:t>
            </a:r>
            <a:endParaRPr kumimoji="1" lang="en-US" altLang="zh-CN" sz="2400" dirty="0">
              <a:latin typeface="Times New Roman" panose="02020603050405020304" pitchFamily="18" charset="0"/>
              <a:ea typeface="KaiTi" panose="02010609060101010101" pitchFamily="49" charset="-122"/>
              <a:cs typeface="Times New Roman" panose="02020603050405020304" pitchFamily="18" charset="0"/>
            </a:endParaRPr>
          </a:p>
          <a:p>
            <a:pPr algn="just">
              <a:lnSpc>
                <a:spcPct val="100000"/>
              </a:lnSpc>
              <a:spcBef>
                <a:spcPts val="1800"/>
              </a:spcBef>
              <a:spcAft>
                <a:spcPts val="3000"/>
              </a:spcAft>
              <a:buFont typeface="Wingdings" panose="05000000000000000000" pitchFamily="2" charset="2"/>
              <a:buChar char="Ø"/>
            </a:pPr>
            <a:r>
              <a:rPr kumimoji="1" lang="zh-CN" altLang="en-US" sz="2400" dirty="0">
                <a:latin typeface="Times New Roman" panose="02020603050405020304" pitchFamily="18" charset="0"/>
                <a:ea typeface="KaiTi" panose="02010609060101010101" pitchFamily="49" charset="-122"/>
                <a:cs typeface="Times New Roman" panose="02020603050405020304" pitchFamily="18" charset="0"/>
              </a:rPr>
              <a:t>用例图的四个要素：参与者、用例、关系、系统边界。</a:t>
            </a:r>
            <a:endParaRPr kumimoji="1" lang="en-US" altLang="zh-CN" sz="2400" dirty="0">
              <a:latin typeface="Times New Roman" panose="02020603050405020304" pitchFamily="18" charset="0"/>
              <a:ea typeface="KaiTi" panose="02010609060101010101" pitchFamily="49" charset="-122"/>
              <a:cs typeface="Times New Roman" panose="02020603050405020304" pitchFamily="18" charset="0"/>
            </a:endParaRPr>
          </a:p>
          <a:p>
            <a:pPr algn="just">
              <a:lnSpc>
                <a:spcPct val="100000"/>
              </a:lnSpc>
              <a:spcBef>
                <a:spcPts val="1800"/>
              </a:spcBef>
              <a:buFont typeface="Wingdings" panose="05000000000000000000" pitchFamily="2" charset="2"/>
              <a:buChar char="Ø"/>
            </a:pPr>
            <a:r>
              <a:rPr kumimoji="1" lang="zh-CN" altLang="en-US" sz="2400" dirty="0">
                <a:latin typeface="Times New Roman" panose="02020603050405020304" pitchFamily="18" charset="0"/>
                <a:ea typeface="KaiTi" panose="02010609060101010101" pitchFamily="49" charset="-122"/>
                <a:cs typeface="Times New Roman" panose="02020603050405020304" pitchFamily="18" charset="0"/>
              </a:rPr>
              <a:t>区分用例和用例图：</a:t>
            </a:r>
            <a:endParaRPr kumimoji="1" lang="en-US" altLang="zh-CN" sz="2400" dirty="0">
              <a:latin typeface="Times New Roman" panose="02020603050405020304" pitchFamily="18" charset="0"/>
              <a:ea typeface="KaiTi" panose="02010609060101010101" pitchFamily="49" charset="-122"/>
              <a:cs typeface="Times New Roman" panose="02020603050405020304" pitchFamily="18" charset="0"/>
            </a:endParaRPr>
          </a:p>
          <a:p>
            <a:pPr lvl="1" algn="just">
              <a:lnSpc>
                <a:spcPct val="100000"/>
              </a:lnSpc>
              <a:spcBef>
                <a:spcPts val="1200"/>
              </a:spcBef>
              <a:spcAft>
                <a:spcPts val="600"/>
              </a:spcAft>
              <a:buFont typeface="Arial" panose="020B0604020202020204" pitchFamily="34" charset="0"/>
              <a:buChar char="•"/>
            </a:pPr>
            <a:r>
              <a:rPr kumimoji="1" lang="zh-CN" altLang="en-US" sz="2000" dirty="0">
                <a:latin typeface="Times New Roman" panose="02020603050405020304" pitchFamily="18" charset="0"/>
                <a:ea typeface="KaiTi" panose="02010609060101010101" pitchFamily="49" charset="-122"/>
                <a:cs typeface="Times New Roman" panose="02020603050405020304" pitchFamily="18" charset="0"/>
              </a:rPr>
              <a:t>用例是一种文本方式的需求描述手段，目的是描述业务的细节。</a:t>
            </a:r>
            <a:endParaRPr kumimoji="1" lang="en-US" altLang="zh-CN" sz="2000" dirty="0">
              <a:latin typeface="Times New Roman" panose="02020603050405020304" pitchFamily="18" charset="0"/>
              <a:ea typeface="KaiTi" panose="02010609060101010101" pitchFamily="49" charset="-122"/>
              <a:cs typeface="Times New Roman" panose="02020603050405020304" pitchFamily="18" charset="0"/>
            </a:endParaRPr>
          </a:p>
          <a:p>
            <a:pPr lvl="1" algn="just">
              <a:lnSpc>
                <a:spcPct val="100000"/>
              </a:lnSpc>
              <a:spcBef>
                <a:spcPts val="1200"/>
              </a:spcBef>
              <a:spcAft>
                <a:spcPts val="600"/>
              </a:spcAft>
              <a:buFont typeface="Arial" panose="020B0604020202020204" pitchFamily="34" charset="0"/>
              <a:buChar char="•"/>
            </a:pPr>
            <a:r>
              <a:rPr kumimoji="1" lang="zh-CN" altLang="en-US" sz="2000" dirty="0">
                <a:latin typeface="Times New Roman" panose="02020603050405020304" pitchFamily="18" charset="0"/>
                <a:ea typeface="KaiTi" panose="02010609060101010101" pitchFamily="49" charset="-122"/>
                <a:cs typeface="Times New Roman" panose="02020603050405020304" pitchFamily="18" charset="0"/>
              </a:rPr>
              <a:t>用例图是将获取得到的用例进行集中展示的图形表示法，目的是以用例为单位将系统的</a:t>
            </a:r>
            <a:r>
              <a:rPr kumimoji="1" lang="zh-CN" altLang="en-US" sz="20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功能和行为</a:t>
            </a:r>
            <a:r>
              <a:rPr kumimoji="1" lang="zh-CN" altLang="en-US" sz="2000" dirty="0">
                <a:latin typeface="Times New Roman" panose="02020603050405020304" pitchFamily="18" charset="0"/>
                <a:ea typeface="KaiTi" panose="02010609060101010101" pitchFamily="49" charset="-122"/>
                <a:cs typeface="Times New Roman" panose="02020603050405020304" pitchFamily="18" charset="0"/>
              </a:rPr>
              <a:t>展示出来。</a:t>
            </a:r>
            <a:endParaRPr kumimoji="1" lang="en-US" altLang="zh-CN" sz="2000"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6" name="文本框 5"/>
          <p:cNvSpPr txBox="1"/>
          <p:nvPr/>
        </p:nvSpPr>
        <p:spPr>
          <a:xfrm>
            <a:off x="151596" y="16999"/>
            <a:ext cx="1851789" cy="400110"/>
          </a:xfrm>
          <a:prstGeom prst="rect">
            <a:avLst/>
          </a:prstGeom>
          <a:noFill/>
        </p:spPr>
        <p:txBody>
          <a:bodyPr wrap="none" rtlCol="0">
            <a:spAutoFit/>
          </a:bodyPr>
          <a:lstStyle/>
          <a:p>
            <a:r>
              <a:rPr kumimoji="1" lang="zh-CN" altLang="en-US" sz="2000" dirty="0">
                <a:solidFill>
                  <a:schemeClr val="bg1"/>
                </a:solidFill>
                <a:latin typeface="KaiTi" panose="02010609060101010101" pitchFamily="49" charset="-122"/>
                <a:ea typeface="KaiTi" panose="02010609060101010101" pitchFamily="49" charset="-122"/>
              </a:rPr>
              <a:t>用例</a:t>
            </a:r>
            <a:r>
              <a:rPr kumimoji="1" lang="en-US" altLang="zh-CN" sz="2000" dirty="0">
                <a:solidFill>
                  <a:schemeClr val="bg1"/>
                </a:solidFill>
                <a:latin typeface="KaiTi" panose="02010609060101010101" pitchFamily="49" charset="-122"/>
                <a:ea typeface="KaiTi" panose="02010609060101010101" pitchFamily="49" charset="-122"/>
              </a:rPr>
              <a:t>/</a:t>
            </a:r>
            <a:r>
              <a:rPr kumimoji="1" lang="zh-CN" altLang="en-US" sz="2000" dirty="0">
                <a:solidFill>
                  <a:schemeClr val="bg1"/>
                </a:solidFill>
                <a:latin typeface="KaiTi" panose="02010609060101010101" pitchFamily="49" charset="-122"/>
                <a:ea typeface="KaiTi" panose="02010609060101010101" pitchFamily="49" charset="-122"/>
              </a:rPr>
              <a:t>场景模型</a:t>
            </a:r>
            <a:endParaRPr kumimoji="1" lang="en-US" altLang="zh-CN" sz="2000" dirty="0">
              <a:solidFill>
                <a:schemeClr val="bg1"/>
              </a:solidFill>
              <a:latin typeface="KaiTi" panose="02010609060101010101" pitchFamily="49" charset="-122"/>
              <a:ea typeface="KaiTi" panose="02010609060101010101" pitchFamily="49"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用例图</a:t>
            </a:r>
          </a:p>
        </p:txBody>
      </p:sp>
      <p:sp>
        <p:nvSpPr>
          <p:cNvPr id="3" name="内容占位符 2"/>
          <p:cNvSpPr txBox="1"/>
          <p:nvPr/>
        </p:nvSpPr>
        <p:spPr>
          <a:xfrm>
            <a:off x="628649" y="1413672"/>
            <a:ext cx="8096787"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just">
              <a:spcBef>
                <a:spcPts val="1800"/>
              </a:spcBef>
              <a:buFont typeface="Wingdings" panose="05000000000000000000" pitchFamily="2" charset="2"/>
              <a:buChar char="Ø"/>
            </a:pPr>
            <a:r>
              <a:rPr kumimoji="1" lang="zh-CN" altLang="en-US" sz="2400" dirty="0">
                <a:latin typeface="Times New Roman" panose="02020603050405020304" pitchFamily="18" charset="0"/>
                <a:ea typeface="KaiTi" panose="02010609060101010101" pitchFamily="49" charset="-122"/>
                <a:cs typeface="Times New Roman" panose="02020603050405020304" pitchFamily="18" charset="0"/>
              </a:rPr>
              <a:t>用例图的机制</a:t>
            </a:r>
            <a:r>
              <a:rPr kumimoji="1" lang="en-US" altLang="zh-CN" sz="2400" dirty="0">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24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包含（</a:t>
            </a:r>
            <a:r>
              <a:rPr kumimoji="1" lang="en-US" altLang="zh-CN" sz="24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Include</a:t>
            </a:r>
            <a:r>
              <a:rPr kumimoji="1" lang="zh-CN" altLang="en-US" sz="24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a:t>
            </a:r>
            <a:endParaRPr kumimoji="1" lang="en-US" altLang="zh-CN" sz="24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endParaRPr>
          </a:p>
          <a:p>
            <a:pPr lvl="1" algn="just">
              <a:lnSpc>
                <a:spcPct val="100000"/>
              </a:lnSpc>
              <a:spcBef>
                <a:spcPts val="600"/>
              </a:spcBef>
              <a:buFont typeface="Arial" panose="020B0604020202090204" pitchFamily="34" charset="0"/>
              <a:buChar char="•"/>
            </a:pPr>
            <a:r>
              <a:rPr kumimoji="1" lang="zh-CN" altLang="en-US" sz="2000" dirty="0">
                <a:latin typeface="Times New Roman" panose="02020603050405020304" pitchFamily="18" charset="0"/>
                <a:ea typeface="KaiTi" panose="02010609060101010101" pitchFamily="49" charset="-122"/>
                <a:cs typeface="Times New Roman" panose="02020603050405020304" pitchFamily="18" charset="0"/>
              </a:rPr>
              <a:t>在多个用例当中常常会发生同样的行为，这些行为跨越了多个用例。将这些共同部分抽取出来，形成一个</a:t>
            </a:r>
            <a:r>
              <a:rPr kumimoji="1" lang="zh-CN" altLang="en-US" sz="20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抽象用例（</a:t>
            </a:r>
            <a:r>
              <a:rPr kumimoji="1" lang="en-US" altLang="zh-CN" sz="20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Abstract Use Case</a:t>
            </a:r>
            <a:r>
              <a:rPr kumimoji="1" lang="zh-CN" altLang="en-US" sz="20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2000" dirty="0">
                <a:latin typeface="Times New Roman" panose="02020603050405020304" pitchFamily="18" charset="0"/>
                <a:ea typeface="KaiTi" panose="02010609060101010101" pitchFamily="49" charset="-122"/>
                <a:cs typeface="Times New Roman" panose="02020603050405020304" pitchFamily="18" charset="0"/>
              </a:rPr>
              <a:t>，减少用例描述的冗余。</a:t>
            </a:r>
            <a:endParaRPr kumimoji="1" lang="en-US" altLang="zh-CN" sz="2000" dirty="0">
              <a:latin typeface="Times New Roman" panose="02020603050405020304" pitchFamily="18" charset="0"/>
              <a:ea typeface="KaiTi" panose="02010609060101010101" pitchFamily="49" charset="-122"/>
              <a:cs typeface="Times New Roman" panose="02020603050405020304" pitchFamily="18" charset="0"/>
            </a:endParaRPr>
          </a:p>
          <a:p>
            <a:pPr lvl="1" algn="just">
              <a:lnSpc>
                <a:spcPct val="100000"/>
              </a:lnSpc>
              <a:spcBef>
                <a:spcPts val="600"/>
              </a:spcBef>
              <a:buFont typeface="Arial" panose="020B0604020202090204" pitchFamily="34" charset="0"/>
              <a:buChar char="•"/>
            </a:pPr>
            <a:r>
              <a:rPr kumimoji="1" lang="zh-CN" altLang="en-US" sz="2000" dirty="0">
                <a:latin typeface="Times New Roman" panose="02020603050405020304" pitchFamily="18" charset="0"/>
                <a:ea typeface="KaiTi" panose="02010609060101010101" pitchFamily="49" charset="-122"/>
                <a:cs typeface="Times New Roman" panose="02020603050405020304" pitchFamily="18" charset="0"/>
              </a:rPr>
              <a:t>原有用例和新建立的抽象用例的关系即为</a:t>
            </a:r>
            <a:r>
              <a:rPr kumimoji="1" lang="zh-CN" altLang="en-US" sz="20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包含</a:t>
            </a:r>
            <a:r>
              <a:rPr kumimoji="1" lang="zh-CN" altLang="en-US" sz="2000" dirty="0">
                <a:latin typeface="Times New Roman" panose="02020603050405020304" pitchFamily="18" charset="0"/>
                <a:ea typeface="KaiTi" panose="02010609060101010101" pitchFamily="49" charset="-122"/>
                <a:cs typeface="Times New Roman" panose="02020603050405020304" pitchFamily="18" charset="0"/>
              </a:rPr>
              <a:t>关系。</a:t>
            </a:r>
            <a:endParaRPr kumimoji="1" lang="en-US" altLang="zh-CN" sz="2000" dirty="0">
              <a:latin typeface="Times New Roman" panose="02020603050405020304" pitchFamily="18" charset="0"/>
              <a:ea typeface="KaiTi" panose="02010609060101010101" pitchFamily="49" charset="-122"/>
              <a:cs typeface="Times New Roman" panose="02020603050405020304" pitchFamily="18" charset="0"/>
            </a:endParaRPr>
          </a:p>
          <a:p>
            <a:pPr lvl="1" algn="just">
              <a:lnSpc>
                <a:spcPct val="100000"/>
              </a:lnSpc>
              <a:spcBef>
                <a:spcPts val="600"/>
              </a:spcBef>
              <a:buFont typeface="Arial" panose="020B0604020202090204" pitchFamily="34" charset="0"/>
              <a:buChar char="•"/>
            </a:pPr>
            <a:r>
              <a:rPr kumimoji="1" lang="zh-CN" altLang="en-US" sz="2000" dirty="0">
                <a:latin typeface="Times New Roman" panose="02020603050405020304" pitchFamily="18" charset="0"/>
                <a:ea typeface="KaiTi" panose="02010609060101010101" pitchFamily="49" charset="-122"/>
                <a:cs typeface="Times New Roman" panose="02020603050405020304" pitchFamily="18" charset="0"/>
              </a:rPr>
              <a:t>抽象用例是不能被实例化的，它必须被包含在其他用例中才能得以执行。</a:t>
            </a:r>
            <a:endParaRPr kumimoji="1" lang="en-US" altLang="zh-CN" sz="2000"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6" name="文本框 5"/>
          <p:cNvSpPr txBox="1"/>
          <p:nvPr/>
        </p:nvSpPr>
        <p:spPr>
          <a:xfrm>
            <a:off x="151596" y="16999"/>
            <a:ext cx="1851789" cy="400110"/>
          </a:xfrm>
          <a:prstGeom prst="rect">
            <a:avLst/>
          </a:prstGeom>
          <a:noFill/>
        </p:spPr>
        <p:txBody>
          <a:bodyPr wrap="none" rtlCol="0">
            <a:spAutoFit/>
          </a:bodyPr>
          <a:lstStyle/>
          <a:p>
            <a:r>
              <a:rPr kumimoji="1" lang="zh-CN" altLang="en-US" sz="2000" dirty="0">
                <a:solidFill>
                  <a:schemeClr val="bg1"/>
                </a:solidFill>
                <a:latin typeface="KaiTi" panose="02010609060101010101" pitchFamily="49" charset="-122"/>
                <a:ea typeface="KaiTi" panose="02010609060101010101" pitchFamily="49" charset="-122"/>
              </a:rPr>
              <a:t>用例</a:t>
            </a:r>
            <a:r>
              <a:rPr kumimoji="1" lang="en-US" altLang="zh-CN" sz="2000" dirty="0">
                <a:solidFill>
                  <a:schemeClr val="bg1"/>
                </a:solidFill>
                <a:latin typeface="KaiTi" panose="02010609060101010101" pitchFamily="49" charset="-122"/>
                <a:ea typeface="KaiTi" panose="02010609060101010101" pitchFamily="49" charset="-122"/>
              </a:rPr>
              <a:t>/</a:t>
            </a:r>
            <a:r>
              <a:rPr kumimoji="1" lang="zh-CN" altLang="en-US" sz="2000" dirty="0">
                <a:solidFill>
                  <a:schemeClr val="bg1"/>
                </a:solidFill>
                <a:latin typeface="KaiTi" panose="02010609060101010101" pitchFamily="49" charset="-122"/>
                <a:ea typeface="KaiTi" panose="02010609060101010101" pitchFamily="49" charset="-122"/>
              </a:rPr>
              <a:t>场景模型</a:t>
            </a:r>
            <a:endParaRPr kumimoji="1" lang="en-US" altLang="zh-CN" sz="2000" dirty="0">
              <a:solidFill>
                <a:schemeClr val="bg1"/>
              </a:solidFill>
              <a:latin typeface="KaiTi" panose="02010609060101010101" pitchFamily="49" charset="-122"/>
              <a:ea typeface="KaiTi" panose="02010609060101010101" pitchFamily="49" charset="-122"/>
            </a:endParaRPr>
          </a:p>
        </p:txBody>
      </p:sp>
      <p:sp>
        <p:nvSpPr>
          <p:cNvPr id="4" name="圆角矩形 13"/>
          <p:cNvSpPr/>
          <p:nvPr>
            <p:custDataLst>
              <p:tags r:id="rId1"/>
            </p:custDataLst>
          </p:nvPr>
        </p:nvSpPr>
        <p:spPr>
          <a:xfrm>
            <a:off x="944871" y="4037938"/>
            <a:ext cx="3208566" cy="1899223"/>
          </a:xfrm>
          <a:prstGeom prst="roundRect">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框 4"/>
          <p:cNvSpPr txBox="1"/>
          <p:nvPr/>
        </p:nvSpPr>
        <p:spPr>
          <a:xfrm>
            <a:off x="991163" y="4121808"/>
            <a:ext cx="3208566" cy="1754326"/>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cs typeface="楷体" panose="02010609060101010101" pitchFamily="49" charset="-122"/>
              </a:rPr>
              <a:t>在金蝶为汇文书刊定制的系统中，线上购书和线下购书时都需要更新库存，因此就可以从“线上购书”和“线下购书”两个用例中抽取出附加用例“更新库存”</a:t>
            </a:r>
            <a:endParaRPr lang="en-US" altLang="zh-CN" dirty="0">
              <a:latin typeface="楷体" panose="02010609060101010101" pitchFamily="49" charset="-122"/>
              <a:ea typeface="楷体" panose="02010609060101010101" pitchFamily="49" charset="-122"/>
              <a:cs typeface="楷体" panose="02010609060101010101" pitchFamily="49" charset="-122"/>
            </a:endParaRPr>
          </a:p>
        </p:txBody>
      </p:sp>
      <p:pic>
        <p:nvPicPr>
          <p:cNvPr id="13" name="图片 12"/>
          <p:cNvPicPr>
            <a:picLocks noChangeAspect="1"/>
          </p:cNvPicPr>
          <p:nvPr/>
        </p:nvPicPr>
        <p:blipFill>
          <a:blip r:embed="rId4"/>
          <a:stretch>
            <a:fillRect/>
          </a:stretch>
        </p:blipFill>
        <p:spPr>
          <a:xfrm>
            <a:off x="4469659" y="4037938"/>
            <a:ext cx="4340180" cy="1897508"/>
          </a:xfrm>
          <a:prstGeom prst="rect">
            <a:avLst/>
          </a:prstGeom>
        </p:spPr>
      </p:pic>
      <p:pic>
        <p:nvPicPr>
          <p:cNvPr id="7" name="图片 6">
            <a:hlinkClick r:id="rId5" action="ppaction://hlinkfile"/>
          </p:cNvPr>
          <p:cNvPicPr>
            <a:picLocks noChangeAspect="1"/>
          </p:cNvPicPr>
          <p:nvPr>
            <p:custDataLst>
              <p:tags r:id="rId2"/>
            </p:custDataLst>
          </p:nvPr>
        </p:nvPicPr>
        <p:blipFill>
          <a:blip r:embed="rId6"/>
          <a:stretch>
            <a:fillRect/>
          </a:stretch>
        </p:blipFill>
        <p:spPr>
          <a:xfrm>
            <a:off x="7475076" y="561078"/>
            <a:ext cx="1215822" cy="65623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用例图</a:t>
            </a:r>
          </a:p>
        </p:txBody>
      </p:sp>
      <p:sp>
        <p:nvSpPr>
          <p:cNvPr id="3" name="内容占位符 2"/>
          <p:cNvSpPr txBox="1"/>
          <p:nvPr/>
        </p:nvSpPr>
        <p:spPr>
          <a:xfrm>
            <a:off x="628649" y="1413672"/>
            <a:ext cx="8096787"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just">
              <a:spcBef>
                <a:spcPts val="1800"/>
              </a:spcBef>
              <a:buFont typeface="Wingdings" panose="05000000000000000000" pitchFamily="2" charset="2"/>
              <a:buChar char="Ø"/>
            </a:pPr>
            <a:r>
              <a:rPr kumimoji="1" lang="zh-CN" altLang="en-US" sz="2400" dirty="0">
                <a:latin typeface="Times New Roman" panose="02020603050405020304" pitchFamily="18" charset="0"/>
                <a:ea typeface="KaiTi" panose="02010609060101010101" pitchFamily="49" charset="-122"/>
                <a:cs typeface="Times New Roman" panose="02020603050405020304" pitchFamily="18" charset="0"/>
              </a:rPr>
              <a:t>用例图的机制</a:t>
            </a:r>
            <a:r>
              <a:rPr kumimoji="1" lang="en-US" altLang="zh-CN" sz="2400" dirty="0">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24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扩展（</a:t>
            </a:r>
            <a:r>
              <a:rPr kumimoji="1" lang="en-US" altLang="zh-CN" sz="24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Extend</a:t>
            </a:r>
            <a:r>
              <a:rPr kumimoji="1" lang="zh-CN" altLang="en-US" sz="24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a:t>
            </a:r>
            <a:endParaRPr kumimoji="1" lang="en-US" altLang="zh-CN" sz="24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endParaRPr>
          </a:p>
          <a:p>
            <a:pPr lvl="1">
              <a:lnSpc>
                <a:spcPct val="110000"/>
              </a:lnSpc>
              <a:spcBef>
                <a:spcPts val="600"/>
              </a:spcBef>
              <a:spcAft>
                <a:spcPts val="1200"/>
              </a:spcAft>
              <a:buFont typeface="Arial" panose="020B0604020202090204" pitchFamily="34" charset="0"/>
              <a:buChar char="•"/>
            </a:pPr>
            <a:r>
              <a:rPr kumimoji="1" lang="zh-CN" altLang="en-US" sz="2000" dirty="0">
                <a:latin typeface="Times New Roman" panose="02020603050405020304" pitchFamily="18" charset="0"/>
                <a:ea typeface="KaiTi" panose="02010609060101010101" pitchFamily="49" charset="-122"/>
                <a:cs typeface="Times New Roman" panose="02020603050405020304" pitchFamily="18" charset="0"/>
              </a:rPr>
              <a:t>在需求开发当中，经常会需要扩充原有的用例文本描述，增加新的异常处理流程和场景。但在有些情况下原有的用例文本不能被直接修改。这时，可以建立一个新需求的</a:t>
            </a:r>
            <a:r>
              <a:rPr kumimoji="1" lang="zh-CN" altLang="en-US" sz="20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附加用例（</a:t>
            </a:r>
            <a:r>
              <a:rPr kumimoji="1" lang="en-US" altLang="zh-CN" sz="20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Additional Use Case</a:t>
            </a:r>
            <a:r>
              <a:rPr kumimoji="1" lang="zh-CN" altLang="en-US" sz="20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2000" dirty="0">
                <a:latin typeface="Times New Roman" panose="02020603050405020304" pitchFamily="18" charset="0"/>
                <a:ea typeface="KaiTi" panose="02010609060101010101" pitchFamily="49" charset="-122"/>
                <a:cs typeface="Times New Roman" panose="02020603050405020304" pitchFamily="18" charset="0"/>
              </a:rPr>
              <a:t>，扩展原有用例。</a:t>
            </a:r>
            <a:endParaRPr kumimoji="1" lang="en-US" altLang="zh-CN" sz="2000" dirty="0">
              <a:latin typeface="Times New Roman" panose="02020603050405020304" pitchFamily="18" charset="0"/>
              <a:ea typeface="KaiTi" panose="02010609060101010101" pitchFamily="49" charset="-122"/>
              <a:cs typeface="Times New Roman" panose="02020603050405020304" pitchFamily="18" charset="0"/>
            </a:endParaRPr>
          </a:p>
          <a:p>
            <a:pPr lvl="1">
              <a:lnSpc>
                <a:spcPct val="110000"/>
              </a:lnSpc>
              <a:spcBef>
                <a:spcPts val="600"/>
              </a:spcBef>
              <a:spcAft>
                <a:spcPts val="1200"/>
              </a:spcAft>
              <a:buFont typeface="Arial" panose="020B0604020202090204" pitchFamily="34" charset="0"/>
              <a:buChar char="•"/>
            </a:pPr>
            <a:r>
              <a:rPr kumimoji="1" lang="zh-CN" altLang="en-US" sz="2000" dirty="0">
                <a:latin typeface="Times New Roman" panose="02020603050405020304" pitchFamily="18" charset="0"/>
                <a:ea typeface="KaiTi" panose="02010609060101010101" pitchFamily="49" charset="-122"/>
                <a:cs typeface="Times New Roman" panose="02020603050405020304" pitchFamily="18" charset="0"/>
              </a:rPr>
              <a:t>新的附加用例会描述对新需求的处理流程，并定义新的处理流程在原有用例流程中的扩展点和触发条件。在执行新的附加用例时，新的附加用例会首先执行原有用例的流程，而且可能会按照原有用例的流程执行整个过程。只有在到达新流程在原有用例流程中的扩展点并且条件满足触发条件时，才可能执行附加用例的新流程。</a:t>
            </a:r>
            <a:endParaRPr kumimoji="1" lang="en-US" altLang="zh-CN" sz="2000"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6" name="文本框 5"/>
          <p:cNvSpPr txBox="1"/>
          <p:nvPr/>
        </p:nvSpPr>
        <p:spPr>
          <a:xfrm>
            <a:off x="151596" y="16999"/>
            <a:ext cx="1851789" cy="400110"/>
          </a:xfrm>
          <a:prstGeom prst="rect">
            <a:avLst/>
          </a:prstGeom>
          <a:noFill/>
        </p:spPr>
        <p:txBody>
          <a:bodyPr wrap="none" rtlCol="0">
            <a:spAutoFit/>
          </a:bodyPr>
          <a:lstStyle/>
          <a:p>
            <a:r>
              <a:rPr kumimoji="1" lang="zh-CN" altLang="en-US" sz="2000" dirty="0">
                <a:solidFill>
                  <a:schemeClr val="bg1"/>
                </a:solidFill>
                <a:latin typeface="KaiTi" panose="02010609060101010101" pitchFamily="49" charset="-122"/>
                <a:ea typeface="KaiTi" panose="02010609060101010101" pitchFamily="49" charset="-122"/>
              </a:rPr>
              <a:t>用例</a:t>
            </a:r>
            <a:r>
              <a:rPr kumimoji="1" lang="en-US" altLang="zh-CN" sz="2000" dirty="0">
                <a:solidFill>
                  <a:schemeClr val="bg1"/>
                </a:solidFill>
                <a:latin typeface="KaiTi" panose="02010609060101010101" pitchFamily="49" charset="-122"/>
                <a:ea typeface="KaiTi" panose="02010609060101010101" pitchFamily="49" charset="-122"/>
              </a:rPr>
              <a:t>/</a:t>
            </a:r>
            <a:r>
              <a:rPr kumimoji="1" lang="zh-CN" altLang="en-US" sz="2000" dirty="0">
                <a:solidFill>
                  <a:schemeClr val="bg1"/>
                </a:solidFill>
                <a:latin typeface="KaiTi" panose="02010609060101010101" pitchFamily="49" charset="-122"/>
                <a:ea typeface="KaiTi" panose="02010609060101010101" pitchFamily="49" charset="-122"/>
              </a:rPr>
              <a:t>场景模型</a:t>
            </a:r>
            <a:endParaRPr kumimoji="1" lang="en-US" altLang="zh-CN" sz="2000" dirty="0">
              <a:solidFill>
                <a:schemeClr val="bg1"/>
              </a:solidFill>
              <a:latin typeface="KaiTi" panose="02010609060101010101" pitchFamily="49" charset="-122"/>
              <a:ea typeface="KaiTi"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4"/>
          <a:stretch>
            <a:fillRect/>
          </a:stretch>
        </p:blipFill>
        <p:spPr>
          <a:xfrm>
            <a:off x="1763674" y="3429000"/>
            <a:ext cx="5616652" cy="2974251"/>
          </a:xfrm>
          <a:prstGeom prst="rect">
            <a:avLst/>
          </a:prstGeom>
        </p:spPr>
      </p:pic>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用例图</a:t>
            </a:r>
          </a:p>
        </p:txBody>
      </p:sp>
      <p:sp>
        <p:nvSpPr>
          <p:cNvPr id="3" name="内容占位符 2"/>
          <p:cNvSpPr txBox="1"/>
          <p:nvPr/>
        </p:nvSpPr>
        <p:spPr>
          <a:xfrm>
            <a:off x="628649" y="1413672"/>
            <a:ext cx="8096787"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just">
              <a:spcBef>
                <a:spcPts val="1800"/>
              </a:spcBef>
              <a:buFont typeface="Wingdings" panose="05000000000000000000" pitchFamily="2" charset="2"/>
              <a:buChar char="Ø"/>
            </a:pPr>
            <a:r>
              <a:rPr kumimoji="1" lang="zh-CN" altLang="en-US" sz="2400" dirty="0">
                <a:latin typeface="Times New Roman" panose="02020603050405020304" pitchFamily="18" charset="0"/>
                <a:ea typeface="KaiTi" panose="02010609060101010101" pitchFamily="49" charset="-122"/>
                <a:cs typeface="Times New Roman" panose="02020603050405020304" pitchFamily="18" charset="0"/>
              </a:rPr>
              <a:t>用例图的机制</a:t>
            </a:r>
            <a:r>
              <a:rPr kumimoji="1" lang="en-US" altLang="zh-CN" sz="2400" dirty="0">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24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扩展（</a:t>
            </a:r>
            <a:r>
              <a:rPr kumimoji="1" lang="en-US" altLang="zh-CN" sz="24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Extend</a:t>
            </a:r>
            <a:r>
              <a:rPr kumimoji="1" lang="zh-CN" altLang="en-US" sz="24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a:t>
            </a:r>
            <a:endParaRPr kumimoji="1" lang="en-US" altLang="zh-CN" sz="24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endParaRPr>
          </a:p>
        </p:txBody>
      </p:sp>
      <p:sp>
        <p:nvSpPr>
          <p:cNvPr id="6" name="文本框 5"/>
          <p:cNvSpPr txBox="1"/>
          <p:nvPr/>
        </p:nvSpPr>
        <p:spPr>
          <a:xfrm>
            <a:off x="151596" y="16999"/>
            <a:ext cx="1851789" cy="400110"/>
          </a:xfrm>
          <a:prstGeom prst="rect">
            <a:avLst/>
          </a:prstGeom>
          <a:noFill/>
        </p:spPr>
        <p:txBody>
          <a:bodyPr wrap="none" rtlCol="0">
            <a:spAutoFit/>
          </a:bodyPr>
          <a:lstStyle/>
          <a:p>
            <a:r>
              <a:rPr kumimoji="1" lang="zh-CN" altLang="en-US" sz="2000" dirty="0">
                <a:solidFill>
                  <a:schemeClr val="bg1"/>
                </a:solidFill>
                <a:latin typeface="KaiTi" panose="02010609060101010101" pitchFamily="49" charset="-122"/>
                <a:ea typeface="KaiTi" panose="02010609060101010101" pitchFamily="49" charset="-122"/>
              </a:rPr>
              <a:t>用例</a:t>
            </a:r>
            <a:r>
              <a:rPr kumimoji="1" lang="en-US" altLang="zh-CN" sz="2000" dirty="0">
                <a:solidFill>
                  <a:schemeClr val="bg1"/>
                </a:solidFill>
                <a:latin typeface="KaiTi" panose="02010609060101010101" pitchFamily="49" charset="-122"/>
                <a:ea typeface="KaiTi" panose="02010609060101010101" pitchFamily="49" charset="-122"/>
              </a:rPr>
              <a:t>/</a:t>
            </a:r>
            <a:r>
              <a:rPr kumimoji="1" lang="zh-CN" altLang="en-US" sz="2000" dirty="0">
                <a:solidFill>
                  <a:schemeClr val="bg1"/>
                </a:solidFill>
                <a:latin typeface="KaiTi" panose="02010609060101010101" pitchFamily="49" charset="-122"/>
                <a:ea typeface="KaiTi" panose="02010609060101010101" pitchFamily="49" charset="-122"/>
              </a:rPr>
              <a:t>场景模型</a:t>
            </a:r>
            <a:endParaRPr kumimoji="1" lang="en-US" altLang="zh-CN" sz="2000" dirty="0">
              <a:solidFill>
                <a:schemeClr val="bg1"/>
              </a:solidFill>
              <a:latin typeface="KaiTi" panose="02010609060101010101" pitchFamily="49" charset="-122"/>
              <a:ea typeface="KaiTi" panose="02010609060101010101" pitchFamily="49" charset="-122"/>
            </a:endParaRPr>
          </a:p>
        </p:txBody>
      </p:sp>
      <p:sp>
        <p:nvSpPr>
          <p:cNvPr id="4" name="圆角矩形 13"/>
          <p:cNvSpPr/>
          <p:nvPr>
            <p:custDataLst>
              <p:tags r:id="rId1"/>
            </p:custDataLst>
          </p:nvPr>
        </p:nvSpPr>
        <p:spPr>
          <a:xfrm>
            <a:off x="860202" y="1944711"/>
            <a:ext cx="7603893" cy="1336181"/>
          </a:xfrm>
          <a:prstGeom prst="roundRect">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框 4"/>
          <p:cNvSpPr txBox="1"/>
          <p:nvPr/>
        </p:nvSpPr>
        <p:spPr>
          <a:xfrm>
            <a:off x="983615" y="2001520"/>
            <a:ext cx="7393940" cy="1200150"/>
          </a:xfrm>
          <a:prstGeom prst="rect">
            <a:avLst/>
          </a:prstGeom>
          <a:noFill/>
        </p:spPr>
        <p:txBody>
          <a:bodyPr wrap="square" rtlCol="0">
            <a:noAutofit/>
          </a:bodyPr>
          <a:lstStyle/>
          <a:p>
            <a:r>
              <a:rPr lang="zh-CN" altLang="en-US" dirty="0">
                <a:latin typeface="楷体" panose="02010609060101010101" pitchFamily="49" charset="-122"/>
                <a:ea typeface="楷体" panose="02010609060101010101" pitchFamily="49" charset="-122"/>
                <a:cs typeface="楷体" panose="02010609060101010101" pitchFamily="49" charset="-122"/>
              </a:rPr>
              <a:t>在一个正常的商品销售用例“销售处理”中，如果顾客要求采用礼券的支付方式，那么就可能会引发一个新的扩展流程。</a:t>
            </a:r>
          </a:p>
          <a:p>
            <a:r>
              <a:rPr lang="zh-CN" altLang="en-US" dirty="0">
                <a:latin typeface="楷体" panose="02010609060101010101" pitchFamily="49" charset="-122"/>
                <a:ea typeface="楷体" panose="02010609060101010101" pitchFamily="49" charset="-122"/>
                <a:cs typeface="楷体" panose="02010609060101010101" pitchFamily="49" charset="-122"/>
              </a:rPr>
              <a:t>为了在不修改“销售处理”的情况下满足礼券支付的新流程要求，可以定义一个扩展用例“礼券式付费处理”来加以实现。</a:t>
            </a:r>
            <a:endParaRPr lang="en-US" altLang="zh-CN" dirty="0">
              <a:latin typeface="楷体" panose="02010609060101010101" pitchFamily="49" charset="-122"/>
              <a:ea typeface="楷体" panose="02010609060101010101" pitchFamily="49" charset="-122"/>
              <a:cs typeface="楷体" panose="02010609060101010101" pitchFamily="49" charset="-122"/>
            </a:endParaRPr>
          </a:p>
        </p:txBody>
      </p:sp>
      <p:pic>
        <p:nvPicPr>
          <p:cNvPr id="7" name="图片 6">
            <a:hlinkClick r:id="rId5" action="ppaction://hlinkfile"/>
            <a:extLst>
              <a:ext uri="{FF2B5EF4-FFF2-40B4-BE49-F238E27FC236}">
                <a16:creationId xmlns:a16="http://schemas.microsoft.com/office/drawing/2014/main" id="{745506C7-09F8-C0BA-9D0A-697034587B56}"/>
              </a:ext>
            </a:extLst>
          </p:cNvPr>
          <p:cNvPicPr>
            <a:picLocks noChangeAspect="1"/>
          </p:cNvPicPr>
          <p:nvPr>
            <p:custDataLst>
              <p:tags r:id="rId2"/>
            </p:custDataLst>
          </p:nvPr>
        </p:nvPicPr>
        <p:blipFill>
          <a:blip r:embed="rId6"/>
          <a:stretch>
            <a:fillRect/>
          </a:stretch>
        </p:blipFill>
        <p:spPr>
          <a:xfrm>
            <a:off x="7475076" y="561078"/>
            <a:ext cx="1215822" cy="65623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用例图</a:t>
            </a:r>
          </a:p>
        </p:txBody>
      </p:sp>
      <p:sp>
        <p:nvSpPr>
          <p:cNvPr id="3" name="内容占位符 2"/>
          <p:cNvSpPr txBox="1"/>
          <p:nvPr/>
        </p:nvSpPr>
        <p:spPr>
          <a:xfrm>
            <a:off x="628650" y="1448439"/>
            <a:ext cx="8096787"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just">
              <a:spcBef>
                <a:spcPts val="1800"/>
              </a:spcBef>
              <a:buFont typeface="Wingdings" panose="05000000000000000000" pitchFamily="2" charset="2"/>
              <a:buChar char="Ø"/>
            </a:pPr>
            <a:r>
              <a:rPr kumimoji="1" lang="zh-CN" altLang="en-US" sz="2400" dirty="0">
                <a:latin typeface="Times New Roman" panose="02020603050405020304" pitchFamily="18" charset="0"/>
                <a:ea typeface="KaiTi" panose="02010609060101010101" pitchFamily="49" charset="-122"/>
                <a:cs typeface="Times New Roman" panose="02020603050405020304" pitchFamily="18" charset="0"/>
              </a:rPr>
              <a:t>用例图的机制</a:t>
            </a:r>
            <a:r>
              <a:rPr kumimoji="1" lang="en-US" altLang="zh-CN" sz="2400" dirty="0">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24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扩展（</a:t>
            </a:r>
            <a:r>
              <a:rPr kumimoji="1" lang="en-US" altLang="zh-CN" sz="24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Extend</a:t>
            </a:r>
            <a:r>
              <a:rPr kumimoji="1" lang="zh-CN" altLang="en-US" sz="24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a:t>
            </a:r>
            <a:endParaRPr kumimoji="1" lang="en-US" altLang="zh-CN" sz="24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endParaRPr>
          </a:p>
          <a:p>
            <a:pPr lvl="1" algn="just">
              <a:spcBef>
                <a:spcPts val="1800"/>
              </a:spcBef>
              <a:buClr>
                <a:srgbClr val="231240"/>
              </a:buClr>
              <a:buFont typeface="Arial" panose="020B0604020202090204" pitchFamily="34" charset="0"/>
              <a:buChar char="•"/>
            </a:pPr>
            <a:r>
              <a:rPr kumimoji="1" lang="zh-CN" altLang="en-US" sz="2000" dirty="0">
                <a:latin typeface="Times New Roman" panose="02020603050405020304" pitchFamily="18" charset="0"/>
                <a:ea typeface="KaiTi" panose="02010609060101010101" pitchFamily="49" charset="-122"/>
                <a:cs typeface="Times New Roman" panose="02020603050405020304" pitchFamily="18" charset="0"/>
              </a:rPr>
              <a:t>在有些用例过于复杂时，为了降低复杂度，也可以使用扩展关系，将原有用例的一些复杂处理行为扩展为附加用例。这种用法非常普遍和有效。</a:t>
            </a:r>
            <a:endParaRPr kumimoji="1" lang="en-US" altLang="zh-CN" sz="2000"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6" name="文本框 5"/>
          <p:cNvSpPr txBox="1"/>
          <p:nvPr/>
        </p:nvSpPr>
        <p:spPr>
          <a:xfrm>
            <a:off x="151596" y="16999"/>
            <a:ext cx="1851789" cy="400110"/>
          </a:xfrm>
          <a:prstGeom prst="rect">
            <a:avLst/>
          </a:prstGeom>
          <a:noFill/>
        </p:spPr>
        <p:txBody>
          <a:bodyPr wrap="none" rtlCol="0">
            <a:spAutoFit/>
          </a:bodyPr>
          <a:lstStyle/>
          <a:p>
            <a:r>
              <a:rPr kumimoji="1" lang="zh-CN" altLang="en-US" sz="2000" dirty="0">
                <a:solidFill>
                  <a:schemeClr val="bg1"/>
                </a:solidFill>
                <a:latin typeface="KaiTi" panose="02010609060101010101" pitchFamily="49" charset="-122"/>
                <a:ea typeface="KaiTi" panose="02010609060101010101" pitchFamily="49" charset="-122"/>
              </a:rPr>
              <a:t>用例</a:t>
            </a:r>
            <a:r>
              <a:rPr kumimoji="1" lang="en-US" altLang="zh-CN" sz="2000" dirty="0">
                <a:solidFill>
                  <a:schemeClr val="bg1"/>
                </a:solidFill>
                <a:latin typeface="KaiTi" panose="02010609060101010101" pitchFamily="49" charset="-122"/>
                <a:ea typeface="KaiTi" panose="02010609060101010101" pitchFamily="49" charset="-122"/>
              </a:rPr>
              <a:t>/</a:t>
            </a:r>
            <a:r>
              <a:rPr kumimoji="1" lang="zh-CN" altLang="en-US" sz="2000" dirty="0">
                <a:solidFill>
                  <a:schemeClr val="bg1"/>
                </a:solidFill>
                <a:latin typeface="KaiTi" panose="02010609060101010101" pitchFamily="49" charset="-122"/>
                <a:ea typeface="KaiTi" panose="02010609060101010101" pitchFamily="49" charset="-122"/>
              </a:rPr>
              <a:t>场景模型</a:t>
            </a:r>
            <a:endParaRPr kumimoji="1" lang="en-US" altLang="zh-CN" sz="2000" dirty="0">
              <a:solidFill>
                <a:schemeClr val="bg1"/>
              </a:solidFill>
              <a:latin typeface="KaiTi" panose="02010609060101010101" pitchFamily="49" charset="-122"/>
              <a:ea typeface="KaiTi" panose="02010609060101010101" pitchFamily="49" charset="-122"/>
            </a:endParaRPr>
          </a:p>
        </p:txBody>
      </p:sp>
      <p:sp>
        <p:nvSpPr>
          <p:cNvPr id="4" name="圆角矩形 13"/>
          <p:cNvSpPr/>
          <p:nvPr>
            <p:custDataLst>
              <p:tags r:id="rId1"/>
            </p:custDataLst>
          </p:nvPr>
        </p:nvSpPr>
        <p:spPr>
          <a:xfrm>
            <a:off x="1034657" y="3078054"/>
            <a:ext cx="7603893" cy="1030309"/>
          </a:xfrm>
          <a:prstGeom prst="roundRect">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框 4"/>
          <p:cNvSpPr txBox="1"/>
          <p:nvPr/>
        </p:nvSpPr>
        <p:spPr>
          <a:xfrm>
            <a:off x="1158223" y="3115498"/>
            <a:ext cx="7394199" cy="923330"/>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cs typeface="楷体" panose="02010609060101010101" pitchFamily="49" charset="-122"/>
              </a:rPr>
              <a:t>如果处理商品销售的用例“销售处理”在顾客采用微信支付、支付宝支付和礼券支付三种方式下都会发生比较复杂的处理，那么就可以通过下图所示的方式降低用例“销售处理”本身的复杂性。</a:t>
            </a:r>
            <a:endParaRPr lang="en-US" altLang="zh-CN" dirty="0">
              <a:latin typeface="楷体" panose="02010609060101010101" pitchFamily="49" charset="-122"/>
              <a:ea typeface="楷体" panose="02010609060101010101" pitchFamily="49" charset="-122"/>
              <a:cs typeface="楷体" panose="02010609060101010101" pitchFamily="49" charset="-122"/>
            </a:endParaRPr>
          </a:p>
        </p:txBody>
      </p:sp>
      <p:pic>
        <p:nvPicPr>
          <p:cNvPr id="11" name="图片 10"/>
          <p:cNvPicPr>
            <a:picLocks noChangeAspect="1"/>
          </p:cNvPicPr>
          <p:nvPr/>
        </p:nvPicPr>
        <p:blipFill>
          <a:blip r:embed="rId4"/>
          <a:stretch>
            <a:fillRect/>
          </a:stretch>
        </p:blipFill>
        <p:spPr>
          <a:xfrm>
            <a:off x="1751526" y="4242308"/>
            <a:ext cx="6259133" cy="2064821"/>
          </a:xfrm>
          <a:prstGeom prst="rect">
            <a:avLst/>
          </a:prstGeom>
        </p:spPr>
      </p:pic>
      <p:pic>
        <p:nvPicPr>
          <p:cNvPr id="7" name="图片 6">
            <a:hlinkClick r:id="rId5" action="ppaction://hlinkfile"/>
            <a:extLst>
              <a:ext uri="{FF2B5EF4-FFF2-40B4-BE49-F238E27FC236}">
                <a16:creationId xmlns:a16="http://schemas.microsoft.com/office/drawing/2014/main" id="{09C85445-30BB-B5AD-2694-3B038112F54A}"/>
              </a:ext>
            </a:extLst>
          </p:cNvPr>
          <p:cNvPicPr>
            <a:picLocks noChangeAspect="1"/>
          </p:cNvPicPr>
          <p:nvPr>
            <p:custDataLst>
              <p:tags r:id="rId2"/>
            </p:custDataLst>
          </p:nvPr>
        </p:nvPicPr>
        <p:blipFill>
          <a:blip r:embed="rId6"/>
          <a:stretch>
            <a:fillRect/>
          </a:stretch>
        </p:blipFill>
        <p:spPr>
          <a:xfrm>
            <a:off x="7475076" y="561078"/>
            <a:ext cx="1215822" cy="65623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用例图</a:t>
            </a:r>
          </a:p>
        </p:txBody>
      </p:sp>
      <p:sp>
        <p:nvSpPr>
          <p:cNvPr id="3" name="内容占位符 2"/>
          <p:cNvSpPr txBox="1"/>
          <p:nvPr/>
        </p:nvSpPr>
        <p:spPr>
          <a:xfrm>
            <a:off x="628650" y="1448439"/>
            <a:ext cx="8096787"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just">
              <a:spcBef>
                <a:spcPts val="1800"/>
              </a:spcBef>
              <a:buFont typeface="Wingdings" panose="05000000000000000000" pitchFamily="2" charset="2"/>
              <a:buChar char="Ø"/>
            </a:pPr>
            <a:r>
              <a:rPr kumimoji="1" lang="zh-CN" altLang="en-US" sz="2400" dirty="0">
                <a:latin typeface="Times New Roman" panose="02020603050405020304" pitchFamily="18" charset="0"/>
                <a:ea typeface="KaiTi" panose="02010609060101010101" pitchFamily="49" charset="-122"/>
                <a:cs typeface="Times New Roman" panose="02020603050405020304" pitchFamily="18" charset="0"/>
              </a:rPr>
              <a:t>用例图的机制</a:t>
            </a:r>
            <a:r>
              <a:rPr kumimoji="1" lang="en-US" altLang="zh-CN" sz="2400" dirty="0">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24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（用例）泛化（</a:t>
            </a:r>
            <a:r>
              <a:rPr kumimoji="1" lang="en-US" altLang="zh-CN" sz="24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Generalization</a:t>
            </a:r>
            <a:r>
              <a:rPr kumimoji="1" lang="zh-CN" altLang="en-US" sz="24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a:t>
            </a:r>
            <a:endParaRPr kumimoji="1" lang="en-US" altLang="zh-CN" sz="24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endParaRPr>
          </a:p>
          <a:p>
            <a:pPr lvl="1" algn="just">
              <a:spcBef>
                <a:spcPts val="1800"/>
              </a:spcBef>
              <a:buClr>
                <a:srgbClr val="231240"/>
              </a:buClr>
              <a:buFont typeface="Arial" panose="020B0604020202090204" pitchFamily="34" charset="0"/>
              <a:buChar char="•"/>
            </a:pPr>
            <a:r>
              <a:rPr kumimoji="1" lang="zh-CN" altLang="en-US" sz="2000" dirty="0">
                <a:latin typeface="Times New Roman" panose="02020603050405020304" pitchFamily="18" charset="0"/>
                <a:ea typeface="KaiTi" panose="02010609060101010101" pitchFamily="49" charset="-122"/>
                <a:cs typeface="Times New Roman" panose="02020603050405020304" pitchFamily="18" charset="0"/>
              </a:rPr>
              <a:t>子用例继承了父用例的特征并增加了新的特征</a:t>
            </a:r>
            <a:endParaRPr kumimoji="1" lang="en-US" altLang="zh-CN" sz="2000"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6" name="文本框 5"/>
          <p:cNvSpPr txBox="1"/>
          <p:nvPr/>
        </p:nvSpPr>
        <p:spPr>
          <a:xfrm>
            <a:off x="151596" y="16999"/>
            <a:ext cx="1851789" cy="400110"/>
          </a:xfrm>
          <a:prstGeom prst="rect">
            <a:avLst/>
          </a:prstGeom>
          <a:noFill/>
        </p:spPr>
        <p:txBody>
          <a:bodyPr wrap="none" rtlCol="0">
            <a:spAutoFit/>
          </a:bodyPr>
          <a:lstStyle/>
          <a:p>
            <a:r>
              <a:rPr kumimoji="1" lang="zh-CN" altLang="en-US" sz="2000" dirty="0">
                <a:solidFill>
                  <a:schemeClr val="bg1"/>
                </a:solidFill>
                <a:latin typeface="KaiTi" panose="02010609060101010101" pitchFamily="49" charset="-122"/>
                <a:ea typeface="KaiTi" panose="02010609060101010101" pitchFamily="49" charset="-122"/>
              </a:rPr>
              <a:t>用例</a:t>
            </a:r>
            <a:r>
              <a:rPr kumimoji="1" lang="en-US" altLang="zh-CN" sz="2000" dirty="0">
                <a:solidFill>
                  <a:schemeClr val="bg1"/>
                </a:solidFill>
                <a:latin typeface="KaiTi" panose="02010609060101010101" pitchFamily="49" charset="-122"/>
                <a:ea typeface="KaiTi" panose="02010609060101010101" pitchFamily="49" charset="-122"/>
              </a:rPr>
              <a:t>/</a:t>
            </a:r>
            <a:r>
              <a:rPr kumimoji="1" lang="zh-CN" altLang="en-US" sz="2000" dirty="0">
                <a:solidFill>
                  <a:schemeClr val="bg1"/>
                </a:solidFill>
                <a:latin typeface="KaiTi" panose="02010609060101010101" pitchFamily="49" charset="-122"/>
                <a:ea typeface="KaiTi" panose="02010609060101010101" pitchFamily="49" charset="-122"/>
              </a:rPr>
              <a:t>场景模型</a:t>
            </a:r>
            <a:endParaRPr kumimoji="1" lang="en-US" altLang="zh-CN" sz="2000" dirty="0">
              <a:solidFill>
                <a:schemeClr val="bg1"/>
              </a:solidFill>
              <a:latin typeface="KaiTi" panose="02010609060101010101" pitchFamily="49" charset="-122"/>
              <a:ea typeface="KaiTi" panose="02010609060101010101" pitchFamily="49" charset="-122"/>
            </a:endParaRPr>
          </a:p>
        </p:txBody>
      </p:sp>
      <p:sp>
        <p:nvSpPr>
          <p:cNvPr id="5" name="文本框 4"/>
          <p:cNvSpPr txBox="1"/>
          <p:nvPr/>
        </p:nvSpPr>
        <p:spPr>
          <a:xfrm>
            <a:off x="1455305" y="5077439"/>
            <a:ext cx="6664832" cy="369332"/>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cs typeface="楷体" panose="02010609060101010101" pitchFamily="49" charset="-122"/>
              </a:rPr>
              <a:t>“列表查询”和“自由查询”都是“查询书刊”的特殊形式。</a:t>
            </a:r>
            <a:endParaRPr lang="en-US" altLang="zh-CN" dirty="0">
              <a:latin typeface="楷体" panose="02010609060101010101" pitchFamily="49" charset="-122"/>
              <a:ea typeface="楷体" panose="02010609060101010101" pitchFamily="49" charset="-122"/>
              <a:cs typeface="楷体" panose="02010609060101010101" pitchFamily="49" charset="-122"/>
            </a:endParaRPr>
          </a:p>
        </p:txBody>
      </p:sp>
      <p:sp>
        <p:nvSpPr>
          <p:cNvPr id="10" name="圆角矩形 13"/>
          <p:cNvSpPr/>
          <p:nvPr>
            <p:custDataLst>
              <p:tags r:id="rId1"/>
            </p:custDataLst>
          </p:nvPr>
        </p:nvSpPr>
        <p:spPr>
          <a:xfrm>
            <a:off x="1455305" y="4974466"/>
            <a:ext cx="6233389" cy="595647"/>
          </a:xfrm>
          <a:prstGeom prst="roundRect">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Id4"/>
          <a:stretch>
            <a:fillRect/>
          </a:stretch>
        </p:blipFill>
        <p:spPr>
          <a:xfrm>
            <a:off x="1455305" y="2381791"/>
            <a:ext cx="5736171" cy="2395520"/>
          </a:xfrm>
          <a:prstGeom prst="rect">
            <a:avLst/>
          </a:prstGeom>
        </p:spPr>
      </p:pic>
      <p:pic>
        <p:nvPicPr>
          <p:cNvPr id="4" name="图片 3">
            <a:hlinkClick r:id="rId5" action="ppaction://hlinkfile"/>
            <a:extLst>
              <a:ext uri="{FF2B5EF4-FFF2-40B4-BE49-F238E27FC236}">
                <a16:creationId xmlns:a16="http://schemas.microsoft.com/office/drawing/2014/main" id="{A3A42A14-565D-FFF2-5E9C-D31A6B245921}"/>
              </a:ext>
            </a:extLst>
          </p:cNvPr>
          <p:cNvPicPr>
            <a:picLocks noChangeAspect="1"/>
          </p:cNvPicPr>
          <p:nvPr>
            <p:custDataLst>
              <p:tags r:id="rId2"/>
            </p:custDataLst>
          </p:nvPr>
        </p:nvPicPr>
        <p:blipFill>
          <a:blip r:embed="rId6"/>
          <a:stretch>
            <a:fillRect/>
          </a:stretch>
        </p:blipFill>
        <p:spPr>
          <a:xfrm>
            <a:off x="7475076" y="561078"/>
            <a:ext cx="1215822" cy="65623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4"/>
          <a:stretch>
            <a:fillRect/>
          </a:stretch>
        </p:blipFill>
        <p:spPr>
          <a:xfrm>
            <a:off x="657818" y="2598201"/>
            <a:ext cx="4578440" cy="3170406"/>
          </a:xfrm>
          <a:prstGeom prst="rect">
            <a:avLst/>
          </a:prstGeom>
        </p:spPr>
      </p:pic>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用例图</a:t>
            </a:r>
          </a:p>
        </p:txBody>
      </p:sp>
      <p:sp>
        <p:nvSpPr>
          <p:cNvPr id="3" name="内容占位符 2"/>
          <p:cNvSpPr txBox="1"/>
          <p:nvPr/>
        </p:nvSpPr>
        <p:spPr>
          <a:xfrm>
            <a:off x="628650" y="1448439"/>
            <a:ext cx="8096787"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just">
              <a:spcBef>
                <a:spcPts val="1800"/>
              </a:spcBef>
              <a:buFont typeface="Wingdings" panose="05000000000000000000" pitchFamily="2" charset="2"/>
              <a:buChar char="Ø"/>
            </a:pPr>
            <a:r>
              <a:rPr kumimoji="1" lang="zh-CN" altLang="en-US" sz="2400" dirty="0">
                <a:latin typeface="Times New Roman" panose="02020603050405020304" pitchFamily="18" charset="0"/>
                <a:ea typeface="KaiTi" panose="02010609060101010101" pitchFamily="49" charset="-122"/>
                <a:cs typeface="Times New Roman" panose="02020603050405020304" pitchFamily="18" charset="0"/>
              </a:rPr>
              <a:t>用例图的机制</a:t>
            </a:r>
            <a:r>
              <a:rPr kumimoji="1" lang="en-US" altLang="zh-CN" sz="2400" dirty="0">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24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（参与者）泛化（</a:t>
            </a:r>
            <a:r>
              <a:rPr kumimoji="1" lang="en-US" altLang="zh-CN" sz="24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Generalization</a:t>
            </a:r>
            <a:r>
              <a:rPr kumimoji="1" lang="zh-CN" altLang="en-US" sz="24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a:t>
            </a:r>
            <a:endParaRPr kumimoji="1" lang="en-US" altLang="zh-CN" sz="24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endParaRPr>
          </a:p>
          <a:p>
            <a:pPr lvl="1" algn="just">
              <a:spcBef>
                <a:spcPts val="1800"/>
              </a:spcBef>
              <a:buClr>
                <a:srgbClr val="231240"/>
              </a:buClr>
              <a:buFont typeface="Arial" panose="020B0604020202090204" pitchFamily="34" charset="0"/>
              <a:buChar char="•"/>
            </a:pPr>
            <a:r>
              <a:rPr kumimoji="1" lang="zh-CN" altLang="en-US" sz="2000" dirty="0">
                <a:latin typeface="Times New Roman" panose="02020603050405020304" pitchFamily="18" charset="0"/>
                <a:ea typeface="KaiTi" panose="02010609060101010101" pitchFamily="49" charset="-122"/>
                <a:cs typeface="Times New Roman" panose="02020603050405020304" pitchFamily="18" charset="0"/>
              </a:rPr>
              <a:t>子参与者继承了父参与者的特征并增加了新的特征</a:t>
            </a:r>
            <a:endParaRPr kumimoji="1" lang="en-US" altLang="zh-CN" sz="2000"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6" name="文本框 5"/>
          <p:cNvSpPr txBox="1"/>
          <p:nvPr/>
        </p:nvSpPr>
        <p:spPr>
          <a:xfrm>
            <a:off x="151596" y="16999"/>
            <a:ext cx="1851789" cy="400110"/>
          </a:xfrm>
          <a:prstGeom prst="rect">
            <a:avLst/>
          </a:prstGeom>
          <a:noFill/>
        </p:spPr>
        <p:txBody>
          <a:bodyPr wrap="none" rtlCol="0">
            <a:spAutoFit/>
          </a:bodyPr>
          <a:lstStyle/>
          <a:p>
            <a:r>
              <a:rPr kumimoji="1" lang="zh-CN" altLang="en-US" sz="2000" dirty="0">
                <a:solidFill>
                  <a:schemeClr val="bg1"/>
                </a:solidFill>
                <a:latin typeface="KaiTi" panose="02010609060101010101" pitchFamily="49" charset="-122"/>
                <a:ea typeface="KaiTi" panose="02010609060101010101" pitchFamily="49" charset="-122"/>
              </a:rPr>
              <a:t>用例</a:t>
            </a:r>
            <a:r>
              <a:rPr kumimoji="1" lang="en-US" altLang="zh-CN" sz="2000" dirty="0">
                <a:solidFill>
                  <a:schemeClr val="bg1"/>
                </a:solidFill>
                <a:latin typeface="KaiTi" panose="02010609060101010101" pitchFamily="49" charset="-122"/>
                <a:ea typeface="KaiTi" panose="02010609060101010101" pitchFamily="49" charset="-122"/>
              </a:rPr>
              <a:t>/</a:t>
            </a:r>
            <a:r>
              <a:rPr kumimoji="1" lang="zh-CN" altLang="en-US" sz="2000" dirty="0">
                <a:solidFill>
                  <a:schemeClr val="bg1"/>
                </a:solidFill>
                <a:latin typeface="KaiTi" panose="02010609060101010101" pitchFamily="49" charset="-122"/>
                <a:ea typeface="KaiTi" panose="02010609060101010101" pitchFamily="49" charset="-122"/>
              </a:rPr>
              <a:t>场景模型</a:t>
            </a:r>
            <a:endParaRPr kumimoji="1" lang="en-US" altLang="zh-CN" sz="2000" dirty="0">
              <a:solidFill>
                <a:schemeClr val="bg1"/>
              </a:solidFill>
              <a:latin typeface="KaiTi" panose="02010609060101010101" pitchFamily="49" charset="-122"/>
              <a:ea typeface="KaiTi" panose="02010609060101010101" pitchFamily="49" charset="-122"/>
            </a:endParaRPr>
          </a:p>
        </p:txBody>
      </p:sp>
      <p:sp>
        <p:nvSpPr>
          <p:cNvPr id="4" name="圆角矩形 13"/>
          <p:cNvSpPr/>
          <p:nvPr>
            <p:custDataLst>
              <p:tags r:id="rId1"/>
            </p:custDataLst>
          </p:nvPr>
        </p:nvSpPr>
        <p:spPr>
          <a:xfrm>
            <a:off x="4995818" y="3622183"/>
            <a:ext cx="3519532" cy="1336183"/>
          </a:xfrm>
          <a:prstGeom prst="roundRect">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框 4"/>
          <p:cNvSpPr txBox="1"/>
          <p:nvPr/>
        </p:nvSpPr>
        <p:spPr>
          <a:xfrm>
            <a:off x="5130622" y="3700101"/>
            <a:ext cx="3194398" cy="1200329"/>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cs typeface="楷体" panose="02010609060101010101" pitchFamily="49" charset="-122"/>
              </a:rPr>
              <a:t>“已登录顾客”不仅会执行“顾客”的“查询书刊”任务，还会执行自己特有的“购买书刊”任务。</a:t>
            </a:r>
            <a:endParaRPr lang="en-US" altLang="zh-CN" dirty="0">
              <a:latin typeface="楷体" panose="02010609060101010101" pitchFamily="49" charset="-122"/>
              <a:ea typeface="楷体" panose="02010609060101010101" pitchFamily="49" charset="-122"/>
              <a:cs typeface="楷体" panose="02010609060101010101" pitchFamily="49" charset="-122"/>
            </a:endParaRPr>
          </a:p>
        </p:txBody>
      </p:sp>
      <p:pic>
        <p:nvPicPr>
          <p:cNvPr id="7" name="图片 6">
            <a:hlinkClick r:id="rId5" action="ppaction://hlinkfile"/>
            <a:extLst>
              <a:ext uri="{FF2B5EF4-FFF2-40B4-BE49-F238E27FC236}">
                <a16:creationId xmlns:a16="http://schemas.microsoft.com/office/drawing/2014/main" id="{F26C1203-0702-EC2B-37F1-AC70F1C1E263}"/>
              </a:ext>
            </a:extLst>
          </p:cNvPr>
          <p:cNvPicPr>
            <a:picLocks noChangeAspect="1"/>
          </p:cNvPicPr>
          <p:nvPr>
            <p:custDataLst>
              <p:tags r:id="rId2"/>
            </p:custDataLst>
          </p:nvPr>
        </p:nvPicPr>
        <p:blipFill>
          <a:blip r:embed="rId6"/>
          <a:stretch>
            <a:fillRect/>
          </a:stretch>
        </p:blipFill>
        <p:spPr>
          <a:xfrm>
            <a:off x="7475076" y="561078"/>
            <a:ext cx="1215822" cy="65623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目录</a:t>
            </a:r>
          </a:p>
        </p:txBody>
      </p:sp>
      <p:sp>
        <p:nvSpPr>
          <p:cNvPr id="7" name="内容占位符 2"/>
          <p:cNvSpPr txBox="1"/>
          <p:nvPr/>
        </p:nvSpPr>
        <p:spPr>
          <a:xfrm>
            <a:off x="628650" y="1431290"/>
            <a:ext cx="7886700" cy="4745355"/>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kumimoji="1" lang="zh-CN" altLang="en-US" dirty="0">
                <a:solidFill>
                  <a:schemeClr val="tx1"/>
                </a:solidFill>
                <a:latin typeface="KaiTi" panose="02010609060101010101" pitchFamily="49" charset="-122"/>
                <a:ea typeface="KaiTi" panose="02010609060101010101" pitchFamily="49" charset="-122"/>
              </a:rPr>
              <a:t>用户需求开发活动的展开</a:t>
            </a:r>
          </a:p>
          <a:p>
            <a:r>
              <a:rPr kumimoji="1" lang="en-US" altLang="zh-CN" dirty="0">
                <a:latin typeface="KaiTi" panose="02010609060101010101" pitchFamily="49" charset="-122"/>
                <a:ea typeface="KaiTi" panose="02010609060101010101" pitchFamily="49" charset="-122"/>
              </a:rPr>
              <a:t>用例与场景</a:t>
            </a:r>
          </a:p>
          <a:p>
            <a:r>
              <a:rPr kumimoji="1" lang="en-US" altLang="zh-CN" dirty="0">
                <a:latin typeface="KaiTi" panose="02010609060101010101" pitchFamily="49" charset="-122"/>
                <a:ea typeface="KaiTi" panose="02010609060101010101" pitchFamily="49" charset="-122"/>
              </a:rPr>
              <a:t>用例/场景模型</a:t>
            </a:r>
          </a:p>
          <a:p>
            <a:r>
              <a:rPr kumimoji="1" lang="en-US" altLang="zh-CN" dirty="0">
                <a:solidFill>
                  <a:srgbClr val="FF0000"/>
                </a:solidFill>
                <a:latin typeface="KaiTi" panose="02010609060101010101" pitchFamily="49" charset="-122"/>
                <a:ea typeface="KaiTi" panose="02010609060101010101" pitchFamily="49" charset="-122"/>
              </a:rPr>
              <a:t>以用例/场景模型为主线索开展用户需求开发</a:t>
            </a:r>
          </a:p>
          <a:p>
            <a:pPr lvl="1"/>
            <a:r>
              <a:rPr kumimoji="1" lang="en-US" altLang="zh-CN" dirty="0">
                <a:solidFill>
                  <a:srgbClr val="FF0000"/>
                </a:solidFill>
                <a:latin typeface="KaiTi" panose="02010609060101010101" pitchFamily="49" charset="-122"/>
                <a:ea typeface="KaiTi" panose="02010609060101010101" pitchFamily="49" charset="-122"/>
              </a:rPr>
              <a:t>依据系统用例图、目标模型建立初始用例/场景模型</a:t>
            </a:r>
          </a:p>
          <a:p>
            <a:pPr lvl="1"/>
            <a:r>
              <a:rPr kumimoji="1" lang="en-US" altLang="zh-CN" dirty="0">
                <a:solidFill>
                  <a:srgbClr val="FF0000"/>
                </a:solidFill>
                <a:latin typeface="KaiTi" panose="02010609060101010101" pitchFamily="49" charset="-122"/>
                <a:ea typeface="KaiTi" panose="02010609060101010101" pitchFamily="49" charset="-122"/>
              </a:rPr>
              <a:t>根据用例/场景模型指导获取，完善层次结构</a:t>
            </a:r>
          </a:p>
          <a:p>
            <a:pPr lvl="1"/>
            <a:r>
              <a:rPr kumimoji="1" lang="en-US" altLang="zh-CN" dirty="0">
                <a:solidFill>
                  <a:srgbClr val="FF0000"/>
                </a:solidFill>
                <a:latin typeface="KaiTi" panose="02010609060101010101" pitchFamily="49" charset="-122"/>
                <a:ea typeface="KaiTi" panose="02010609060101010101" pitchFamily="49" charset="-122"/>
              </a:rPr>
              <a:t>使用用例/场景组织获取内容</a:t>
            </a:r>
          </a:p>
          <a:p>
            <a:pPr lvl="1"/>
            <a:r>
              <a:rPr kumimoji="1" lang="en-US" altLang="zh-CN" dirty="0">
                <a:solidFill>
                  <a:srgbClr val="FF0000"/>
                </a:solidFill>
                <a:latin typeface="KaiTi" panose="02010609060101010101" pitchFamily="49" charset="-122"/>
                <a:ea typeface="KaiTi" panose="02010609060101010101" pitchFamily="49" charset="-122"/>
              </a:rPr>
              <a:t>用新组织或修正的用例/场景完善用例/场景模型</a:t>
            </a:r>
          </a:p>
          <a:p>
            <a:pPr lvl="1"/>
            <a:r>
              <a:rPr kumimoji="1" lang="en-US" altLang="zh-CN" dirty="0">
                <a:solidFill>
                  <a:srgbClr val="FF0000"/>
                </a:solidFill>
                <a:latin typeface="KaiTi" panose="02010609060101010101" pitchFamily="49" charset="-122"/>
                <a:ea typeface="KaiTi" panose="02010609060101010101" pitchFamily="49" charset="-122"/>
              </a:rPr>
              <a:t>依据用例/场景模型组织需求分析模型</a:t>
            </a:r>
          </a:p>
          <a:p>
            <a:pPr lvl="1"/>
            <a:r>
              <a:rPr kumimoji="1" lang="en-US" altLang="zh-CN" dirty="0">
                <a:solidFill>
                  <a:srgbClr val="FF0000"/>
                </a:solidFill>
                <a:latin typeface="KaiTi" panose="02010609060101010101" pitchFamily="49" charset="-122"/>
                <a:ea typeface="KaiTi" panose="02010609060101010101" pitchFamily="49" charset="-122"/>
              </a:rPr>
              <a:t>分析用例/场景发现仍需获取的需求内容</a:t>
            </a:r>
          </a:p>
          <a:p>
            <a:r>
              <a:rPr kumimoji="1" lang="en-US" altLang="zh-CN" dirty="0">
                <a:latin typeface="KaiTi" panose="02010609060101010101" pitchFamily="49" charset="-122"/>
                <a:ea typeface="KaiTi" panose="02010609060101010101" pitchFamily="49" charset="-122"/>
              </a:rPr>
              <a:t>用户故事</a:t>
            </a:r>
          </a:p>
          <a:p>
            <a:endParaRPr kumimoji="1" lang="en-US" altLang="zh-CN" dirty="0">
              <a:latin typeface="KaiTi" panose="02010609060101010101" pitchFamily="49" charset="-122"/>
              <a:ea typeface="KaiTi" panose="02010609060101010101" pitchFamily="49" charset="-122"/>
            </a:endParaRPr>
          </a:p>
        </p:txBody>
      </p:sp>
      <p:sp>
        <p:nvSpPr>
          <p:cNvPr id="8" name="文本框 7"/>
          <p:cNvSpPr txBox="1"/>
          <p:nvPr/>
        </p:nvSpPr>
        <p:spPr>
          <a:xfrm>
            <a:off x="151596" y="16999"/>
            <a:ext cx="697627" cy="400110"/>
          </a:xfrm>
          <a:prstGeom prst="rect">
            <a:avLst/>
          </a:prstGeom>
          <a:noFill/>
        </p:spPr>
        <p:txBody>
          <a:bodyPr wrap="none" rtlCol="0">
            <a:spAutoFit/>
          </a:bodyPr>
          <a:lstStyle/>
          <a:p>
            <a:r>
              <a:rPr kumimoji="1" lang="zh-CN" altLang="en-US" sz="2000" dirty="0">
                <a:solidFill>
                  <a:schemeClr val="bg1"/>
                </a:solidFill>
                <a:latin typeface="KaiTi" panose="02010609060101010101" pitchFamily="49" charset="-122"/>
                <a:ea typeface="KaiTi" panose="02010609060101010101" pitchFamily="49" charset="-122"/>
              </a:rPr>
              <a:t>目录</a:t>
            </a:r>
            <a:endParaRPr kumimoji="1" lang="en-US" altLang="zh-CN" sz="2000" dirty="0">
              <a:solidFill>
                <a:schemeClr val="bg1"/>
              </a:solidFill>
              <a:latin typeface="KaiTi" panose="02010609060101010101" pitchFamily="49" charset="-122"/>
              <a:ea typeface="KaiTi" panose="02010609060101010101" pitchFamily="49"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以用例/场景模型为主线索开展用户需求开发</a:t>
            </a:r>
          </a:p>
        </p:txBody>
      </p:sp>
      <p:sp>
        <p:nvSpPr>
          <p:cNvPr id="3" name="内容占位符 2"/>
          <p:cNvSpPr txBox="1"/>
          <p:nvPr/>
        </p:nvSpPr>
        <p:spPr>
          <a:xfrm>
            <a:off x="628650" y="141367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endParaRPr kumimoji="1" lang="en-US" altLang="zh-CN" dirty="0">
              <a:latin typeface="KaiTi" panose="02010609060101010101" pitchFamily="49" charset="-122"/>
              <a:ea typeface="KaiTi" panose="02010609060101010101" pitchFamily="49" charset="-122"/>
            </a:endParaRPr>
          </a:p>
        </p:txBody>
      </p:sp>
      <p:sp>
        <p:nvSpPr>
          <p:cNvPr id="6" name="文本框 5"/>
          <p:cNvSpPr txBox="1"/>
          <p:nvPr/>
        </p:nvSpPr>
        <p:spPr>
          <a:xfrm>
            <a:off x="151596" y="16999"/>
            <a:ext cx="509524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rPr>
              <a:t>以用例/场景模型为主线索开展用户需求开发</a:t>
            </a:r>
          </a:p>
        </p:txBody>
      </p:sp>
      <p:graphicFrame>
        <p:nvGraphicFramePr>
          <p:cNvPr id="39940" name="对象 3"/>
          <p:cNvGraphicFramePr>
            <a:graphicFrameLocks noChangeAspect="1"/>
          </p:cNvGraphicFramePr>
          <p:nvPr>
            <p:custDataLst>
              <p:tags r:id="rId1"/>
            </p:custDataLst>
          </p:nvPr>
        </p:nvGraphicFramePr>
        <p:xfrm>
          <a:off x="297180" y="1251585"/>
          <a:ext cx="8399145" cy="4524375"/>
        </p:xfrm>
        <a:graphic>
          <a:graphicData uri="http://schemas.openxmlformats.org/presentationml/2006/ole">
            <mc:AlternateContent xmlns:mc="http://schemas.openxmlformats.org/markup-compatibility/2006">
              <mc:Choice xmlns:v="urn:schemas-microsoft-com:vml" Requires="v">
                <p:oleObj r:id="rId3" imgW="5664200" imgH="3060700" progId="Visio.Drawing.11">
                  <p:embed/>
                </p:oleObj>
              </mc:Choice>
              <mc:Fallback>
                <p:oleObj r:id="rId3" imgW="5664200" imgH="3060700" progId="Visio.Drawing.11">
                  <p:embed/>
                  <p:pic>
                    <p:nvPicPr>
                      <p:cNvPr id="39940" name="对象 3"/>
                      <p:cNvPicPr/>
                      <p:nvPr/>
                    </p:nvPicPr>
                    <p:blipFill>
                      <a:blip r:embed="rId4"/>
                      <a:stretch>
                        <a:fillRect/>
                      </a:stretch>
                    </p:blipFill>
                    <p:spPr>
                      <a:xfrm>
                        <a:off x="297180" y="1251585"/>
                        <a:ext cx="8399145" cy="4524375"/>
                      </a:xfrm>
                      <a:prstGeom prst="rect">
                        <a:avLst/>
                      </a:prstGeom>
                      <a:noFill/>
                      <a:ln w="38100">
                        <a:noFill/>
                        <a:miter/>
                      </a:ln>
                    </p:spPr>
                  </p:pic>
                </p:oleObj>
              </mc:Fallback>
            </mc:AlternateContent>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fontScale="8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依据系统用例图、目标模型建立初始用例/场景模型</a:t>
            </a:r>
          </a:p>
        </p:txBody>
      </p:sp>
      <p:sp>
        <p:nvSpPr>
          <p:cNvPr id="3" name="内容占位符 2"/>
          <p:cNvSpPr txBox="1"/>
          <p:nvPr/>
        </p:nvSpPr>
        <p:spPr>
          <a:xfrm>
            <a:off x="628650" y="141367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10000"/>
              </a:lnSpc>
              <a:buFont typeface="Wingdings" panose="05000000000000000000" charset="0"/>
              <a:buChar char=""/>
            </a:pPr>
            <a:r>
              <a:rPr kumimoji="1" lang="en-US" altLang="zh-CN" dirty="0">
                <a:latin typeface="KaiTi" panose="02010609060101010101" pitchFamily="49" charset="-122"/>
                <a:ea typeface="KaiTi" panose="02010609060101010101" pitchFamily="49" charset="-122"/>
              </a:rPr>
              <a:t>系统用例图是</a:t>
            </a:r>
            <a:r>
              <a:rPr kumimoji="1" lang="en-US" altLang="zh-CN" b="1" dirty="0">
                <a:solidFill>
                  <a:srgbClr val="870078"/>
                </a:solidFill>
                <a:latin typeface="KaiTi" panose="02010609060101010101" pitchFamily="49" charset="-122"/>
                <a:ea typeface="KaiTi" panose="02010609060101010101" pitchFamily="49" charset="-122"/>
              </a:rPr>
              <a:t>前景与范围阶段</a:t>
            </a:r>
            <a:r>
              <a:rPr kumimoji="1" lang="en-US" altLang="zh-CN" dirty="0">
                <a:latin typeface="KaiTi" panose="02010609060101010101" pitchFamily="49" charset="-122"/>
                <a:ea typeface="KaiTi" panose="02010609060101010101" pitchFamily="49" charset="-122"/>
              </a:rPr>
              <a:t>建立的</a:t>
            </a:r>
            <a:r>
              <a:rPr kumimoji="1" lang="en-US" altLang="zh-CN" b="1" dirty="0">
                <a:solidFill>
                  <a:srgbClr val="870078"/>
                </a:solidFill>
                <a:latin typeface="KaiTi" panose="02010609060101010101" pitchFamily="49" charset="-122"/>
                <a:ea typeface="KaiTi" panose="02010609060101010101" pitchFamily="49" charset="-122"/>
              </a:rPr>
              <a:t>系统边界</a:t>
            </a:r>
            <a:r>
              <a:rPr kumimoji="1" lang="en-US" altLang="zh-CN" dirty="0">
                <a:latin typeface="KaiTi" panose="02010609060101010101" pitchFamily="49" charset="-122"/>
                <a:ea typeface="KaiTi" panose="02010609060101010101" pitchFamily="49" charset="-122"/>
              </a:rPr>
              <a:t>，它的主要元素就是用例，这就是最初始的用例/场景。</a:t>
            </a:r>
          </a:p>
          <a:p>
            <a:pPr>
              <a:lnSpc>
                <a:spcPct val="110000"/>
              </a:lnSpc>
              <a:buFont typeface="Wingdings" panose="05000000000000000000" charset="0"/>
              <a:buChar char=""/>
            </a:pPr>
            <a:r>
              <a:rPr kumimoji="1" lang="en-US" altLang="zh-CN" dirty="0">
                <a:latin typeface="KaiTi" panose="02010609060101010101" pitchFamily="49" charset="-122"/>
                <a:ea typeface="KaiTi" panose="02010609060101010101" pitchFamily="49" charset="-122"/>
              </a:rPr>
              <a:t>系统用例图中的用例通常是</a:t>
            </a:r>
            <a:r>
              <a:rPr kumimoji="1" lang="en-US" altLang="zh-CN" b="1" dirty="0">
                <a:solidFill>
                  <a:srgbClr val="870078"/>
                </a:solidFill>
                <a:latin typeface="KaiTi" panose="02010609060101010101" pitchFamily="49" charset="-122"/>
                <a:ea typeface="KaiTi" panose="02010609060101010101" pitchFamily="49" charset="-122"/>
              </a:rPr>
              <a:t>平等的</a:t>
            </a:r>
            <a:r>
              <a:rPr kumimoji="1" lang="en-US" altLang="zh-CN" dirty="0">
                <a:latin typeface="KaiTi" panose="02010609060101010101" pitchFamily="49" charset="-122"/>
                <a:ea typeface="KaiTi" panose="02010609060101010101" pitchFamily="49" charset="-122"/>
              </a:rPr>
              <a:t>。但如果有目标模型为参考，就可以用目标模型的层次结构为基础，将目标</a:t>
            </a:r>
            <a:r>
              <a:rPr kumimoji="1" lang="en-US" altLang="zh-CN" dirty="0">
                <a:latin typeface="Times New Roman" panose="02020603050405020304" pitchFamily="18" charset="0"/>
                <a:ea typeface="KaiTi" panose="02010609060101010101" pitchFamily="49" charset="-122"/>
                <a:cs typeface="Times New Roman" panose="02020603050405020304" pitchFamily="18" charset="0"/>
              </a:rPr>
              <a:t>Cover</a:t>
            </a:r>
            <a:r>
              <a:rPr kumimoji="1" lang="en-US" altLang="zh-CN" dirty="0">
                <a:latin typeface="KaiTi" panose="02010609060101010101" pitchFamily="49" charset="-122"/>
                <a:ea typeface="KaiTi" panose="02010609060101010101" pitchFamily="49" charset="-122"/>
              </a:rPr>
              <a:t>链接的场景建立为具有</a:t>
            </a:r>
            <a:r>
              <a:rPr kumimoji="1" lang="en-US" altLang="zh-CN" b="1" dirty="0">
                <a:solidFill>
                  <a:srgbClr val="870078"/>
                </a:solidFill>
                <a:latin typeface="KaiTi" panose="02010609060101010101" pitchFamily="49" charset="-122"/>
                <a:ea typeface="KaiTi" panose="02010609060101010101" pitchFamily="49" charset="-122"/>
              </a:rPr>
              <a:t>层次结构</a:t>
            </a:r>
            <a:r>
              <a:rPr kumimoji="1" lang="en-US" altLang="zh-CN" dirty="0">
                <a:latin typeface="KaiTi" panose="02010609060101010101" pitchFamily="49" charset="-122"/>
                <a:ea typeface="KaiTi" panose="02010609060101010101" pitchFamily="49" charset="-122"/>
              </a:rPr>
              <a:t>的用例/场景模型。</a:t>
            </a:r>
          </a:p>
        </p:txBody>
      </p:sp>
      <p:sp>
        <p:nvSpPr>
          <p:cNvPr id="6" name="文本框 5"/>
          <p:cNvSpPr txBox="1"/>
          <p:nvPr/>
        </p:nvSpPr>
        <p:spPr>
          <a:xfrm>
            <a:off x="151596" y="16999"/>
            <a:ext cx="509524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rPr>
              <a:t>以用例/场景模型为主线索开展用户需求开发</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根据用例/场景模型指导获取，完善层次结构</a:t>
            </a:r>
          </a:p>
        </p:txBody>
      </p:sp>
      <p:sp>
        <p:nvSpPr>
          <p:cNvPr id="3" name="内容占位符 2"/>
          <p:cNvSpPr txBox="1"/>
          <p:nvPr/>
        </p:nvSpPr>
        <p:spPr>
          <a:xfrm>
            <a:off x="628650" y="141367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10000"/>
              </a:lnSpc>
              <a:buFont typeface="Wingdings" panose="05000000000000000000" charset="0"/>
              <a:buChar char=""/>
            </a:pPr>
            <a:r>
              <a:rPr kumimoji="1" lang="en-US" altLang="zh-CN" dirty="0">
                <a:latin typeface="KaiTi" panose="02010609060101010101" pitchFamily="49" charset="-122"/>
                <a:ea typeface="KaiTi" panose="02010609060101010101" pitchFamily="49" charset="-122"/>
              </a:rPr>
              <a:t>用例/场景模型是用户需求开发的主线索，具体包括：</a:t>
            </a:r>
          </a:p>
          <a:p>
            <a:pPr lvl="1">
              <a:lnSpc>
                <a:spcPct val="110000"/>
              </a:lnSpc>
            </a:pPr>
            <a:r>
              <a:rPr kumimoji="1" lang="en-US" altLang="zh-CN" b="1" dirty="0">
                <a:solidFill>
                  <a:srgbClr val="870078"/>
                </a:solidFill>
                <a:latin typeface="KaiTi" panose="02010609060101010101" pitchFamily="49" charset="-122"/>
                <a:ea typeface="KaiTi" panose="02010609060101010101" pitchFamily="49" charset="-122"/>
              </a:rPr>
              <a:t>初始系统用例</a:t>
            </a:r>
            <a:r>
              <a:rPr kumimoji="1" lang="en-US" altLang="zh-CN" dirty="0">
                <a:latin typeface="KaiTi" panose="02010609060101010101" pitchFamily="49" charset="-122"/>
                <a:ea typeface="KaiTi" panose="02010609060101010101" pitchFamily="49" charset="-122"/>
              </a:rPr>
              <a:t>涉及的主题需要获取，描述系统用例文本时需要更详细的内容。</a:t>
            </a:r>
          </a:p>
          <a:p>
            <a:pPr lvl="1">
              <a:lnSpc>
                <a:spcPct val="110000"/>
              </a:lnSpc>
            </a:pPr>
            <a:r>
              <a:rPr kumimoji="1" lang="en-US" altLang="zh-CN" b="1" dirty="0">
                <a:solidFill>
                  <a:srgbClr val="870078"/>
                </a:solidFill>
                <a:latin typeface="KaiTi" panose="02010609060101010101" pitchFamily="49" charset="-122"/>
                <a:ea typeface="KaiTi" panose="02010609060101010101" pitchFamily="49" charset="-122"/>
              </a:rPr>
              <a:t>概要用例</a:t>
            </a:r>
            <a:r>
              <a:rPr kumimoji="1" lang="en-US" altLang="zh-CN" dirty="0">
                <a:latin typeface="KaiTi" panose="02010609060101010101" pitchFamily="49" charset="-122"/>
                <a:ea typeface="KaiTi" panose="02010609060101010101" pitchFamily="49" charset="-122"/>
              </a:rPr>
              <a:t>描述中发现的新主题需要获取。新主题是指可以展开为更详细任务的活动。</a:t>
            </a:r>
          </a:p>
          <a:p>
            <a:pPr lvl="1">
              <a:lnSpc>
                <a:spcPct val="110000"/>
              </a:lnSpc>
            </a:pPr>
            <a:r>
              <a:rPr kumimoji="1" lang="en-US" altLang="zh-CN" b="1" dirty="0">
                <a:solidFill>
                  <a:srgbClr val="870078"/>
                </a:solidFill>
                <a:latin typeface="KaiTi" panose="02010609060101010101" pitchFamily="49" charset="-122"/>
                <a:ea typeface="KaiTi" panose="02010609060101010101" pitchFamily="49" charset="-122"/>
              </a:rPr>
              <a:t>具体用例</a:t>
            </a:r>
            <a:r>
              <a:rPr kumimoji="1" lang="en-US" altLang="zh-CN" dirty="0">
                <a:latin typeface="KaiTi" panose="02010609060101010101" pitchFamily="49" charset="-122"/>
                <a:ea typeface="KaiTi" panose="02010609060101010101" pitchFamily="49" charset="-122"/>
              </a:rPr>
              <a:t>中发现的模糊、不正确、不完备等细节内容需要再获取。</a:t>
            </a:r>
          </a:p>
        </p:txBody>
      </p:sp>
      <p:sp>
        <p:nvSpPr>
          <p:cNvPr id="6" name="文本框 5"/>
          <p:cNvSpPr txBox="1"/>
          <p:nvPr/>
        </p:nvSpPr>
        <p:spPr>
          <a:xfrm>
            <a:off x="151596" y="16999"/>
            <a:ext cx="509524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rPr>
              <a:t>以用例/场景模型为主线索开展用户需求开发</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使用概要用例描述发现新获取主题示例</a:t>
            </a:r>
          </a:p>
        </p:txBody>
      </p:sp>
      <p:sp>
        <p:nvSpPr>
          <p:cNvPr id="3" name="内容占位符 2"/>
          <p:cNvSpPr txBox="1"/>
          <p:nvPr/>
        </p:nvSpPr>
        <p:spPr>
          <a:xfrm>
            <a:off x="628650" y="141367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endParaRPr kumimoji="1" lang="en-US" altLang="zh-CN" dirty="0">
              <a:latin typeface="KaiTi" panose="02010609060101010101" pitchFamily="49" charset="-122"/>
              <a:ea typeface="KaiTi" panose="02010609060101010101" pitchFamily="49" charset="-122"/>
            </a:endParaRPr>
          </a:p>
        </p:txBody>
      </p:sp>
      <p:sp>
        <p:nvSpPr>
          <p:cNvPr id="6" name="文本框 5"/>
          <p:cNvSpPr txBox="1"/>
          <p:nvPr/>
        </p:nvSpPr>
        <p:spPr>
          <a:xfrm>
            <a:off x="151596" y="16999"/>
            <a:ext cx="509524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rPr>
              <a:t>以用例/场景模型为主线索开展用户需求开发</a:t>
            </a:r>
          </a:p>
        </p:txBody>
      </p:sp>
      <p:sp>
        <p:nvSpPr>
          <p:cNvPr id="8" name="文本框 7"/>
          <p:cNvSpPr txBox="1"/>
          <p:nvPr/>
        </p:nvSpPr>
        <p:spPr>
          <a:xfrm>
            <a:off x="864870" y="1409700"/>
            <a:ext cx="7363460" cy="774065"/>
          </a:xfrm>
          <a:prstGeom prst="rect">
            <a:avLst/>
          </a:prstGeom>
          <a:noFill/>
        </p:spPr>
        <p:txBody>
          <a:bodyPr wrap="square" rtlCol="0">
            <a:noAutofit/>
          </a:bodyPr>
          <a:lstStyle/>
          <a:p>
            <a:pPr marL="342900" indent="-342900">
              <a:buFont typeface="Arial" panose="020B0604020202090204" pitchFamily="34" charset="0"/>
              <a:buChar char="•"/>
            </a:pPr>
            <a:r>
              <a:rPr lang="zh-CN" altLang="en-US" sz="2400">
                <a:latin typeface="楷体" charset="0"/>
                <a:ea typeface="楷体" charset="0"/>
                <a:cs typeface="楷体" charset="0"/>
              </a:rPr>
              <a:t>分析概要用例描述时，可以发现新主题，建立新的具体用例</a:t>
            </a:r>
          </a:p>
        </p:txBody>
      </p:sp>
      <p:grpSp>
        <p:nvGrpSpPr>
          <p:cNvPr id="10" name="组合 9"/>
          <p:cNvGrpSpPr/>
          <p:nvPr/>
        </p:nvGrpSpPr>
        <p:grpSpPr>
          <a:xfrm>
            <a:off x="1341755" y="2858770"/>
            <a:ext cx="6409690" cy="2527300"/>
            <a:chOff x="1934" y="3961"/>
            <a:chExt cx="10094" cy="3980"/>
          </a:xfrm>
        </p:grpSpPr>
        <p:sp>
          <p:nvSpPr>
            <p:cNvPr id="4" name="文本框 3"/>
            <p:cNvSpPr txBox="1"/>
            <p:nvPr/>
          </p:nvSpPr>
          <p:spPr>
            <a:xfrm>
              <a:off x="1934" y="5184"/>
              <a:ext cx="2386" cy="733"/>
            </a:xfrm>
            <a:prstGeom prst="rect">
              <a:avLst/>
            </a:prstGeom>
            <a:noFill/>
            <a:ln w="19050">
              <a:solidFill>
                <a:schemeClr val="tx1"/>
              </a:solidFill>
            </a:ln>
          </p:spPr>
          <p:txBody>
            <a:bodyPr wrap="square" rtlCol="0" anchor="ctr" anchorCtr="1">
              <a:noAutofit/>
            </a:bodyPr>
            <a:lstStyle/>
            <a:p>
              <a:r>
                <a:rPr lang="zh-CN" altLang="en-US" sz="2000" dirty="0">
                  <a:latin typeface="Times New Roman" panose="02020603050405020304" pitchFamily="18" charset="0"/>
                  <a:ea typeface="楷体" charset="0"/>
                  <a:cs typeface="Times New Roman" panose="02020603050405020304" pitchFamily="18" charset="0"/>
                </a:rPr>
                <a:t>X 车辆调度</a:t>
              </a:r>
            </a:p>
          </p:txBody>
        </p:sp>
        <p:sp>
          <p:nvSpPr>
            <p:cNvPr id="7" name="文本框 6"/>
            <p:cNvSpPr txBox="1"/>
            <p:nvPr/>
          </p:nvSpPr>
          <p:spPr>
            <a:xfrm>
              <a:off x="8048" y="3961"/>
              <a:ext cx="3981" cy="3980"/>
            </a:xfrm>
            <a:prstGeom prst="rect">
              <a:avLst/>
            </a:prstGeom>
            <a:noFill/>
            <a:ln w="19050">
              <a:solidFill>
                <a:schemeClr val="tx1"/>
              </a:solidFill>
              <a:prstDash val="solid"/>
            </a:ln>
          </p:spPr>
          <p:txBody>
            <a:bodyPr wrap="square" rtlCol="0">
              <a:noAutofit/>
            </a:bodyPr>
            <a:lstStyle/>
            <a:p>
              <a:pPr>
                <a:lnSpc>
                  <a:spcPct val="120000"/>
                </a:lnSpc>
              </a:pPr>
              <a:r>
                <a:rPr lang="zh-CN" altLang="en-US" dirty="0">
                  <a:latin typeface="Times New Roman" panose="02020603050405020304" pitchFamily="18" charset="0"/>
                  <a:ea typeface="楷体" charset="0"/>
                  <a:cs typeface="Times New Roman" panose="02020603050405020304" pitchFamily="18" charset="0"/>
                </a:rPr>
                <a:t>X.M1 车队报勤</a:t>
              </a:r>
            </a:p>
            <a:p>
              <a:pPr>
                <a:lnSpc>
                  <a:spcPct val="120000"/>
                </a:lnSpc>
              </a:pPr>
              <a:r>
                <a:rPr lang="zh-CN" altLang="en-US" dirty="0">
                  <a:latin typeface="Times New Roman" panose="02020603050405020304" pitchFamily="18" charset="0"/>
                  <a:ea typeface="楷体" charset="0"/>
                  <a:cs typeface="Times New Roman" panose="02020603050405020304" pitchFamily="18" charset="0"/>
                </a:rPr>
                <a:t>X.M2 新建用车计划</a:t>
              </a:r>
            </a:p>
            <a:p>
              <a:pPr>
                <a:lnSpc>
                  <a:spcPct val="120000"/>
                </a:lnSpc>
              </a:pPr>
              <a:r>
                <a:rPr lang="zh-CN" altLang="en-US" dirty="0">
                  <a:latin typeface="Times New Roman" panose="02020603050405020304" pitchFamily="18" charset="0"/>
                  <a:ea typeface="楷体" charset="0"/>
                  <a:cs typeface="Times New Roman" panose="02020603050405020304" pitchFamily="18" charset="0"/>
                </a:rPr>
                <a:t>X.M3 新建路单</a:t>
              </a:r>
            </a:p>
            <a:p>
              <a:pPr>
                <a:lnSpc>
                  <a:spcPct val="120000"/>
                </a:lnSpc>
              </a:pPr>
              <a:r>
                <a:rPr lang="zh-CN" altLang="en-US" dirty="0">
                  <a:latin typeface="Times New Roman" panose="02020603050405020304" pitchFamily="18" charset="0"/>
                  <a:ea typeface="楷体" charset="0"/>
                  <a:cs typeface="Times New Roman" panose="02020603050405020304" pitchFamily="18" charset="0"/>
                </a:rPr>
                <a:t>X.M4 新建出门证</a:t>
              </a:r>
            </a:p>
            <a:p>
              <a:pPr>
                <a:lnSpc>
                  <a:spcPct val="120000"/>
                </a:lnSpc>
              </a:pPr>
              <a:r>
                <a:rPr lang="zh-CN" altLang="en-US" dirty="0">
                  <a:latin typeface="Times New Roman" panose="02020603050405020304" pitchFamily="18" charset="0"/>
                  <a:ea typeface="楷体" charset="0"/>
                  <a:cs typeface="Times New Roman" panose="02020603050405020304" pitchFamily="18" charset="0"/>
                </a:rPr>
                <a:t>X.M5 出门管理</a:t>
              </a:r>
            </a:p>
            <a:p>
              <a:pPr>
                <a:lnSpc>
                  <a:spcPct val="120000"/>
                </a:lnSpc>
              </a:pPr>
              <a:r>
                <a:rPr lang="zh-CN" altLang="en-US" dirty="0">
                  <a:latin typeface="Times New Roman" panose="02020603050405020304" pitchFamily="18" charset="0"/>
                  <a:ea typeface="楷体" charset="0"/>
                  <a:cs typeface="Times New Roman" panose="02020603050405020304" pitchFamily="18" charset="0"/>
                </a:rPr>
                <a:t>X.M6 回单操作</a:t>
              </a:r>
            </a:p>
            <a:p>
              <a:pPr>
                <a:lnSpc>
                  <a:spcPct val="120000"/>
                </a:lnSpc>
              </a:pPr>
              <a:r>
                <a:rPr lang="zh-CN" altLang="en-US" dirty="0">
                  <a:latin typeface="Times New Roman" panose="02020603050405020304" pitchFamily="18" charset="0"/>
                  <a:ea typeface="楷体" charset="0"/>
                  <a:cs typeface="Times New Roman" panose="02020603050405020304" pitchFamily="18" charset="0"/>
                </a:rPr>
                <a:t>X.E1 单独开具出门证</a:t>
              </a:r>
            </a:p>
          </p:txBody>
        </p:sp>
        <p:sp>
          <p:nvSpPr>
            <p:cNvPr id="9" name="右箭头 8"/>
            <p:cNvSpPr/>
            <p:nvPr/>
          </p:nvSpPr>
          <p:spPr>
            <a:xfrm>
              <a:off x="5155" y="5184"/>
              <a:ext cx="2059" cy="628"/>
            </a:xfrm>
            <a:prstGeom prst="rightArrow">
              <a:avLst/>
            </a:prstGeom>
            <a:solidFill>
              <a:schemeClr val="bg2">
                <a:lumMod val="50000"/>
              </a:schemeClr>
            </a:solidFill>
            <a:ln>
              <a:noFill/>
            </a:ln>
            <a:effectLst>
              <a:outerShdw blurRad="50800" dist="38100" dir="2700000" algn="tl"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
        <p:nvSpPr>
          <p:cNvPr id="11" name="文本框 10"/>
          <p:cNvSpPr txBox="1"/>
          <p:nvPr/>
        </p:nvSpPr>
        <p:spPr>
          <a:xfrm>
            <a:off x="1457325" y="3224530"/>
            <a:ext cx="1332865" cy="399415"/>
          </a:xfrm>
          <a:prstGeom prst="rect">
            <a:avLst/>
          </a:prstGeom>
          <a:noFill/>
          <a:extLst>
            <a:ext uri="{909E8E84-426E-40DD-AFC4-6F175D3DCCD1}">
              <a14:hiddenFill xmlns:a14="http://schemas.microsoft.com/office/drawing/2010/main">
                <a:solidFill>
                  <a:schemeClr val="accent1">
                    <a:lumMod val="40000"/>
                    <a:lumOff val="60000"/>
                  </a:schemeClr>
                </a:solidFill>
              </a14:hiddenFill>
            </a:ext>
          </a:extLst>
        </p:spPr>
        <p:txBody>
          <a:bodyPr wrap="square" rtlCol="0">
            <a:noAutofit/>
          </a:bodyPr>
          <a:lstStyle/>
          <a:p>
            <a:r>
              <a:rPr lang="zh-CN" altLang="en-US" b="1">
                <a:solidFill>
                  <a:srgbClr val="870078"/>
                </a:solidFill>
                <a:latin typeface="楷体" charset="0"/>
                <a:ea typeface="楷体" charset="0"/>
              </a:rPr>
              <a:t>概要用例</a:t>
            </a:r>
          </a:p>
        </p:txBody>
      </p:sp>
      <p:sp>
        <p:nvSpPr>
          <p:cNvPr id="12" name="文本框 11"/>
          <p:cNvSpPr txBox="1"/>
          <p:nvPr>
            <p:custDataLst>
              <p:tags r:id="rId1"/>
            </p:custDataLst>
          </p:nvPr>
        </p:nvSpPr>
        <p:spPr>
          <a:xfrm>
            <a:off x="5762625" y="2459355"/>
            <a:ext cx="1332865" cy="399415"/>
          </a:xfrm>
          <a:prstGeom prst="rect">
            <a:avLst/>
          </a:prstGeom>
          <a:noFill/>
        </p:spPr>
        <p:txBody>
          <a:bodyPr wrap="square" rtlCol="0">
            <a:noAutofit/>
          </a:bodyPr>
          <a:lstStyle/>
          <a:p>
            <a:r>
              <a:rPr lang="zh-CN" altLang="en-US" b="1">
                <a:solidFill>
                  <a:srgbClr val="870078"/>
                </a:solidFill>
                <a:latin typeface="楷体" charset="0"/>
                <a:ea typeface="楷体" charset="0"/>
              </a:rPr>
              <a:t>具体用例</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sym typeface="+mn-ea"/>
              </a:rPr>
              <a:t>使用用例/场景组织获取内容</a:t>
            </a:r>
            <a:endParaRPr kumimoji="1" lang="zh-CN" altLang="en-US" sz="3200" b="1" dirty="0">
              <a:latin typeface="微软雅黑" panose="020B0503020204020204" pitchFamily="34" charset="-122"/>
              <a:ea typeface="微软雅黑" panose="020B0503020204020204" pitchFamily="34" charset="-122"/>
            </a:endParaRPr>
          </a:p>
        </p:txBody>
      </p:sp>
      <p:sp>
        <p:nvSpPr>
          <p:cNvPr id="3" name="内容占位符 2"/>
          <p:cNvSpPr txBox="1"/>
          <p:nvPr/>
        </p:nvSpPr>
        <p:spPr>
          <a:xfrm>
            <a:off x="628650" y="141367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endParaRPr kumimoji="1" lang="zh-CN" altLang="en-US" dirty="0">
              <a:latin typeface="KaiTi" panose="02010609060101010101" pitchFamily="49" charset="-122"/>
              <a:ea typeface="KaiTi" panose="02010609060101010101" pitchFamily="49" charset="-122"/>
            </a:endParaRPr>
          </a:p>
        </p:txBody>
      </p:sp>
      <p:sp>
        <p:nvSpPr>
          <p:cNvPr id="6" name="文本框 5"/>
          <p:cNvSpPr txBox="1"/>
          <p:nvPr/>
        </p:nvSpPr>
        <p:spPr>
          <a:xfrm>
            <a:off x="151596" y="16999"/>
            <a:ext cx="509524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rPr>
              <a:t>以用例/场景模型为主线索开展用户需求开发</a:t>
            </a:r>
          </a:p>
        </p:txBody>
      </p:sp>
      <p:graphicFrame>
        <p:nvGraphicFramePr>
          <p:cNvPr id="7" name="表格 6"/>
          <p:cNvGraphicFramePr/>
          <p:nvPr>
            <p:custDataLst>
              <p:tags r:id="rId1"/>
            </p:custDataLst>
          </p:nvPr>
        </p:nvGraphicFramePr>
        <p:xfrm>
          <a:off x="628650" y="2130425"/>
          <a:ext cx="8134350" cy="4065270"/>
        </p:xfrm>
        <a:graphic>
          <a:graphicData uri="http://schemas.openxmlformats.org/drawingml/2006/table">
            <a:tbl>
              <a:tblPr firstRow="1" bandRow="1">
                <a:tableStyleId>{5C22544A-7EE6-4342-B048-85BDC9FD1C3A}</a:tableStyleId>
              </a:tblPr>
              <a:tblGrid>
                <a:gridCol w="2292350">
                  <a:extLst>
                    <a:ext uri="{9D8B030D-6E8A-4147-A177-3AD203B41FA5}">
                      <a16:colId xmlns:a16="http://schemas.microsoft.com/office/drawing/2014/main" val="20000"/>
                    </a:ext>
                  </a:extLst>
                </a:gridCol>
                <a:gridCol w="5842000">
                  <a:extLst>
                    <a:ext uri="{9D8B030D-6E8A-4147-A177-3AD203B41FA5}">
                      <a16:colId xmlns:a16="http://schemas.microsoft.com/office/drawing/2014/main" val="20001"/>
                    </a:ext>
                  </a:extLst>
                </a:gridCol>
              </a:tblGrid>
              <a:tr h="414020">
                <a:tc>
                  <a:txBody>
                    <a:bodyPr/>
                    <a:lstStyle/>
                    <a:p>
                      <a:pPr>
                        <a:buNone/>
                      </a:pPr>
                      <a:r>
                        <a:rPr lang="zh-CN" altLang="en-US">
                          <a:latin typeface="楷体" charset="0"/>
                          <a:ea typeface="楷体" charset="0"/>
                        </a:rPr>
                        <a:t>谈话要点</a:t>
                      </a:r>
                    </a:p>
                  </a:txBody>
                  <a:tcPr/>
                </a:tc>
                <a:tc>
                  <a:txBody>
                    <a:bodyPr/>
                    <a:lstStyle/>
                    <a:p>
                      <a:pPr>
                        <a:buNone/>
                      </a:pPr>
                      <a:r>
                        <a:rPr lang="zh-CN" altLang="en-US">
                          <a:latin typeface="楷体" charset="0"/>
                          <a:ea typeface="楷体" charset="0"/>
                        </a:rPr>
                        <a:t>被会见者观点</a:t>
                      </a:r>
                    </a:p>
                  </a:txBody>
                  <a:tcPr/>
                </a:tc>
                <a:extLst>
                  <a:ext uri="{0D108BD9-81ED-4DB2-BD59-A6C34878D82A}">
                    <a16:rowId xmlns:a16="http://schemas.microsoft.com/office/drawing/2014/main" val="10000"/>
                  </a:ext>
                </a:extLst>
              </a:tr>
              <a:tr h="709930">
                <a:tc>
                  <a:txBody>
                    <a:bodyPr/>
                    <a:lstStyle/>
                    <a:p>
                      <a:pPr>
                        <a:buNone/>
                      </a:pPr>
                      <a:r>
                        <a:rPr lang="zh-CN" altLang="en-US">
                          <a:latin typeface="楷体" charset="0"/>
                          <a:ea typeface="楷体" charset="0"/>
                        </a:rPr>
                        <a:t>主要任务</a:t>
                      </a:r>
                    </a:p>
                  </a:txBody>
                  <a:tcPr/>
                </a:tc>
                <a:tc>
                  <a:txBody>
                    <a:bodyPr/>
                    <a:lstStyle/>
                    <a:p>
                      <a:pPr>
                        <a:buNone/>
                      </a:pPr>
                      <a:r>
                        <a:rPr lang="zh-CN" altLang="en-US">
                          <a:latin typeface="楷体" charset="0"/>
                          <a:ea typeface="楷体" charset="0"/>
                        </a:rPr>
                        <a:t>主要的工作是车辆调度</a:t>
                      </a:r>
                    </a:p>
                    <a:p>
                      <a:pPr>
                        <a:buNone/>
                      </a:pPr>
                      <a:r>
                        <a:rPr lang="zh-CN" altLang="en-US">
                          <a:latin typeface="楷体" charset="0"/>
                          <a:ea typeface="楷体" charset="0"/>
                        </a:rPr>
                        <a:t>包括：车队报勤、开用车计划、开路单、开出门证</a:t>
                      </a:r>
                    </a:p>
                  </a:txBody>
                  <a:tcPr/>
                </a:tc>
                <a:extLst>
                  <a:ext uri="{0D108BD9-81ED-4DB2-BD59-A6C34878D82A}">
                    <a16:rowId xmlns:a16="http://schemas.microsoft.com/office/drawing/2014/main" val="10001"/>
                  </a:ext>
                </a:extLst>
              </a:tr>
              <a:tr h="1623060">
                <a:tc>
                  <a:txBody>
                    <a:bodyPr/>
                    <a:lstStyle/>
                    <a:p>
                      <a:pPr>
                        <a:buNone/>
                      </a:pPr>
                      <a:r>
                        <a:rPr lang="zh-CN" altLang="en-US">
                          <a:latin typeface="楷体" charset="0"/>
                          <a:ea typeface="楷体" charset="0"/>
                        </a:rPr>
                        <a:t>具体流程</a:t>
                      </a:r>
                    </a:p>
                  </a:txBody>
                  <a:tcPr/>
                </a:tc>
                <a:tc>
                  <a:txBody>
                    <a:bodyPr/>
                    <a:lstStyle/>
                    <a:p>
                      <a:pPr>
                        <a:buNone/>
                      </a:pPr>
                      <a:r>
                        <a:rPr lang="zh-CN" altLang="en-US">
                          <a:latin typeface="楷体" charset="0"/>
                          <a:ea typeface="楷体" charset="0"/>
                          <a:cs typeface="楷体" charset="0"/>
                        </a:rPr>
                        <a:t>基本流程是</a:t>
                      </a:r>
                    </a:p>
                    <a:p>
                      <a:pPr>
                        <a:buNone/>
                      </a:pPr>
                      <a:r>
                        <a:rPr lang="zh-CN" altLang="en-US">
                          <a:latin typeface="楷体" charset="0"/>
                          <a:ea typeface="楷体" charset="0"/>
                          <a:cs typeface="楷体" charset="0"/>
                        </a:rPr>
                        <a:t>1.每天晚上，车队会报第二天的勤，包括人员报勤和车辆报勤</a:t>
                      </a:r>
                    </a:p>
                    <a:p>
                      <a:pPr>
                        <a:buNone/>
                      </a:pPr>
                      <a:r>
                        <a:rPr lang="zh-CN" altLang="en-US">
                          <a:latin typeface="楷体" charset="0"/>
                          <a:ea typeface="楷体" charset="0"/>
                          <a:cs typeface="楷体" charset="0"/>
                        </a:rPr>
                        <a:t>2.之后如果有新任务，会新建用车计划。</a:t>
                      </a:r>
                    </a:p>
                    <a:p>
                      <a:pPr>
                        <a:buNone/>
                      </a:pPr>
                      <a:r>
                        <a:rPr lang="zh-CN" altLang="en-US">
                          <a:latin typeface="楷体" charset="0"/>
                          <a:ea typeface="楷体" charset="0"/>
                          <a:cs typeface="楷体" charset="0"/>
                        </a:rPr>
                        <a:t>3.之后根据用车计划，开具路单，同时附带一张出门证。</a:t>
                      </a:r>
                    </a:p>
                  </a:txBody>
                  <a:tcPr/>
                </a:tc>
                <a:extLst>
                  <a:ext uri="{0D108BD9-81ED-4DB2-BD59-A6C34878D82A}">
                    <a16:rowId xmlns:a16="http://schemas.microsoft.com/office/drawing/2014/main" val="10002"/>
                  </a:ext>
                </a:extLst>
              </a:tr>
              <a:tr h="1318260">
                <a:tc>
                  <a:txBody>
                    <a:bodyPr/>
                    <a:lstStyle/>
                    <a:p>
                      <a:pPr>
                        <a:buNone/>
                      </a:pPr>
                      <a:r>
                        <a:rPr lang="zh-CN" altLang="en-US">
                          <a:latin typeface="楷体" charset="0"/>
                          <a:ea typeface="楷体" charset="0"/>
                        </a:rPr>
                        <a:t>分支流程</a:t>
                      </a:r>
                    </a:p>
                  </a:txBody>
                  <a:tcPr/>
                </a:tc>
                <a:tc>
                  <a:txBody>
                    <a:bodyPr/>
                    <a:lstStyle/>
                    <a:p>
                      <a:pPr>
                        <a:buNone/>
                      </a:pPr>
                      <a:r>
                        <a:rPr lang="zh-CN" altLang="en-US">
                          <a:latin typeface="楷体" charset="0"/>
                          <a:ea typeface="楷体" charset="0"/>
                          <a:cs typeface="楷体" charset="0"/>
                        </a:rPr>
                        <a:t>主要的分支流程</a:t>
                      </a:r>
                    </a:p>
                    <a:p>
                      <a:pPr>
                        <a:buNone/>
                      </a:pPr>
                      <a:r>
                        <a:rPr lang="zh-CN" altLang="en-US">
                          <a:latin typeface="楷体" charset="0"/>
                          <a:ea typeface="楷体" charset="0"/>
                          <a:cs typeface="楷体" charset="0"/>
                        </a:rPr>
                        <a:t>1</a:t>
                      </a:r>
                      <a:r>
                        <a:rPr lang="en-US" altLang="zh-CN">
                          <a:latin typeface="楷体" charset="0"/>
                          <a:ea typeface="楷体" charset="0"/>
                          <a:cs typeface="楷体" charset="0"/>
                        </a:rPr>
                        <a:t>.</a:t>
                      </a:r>
                      <a:r>
                        <a:rPr lang="zh-CN" altLang="en-US">
                          <a:latin typeface="楷体" charset="0"/>
                          <a:ea typeface="楷体" charset="0"/>
                          <a:cs typeface="楷体" charset="0"/>
                        </a:rPr>
                        <a:t>没有用车计划，也有可能开路单。</a:t>
                      </a:r>
                    </a:p>
                    <a:p>
                      <a:pPr>
                        <a:buNone/>
                      </a:pPr>
                      <a:r>
                        <a:rPr lang="zh-CN" altLang="en-US">
                          <a:latin typeface="楷体" charset="0"/>
                          <a:ea typeface="楷体" charset="0"/>
                          <a:cs typeface="楷体" charset="0"/>
                        </a:rPr>
                        <a:t>2</a:t>
                      </a:r>
                      <a:r>
                        <a:rPr lang="en-US" altLang="zh-CN">
                          <a:latin typeface="楷体" charset="0"/>
                          <a:ea typeface="楷体" charset="0"/>
                          <a:cs typeface="楷体" charset="0"/>
                        </a:rPr>
                        <a:t>.</a:t>
                      </a:r>
                      <a:r>
                        <a:rPr lang="zh-CN" altLang="en-US">
                          <a:latin typeface="楷体" charset="0"/>
                          <a:ea typeface="楷体" charset="0"/>
                          <a:cs typeface="楷体" charset="0"/>
                        </a:rPr>
                        <a:t>开路单的车辆选择也可能不算报勤车辆</a:t>
                      </a:r>
                    </a:p>
                    <a:p>
                      <a:pPr>
                        <a:buNone/>
                      </a:pPr>
                      <a:r>
                        <a:rPr lang="zh-CN" altLang="en-US">
                          <a:latin typeface="楷体" charset="0"/>
                          <a:ea typeface="楷体" charset="0"/>
                          <a:cs typeface="楷体" charset="0"/>
                        </a:rPr>
                        <a:t>3</a:t>
                      </a:r>
                      <a:r>
                        <a:rPr lang="en-US" altLang="zh-CN">
                          <a:latin typeface="楷体" charset="0"/>
                          <a:ea typeface="楷体" charset="0"/>
                          <a:cs typeface="楷体" charset="0"/>
                        </a:rPr>
                        <a:t>.</a:t>
                      </a:r>
                      <a:r>
                        <a:rPr lang="zh-CN" altLang="en-US">
                          <a:latin typeface="楷体" charset="0"/>
                          <a:ea typeface="楷体" charset="0"/>
                          <a:cs typeface="楷体" charset="0"/>
                        </a:rPr>
                        <a:t>没有路单，也有可能单开出门证</a:t>
                      </a:r>
                    </a:p>
                  </a:txBody>
                  <a:tcPr/>
                </a:tc>
                <a:extLst>
                  <a:ext uri="{0D108BD9-81ED-4DB2-BD59-A6C34878D82A}">
                    <a16:rowId xmlns:a16="http://schemas.microsoft.com/office/drawing/2014/main" val="10003"/>
                  </a:ext>
                </a:extLst>
              </a:tr>
            </a:tbl>
          </a:graphicData>
        </a:graphic>
      </p:graphicFrame>
      <p:sp>
        <p:nvSpPr>
          <p:cNvPr id="4" name="文本框 3"/>
          <p:cNvSpPr txBox="1"/>
          <p:nvPr/>
        </p:nvSpPr>
        <p:spPr>
          <a:xfrm>
            <a:off x="628650" y="1731645"/>
            <a:ext cx="3766185" cy="398780"/>
          </a:xfrm>
          <a:prstGeom prst="rect">
            <a:avLst/>
          </a:prstGeom>
          <a:noFill/>
        </p:spPr>
        <p:txBody>
          <a:bodyPr wrap="square" rtlCol="0">
            <a:noAutofit/>
          </a:bodyPr>
          <a:lstStyle/>
          <a:p>
            <a:r>
              <a:rPr kumimoji="1" lang="zh-CN" altLang="en-US" dirty="0">
                <a:latin typeface="楷体" charset="0"/>
                <a:ea typeface="楷体" charset="0"/>
                <a:cs typeface="楷体" charset="0"/>
                <a:sym typeface="+mn-ea"/>
              </a:rPr>
              <a:t>获取内容示例——面谈报告</a:t>
            </a:r>
            <a:endParaRPr kumimoji="1" lang="zh-CN" altLang="en-US" dirty="0">
              <a:latin typeface="楷体" charset="0"/>
              <a:ea typeface="楷体" charset="0"/>
              <a:cs typeface="楷体" charset="0"/>
            </a:endParaRPr>
          </a:p>
          <a:p>
            <a:endParaRPr lang="zh-CN" altLang="en-US">
              <a:latin typeface="楷体" charset="0"/>
              <a:ea typeface="楷体" charset="0"/>
              <a:cs typeface="楷体" charset="0"/>
            </a:endParaRPr>
          </a:p>
        </p:txBody>
      </p:sp>
      <p:sp>
        <p:nvSpPr>
          <p:cNvPr id="5" name="文本框 4"/>
          <p:cNvSpPr txBox="1"/>
          <p:nvPr/>
        </p:nvSpPr>
        <p:spPr>
          <a:xfrm>
            <a:off x="628650" y="1231265"/>
            <a:ext cx="7957820" cy="473710"/>
          </a:xfrm>
          <a:prstGeom prst="rect">
            <a:avLst/>
          </a:prstGeom>
          <a:noFill/>
          <a:ln w="19050">
            <a:solidFill>
              <a:srgbClr val="870078"/>
            </a:solidFill>
            <a:prstDash val="dashDot"/>
          </a:ln>
        </p:spPr>
        <p:txBody>
          <a:bodyPr wrap="square" rtlCol="0">
            <a:noAutofit/>
          </a:bodyPr>
          <a:lstStyle/>
          <a:p>
            <a:r>
              <a:rPr kumimoji="1" lang="en-US" altLang="zh-CN" sz="2000" dirty="0">
                <a:latin typeface="KaiTi" panose="02010609060101010101" pitchFamily="49" charset="-122"/>
                <a:ea typeface="KaiTi" panose="02010609060101010101" pitchFamily="49" charset="-122"/>
                <a:sym typeface="+mn-ea"/>
              </a:rPr>
              <a:t>要及时地使用用例/场景将需求获取活动得到</a:t>
            </a:r>
            <a:r>
              <a:rPr kumimoji="1" lang="zh-CN" altLang="en-US" sz="2000" dirty="0">
                <a:latin typeface="KaiTi" panose="02010609060101010101" pitchFamily="49" charset="-122"/>
                <a:ea typeface="KaiTi" panose="02010609060101010101" pitchFamily="49" charset="-122"/>
                <a:sym typeface="+mn-ea"/>
              </a:rPr>
              <a:t>的</a:t>
            </a:r>
            <a:r>
              <a:rPr kumimoji="1" lang="en-US" altLang="zh-CN" sz="2000" dirty="0">
                <a:latin typeface="KaiTi" panose="02010609060101010101" pitchFamily="49" charset="-122"/>
                <a:ea typeface="KaiTi" panose="02010609060101010101" pitchFamily="49" charset="-122"/>
                <a:sym typeface="+mn-ea"/>
              </a:rPr>
              <a:t>需求内容组织起来</a:t>
            </a:r>
            <a:r>
              <a:rPr kumimoji="1" lang="zh-CN" altLang="en-US" sz="2000" dirty="0">
                <a:latin typeface="KaiTi" panose="02010609060101010101" pitchFamily="49" charset="-122"/>
                <a:ea typeface="KaiTi" panose="02010609060101010101" pitchFamily="49" charset="-122"/>
                <a:sym typeface="+mn-ea"/>
              </a:rPr>
              <a:t>。</a:t>
            </a:r>
            <a:endParaRPr kumimoji="1" lang="zh-CN" altLang="en-US" sz="2000" dirty="0">
              <a:latin typeface="KaiTi" panose="02010609060101010101" pitchFamily="49" charset="-122"/>
              <a:ea typeface="KaiTi" panose="02010609060101010101" pitchFamily="49"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使用用例/场景组织需求获取内容示例</a:t>
            </a:r>
          </a:p>
        </p:txBody>
      </p:sp>
      <p:sp>
        <p:nvSpPr>
          <p:cNvPr id="3" name="内容占位符 2"/>
          <p:cNvSpPr txBox="1"/>
          <p:nvPr/>
        </p:nvSpPr>
        <p:spPr>
          <a:xfrm>
            <a:off x="628650" y="141367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endParaRPr kumimoji="1" lang="en-US" altLang="zh-CN" dirty="0">
              <a:latin typeface="KaiTi" panose="02010609060101010101" pitchFamily="49" charset="-122"/>
              <a:ea typeface="KaiTi" panose="02010609060101010101" pitchFamily="49" charset="-122"/>
            </a:endParaRPr>
          </a:p>
        </p:txBody>
      </p:sp>
      <p:sp>
        <p:nvSpPr>
          <p:cNvPr id="6" name="文本框 5"/>
          <p:cNvSpPr txBox="1"/>
          <p:nvPr/>
        </p:nvSpPr>
        <p:spPr>
          <a:xfrm>
            <a:off x="151596" y="16999"/>
            <a:ext cx="509524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rPr>
              <a:t>以用例/场景模型为主线索开展用户需求开发</a:t>
            </a:r>
          </a:p>
        </p:txBody>
      </p:sp>
      <p:graphicFrame>
        <p:nvGraphicFramePr>
          <p:cNvPr id="4" name="表格 3"/>
          <p:cNvGraphicFramePr/>
          <p:nvPr>
            <p:custDataLst>
              <p:tags r:id="rId1"/>
            </p:custDataLst>
          </p:nvPr>
        </p:nvGraphicFramePr>
        <p:xfrm>
          <a:off x="713105" y="1346835"/>
          <a:ext cx="7534910" cy="4618990"/>
        </p:xfrm>
        <a:graphic>
          <a:graphicData uri="http://schemas.openxmlformats.org/drawingml/2006/table">
            <a:tbl>
              <a:tblPr firstRow="1" bandRow="1">
                <a:tableStyleId>{5C22544A-7EE6-4342-B048-85BDC9FD1C3A}</a:tableStyleId>
              </a:tblPr>
              <a:tblGrid>
                <a:gridCol w="1257935">
                  <a:extLst>
                    <a:ext uri="{9D8B030D-6E8A-4147-A177-3AD203B41FA5}">
                      <a16:colId xmlns:a16="http://schemas.microsoft.com/office/drawing/2014/main" val="20000"/>
                    </a:ext>
                  </a:extLst>
                </a:gridCol>
                <a:gridCol w="795020">
                  <a:extLst>
                    <a:ext uri="{9D8B030D-6E8A-4147-A177-3AD203B41FA5}">
                      <a16:colId xmlns:a16="http://schemas.microsoft.com/office/drawing/2014/main" val="20001"/>
                    </a:ext>
                  </a:extLst>
                </a:gridCol>
                <a:gridCol w="1169035">
                  <a:extLst>
                    <a:ext uri="{9D8B030D-6E8A-4147-A177-3AD203B41FA5}">
                      <a16:colId xmlns:a16="http://schemas.microsoft.com/office/drawing/2014/main" val="20002"/>
                    </a:ext>
                  </a:extLst>
                </a:gridCol>
                <a:gridCol w="1945005">
                  <a:extLst>
                    <a:ext uri="{9D8B030D-6E8A-4147-A177-3AD203B41FA5}">
                      <a16:colId xmlns:a16="http://schemas.microsoft.com/office/drawing/2014/main" val="20003"/>
                    </a:ext>
                  </a:extLst>
                </a:gridCol>
                <a:gridCol w="1119505">
                  <a:extLst>
                    <a:ext uri="{9D8B030D-6E8A-4147-A177-3AD203B41FA5}">
                      <a16:colId xmlns:a16="http://schemas.microsoft.com/office/drawing/2014/main" val="20004"/>
                    </a:ext>
                  </a:extLst>
                </a:gridCol>
                <a:gridCol w="1248410">
                  <a:extLst>
                    <a:ext uri="{9D8B030D-6E8A-4147-A177-3AD203B41FA5}">
                      <a16:colId xmlns:a16="http://schemas.microsoft.com/office/drawing/2014/main" val="20005"/>
                    </a:ext>
                  </a:extLst>
                </a:gridCol>
              </a:tblGrid>
              <a:tr h="422910">
                <a:tc>
                  <a:txBody>
                    <a:bodyPr/>
                    <a:lstStyle/>
                    <a:p>
                      <a:pPr algn="ctr">
                        <a:buNone/>
                      </a:pPr>
                      <a:r>
                        <a:rPr lang="en-US" altLang="zh-CN" b="0">
                          <a:latin typeface="Times New Roman" panose="02020603050405020304" pitchFamily="18" charset="0"/>
                          <a:ea typeface="楷体" charset="0"/>
                          <a:cs typeface="Times New Roman" panose="02020603050405020304" pitchFamily="18" charset="0"/>
                        </a:rPr>
                        <a:t>ID</a:t>
                      </a:r>
                    </a:p>
                  </a:txBody>
                  <a:tcPr/>
                </a:tc>
                <a:tc>
                  <a:txBody>
                    <a:bodyPr/>
                    <a:lstStyle/>
                    <a:p>
                      <a:pPr algn="ctr">
                        <a:buNone/>
                      </a:pPr>
                      <a:r>
                        <a:rPr lang="en-US" altLang="zh-CN" b="0">
                          <a:latin typeface="Times New Roman" panose="02020603050405020304" pitchFamily="18" charset="0"/>
                          <a:ea typeface="楷体" charset="0"/>
                          <a:cs typeface="Times New Roman" panose="02020603050405020304" pitchFamily="18" charset="0"/>
                        </a:rPr>
                        <a:t>X</a:t>
                      </a:r>
                    </a:p>
                  </a:txBody>
                  <a:tcPr/>
                </a:tc>
                <a:tc>
                  <a:txBody>
                    <a:bodyPr/>
                    <a:lstStyle/>
                    <a:p>
                      <a:pPr algn="ctr">
                        <a:buNone/>
                      </a:pPr>
                      <a:r>
                        <a:rPr lang="en-US" altLang="zh-CN" b="0">
                          <a:latin typeface="Times New Roman" panose="02020603050405020304" pitchFamily="18" charset="0"/>
                          <a:ea typeface="楷体" charset="0"/>
                          <a:cs typeface="Times New Roman" panose="02020603050405020304" pitchFamily="18" charset="0"/>
                        </a:rPr>
                        <a:t>名称 </a:t>
                      </a:r>
                    </a:p>
                  </a:txBody>
                  <a:tcPr/>
                </a:tc>
                <a:tc>
                  <a:txBody>
                    <a:bodyPr/>
                    <a:lstStyle/>
                    <a:p>
                      <a:pPr algn="ctr">
                        <a:buNone/>
                      </a:pPr>
                      <a:r>
                        <a:rPr lang="en-US" altLang="zh-CN" sz="1800" b="0">
                          <a:latin typeface="Times New Roman" panose="02020603050405020304" pitchFamily="18" charset="0"/>
                          <a:ea typeface="楷体" charset="0"/>
                          <a:cs typeface="Times New Roman" panose="02020603050405020304" pitchFamily="18" charset="0"/>
                          <a:sym typeface="+mn-ea"/>
                        </a:rPr>
                        <a:t>车辆调度 </a:t>
                      </a:r>
                    </a:p>
                  </a:txBody>
                  <a:tcPr/>
                </a:tc>
                <a:tc>
                  <a:txBody>
                    <a:bodyPr/>
                    <a:lstStyle/>
                    <a:p>
                      <a:pPr algn="ctr">
                        <a:buNone/>
                      </a:pPr>
                      <a:r>
                        <a:rPr lang="en-US" altLang="zh-CN" sz="1800" b="0">
                          <a:latin typeface="Times New Roman" panose="02020603050405020304" pitchFamily="18" charset="0"/>
                          <a:ea typeface="楷体" charset="0"/>
                          <a:cs typeface="Times New Roman" panose="02020603050405020304" pitchFamily="18" charset="0"/>
                          <a:sym typeface="+mn-ea"/>
                        </a:rPr>
                        <a:t>优先级 </a:t>
                      </a:r>
                    </a:p>
                  </a:txBody>
                  <a:tcPr/>
                </a:tc>
                <a:tc>
                  <a:txBody>
                    <a:bodyPr/>
                    <a:lstStyle/>
                    <a:p>
                      <a:pPr algn="ctr">
                        <a:buNone/>
                      </a:pPr>
                      <a:r>
                        <a:rPr lang="en-US" altLang="zh-CN" sz="1800" b="0">
                          <a:latin typeface="Times New Roman" panose="02020603050405020304" pitchFamily="18" charset="0"/>
                          <a:ea typeface="楷体" charset="0"/>
                          <a:cs typeface="Times New Roman" panose="02020603050405020304" pitchFamily="18" charset="0"/>
                          <a:sym typeface="+mn-ea"/>
                        </a:rPr>
                        <a:t>高</a:t>
                      </a:r>
                    </a:p>
                  </a:txBody>
                  <a:tcPr/>
                </a:tc>
                <a:extLst>
                  <a:ext uri="{0D108BD9-81ED-4DB2-BD59-A6C34878D82A}">
                    <a16:rowId xmlns:a16="http://schemas.microsoft.com/office/drawing/2014/main" val="10000"/>
                  </a:ext>
                </a:extLst>
              </a:tr>
              <a:tr h="1167130">
                <a:tc gridSpan="2">
                  <a:txBody>
                    <a:bodyPr/>
                    <a:lstStyle/>
                    <a:p>
                      <a:pPr>
                        <a:buNone/>
                      </a:pPr>
                      <a:r>
                        <a:rPr lang="zh-CN" altLang="en-US">
                          <a:latin typeface="Times New Roman" panose="02020603050405020304" pitchFamily="18" charset="0"/>
                          <a:ea typeface="楷体" charset="0"/>
                          <a:cs typeface="Times New Roman" panose="02020603050405020304" pitchFamily="18" charset="0"/>
                        </a:rPr>
                        <a:t>参与者及目标</a:t>
                      </a:r>
                    </a:p>
                    <a:p>
                      <a:pPr>
                        <a:buNone/>
                      </a:pPr>
                      <a:endParaRPr lang="zh-CN" altLang="en-US">
                        <a:latin typeface="Times New Roman" panose="02020603050405020304" pitchFamily="18" charset="0"/>
                        <a:ea typeface="楷体" charset="0"/>
                        <a:cs typeface="Times New Roman" panose="02020603050405020304" pitchFamily="18" charset="0"/>
                      </a:endParaRPr>
                    </a:p>
                  </a:txBody>
                  <a:tcPr/>
                </a:tc>
                <a:tc hMerge="1">
                  <a:txBody>
                    <a:bodyPr/>
                    <a:lstStyle/>
                    <a:p>
                      <a:endParaRPr lang="zh-CN"/>
                    </a:p>
                  </a:txBody>
                  <a:tcPr/>
                </a:tc>
                <a:tc gridSpan="4">
                  <a:txBody>
                    <a:bodyPr/>
                    <a:lstStyle/>
                    <a:p>
                      <a:pPr>
                        <a:buNone/>
                      </a:pPr>
                      <a:r>
                        <a:rPr lang="zh-CN" altLang="en-US" sz="1800">
                          <a:latin typeface="Times New Roman" panose="02020603050405020304" pitchFamily="18" charset="0"/>
                          <a:ea typeface="楷体" charset="0"/>
                          <a:cs typeface="Times New Roman" panose="02020603050405020304" pitchFamily="18" charset="0"/>
                          <a:sym typeface="+mn-ea"/>
                        </a:rPr>
                        <a:t>（主参与者）调度室：安排车队的每日调度计划</a:t>
                      </a:r>
                      <a:endParaRPr lang="zh-CN" altLang="en-US" sz="1800">
                        <a:latin typeface="Times New Roman" panose="02020603050405020304" pitchFamily="18" charset="0"/>
                        <a:ea typeface="楷体" charset="0"/>
                        <a:cs typeface="Times New Roman" panose="02020603050405020304" pitchFamily="18" charset="0"/>
                      </a:endParaRPr>
                    </a:p>
                    <a:p>
                      <a:pPr>
                        <a:buNone/>
                      </a:pPr>
                      <a:r>
                        <a:rPr lang="zh-CN" altLang="en-US" sz="1800">
                          <a:latin typeface="Times New Roman" panose="02020603050405020304" pitchFamily="18" charset="0"/>
                          <a:ea typeface="楷体" charset="0"/>
                          <a:cs typeface="Times New Roman" panose="02020603050405020304" pitchFamily="18" charset="0"/>
                          <a:sym typeface="+mn-ea"/>
                        </a:rPr>
                        <a:t>（辅助参与者）车队领导：管理、批准调度计划</a:t>
                      </a:r>
                      <a:endParaRPr lang="zh-CN" altLang="en-US" sz="1800">
                        <a:latin typeface="Times New Roman" panose="02020603050405020304" pitchFamily="18" charset="0"/>
                        <a:ea typeface="楷体" charset="0"/>
                        <a:cs typeface="Times New Roman" panose="02020603050405020304" pitchFamily="18" charset="0"/>
                      </a:endParaRPr>
                    </a:p>
                    <a:p>
                      <a:pPr>
                        <a:buNone/>
                      </a:pPr>
                      <a:r>
                        <a:rPr lang="zh-CN" altLang="en-US" sz="1800">
                          <a:latin typeface="Times New Roman" panose="02020603050405020304" pitchFamily="18" charset="0"/>
                          <a:ea typeface="楷体" charset="0"/>
                          <a:cs typeface="Times New Roman" panose="02020603050405020304" pitchFamily="18" charset="0"/>
                          <a:sym typeface="+mn-ea"/>
                        </a:rPr>
                        <a:t>（辅助参与者）司机：上报自己车辆的安排</a:t>
                      </a:r>
                      <a:endParaRPr lang="zh-CN" altLang="en-US">
                        <a:latin typeface="Times New Roman" panose="02020603050405020304" pitchFamily="18" charset="0"/>
                        <a:ea typeface="楷体" charset="0"/>
                        <a:cs typeface="Times New Roman" panose="02020603050405020304" pitchFamily="18" charset="0"/>
                      </a:endParaRPr>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538480">
                <a:tc gridSpan="2">
                  <a:txBody>
                    <a:bodyPr/>
                    <a:lstStyle/>
                    <a:p>
                      <a:pPr>
                        <a:buNone/>
                      </a:pPr>
                      <a:r>
                        <a:rPr lang="zh-CN" altLang="en-US">
                          <a:latin typeface="Times New Roman" panose="02020603050405020304" pitchFamily="18" charset="0"/>
                          <a:ea typeface="楷体" charset="0"/>
                          <a:cs typeface="Times New Roman" panose="02020603050405020304" pitchFamily="18" charset="0"/>
                        </a:rPr>
                        <a:t>触发条件</a:t>
                      </a:r>
                    </a:p>
                  </a:txBody>
                  <a:tcPr/>
                </a:tc>
                <a:tc hMerge="1">
                  <a:txBody>
                    <a:bodyPr/>
                    <a:lstStyle/>
                    <a:p>
                      <a:endParaRPr lang="zh-CN"/>
                    </a:p>
                  </a:txBody>
                  <a:tcPr/>
                </a:tc>
                <a:tc gridSpan="4">
                  <a:txBody>
                    <a:bodyPr/>
                    <a:lstStyle/>
                    <a:p>
                      <a:pPr>
                        <a:buNone/>
                      </a:pPr>
                      <a:r>
                        <a:rPr lang="zh-CN" altLang="en-US" sz="1800">
                          <a:latin typeface="Times New Roman" panose="02020603050405020304" pitchFamily="18" charset="0"/>
                          <a:ea typeface="楷体" charset="0"/>
                          <a:cs typeface="Times New Roman" panose="02020603050405020304" pitchFamily="18" charset="0"/>
                          <a:sym typeface="+mn-ea"/>
                        </a:rPr>
                        <a:t> 每天晚上</a:t>
                      </a:r>
                      <a:endParaRPr lang="zh-CN" altLang="en-US">
                        <a:latin typeface="Times New Roman" panose="02020603050405020304" pitchFamily="18" charset="0"/>
                        <a:ea typeface="楷体" charset="0"/>
                        <a:cs typeface="Times New Roman" panose="02020603050405020304" pitchFamily="18" charset="0"/>
                      </a:endParaRPr>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2"/>
                  </a:ext>
                </a:extLst>
              </a:tr>
              <a:tr h="1398905">
                <a:tc gridSpan="2">
                  <a:txBody>
                    <a:bodyPr/>
                    <a:lstStyle/>
                    <a:p>
                      <a:pPr>
                        <a:buNone/>
                      </a:pPr>
                      <a:r>
                        <a:rPr lang="zh-CN" altLang="en-US" sz="1800">
                          <a:latin typeface="Times New Roman" panose="02020603050405020304" pitchFamily="18" charset="0"/>
                          <a:ea typeface="楷体" charset="0"/>
                          <a:cs typeface="Times New Roman" panose="02020603050405020304" pitchFamily="18" charset="0"/>
                          <a:sym typeface="+mn-ea"/>
                        </a:rPr>
                        <a:t>主流程</a:t>
                      </a:r>
                    </a:p>
                  </a:txBody>
                  <a:tcPr/>
                </a:tc>
                <a:tc hMerge="1">
                  <a:txBody>
                    <a:bodyPr/>
                    <a:lstStyle/>
                    <a:p>
                      <a:endParaRPr lang="zh-CN"/>
                    </a:p>
                  </a:txBody>
                  <a:tcPr/>
                </a:tc>
                <a:tc gridSpan="4">
                  <a:txBody>
                    <a:bodyPr/>
                    <a:lstStyle/>
                    <a:p>
                      <a:pPr>
                        <a:buNone/>
                      </a:pPr>
                      <a:r>
                        <a:rPr lang="zh-CN" altLang="en-US" sz="1800">
                          <a:latin typeface="Times New Roman" panose="02020603050405020304" pitchFamily="18" charset="0"/>
                          <a:ea typeface="楷体" charset="0"/>
                          <a:cs typeface="Times New Roman" panose="02020603050405020304" pitchFamily="18" charset="0"/>
                          <a:sym typeface="+mn-ea"/>
                        </a:rPr>
                        <a:t>1车队报勤，包括人员报勤和车辆报勤</a:t>
                      </a:r>
                      <a:endParaRPr lang="zh-CN" altLang="en-US" sz="1800">
                        <a:latin typeface="Times New Roman" panose="02020603050405020304" pitchFamily="18" charset="0"/>
                        <a:ea typeface="楷体" charset="0"/>
                        <a:cs typeface="Times New Roman" panose="02020603050405020304" pitchFamily="18" charset="0"/>
                      </a:endParaRPr>
                    </a:p>
                    <a:p>
                      <a:pPr>
                        <a:buNone/>
                      </a:pPr>
                      <a:r>
                        <a:rPr lang="zh-CN" altLang="en-US" sz="1800">
                          <a:latin typeface="Times New Roman" panose="02020603050405020304" pitchFamily="18" charset="0"/>
                          <a:ea typeface="楷体" charset="0"/>
                          <a:cs typeface="Times New Roman" panose="02020603050405020304" pitchFamily="18" charset="0"/>
                          <a:sym typeface="+mn-ea"/>
                        </a:rPr>
                        <a:t>2如果有新任务，新建用车计划</a:t>
                      </a:r>
                      <a:endParaRPr lang="zh-CN" altLang="en-US" sz="1800">
                        <a:latin typeface="Times New Roman" panose="02020603050405020304" pitchFamily="18" charset="0"/>
                        <a:ea typeface="楷体" charset="0"/>
                        <a:cs typeface="Times New Roman" panose="02020603050405020304" pitchFamily="18" charset="0"/>
                      </a:endParaRPr>
                    </a:p>
                    <a:p>
                      <a:pPr>
                        <a:buNone/>
                      </a:pPr>
                      <a:r>
                        <a:rPr lang="zh-CN" altLang="en-US" sz="1800">
                          <a:latin typeface="Times New Roman" panose="02020603050405020304" pitchFamily="18" charset="0"/>
                          <a:ea typeface="楷体" charset="0"/>
                          <a:cs typeface="Times New Roman" panose="02020603050405020304" pitchFamily="18" charset="0"/>
                          <a:sym typeface="+mn-ea"/>
                        </a:rPr>
                        <a:t>3根据用车计划，开具路单</a:t>
                      </a:r>
                    </a:p>
                    <a:p>
                      <a:pPr>
                        <a:buNone/>
                      </a:pPr>
                      <a:r>
                        <a:rPr lang="zh-CN" altLang="en-US">
                          <a:latin typeface="Times New Roman" panose="02020603050405020304" pitchFamily="18" charset="0"/>
                          <a:ea typeface="楷体" charset="0"/>
                          <a:cs typeface="Times New Roman" panose="02020603050405020304" pitchFamily="18" charset="0"/>
                        </a:rPr>
                        <a:t>4为路单开具出门证</a:t>
                      </a:r>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3"/>
                  </a:ext>
                </a:extLst>
              </a:tr>
              <a:tr h="1091565">
                <a:tc gridSpan="2">
                  <a:txBody>
                    <a:bodyPr/>
                    <a:lstStyle/>
                    <a:p>
                      <a:pPr>
                        <a:buNone/>
                      </a:pPr>
                      <a:r>
                        <a:rPr lang="zh-CN" altLang="en-US">
                          <a:latin typeface="Times New Roman" panose="02020603050405020304" pitchFamily="18" charset="0"/>
                          <a:ea typeface="楷体" charset="0"/>
                          <a:cs typeface="Times New Roman" panose="02020603050405020304" pitchFamily="18" charset="0"/>
                        </a:rPr>
                        <a:t>分支流程</a:t>
                      </a:r>
                    </a:p>
                  </a:txBody>
                  <a:tcPr/>
                </a:tc>
                <a:tc hMerge="1">
                  <a:txBody>
                    <a:bodyPr/>
                    <a:lstStyle/>
                    <a:p>
                      <a:endParaRPr lang="zh-CN"/>
                    </a:p>
                  </a:txBody>
                  <a:tcPr/>
                </a:tc>
                <a:tc gridSpan="4">
                  <a:txBody>
                    <a:bodyPr/>
                    <a:lstStyle/>
                    <a:p>
                      <a:pPr>
                        <a:buNone/>
                      </a:pPr>
                      <a:r>
                        <a:rPr lang="zh-CN" altLang="en-US" sz="1800" dirty="0">
                          <a:latin typeface="Times New Roman" panose="02020603050405020304" pitchFamily="18" charset="0"/>
                          <a:ea typeface="楷体" charset="0"/>
                          <a:cs typeface="Times New Roman" panose="02020603050405020304" pitchFamily="18" charset="0"/>
                          <a:sym typeface="+mn-ea"/>
                        </a:rPr>
                        <a:t>3a 没有用车计划，也有可能开路单</a:t>
                      </a:r>
                      <a:endParaRPr lang="zh-CN" altLang="en-US" sz="1800" dirty="0">
                        <a:latin typeface="Times New Roman" panose="02020603050405020304" pitchFamily="18" charset="0"/>
                        <a:ea typeface="楷体" charset="0"/>
                        <a:cs typeface="Times New Roman" panose="02020603050405020304" pitchFamily="18" charset="0"/>
                      </a:endParaRPr>
                    </a:p>
                    <a:p>
                      <a:pPr>
                        <a:buNone/>
                      </a:pPr>
                      <a:r>
                        <a:rPr lang="zh-CN" altLang="en-US" sz="1800" dirty="0">
                          <a:latin typeface="Times New Roman" panose="02020603050405020304" pitchFamily="18" charset="0"/>
                          <a:ea typeface="楷体" charset="0"/>
                          <a:cs typeface="Times New Roman" panose="02020603050405020304" pitchFamily="18" charset="0"/>
                          <a:sym typeface="+mn-ea"/>
                        </a:rPr>
                        <a:t>3b开路单的车辆选择也可能不算报勤车辆</a:t>
                      </a:r>
                      <a:endParaRPr lang="zh-CN" altLang="en-US" sz="1800" dirty="0">
                        <a:latin typeface="Times New Roman" panose="02020603050405020304" pitchFamily="18" charset="0"/>
                        <a:ea typeface="楷体" charset="0"/>
                        <a:cs typeface="Times New Roman" panose="02020603050405020304" pitchFamily="18" charset="0"/>
                      </a:endParaRPr>
                    </a:p>
                    <a:p>
                      <a:pPr>
                        <a:buNone/>
                      </a:pPr>
                      <a:r>
                        <a:rPr lang="zh-CN" altLang="en-US" sz="1800" dirty="0">
                          <a:latin typeface="Times New Roman" panose="02020603050405020304" pitchFamily="18" charset="0"/>
                          <a:ea typeface="楷体" charset="0"/>
                          <a:cs typeface="Times New Roman" panose="02020603050405020304" pitchFamily="18" charset="0"/>
                          <a:sym typeface="+mn-ea"/>
                        </a:rPr>
                        <a:t>4没有路单，也有可能单开出门证</a:t>
                      </a:r>
                      <a:endParaRPr lang="zh-CN" altLang="en-US" dirty="0">
                        <a:latin typeface="Times New Roman" panose="02020603050405020304" pitchFamily="18" charset="0"/>
                        <a:ea typeface="楷体" charset="0"/>
                        <a:cs typeface="Times New Roman" panose="02020603050405020304" pitchFamily="18" charset="0"/>
                      </a:endParaRPr>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fontScale="8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用新组织或修正的用例/场景完善用例/场景模型</a:t>
            </a:r>
          </a:p>
        </p:txBody>
      </p:sp>
      <p:sp>
        <p:nvSpPr>
          <p:cNvPr id="6" name="文本框 5"/>
          <p:cNvSpPr txBox="1"/>
          <p:nvPr/>
        </p:nvSpPr>
        <p:spPr>
          <a:xfrm>
            <a:off x="151596" y="16999"/>
            <a:ext cx="509524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rPr>
              <a:t>以用例/场景模型为主线索开展用户需求开发</a:t>
            </a:r>
          </a:p>
        </p:txBody>
      </p:sp>
      <p:grpSp>
        <p:nvGrpSpPr>
          <p:cNvPr id="44" name="组合 43"/>
          <p:cNvGrpSpPr/>
          <p:nvPr/>
        </p:nvGrpSpPr>
        <p:grpSpPr>
          <a:xfrm>
            <a:off x="311150" y="1431290"/>
            <a:ext cx="6786880" cy="4391510"/>
            <a:chOff x="369" y="2418"/>
            <a:chExt cx="10913" cy="7279"/>
          </a:xfrm>
        </p:grpSpPr>
        <p:pic>
          <p:nvPicPr>
            <p:cNvPr id="8" name="图片 7" descr="截屏2024-11-13 14.34.50"/>
            <p:cNvPicPr>
              <a:picLocks noChangeAspect="1"/>
            </p:cNvPicPr>
            <p:nvPr/>
          </p:nvPicPr>
          <p:blipFill>
            <a:blip r:embed="rId19"/>
            <a:stretch>
              <a:fillRect/>
            </a:stretch>
          </p:blipFill>
          <p:spPr>
            <a:xfrm>
              <a:off x="1149" y="6854"/>
              <a:ext cx="1687" cy="1219"/>
            </a:xfrm>
            <a:prstGeom prst="rect">
              <a:avLst/>
            </a:prstGeom>
          </p:spPr>
        </p:pic>
        <p:sp>
          <p:nvSpPr>
            <p:cNvPr id="9" name="文本框 8"/>
            <p:cNvSpPr txBox="1"/>
            <p:nvPr/>
          </p:nvSpPr>
          <p:spPr>
            <a:xfrm>
              <a:off x="2355" y="8676"/>
              <a:ext cx="2849" cy="1021"/>
            </a:xfrm>
            <a:prstGeom prst="rect">
              <a:avLst/>
            </a:prstGeom>
            <a:noFill/>
          </p:spPr>
          <p:txBody>
            <a:bodyPr wrap="square" rtlCol="0">
              <a:noAutofit/>
            </a:bodyPr>
            <a:lstStyle/>
            <a:p>
              <a:r>
                <a:rPr lang="zh-CN" altLang="en-US">
                  <a:latin typeface="楷体" charset="0"/>
                  <a:ea typeface="楷体" charset="0"/>
                </a:rPr>
                <a:t>用例</a:t>
              </a:r>
              <a:r>
                <a:rPr lang="en-US" altLang="zh-CN">
                  <a:latin typeface="楷体" charset="0"/>
                  <a:ea typeface="楷体" charset="0"/>
                </a:rPr>
                <a:t>/</a:t>
              </a:r>
              <a:r>
                <a:rPr lang="zh-CN" altLang="en-US">
                  <a:latin typeface="楷体" charset="0"/>
                  <a:ea typeface="楷体" charset="0"/>
                </a:rPr>
                <a:t>场景分析</a:t>
              </a:r>
            </a:p>
          </p:txBody>
        </p:sp>
        <p:cxnSp>
          <p:nvCxnSpPr>
            <p:cNvPr id="10" name="曲线连接符 9"/>
            <p:cNvCxnSpPr>
              <a:stCxn id="9" idx="1"/>
              <a:endCxn id="8" idx="2"/>
            </p:cNvCxnSpPr>
            <p:nvPr/>
          </p:nvCxnSpPr>
          <p:spPr>
            <a:xfrm rot="10800000">
              <a:off x="1992" y="8073"/>
              <a:ext cx="362" cy="1114"/>
            </a:xfrm>
            <a:prstGeom prst="curvedConnector2">
              <a:avLst/>
            </a:prstGeom>
            <a:ln>
              <a:tailEnd type="arrow" w="med" len="med"/>
            </a:ln>
          </p:spPr>
          <p:style>
            <a:lnRef idx="2">
              <a:prstClr val="black"/>
            </a:lnRef>
            <a:fillRef idx="0">
              <a:srgbClr val="FFFFFF"/>
            </a:fillRef>
            <a:effectRef idx="0">
              <a:srgbClr val="FFFFFF"/>
            </a:effectRef>
            <a:fontRef idx="minor">
              <a:schemeClr val="tx1"/>
            </a:fontRef>
          </p:style>
        </p:cxnSp>
        <p:pic>
          <p:nvPicPr>
            <p:cNvPr id="11" name="图片 10" descr="截屏2024-11-13 14.38.21"/>
            <p:cNvPicPr>
              <a:picLocks noChangeAspect="1"/>
            </p:cNvPicPr>
            <p:nvPr/>
          </p:nvPicPr>
          <p:blipFill>
            <a:blip r:embed="rId20"/>
            <a:stretch>
              <a:fillRect/>
            </a:stretch>
          </p:blipFill>
          <p:spPr>
            <a:xfrm>
              <a:off x="2701" y="3969"/>
              <a:ext cx="1381" cy="1086"/>
            </a:xfrm>
            <a:prstGeom prst="rect">
              <a:avLst/>
            </a:prstGeom>
          </p:spPr>
        </p:pic>
        <p:cxnSp>
          <p:nvCxnSpPr>
            <p:cNvPr id="12" name="曲线连接符 11"/>
            <p:cNvCxnSpPr/>
            <p:nvPr>
              <p:custDataLst>
                <p:tags r:id="rId1"/>
              </p:custDataLst>
            </p:nvPr>
          </p:nvCxnSpPr>
          <p:spPr>
            <a:xfrm rot="16200000">
              <a:off x="1401" y="5343"/>
              <a:ext cx="2054" cy="1443"/>
            </a:xfrm>
            <a:prstGeom prst="curvedConnector3">
              <a:avLst>
                <a:gd name="adj1" fmla="val 49976"/>
              </a:avLst>
            </a:prstGeom>
            <a:ln>
              <a:tailEnd type="arrow" w="med" len="med"/>
            </a:ln>
          </p:spPr>
          <p:style>
            <a:lnRef idx="2">
              <a:prstClr val="black"/>
            </a:lnRef>
            <a:fillRef idx="0">
              <a:srgbClr val="FFFFFF"/>
            </a:fillRef>
            <a:effectRef idx="0">
              <a:srgbClr val="FFFFFF"/>
            </a:effectRef>
            <a:fontRef idx="minor">
              <a:schemeClr val="tx1"/>
            </a:fontRef>
          </p:style>
        </p:cxnSp>
        <p:sp>
          <p:nvSpPr>
            <p:cNvPr id="13" name="文本框 12"/>
            <p:cNvSpPr txBox="1"/>
            <p:nvPr>
              <p:custDataLst>
                <p:tags r:id="rId2"/>
              </p:custDataLst>
            </p:nvPr>
          </p:nvSpPr>
          <p:spPr>
            <a:xfrm>
              <a:off x="369" y="5281"/>
              <a:ext cx="2850" cy="586"/>
            </a:xfrm>
            <a:prstGeom prst="rect">
              <a:avLst/>
            </a:prstGeom>
            <a:noFill/>
          </p:spPr>
          <p:txBody>
            <a:bodyPr wrap="square" rtlCol="0">
              <a:noAutofit/>
            </a:bodyPr>
            <a:lstStyle/>
            <a:p>
              <a:r>
                <a:rPr lang="zh-CN" altLang="en-US">
                  <a:latin typeface="楷体" charset="0"/>
                  <a:ea typeface="楷体" charset="0"/>
                </a:rPr>
                <a:t>用例</a:t>
              </a:r>
              <a:r>
                <a:rPr lang="en-US" altLang="zh-CN">
                  <a:latin typeface="楷体" charset="0"/>
                  <a:ea typeface="楷体" charset="0"/>
                </a:rPr>
                <a:t>/</a:t>
              </a:r>
              <a:r>
                <a:rPr lang="zh-CN" altLang="en-US">
                  <a:latin typeface="楷体" charset="0"/>
                  <a:ea typeface="楷体" charset="0"/>
                </a:rPr>
                <a:t>场景描述</a:t>
              </a:r>
            </a:p>
          </p:txBody>
        </p:sp>
        <p:sp>
          <p:nvSpPr>
            <p:cNvPr id="25" name="文本框 24"/>
            <p:cNvSpPr txBox="1"/>
            <p:nvPr>
              <p:custDataLst>
                <p:tags r:id="rId3"/>
              </p:custDataLst>
            </p:nvPr>
          </p:nvSpPr>
          <p:spPr>
            <a:xfrm>
              <a:off x="4416" y="3087"/>
              <a:ext cx="3204" cy="767"/>
            </a:xfrm>
            <a:prstGeom prst="rect">
              <a:avLst/>
            </a:prstGeom>
            <a:noFill/>
          </p:spPr>
          <p:txBody>
            <a:bodyPr wrap="square" rtlCol="0">
              <a:noAutofit/>
            </a:bodyPr>
            <a:lstStyle/>
            <a:p>
              <a:r>
                <a:rPr lang="zh-CN" altLang="en-US">
                  <a:latin typeface="楷体" charset="0"/>
                  <a:ea typeface="楷体" charset="0"/>
                </a:rPr>
                <a:t>用例</a:t>
              </a:r>
              <a:r>
                <a:rPr lang="en-US" altLang="zh-CN">
                  <a:latin typeface="楷体" charset="0"/>
                  <a:ea typeface="楷体" charset="0"/>
                </a:rPr>
                <a:t>/</a:t>
              </a:r>
              <a:r>
                <a:rPr lang="zh-CN" altLang="en-US">
                  <a:latin typeface="楷体" charset="0"/>
                  <a:ea typeface="楷体" charset="0"/>
                </a:rPr>
                <a:t>场景的组织</a:t>
              </a:r>
            </a:p>
          </p:txBody>
        </p:sp>
        <p:cxnSp>
          <p:nvCxnSpPr>
            <p:cNvPr id="26" name="曲线连接符 25"/>
            <p:cNvCxnSpPr/>
            <p:nvPr>
              <p:custDataLst>
                <p:tags r:id="rId4"/>
              </p:custDataLst>
            </p:nvPr>
          </p:nvCxnSpPr>
          <p:spPr>
            <a:xfrm flipV="1">
              <a:off x="3768" y="3700"/>
              <a:ext cx="3725" cy="576"/>
            </a:xfrm>
            <a:prstGeom prst="curvedConnector3">
              <a:avLst>
                <a:gd name="adj1" fmla="val 58093"/>
              </a:avLst>
            </a:prstGeom>
            <a:ln>
              <a:tailEnd type="arrow" w="med" len="med"/>
            </a:ln>
          </p:spPr>
          <p:style>
            <a:lnRef idx="2">
              <a:prstClr val="black"/>
            </a:lnRef>
            <a:fillRef idx="0">
              <a:srgbClr val="FFFFFF"/>
            </a:fillRef>
            <a:effectRef idx="0">
              <a:srgbClr val="FFFFFF"/>
            </a:effectRef>
            <a:fontRef idx="minor">
              <a:schemeClr val="tx1"/>
            </a:fontRef>
          </p:style>
        </p:cxnSp>
        <p:cxnSp>
          <p:nvCxnSpPr>
            <p:cNvPr id="36" name="曲线连接符 35"/>
            <p:cNvCxnSpPr/>
            <p:nvPr/>
          </p:nvCxnSpPr>
          <p:spPr>
            <a:xfrm flipV="1">
              <a:off x="4841" y="8214"/>
              <a:ext cx="1835" cy="802"/>
            </a:xfrm>
            <a:prstGeom prst="curvedConnector3">
              <a:avLst>
                <a:gd name="adj1" fmla="val 50027"/>
              </a:avLst>
            </a:prstGeom>
            <a:ln w="15875">
              <a:solidFill>
                <a:srgbClr val="231240"/>
              </a:solidFill>
            </a:ln>
          </p:spPr>
          <p:style>
            <a:lnRef idx="2">
              <a:schemeClr val="accent1"/>
            </a:lnRef>
            <a:fillRef idx="0">
              <a:srgbClr val="FFFFFF"/>
            </a:fillRef>
            <a:effectRef idx="0">
              <a:srgbClr val="FFFFFF"/>
            </a:effectRef>
            <a:fontRef idx="minor">
              <a:schemeClr val="tx1"/>
            </a:fontRef>
          </p:style>
        </p:cxnSp>
        <p:grpSp>
          <p:nvGrpSpPr>
            <p:cNvPr id="42" name="组合 41"/>
            <p:cNvGrpSpPr/>
            <p:nvPr/>
          </p:nvGrpSpPr>
          <p:grpSpPr>
            <a:xfrm>
              <a:off x="6748" y="2418"/>
              <a:ext cx="4534" cy="7134"/>
              <a:chOff x="10048" y="2333"/>
              <a:chExt cx="4534" cy="7134"/>
            </a:xfrm>
          </p:grpSpPr>
          <p:sp>
            <p:nvSpPr>
              <p:cNvPr id="21" name="文本框 20"/>
              <p:cNvSpPr txBox="1"/>
              <p:nvPr>
                <p:custDataLst>
                  <p:tags r:id="rId6"/>
                </p:custDataLst>
              </p:nvPr>
            </p:nvSpPr>
            <p:spPr>
              <a:xfrm>
                <a:off x="12135" y="4180"/>
                <a:ext cx="2013" cy="616"/>
              </a:xfrm>
              <a:prstGeom prst="rect">
                <a:avLst/>
              </a:prstGeom>
              <a:noFill/>
            </p:spPr>
            <p:txBody>
              <a:bodyPr wrap="square" rtlCol="0">
                <a:noAutofit/>
              </a:bodyPr>
              <a:lstStyle/>
              <a:p>
                <a:r>
                  <a:rPr lang="zh-CN" altLang="en-US">
                    <a:latin typeface="楷体" charset="0"/>
                    <a:ea typeface="楷体" charset="0"/>
                  </a:rPr>
                  <a:t>层次</a:t>
                </a:r>
                <a:r>
                  <a:rPr lang="en-US" altLang="zh-CN">
                    <a:latin typeface="楷体" charset="0"/>
                    <a:ea typeface="楷体" charset="0"/>
                  </a:rPr>
                  <a:t>1</a:t>
                </a:r>
              </a:p>
            </p:txBody>
          </p:sp>
          <p:sp>
            <p:nvSpPr>
              <p:cNvPr id="22" name="文本框 21"/>
              <p:cNvSpPr txBox="1"/>
              <p:nvPr>
                <p:custDataLst>
                  <p:tags r:id="rId7"/>
                </p:custDataLst>
              </p:nvPr>
            </p:nvSpPr>
            <p:spPr>
              <a:xfrm>
                <a:off x="12782" y="6001"/>
                <a:ext cx="1800" cy="616"/>
              </a:xfrm>
              <a:prstGeom prst="rect">
                <a:avLst/>
              </a:prstGeom>
              <a:noFill/>
            </p:spPr>
            <p:txBody>
              <a:bodyPr wrap="square" rtlCol="0">
                <a:noAutofit/>
              </a:bodyPr>
              <a:lstStyle/>
              <a:p>
                <a:r>
                  <a:rPr lang="zh-CN" altLang="en-US">
                    <a:latin typeface="楷体" charset="0"/>
                    <a:ea typeface="楷体" charset="0"/>
                  </a:rPr>
                  <a:t>层次</a:t>
                </a:r>
                <a:r>
                  <a:rPr lang="en-US" altLang="zh-CN">
                    <a:latin typeface="楷体" charset="0"/>
                    <a:ea typeface="楷体" charset="0"/>
                  </a:rPr>
                  <a:t>2</a:t>
                </a:r>
              </a:p>
            </p:txBody>
          </p:sp>
          <p:sp>
            <p:nvSpPr>
              <p:cNvPr id="23" name="文本框 22"/>
              <p:cNvSpPr txBox="1"/>
              <p:nvPr>
                <p:custDataLst>
                  <p:tags r:id="rId8"/>
                </p:custDataLst>
              </p:nvPr>
            </p:nvSpPr>
            <p:spPr>
              <a:xfrm>
                <a:off x="12600" y="7632"/>
                <a:ext cx="1800" cy="616"/>
              </a:xfrm>
              <a:prstGeom prst="rect">
                <a:avLst/>
              </a:prstGeom>
              <a:noFill/>
            </p:spPr>
            <p:txBody>
              <a:bodyPr wrap="square" rtlCol="0">
                <a:noAutofit/>
              </a:bodyPr>
              <a:lstStyle/>
              <a:p>
                <a:r>
                  <a:rPr lang="zh-CN" altLang="en-US">
                    <a:latin typeface="楷体" charset="0"/>
                    <a:ea typeface="楷体" charset="0"/>
                  </a:rPr>
                  <a:t>层次</a:t>
                </a:r>
                <a:r>
                  <a:rPr lang="en-US" altLang="zh-CN">
                    <a:latin typeface="楷体" charset="0"/>
                    <a:ea typeface="楷体" charset="0"/>
                  </a:rPr>
                  <a:t>3</a:t>
                </a:r>
              </a:p>
            </p:txBody>
          </p:sp>
          <p:grpSp>
            <p:nvGrpSpPr>
              <p:cNvPr id="39" name="组合 38"/>
              <p:cNvGrpSpPr/>
              <p:nvPr/>
            </p:nvGrpSpPr>
            <p:grpSpPr>
              <a:xfrm>
                <a:off x="10048" y="2333"/>
                <a:ext cx="3914" cy="7134"/>
                <a:chOff x="6280" y="2118"/>
                <a:chExt cx="3914" cy="7134"/>
              </a:xfrm>
            </p:grpSpPr>
            <p:grpSp>
              <p:nvGrpSpPr>
                <p:cNvPr id="37" name="组合 36"/>
                <p:cNvGrpSpPr/>
                <p:nvPr/>
              </p:nvGrpSpPr>
              <p:grpSpPr>
                <a:xfrm>
                  <a:off x="6280" y="2118"/>
                  <a:ext cx="3914" cy="7134"/>
                  <a:chOff x="6281" y="2160"/>
                  <a:chExt cx="3914" cy="7134"/>
                </a:xfrm>
              </p:grpSpPr>
              <p:pic>
                <p:nvPicPr>
                  <p:cNvPr id="15" name="图片 14" descr="平行四边形"/>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rot="1920000">
                    <a:off x="6352" y="2842"/>
                    <a:ext cx="3834" cy="3707"/>
                  </a:xfrm>
                  <a:prstGeom prst="rect">
                    <a:avLst/>
                  </a:prstGeom>
                </p:spPr>
              </p:pic>
              <p:sp>
                <p:nvSpPr>
                  <p:cNvPr id="20" name="文本框 19"/>
                  <p:cNvSpPr txBox="1"/>
                  <p:nvPr>
                    <p:custDataLst>
                      <p:tags r:id="rId14"/>
                    </p:custDataLst>
                  </p:nvPr>
                </p:nvSpPr>
                <p:spPr>
                  <a:xfrm>
                    <a:off x="9035" y="2935"/>
                    <a:ext cx="1050" cy="616"/>
                  </a:xfrm>
                  <a:prstGeom prst="rect">
                    <a:avLst/>
                  </a:prstGeom>
                  <a:noFill/>
                </p:spPr>
                <p:txBody>
                  <a:bodyPr wrap="square" rtlCol="0">
                    <a:noAutofit/>
                  </a:bodyPr>
                  <a:lstStyle/>
                  <a:p>
                    <a:r>
                      <a:rPr lang="zh-CN" altLang="en-US">
                        <a:latin typeface="楷体" charset="0"/>
                        <a:ea typeface="楷体" charset="0"/>
                      </a:rPr>
                      <a:t>层次</a:t>
                    </a:r>
                  </a:p>
                </p:txBody>
              </p:sp>
              <p:sp>
                <p:nvSpPr>
                  <p:cNvPr id="24" name="文本框 23"/>
                  <p:cNvSpPr txBox="1"/>
                  <p:nvPr>
                    <p:custDataLst>
                      <p:tags r:id="rId15"/>
                    </p:custDataLst>
                  </p:nvPr>
                </p:nvSpPr>
                <p:spPr>
                  <a:xfrm>
                    <a:off x="7160" y="2160"/>
                    <a:ext cx="2850" cy="586"/>
                  </a:xfrm>
                  <a:prstGeom prst="rect">
                    <a:avLst/>
                  </a:prstGeom>
                  <a:noFill/>
                </p:spPr>
                <p:txBody>
                  <a:bodyPr wrap="square" rtlCol="0">
                    <a:noAutofit/>
                  </a:bodyPr>
                  <a:lstStyle/>
                  <a:p>
                    <a:r>
                      <a:rPr lang="zh-CN" altLang="en-US">
                        <a:latin typeface="楷体" charset="0"/>
                        <a:ea typeface="楷体" charset="0"/>
                      </a:rPr>
                      <a:t>用例</a:t>
                    </a:r>
                    <a:r>
                      <a:rPr lang="en-US" altLang="zh-CN">
                        <a:latin typeface="楷体" charset="0"/>
                        <a:ea typeface="楷体" charset="0"/>
                      </a:rPr>
                      <a:t>/</a:t>
                    </a:r>
                    <a:r>
                      <a:rPr lang="zh-CN" altLang="en-US">
                        <a:latin typeface="楷体" charset="0"/>
                        <a:ea typeface="楷体" charset="0"/>
                      </a:rPr>
                      <a:t>场景结构</a:t>
                    </a:r>
                  </a:p>
                </p:txBody>
              </p:sp>
              <p:pic>
                <p:nvPicPr>
                  <p:cNvPr id="28" name="图片 27" descr="平行四边形"/>
                  <p:cNvPicPr>
                    <a:picLocks noChangeAspect="1"/>
                  </p:cNvPicPr>
                  <p:nvPr>
                    <p:custDataLst>
                      <p:tags r:id="rId16"/>
                    </p:custDataLst>
                  </p:nvPr>
                </p:nvPicPr>
                <p:blipFill>
                  <a:blip r:embed="rId21">
                    <a:extLst>
                      <a:ext uri="{96DAC541-7B7A-43D3-8B79-37D633B846F1}">
                        <asvg:svgBlip xmlns:asvg="http://schemas.microsoft.com/office/drawing/2016/SVG/main" r:embed="rId22"/>
                      </a:ext>
                    </a:extLst>
                  </a:blip>
                  <a:stretch>
                    <a:fillRect/>
                  </a:stretch>
                </p:blipFill>
                <p:spPr>
                  <a:xfrm rot="1980000">
                    <a:off x="6281" y="5588"/>
                    <a:ext cx="3834" cy="3707"/>
                  </a:xfrm>
                  <a:prstGeom prst="rect">
                    <a:avLst/>
                  </a:prstGeom>
                </p:spPr>
              </p:pic>
              <p:pic>
                <p:nvPicPr>
                  <p:cNvPr id="27" name="图片 26" descr="平行四边形"/>
                  <p:cNvPicPr>
                    <a:picLocks noChangeAspect="1"/>
                  </p:cNvPicPr>
                  <p:nvPr>
                    <p:custDataLst>
                      <p:tags r:id="rId17"/>
                    </p:custDataLst>
                  </p:nvPr>
                </p:nvPicPr>
                <p:blipFill>
                  <a:blip r:embed="rId21">
                    <a:extLst>
                      <a:ext uri="{96DAC541-7B7A-43D3-8B79-37D633B846F1}">
                        <asvg:svgBlip xmlns:asvg="http://schemas.microsoft.com/office/drawing/2016/SVG/main" r:embed="rId22"/>
                      </a:ext>
                    </a:extLst>
                  </a:blip>
                  <a:stretch>
                    <a:fillRect/>
                  </a:stretch>
                </p:blipFill>
                <p:spPr>
                  <a:xfrm rot="1980000">
                    <a:off x="6361" y="4296"/>
                    <a:ext cx="3834" cy="3707"/>
                  </a:xfrm>
                  <a:prstGeom prst="rect">
                    <a:avLst/>
                  </a:prstGeom>
                </p:spPr>
              </p:pic>
            </p:grpSp>
            <p:grpSp>
              <p:nvGrpSpPr>
                <p:cNvPr id="38" name="组合 37"/>
                <p:cNvGrpSpPr/>
                <p:nvPr/>
              </p:nvGrpSpPr>
              <p:grpSpPr>
                <a:xfrm>
                  <a:off x="7884" y="3151"/>
                  <a:ext cx="1416" cy="4042"/>
                  <a:chOff x="7884" y="3151"/>
                  <a:chExt cx="1416" cy="4042"/>
                </a:xfrm>
              </p:grpSpPr>
              <p:cxnSp>
                <p:nvCxnSpPr>
                  <p:cNvPr id="19" name="直接连接符 18"/>
                  <p:cNvCxnSpPr/>
                  <p:nvPr/>
                </p:nvCxnSpPr>
                <p:spPr>
                  <a:xfrm>
                    <a:off x="8003" y="3151"/>
                    <a:ext cx="0" cy="3581"/>
                  </a:xfrm>
                  <a:prstGeom prst="line">
                    <a:avLst/>
                  </a:prstGeom>
                  <a:ln w="28575" cmpd="sng">
                    <a:solidFill>
                      <a:srgbClr val="231240"/>
                    </a:solidFill>
                    <a:prstDash val="solid"/>
                  </a:ln>
                </p:spPr>
                <p:style>
                  <a:lnRef idx="2">
                    <a:schemeClr val="accent1"/>
                  </a:lnRef>
                  <a:fillRef idx="0">
                    <a:srgbClr val="FFFFFF"/>
                  </a:fillRef>
                  <a:effectRef idx="0">
                    <a:srgbClr val="FFFFFF"/>
                  </a:effectRef>
                  <a:fontRef idx="minor">
                    <a:schemeClr val="tx1"/>
                  </a:fontRef>
                </p:style>
              </p:cxnSp>
              <p:grpSp>
                <p:nvGrpSpPr>
                  <p:cNvPr id="35" name="组合 34"/>
                  <p:cNvGrpSpPr/>
                  <p:nvPr/>
                </p:nvGrpSpPr>
                <p:grpSpPr>
                  <a:xfrm>
                    <a:off x="7884" y="6622"/>
                    <a:ext cx="1416" cy="571"/>
                    <a:chOff x="7884" y="6639"/>
                    <a:chExt cx="1416" cy="571"/>
                  </a:xfrm>
                </p:grpSpPr>
                <p:pic>
                  <p:nvPicPr>
                    <p:cNvPr id="31" name="图片 30" descr="截屏2024-11-13 14.32.59"/>
                    <p:cNvPicPr>
                      <a:picLocks noChangeAspect="1"/>
                    </p:cNvPicPr>
                    <p:nvPr>
                      <p:custDataLst>
                        <p:tags r:id="rId11"/>
                      </p:custDataLst>
                    </p:nvPr>
                  </p:nvPicPr>
                  <p:blipFill>
                    <a:blip r:embed="rId23"/>
                    <a:srcRect l="20619" t="16133" r="16609" b="7829"/>
                    <a:stretch>
                      <a:fillRect/>
                    </a:stretch>
                  </p:blipFill>
                  <p:spPr>
                    <a:xfrm>
                      <a:off x="7884" y="6639"/>
                      <a:ext cx="480" cy="561"/>
                    </a:xfrm>
                    <a:prstGeom prst="rect">
                      <a:avLst/>
                    </a:prstGeom>
                  </p:spPr>
                </p:pic>
                <p:pic>
                  <p:nvPicPr>
                    <p:cNvPr id="33" name="图片 32" descr="截屏2024-11-13 14.32.59"/>
                    <p:cNvPicPr>
                      <a:picLocks noChangeAspect="1"/>
                    </p:cNvPicPr>
                    <p:nvPr>
                      <p:custDataLst>
                        <p:tags r:id="rId12"/>
                      </p:custDataLst>
                    </p:nvPr>
                  </p:nvPicPr>
                  <p:blipFill>
                    <a:blip r:embed="rId23"/>
                    <a:srcRect l="18557" t="16963" r="20619" b="8541"/>
                    <a:stretch>
                      <a:fillRect/>
                    </a:stretch>
                  </p:blipFill>
                  <p:spPr>
                    <a:xfrm>
                      <a:off x="8875" y="6706"/>
                      <a:ext cx="425" cy="504"/>
                    </a:xfrm>
                    <a:prstGeom prst="rect">
                      <a:avLst/>
                    </a:prstGeom>
                  </p:spPr>
                </p:pic>
                <p:pic>
                  <p:nvPicPr>
                    <p:cNvPr id="34" name="图片 33" descr="截屏2024-11-13 14.32.59"/>
                    <p:cNvPicPr>
                      <a:picLocks noChangeAspect="1"/>
                    </p:cNvPicPr>
                    <p:nvPr>
                      <p:custDataLst>
                        <p:tags r:id="rId13"/>
                      </p:custDataLst>
                    </p:nvPr>
                  </p:nvPicPr>
                  <p:blipFill>
                    <a:blip r:embed="rId23"/>
                    <a:srcRect l="18442" t="16963" r="20733" b="8541"/>
                    <a:stretch>
                      <a:fillRect/>
                    </a:stretch>
                  </p:blipFill>
                  <p:spPr>
                    <a:xfrm>
                      <a:off x="8367" y="6639"/>
                      <a:ext cx="483" cy="571"/>
                    </a:xfrm>
                    <a:prstGeom prst="rect">
                      <a:avLst/>
                    </a:prstGeom>
                  </p:spPr>
                </p:pic>
              </p:grpSp>
              <p:grpSp>
                <p:nvGrpSpPr>
                  <p:cNvPr id="32" name="组合 31"/>
                  <p:cNvGrpSpPr/>
                  <p:nvPr/>
                </p:nvGrpSpPr>
                <p:grpSpPr>
                  <a:xfrm>
                    <a:off x="8173" y="4971"/>
                    <a:ext cx="1042" cy="815"/>
                    <a:chOff x="10304" y="8245"/>
                    <a:chExt cx="1042" cy="815"/>
                  </a:xfrm>
                </p:grpSpPr>
                <p:pic>
                  <p:nvPicPr>
                    <p:cNvPr id="5" name="图片 4" descr="截屏2024-11-13 14.32.59"/>
                    <p:cNvPicPr>
                      <a:picLocks noChangeAspect="1"/>
                    </p:cNvPicPr>
                    <p:nvPr/>
                  </p:nvPicPr>
                  <p:blipFill>
                    <a:blip r:embed="rId23"/>
                    <a:srcRect l="23253" t="11269" r="21420" b="5694"/>
                    <a:stretch>
                      <a:fillRect/>
                    </a:stretch>
                  </p:blipFill>
                  <p:spPr>
                    <a:xfrm>
                      <a:off x="10304" y="8245"/>
                      <a:ext cx="483" cy="700"/>
                    </a:xfrm>
                    <a:prstGeom prst="rect">
                      <a:avLst/>
                    </a:prstGeom>
                  </p:spPr>
                </p:pic>
                <p:pic>
                  <p:nvPicPr>
                    <p:cNvPr id="30" name="图片 29" descr="截屏2024-11-13 14.32.59"/>
                    <p:cNvPicPr>
                      <a:picLocks noChangeAspect="1"/>
                    </p:cNvPicPr>
                    <p:nvPr>
                      <p:custDataLst>
                        <p:tags r:id="rId10"/>
                      </p:custDataLst>
                    </p:nvPr>
                  </p:nvPicPr>
                  <p:blipFill>
                    <a:blip r:embed="rId23"/>
                    <a:srcRect l="18671" t="17556" r="20504" b="5813"/>
                    <a:stretch>
                      <a:fillRect/>
                    </a:stretch>
                  </p:blipFill>
                  <p:spPr>
                    <a:xfrm>
                      <a:off x="10815" y="8414"/>
                      <a:ext cx="531" cy="646"/>
                    </a:xfrm>
                    <a:prstGeom prst="rect">
                      <a:avLst/>
                    </a:prstGeom>
                  </p:spPr>
                </p:pic>
              </p:grpSp>
              <p:pic>
                <p:nvPicPr>
                  <p:cNvPr id="29" name="图片 28" descr="截屏2024-11-13 14.32.59"/>
                  <p:cNvPicPr>
                    <a:picLocks noChangeAspect="1"/>
                  </p:cNvPicPr>
                  <p:nvPr>
                    <p:custDataLst>
                      <p:tags r:id="rId9"/>
                    </p:custDataLst>
                  </p:nvPr>
                </p:nvPicPr>
                <p:blipFill>
                  <a:blip r:embed="rId23"/>
                  <a:srcRect l="12320" t="13433" r="17425" b="12400"/>
                  <a:stretch>
                    <a:fillRect/>
                  </a:stretch>
                </p:blipFill>
                <p:spPr>
                  <a:xfrm>
                    <a:off x="8051" y="3306"/>
                    <a:ext cx="633" cy="646"/>
                  </a:xfrm>
                  <a:prstGeom prst="rect">
                    <a:avLst/>
                  </a:prstGeom>
                </p:spPr>
              </p:pic>
            </p:grpSp>
          </p:grpSp>
        </p:grpSp>
        <p:sp>
          <p:nvSpPr>
            <p:cNvPr id="40" name="文本框 39"/>
            <p:cNvSpPr txBox="1"/>
            <p:nvPr>
              <p:custDataLst>
                <p:tags r:id="rId5"/>
              </p:custDataLst>
            </p:nvPr>
          </p:nvSpPr>
          <p:spPr>
            <a:xfrm>
              <a:off x="1707" y="3487"/>
              <a:ext cx="1916" cy="586"/>
            </a:xfrm>
            <a:prstGeom prst="rect">
              <a:avLst/>
            </a:prstGeom>
            <a:noFill/>
          </p:spPr>
          <p:txBody>
            <a:bodyPr wrap="square" rtlCol="0">
              <a:noAutofit/>
            </a:bodyPr>
            <a:lstStyle/>
            <a:p>
              <a:r>
                <a:rPr lang="zh-CN" altLang="en-US">
                  <a:latin typeface="楷体" charset="0"/>
                  <a:ea typeface="楷体" charset="0"/>
                </a:rPr>
                <a:t>用例</a:t>
              </a:r>
              <a:r>
                <a:rPr lang="en-US" altLang="zh-CN">
                  <a:latin typeface="楷体" charset="0"/>
                  <a:ea typeface="楷体" charset="0"/>
                </a:rPr>
                <a:t>/</a:t>
              </a:r>
              <a:r>
                <a:rPr lang="zh-CN" altLang="en-US">
                  <a:latin typeface="楷体" charset="0"/>
                  <a:ea typeface="楷体" charset="0"/>
                </a:rPr>
                <a:t>场景</a:t>
              </a:r>
            </a:p>
          </p:txBody>
        </p:sp>
      </p:grpSp>
      <p:sp>
        <p:nvSpPr>
          <p:cNvPr id="3" name="文本框 2"/>
          <p:cNvSpPr txBox="1"/>
          <p:nvPr/>
        </p:nvSpPr>
        <p:spPr>
          <a:xfrm>
            <a:off x="2953329" y="5814978"/>
            <a:ext cx="4204970" cy="410210"/>
          </a:xfrm>
          <a:prstGeom prst="rect">
            <a:avLst/>
          </a:prstGeom>
          <a:noFill/>
        </p:spPr>
        <p:txBody>
          <a:bodyPr wrap="square" rtlCol="0">
            <a:noAutofit/>
          </a:bodyPr>
          <a:lstStyle/>
          <a:p>
            <a:pPr indent="0">
              <a:buFont typeface="Arial" panose="020B0604020202090204" pitchFamily="34" charset="0"/>
              <a:buNone/>
            </a:pPr>
            <a:r>
              <a:rPr lang="zh-CN" altLang="en-US" dirty="0">
                <a:solidFill>
                  <a:schemeClr val="bg2">
                    <a:lumMod val="50000"/>
                  </a:schemeClr>
                </a:solidFill>
                <a:latin typeface="楷体" charset="0"/>
                <a:ea typeface="楷体" charset="0"/>
                <a:cs typeface="楷体" charset="0"/>
              </a:rPr>
              <a:t>完善用例/场景模型的示意过程</a:t>
            </a:r>
          </a:p>
        </p:txBody>
      </p:sp>
      <p:sp>
        <p:nvSpPr>
          <p:cNvPr id="4" name="文本框 3"/>
          <p:cNvSpPr txBox="1"/>
          <p:nvPr/>
        </p:nvSpPr>
        <p:spPr>
          <a:xfrm>
            <a:off x="6985635" y="1996440"/>
            <a:ext cx="2070735" cy="3003550"/>
          </a:xfrm>
          <a:prstGeom prst="rect">
            <a:avLst/>
          </a:prstGeom>
          <a:noFill/>
          <a:ln w="19050">
            <a:solidFill>
              <a:srgbClr val="870078"/>
            </a:solidFill>
            <a:prstDash val="lgDashDot"/>
          </a:ln>
          <a:effectLst/>
          <a:extLst>
            <a:ext uri="{909E8E84-426E-40DD-AFC4-6F175D3DCCD1}">
              <a14:hiddenFill xmlns:a14="http://schemas.microsoft.com/office/drawing/2010/mai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14:hiddenFill>
            </a:ext>
          </a:extLst>
        </p:spPr>
        <p:txBody>
          <a:bodyPr wrap="square" rtlCol="0" anchor="t" anchorCtr="1">
            <a:noAutofit/>
          </a:bodyPr>
          <a:lstStyle/>
          <a:p>
            <a:r>
              <a:rPr kumimoji="1" lang="en-US" altLang="zh-CN" dirty="0">
                <a:latin typeface="KaiTi" panose="02010609060101010101" pitchFamily="49" charset="-122"/>
                <a:ea typeface="KaiTi" panose="02010609060101010101" pitchFamily="49" charset="-122"/>
                <a:sym typeface="+mn-ea"/>
              </a:rPr>
              <a:t>可以将新组织的用例/场景</a:t>
            </a:r>
            <a:r>
              <a:rPr kumimoji="1" lang="en-US" altLang="zh-CN" b="1" dirty="0">
                <a:solidFill>
                  <a:srgbClr val="870078"/>
                </a:solidFill>
                <a:latin typeface="KaiTi" panose="02010609060101010101" pitchFamily="49" charset="-122"/>
                <a:ea typeface="KaiTi" panose="02010609060101010101" pitchFamily="49" charset="-122"/>
                <a:sym typeface="+mn-ea"/>
              </a:rPr>
              <a:t>整合</a:t>
            </a:r>
            <a:r>
              <a:rPr kumimoji="1" lang="en-US" altLang="zh-CN" dirty="0">
                <a:latin typeface="KaiTi" panose="02010609060101010101" pitchFamily="49" charset="-122"/>
                <a:ea typeface="KaiTi" panose="02010609060101010101" pitchFamily="49" charset="-122"/>
                <a:sym typeface="+mn-ea"/>
              </a:rPr>
              <a:t>入用例/场景模型的层次结构。</a:t>
            </a:r>
          </a:p>
          <a:p>
            <a:endParaRPr kumimoji="1" lang="en-US" altLang="zh-CN" dirty="0">
              <a:latin typeface="KaiTi" panose="02010609060101010101" pitchFamily="49" charset="-122"/>
              <a:ea typeface="KaiTi" panose="02010609060101010101" pitchFamily="49" charset="-122"/>
            </a:endParaRPr>
          </a:p>
          <a:p>
            <a:r>
              <a:rPr kumimoji="1" lang="en-US" altLang="zh-CN" dirty="0">
                <a:latin typeface="KaiTi" panose="02010609060101010101" pitchFamily="49" charset="-122"/>
                <a:ea typeface="KaiTi" panose="02010609060101010101" pitchFamily="49" charset="-122"/>
                <a:sym typeface="+mn-ea"/>
              </a:rPr>
              <a:t>如果用例/场景只是进行了修正和完善，也可以用它</a:t>
            </a:r>
            <a:r>
              <a:rPr kumimoji="1" lang="en-US" altLang="zh-CN" b="1" dirty="0">
                <a:solidFill>
                  <a:srgbClr val="870078"/>
                </a:solidFill>
                <a:latin typeface="KaiTi" panose="02010609060101010101" pitchFamily="49" charset="-122"/>
                <a:ea typeface="KaiTi" panose="02010609060101010101" pitchFamily="49" charset="-122"/>
                <a:sym typeface="+mn-ea"/>
              </a:rPr>
              <a:t>替代</a:t>
            </a:r>
            <a:r>
              <a:rPr kumimoji="1" lang="en-US" altLang="zh-CN" dirty="0">
                <a:latin typeface="KaiTi" panose="02010609060101010101" pitchFamily="49" charset="-122"/>
                <a:ea typeface="KaiTi" panose="02010609060101010101" pitchFamily="49" charset="-122"/>
                <a:sym typeface="+mn-ea"/>
              </a:rPr>
              <a:t>用例/场景模型中的原有用例/场景。</a:t>
            </a:r>
            <a:endParaRPr lang="zh-CN"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依据用例/场景模型组织需求分析模型</a:t>
            </a:r>
          </a:p>
        </p:txBody>
      </p:sp>
      <p:sp>
        <p:nvSpPr>
          <p:cNvPr id="3" name="内容占位符 2"/>
          <p:cNvSpPr txBox="1"/>
          <p:nvPr/>
        </p:nvSpPr>
        <p:spPr>
          <a:xfrm>
            <a:off x="628650" y="141367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00000"/>
              </a:lnSpc>
              <a:buFont typeface="Wingdings" panose="05000000000000000000" charset="0"/>
              <a:buChar char=""/>
            </a:pPr>
            <a:r>
              <a:rPr kumimoji="1" lang="en-US" altLang="zh-CN" dirty="0">
                <a:latin typeface="KaiTi" panose="02010609060101010101" pitchFamily="49" charset="-122"/>
                <a:ea typeface="KaiTi" panose="02010609060101010101" pitchFamily="49" charset="-122"/>
              </a:rPr>
              <a:t>复杂系统建模时会先将系统分解为</a:t>
            </a:r>
            <a:r>
              <a:rPr kumimoji="1" lang="zh-CN" altLang="en-US" b="1" dirty="0">
                <a:solidFill>
                  <a:srgbClr val="870078"/>
                </a:solidFill>
                <a:latin typeface="KaiTi" panose="02010609060101010101" pitchFamily="49" charset="-122"/>
                <a:ea typeface="KaiTi" panose="02010609060101010101" pitchFamily="49" charset="-122"/>
              </a:rPr>
              <a:t>复杂度可控</a:t>
            </a:r>
            <a:r>
              <a:rPr kumimoji="1" lang="zh-CN" altLang="en-US" dirty="0">
                <a:latin typeface="KaiTi" panose="02010609060101010101" pitchFamily="49" charset="-122"/>
                <a:ea typeface="KaiTi" panose="02010609060101010101" pitchFamily="49" charset="-122"/>
              </a:rPr>
              <a:t>的不同</a:t>
            </a:r>
            <a:r>
              <a:rPr kumimoji="1" lang="en-US" altLang="zh-CN" dirty="0">
                <a:latin typeface="KaiTi" panose="02010609060101010101" pitchFamily="49" charset="-122"/>
                <a:ea typeface="KaiTi" panose="02010609060101010101" pitchFamily="49" charset="-122"/>
              </a:rPr>
              <a:t>部分，再为这些部分</a:t>
            </a:r>
            <a:r>
              <a:rPr kumimoji="1" lang="en-US" altLang="zh-CN" b="1" dirty="0">
                <a:solidFill>
                  <a:srgbClr val="870078"/>
                </a:solidFill>
                <a:latin typeface="KaiTi" panose="02010609060101010101" pitchFamily="49" charset="-122"/>
                <a:ea typeface="KaiTi" panose="02010609060101010101" pitchFamily="49" charset="-122"/>
              </a:rPr>
              <a:t>分别建立需求分析模型。</a:t>
            </a:r>
          </a:p>
          <a:p>
            <a:pPr>
              <a:lnSpc>
                <a:spcPct val="100000"/>
              </a:lnSpc>
              <a:buFont typeface="Wingdings" panose="05000000000000000000" charset="0"/>
              <a:buChar char=""/>
            </a:pPr>
            <a:endParaRPr kumimoji="1" lang="en-US" altLang="zh-CN" dirty="0">
              <a:latin typeface="KaiTi" panose="02010609060101010101" pitchFamily="49" charset="-122"/>
              <a:ea typeface="KaiTi" panose="02010609060101010101" pitchFamily="49" charset="-122"/>
            </a:endParaRPr>
          </a:p>
          <a:p>
            <a:pPr>
              <a:lnSpc>
                <a:spcPct val="100000"/>
              </a:lnSpc>
              <a:buFont typeface="Wingdings" panose="05000000000000000000" charset="0"/>
              <a:buChar char=""/>
            </a:pPr>
            <a:r>
              <a:rPr kumimoji="1" lang="en-US" altLang="zh-CN" dirty="0">
                <a:latin typeface="KaiTi" panose="02010609060101010101" pitchFamily="49" charset="-122"/>
                <a:ea typeface="KaiTi" panose="02010609060101010101" pitchFamily="49" charset="-122"/>
              </a:rPr>
              <a:t>该种工作方式的关键是：</a:t>
            </a:r>
          </a:p>
          <a:p>
            <a:pPr lvl="1">
              <a:lnSpc>
                <a:spcPct val="100000"/>
              </a:lnSpc>
            </a:pPr>
            <a:r>
              <a:rPr kumimoji="1" lang="en-US" altLang="zh-CN" dirty="0">
                <a:latin typeface="KaiTi" panose="02010609060101010101" pitchFamily="49" charset="-122"/>
                <a:ea typeface="KaiTi" panose="02010609060101010101" pitchFamily="49" charset="-122"/>
              </a:rPr>
              <a:t>保证</a:t>
            </a:r>
            <a:r>
              <a:rPr kumimoji="1" lang="en-US" altLang="zh-CN" b="1" dirty="0">
                <a:solidFill>
                  <a:srgbClr val="870078"/>
                </a:solidFill>
                <a:latin typeface="KaiTi" panose="02010609060101010101" pitchFamily="49" charset="-122"/>
                <a:ea typeface="KaiTi" panose="02010609060101010101" pitchFamily="49" charset="-122"/>
              </a:rPr>
              <a:t>分析覆盖度</a:t>
            </a:r>
            <a:r>
              <a:rPr kumimoji="1" lang="en-US" altLang="zh-CN" dirty="0">
                <a:latin typeface="KaiTi" panose="02010609060101010101" pitchFamily="49" charset="-122"/>
                <a:ea typeface="KaiTi" panose="02010609060101010101" pitchFamily="49" charset="-122"/>
              </a:rPr>
              <a:t>，避免有需求被遗漏；</a:t>
            </a:r>
          </a:p>
          <a:p>
            <a:pPr lvl="1">
              <a:lnSpc>
                <a:spcPct val="100000"/>
              </a:lnSpc>
            </a:pPr>
            <a:r>
              <a:rPr kumimoji="1" lang="en-US" altLang="zh-CN" dirty="0">
                <a:latin typeface="KaiTi" panose="02010609060101010101" pitchFamily="49" charset="-122"/>
                <a:ea typeface="KaiTi" panose="02010609060101010101" pitchFamily="49" charset="-122"/>
              </a:rPr>
              <a:t>保证不同部分分析模型的</a:t>
            </a:r>
            <a:r>
              <a:rPr kumimoji="1" lang="en-US" altLang="zh-CN" b="1" dirty="0">
                <a:solidFill>
                  <a:srgbClr val="870078"/>
                </a:solidFill>
                <a:latin typeface="KaiTi" panose="02010609060101010101" pitchFamily="49" charset="-122"/>
                <a:ea typeface="KaiTi" panose="02010609060101010101" pitchFamily="49" charset="-122"/>
              </a:rPr>
              <a:t>一致性</a:t>
            </a:r>
            <a:r>
              <a:rPr kumimoji="1" lang="en-US" altLang="zh-CN" dirty="0">
                <a:latin typeface="KaiTi" panose="02010609060101010101" pitchFamily="49" charset="-122"/>
                <a:ea typeface="KaiTi" panose="02010609060101010101" pitchFamily="49" charset="-122"/>
              </a:rPr>
              <a:t>，要让它们可有效整合。</a:t>
            </a:r>
          </a:p>
        </p:txBody>
      </p:sp>
      <p:sp>
        <p:nvSpPr>
          <p:cNvPr id="6" name="文本框 5"/>
          <p:cNvSpPr txBox="1"/>
          <p:nvPr/>
        </p:nvSpPr>
        <p:spPr>
          <a:xfrm>
            <a:off x="151596" y="16999"/>
            <a:ext cx="509524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rPr>
              <a:t>以用例/场景模型为主线索开展用户需求开发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依据用例/场景模型组织需求分析模型</a:t>
            </a:r>
          </a:p>
        </p:txBody>
      </p:sp>
      <p:sp>
        <p:nvSpPr>
          <p:cNvPr id="3" name="内容占位符 2"/>
          <p:cNvSpPr txBox="1"/>
          <p:nvPr/>
        </p:nvSpPr>
        <p:spPr>
          <a:xfrm>
            <a:off x="628650" y="141367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endParaRPr kumimoji="1" lang="en-US" altLang="zh-CN" dirty="0">
              <a:latin typeface="KaiTi" panose="02010609060101010101" pitchFamily="49" charset="-122"/>
              <a:ea typeface="KaiTi" panose="02010609060101010101" pitchFamily="49" charset="-122"/>
            </a:endParaRPr>
          </a:p>
        </p:txBody>
      </p:sp>
      <p:sp>
        <p:nvSpPr>
          <p:cNvPr id="6" name="文本框 5"/>
          <p:cNvSpPr txBox="1"/>
          <p:nvPr/>
        </p:nvSpPr>
        <p:spPr>
          <a:xfrm>
            <a:off x="151596" y="16999"/>
            <a:ext cx="509524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rPr>
              <a:t>以用例/场景模型为主线索开展用户需求开发</a:t>
            </a:r>
          </a:p>
        </p:txBody>
      </p:sp>
      <p:graphicFrame>
        <p:nvGraphicFramePr>
          <p:cNvPr id="50180" name="对象 3"/>
          <p:cNvGraphicFramePr>
            <a:graphicFrameLocks noChangeAspect="1"/>
          </p:cNvGraphicFramePr>
          <p:nvPr>
            <p:custDataLst>
              <p:tags r:id="rId1"/>
            </p:custDataLst>
          </p:nvPr>
        </p:nvGraphicFramePr>
        <p:xfrm>
          <a:off x="850265" y="2519045"/>
          <a:ext cx="7597140" cy="3252470"/>
        </p:xfrm>
        <a:graphic>
          <a:graphicData uri="http://schemas.openxmlformats.org/presentationml/2006/ole">
            <mc:AlternateContent xmlns:mc="http://schemas.openxmlformats.org/markup-compatibility/2006">
              <mc:Choice xmlns:v="urn:schemas-microsoft-com:vml" Requires="v">
                <p:oleObj r:id="rId3" imgW="6299200" imgH="2692400" progId="Visio.Drawing.11">
                  <p:embed/>
                </p:oleObj>
              </mc:Choice>
              <mc:Fallback>
                <p:oleObj r:id="rId3" imgW="6299200" imgH="2692400" progId="Visio.Drawing.11">
                  <p:embed/>
                  <p:pic>
                    <p:nvPicPr>
                      <p:cNvPr id="50180" name="对象 3"/>
                      <p:cNvPicPr/>
                      <p:nvPr/>
                    </p:nvPicPr>
                    <p:blipFill>
                      <a:blip r:embed="rId4"/>
                      <a:stretch>
                        <a:fillRect/>
                      </a:stretch>
                    </p:blipFill>
                    <p:spPr>
                      <a:xfrm>
                        <a:off x="850265" y="2519045"/>
                        <a:ext cx="7597140" cy="3252470"/>
                      </a:xfrm>
                      <a:prstGeom prst="rect">
                        <a:avLst/>
                      </a:prstGeom>
                      <a:noFill/>
                      <a:ln w="38100">
                        <a:noFill/>
                        <a:miter/>
                      </a:ln>
                    </p:spPr>
                  </p:pic>
                </p:oleObj>
              </mc:Fallback>
            </mc:AlternateContent>
          </a:graphicData>
        </a:graphic>
      </p:graphicFrame>
      <p:sp>
        <p:nvSpPr>
          <p:cNvPr id="5" name="文本框 4"/>
          <p:cNvSpPr txBox="1"/>
          <p:nvPr/>
        </p:nvSpPr>
        <p:spPr>
          <a:xfrm>
            <a:off x="2921000" y="5972810"/>
            <a:ext cx="3455670" cy="368300"/>
          </a:xfrm>
          <a:prstGeom prst="rect">
            <a:avLst/>
          </a:prstGeom>
          <a:noFill/>
        </p:spPr>
        <p:txBody>
          <a:bodyPr wrap="square" rtlCol="0">
            <a:spAutoFit/>
          </a:bodyPr>
          <a:lstStyle/>
          <a:p>
            <a:r>
              <a:rPr lang="zh-CN" altLang="en-US">
                <a:latin typeface="楷体" charset="0"/>
                <a:ea typeface="楷体" charset="0"/>
              </a:rPr>
              <a:t>利用场景帮助进行需求分析</a:t>
            </a:r>
          </a:p>
        </p:txBody>
      </p:sp>
      <p:sp>
        <p:nvSpPr>
          <p:cNvPr id="7" name="文本框 6"/>
          <p:cNvSpPr txBox="1"/>
          <p:nvPr/>
        </p:nvSpPr>
        <p:spPr>
          <a:xfrm>
            <a:off x="850265" y="1431925"/>
            <a:ext cx="7209790" cy="1145540"/>
          </a:xfrm>
          <a:prstGeom prst="rect">
            <a:avLst/>
          </a:prstGeom>
          <a:noFill/>
        </p:spPr>
        <p:txBody>
          <a:bodyPr wrap="square" rtlCol="0">
            <a:noAutofit/>
          </a:bodyPr>
          <a:lstStyle/>
          <a:p>
            <a:r>
              <a:rPr lang="zh-CN" altLang="en-US" sz="2000">
                <a:latin typeface="楷体" charset="0"/>
                <a:ea typeface="楷体" charset="0"/>
                <a:cs typeface="楷体" charset="0"/>
              </a:rPr>
              <a:t>可以仅仅针对</a:t>
            </a:r>
            <a:r>
              <a:rPr lang="zh-CN" altLang="en-US" sz="2000" b="1">
                <a:solidFill>
                  <a:srgbClr val="870078"/>
                </a:solidFill>
                <a:latin typeface="楷体" charset="0"/>
                <a:ea typeface="楷体" charset="0"/>
                <a:cs typeface="楷体" charset="0"/>
              </a:rPr>
              <a:t>局部事件</a:t>
            </a:r>
            <a:r>
              <a:rPr lang="zh-CN" altLang="en-US" sz="2000">
                <a:latin typeface="楷体" charset="0"/>
                <a:ea typeface="楷体" charset="0"/>
                <a:cs typeface="楷体" charset="0"/>
              </a:rPr>
              <a:t>的用例/场景信息进行需求分析，局部事件的用例/场景构成了</a:t>
            </a:r>
            <a:r>
              <a:rPr lang="zh-CN" altLang="en-US" sz="2000" b="1">
                <a:solidFill>
                  <a:srgbClr val="870078"/>
                </a:solidFill>
                <a:latin typeface="楷体" charset="0"/>
                <a:ea typeface="楷体" charset="0"/>
                <a:cs typeface="楷体" charset="0"/>
              </a:rPr>
              <a:t>局部需求分析</a:t>
            </a:r>
            <a:r>
              <a:rPr lang="zh-CN" altLang="en-US" sz="2000">
                <a:latin typeface="楷体" charset="0"/>
                <a:ea typeface="楷体" charset="0"/>
                <a:cs typeface="楷体" charset="0"/>
              </a:rPr>
              <a:t>的背景和上下文知识，在降低了局部需求分析</a:t>
            </a:r>
            <a:r>
              <a:rPr lang="zh-CN" altLang="en-US" sz="2000" b="1">
                <a:solidFill>
                  <a:srgbClr val="870078"/>
                </a:solidFill>
                <a:latin typeface="楷体" charset="0"/>
                <a:ea typeface="楷体" charset="0"/>
                <a:cs typeface="楷体" charset="0"/>
              </a:rPr>
              <a:t>复杂度</a:t>
            </a:r>
            <a:r>
              <a:rPr lang="zh-CN" altLang="en-US" sz="2000">
                <a:latin typeface="楷体" charset="0"/>
                <a:ea typeface="楷体" charset="0"/>
                <a:cs typeface="楷体" charset="0"/>
              </a:rPr>
              <a:t>的同时保证了</a:t>
            </a:r>
            <a:r>
              <a:rPr lang="zh-CN" altLang="en-US" sz="2000" b="1">
                <a:solidFill>
                  <a:srgbClr val="870078"/>
                </a:solidFill>
                <a:latin typeface="楷体" charset="0"/>
                <a:ea typeface="楷体" charset="0"/>
                <a:cs typeface="楷体" charset="0"/>
              </a:rPr>
              <a:t>正确性</a:t>
            </a:r>
            <a:r>
              <a:rPr lang="zh-CN" altLang="en-US" sz="2000">
                <a:latin typeface="楷体" charset="0"/>
                <a:ea typeface="楷体" charset="0"/>
                <a:cs typeface="楷体" charset="0"/>
              </a:rPr>
              <a:t>。</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分析用例/场景发现仍需获取的需求内容</a:t>
            </a:r>
          </a:p>
        </p:txBody>
      </p:sp>
      <p:sp>
        <p:nvSpPr>
          <p:cNvPr id="3" name="内容占位符 2"/>
          <p:cNvSpPr txBox="1"/>
          <p:nvPr/>
        </p:nvSpPr>
        <p:spPr>
          <a:xfrm>
            <a:off x="628650" y="141367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00000"/>
              </a:lnSpc>
              <a:buFont typeface="Wingdings" panose="05000000000000000000" charset="0"/>
              <a:buChar char=""/>
            </a:pPr>
            <a:r>
              <a:rPr kumimoji="1" lang="en-US" altLang="zh-CN" dirty="0">
                <a:latin typeface="KaiTi" panose="02010609060101010101" pitchFamily="49" charset="-122"/>
                <a:ea typeface="KaiTi" panose="02010609060101010101" pitchFamily="49" charset="-122"/>
              </a:rPr>
              <a:t>用例/场景没有验证内容正确性、完备性和一致性的能力</a:t>
            </a:r>
            <a:r>
              <a:rPr kumimoji="1" lang="zh-CN" altLang="en-US" dirty="0">
                <a:latin typeface="KaiTi" panose="02010609060101010101" pitchFamily="49" charset="-122"/>
                <a:ea typeface="KaiTi" panose="02010609060101010101" pitchFamily="49" charset="-122"/>
              </a:rPr>
              <a:t>；</a:t>
            </a:r>
            <a:endParaRPr kumimoji="1" lang="en-US" altLang="zh-CN" dirty="0">
              <a:latin typeface="KaiTi" panose="02010609060101010101" pitchFamily="49" charset="-122"/>
              <a:ea typeface="KaiTi" panose="02010609060101010101" pitchFamily="49" charset="-122"/>
            </a:endParaRPr>
          </a:p>
          <a:p>
            <a:pPr>
              <a:lnSpc>
                <a:spcPct val="100000"/>
              </a:lnSpc>
              <a:buFont typeface="Wingdings" panose="05000000000000000000" charset="0"/>
              <a:buChar char=""/>
            </a:pPr>
            <a:r>
              <a:rPr kumimoji="1" lang="en-US" altLang="zh-CN" dirty="0">
                <a:latin typeface="KaiTi" panose="02010609060101010101" pitchFamily="49" charset="-122"/>
                <a:ea typeface="KaiTi" panose="02010609060101010101" pitchFamily="49" charset="-122"/>
              </a:rPr>
              <a:t>在建立比较详细的用例/场景描述之后，可以使用</a:t>
            </a:r>
            <a:r>
              <a:rPr kumimoji="1" lang="en-US" altLang="zh-CN" b="1" dirty="0">
                <a:solidFill>
                  <a:srgbClr val="870078"/>
                </a:solidFill>
                <a:latin typeface="KaiTi" panose="02010609060101010101" pitchFamily="49" charset="-122"/>
                <a:ea typeface="KaiTi" panose="02010609060101010101" pitchFamily="49" charset="-122"/>
              </a:rPr>
              <a:t>分析技术</a:t>
            </a:r>
            <a:r>
              <a:rPr kumimoji="1" lang="en-US" altLang="zh-CN" dirty="0">
                <a:latin typeface="KaiTi" panose="02010609060101010101" pitchFamily="49" charset="-122"/>
                <a:ea typeface="KaiTi" panose="02010609060101010101" pitchFamily="49" charset="-122"/>
              </a:rPr>
              <a:t>验证其内容的</a:t>
            </a:r>
            <a:r>
              <a:rPr kumimoji="1" lang="en-US" altLang="zh-CN" b="1" dirty="0">
                <a:solidFill>
                  <a:srgbClr val="870078"/>
                </a:solidFill>
                <a:latin typeface="KaiTi" panose="02010609060101010101" pitchFamily="49" charset="-122"/>
                <a:ea typeface="KaiTi" panose="02010609060101010101" pitchFamily="49" charset="-122"/>
              </a:rPr>
              <a:t>正确性、完备性和一致性</a:t>
            </a:r>
            <a:r>
              <a:rPr kumimoji="1" lang="zh-CN" altLang="en-US" dirty="0">
                <a:latin typeface="KaiTi" panose="02010609060101010101" pitchFamily="49" charset="-122"/>
                <a:ea typeface="KaiTi" panose="02010609060101010101" pitchFamily="49" charset="-122"/>
              </a:rPr>
              <a:t>；</a:t>
            </a:r>
            <a:endParaRPr kumimoji="1" lang="en-US" altLang="zh-CN" dirty="0">
              <a:latin typeface="KaiTi" panose="02010609060101010101" pitchFamily="49" charset="-122"/>
              <a:ea typeface="KaiTi" panose="02010609060101010101" pitchFamily="49" charset="-122"/>
            </a:endParaRPr>
          </a:p>
          <a:p>
            <a:pPr>
              <a:lnSpc>
                <a:spcPct val="100000"/>
              </a:lnSpc>
              <a:buFont typeface="Wingdings" panose="05000000000000000000" charset="0"/>
              <a:buChar char=""/>
            </a:pPr>
            <a:r>
              <a:rPr kumimoji="1" lang="en-US" altLang="zh-CN" dirty="0">
                <a:latin typeface="KaiTi" panose="02010609060101010101" pitchFamily="49" charset="-122"/>
                <a:ea typeface="KaiTi" panose="02010609060101010101" pitchFamily="49" charset="-122"/>
              </a:rPr>
              <a:t>将发现的信息缺失与不足交由下一次获取活动解决，逐步实现用例/场景的正确性、完备性和一致性</a:t>
            </a:r>
            <a:r>
              <a:rPr kumimoji="1" lang="zh-CN" altLang="en-US" dirty="0">
                <a:latin typeface="KaiTi" panose="02010609060101010101" pitchFamily="49" charset="-122"/>
                <a:ea typeface="KaiTi" panose="02010609060101010101" pitchFamily="49" charset="-122"/>
              </a:rPr>
              <a:t>。</a:t>
            </a:r>
          </a:p>
        </p:txBody>
      </p:sp>
      <p:sp>
        <p:nvSpPr>
          <p:cNvPr id="6" name="文本框 5"/>
          <p:cNvSpPr txBox="1"/>
          <p:nvPr/>
        </p:nvSpPr>
        <p:spPr>
          <a:xfrm>
            <a:off x="151596" y="16999"/>
            <a:ext cx="509524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rPr>
              <a:t>以用例/场景模型为主线索开展用户需求开发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销售用例的简单描述</a:t>
            </a:r>
          </a:p>
        </p:txBody>
      </p:sp>
      <p:sp>
        <p:nvSpPr>
          <p:cNvPr id="3" name="内容占位符 2"/>
          <p:cNvSpPr txBox="1"/>
          <p:nvPr/>
        </p:nvSpPr>
        <p:spPr>
          <a:xfrm>
            <a:off x="628650" y="1175385"/>
            <a:ext cx="4024630" cy="5001260"/>
          </a:xfrm>
          <a:prstGeom prst="rect">
            <a:avLst/>
          </a:prstGeom>
          <a:ln w="12700">
            <a:solidFill>
              <a:schemeClr val="tx1"/>
            </a:solidFill>
          </a:ln>
        </p:spPr>
        <p:txBody>
          <a:bodyPr anchor="ctr" anchorCtr="0"/>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en-US" altLang="zh-CN" sz="2400" dirty="0">
                <a:latin typeface="KaiTi" panose="02010609060101010101" pitchFamily="49" charset="-122"/>
                <a:ea typeface="KaiTi" panose="02010609060101010101" pitchFamily="49" charset="-122"/>
              </a:rPr>
              <a:t>1.收银员输入会员编号；</a:t>
            </a:r>
          </a:p>
          <a:p>
            <a:pPr marL="0" indent="0">
              <a:buNone/>
            </a:pPr>
            <a:r>
              <a:rPr kumimoji="1" lang="en-US" altLang="zh-CN" sz="2400" dirty="0">
                <a:latin typeface="KaiTi" panose="02010609060101010101" pitchFamily="49" charset="-122"/>
                <a:ea typeface="KaiTi" panose="02010609060101010101" pitchFamily="49" charset="-122"/>
              </a:rPr>
              <a:t>2.收银员输入商品；</a:t>
            </a:r>
          </a:p>
          <a:p>
            <a:pPr marL="0" indent="0">
              <a:buNone/>
            </a:pPr>
            <a:r>
              <a:rPr kumimoji="1" lang="en-US" altLang="zh-CN" sz="2400" dirty="0">
                <a:latin typeface="KaiTi" panose="02010609060101010101" pitchFamily="49" charset="-122"/>
                <a:ea typeface="KaiTi" panose="02010609060101010101" pitchFamily="49" charset="-122"/>
              </a:rPr>
              <a:t>3.系统显示购买信息；</a:t>
            </a:r>
          </a:p>
          <a:p>
            <a:pPr marL="0" indent="0">
              <a:buNone/>
            </a:pPr>
            <a:r>
              <a:rPr kumimoji="1" lang="en-US" altLang="zh-CN" sz="2400" dirty="0">
                <a:latin typeface="KaiTi" panose="02010609060101010101" pitchFamily="49" charset="-122"/>
                <a:ea typeface="KaiTi" panose="02010609060101010101" pitchFamily="49" charset="-122"/>
              </a:rPr>
              <a:t>收银员重复 2-3 步，直至完成所有输入</a:t>
            </a:r>
          </a:p>
          <a:p>
            <a:pPr marL="0" indent="0">
              <a:buNone/>
            </a:pPr>
            <a:r>
              <a:rPr kumimoji="1" lang="en-US" altLang="zh-CN" sz="2400" dirty="0">
                <a:latin typeface="KaiTi" panose="02010609060101010101" pitchFamily="49" charset="-122"/>
                <a:ea typeface="KaiTi" panose="02010609060101010101" pitchFamily="49" charset="-122"/>
              </a:rPr>
              <a:t>4.系统显示总价和赠品信息；</a:t>
            </a:r>
          </a:p>
          <a:p>
            <a:pPr marL="0" indent="0">
              <a:buNone/>
            </a:pPr>
            <a:r>
              <a:rPr kumimoji="1" lang="en-US" altLang="zh-CN" sz="2400" dirty="0">
                <a:latin typeface="KaiTi" panose="02010609060101010101" pitchFamily="49" charset="-122"/>
                <a:ea typeface="KaiTi" panose="02010609060101010101" pitchFamily="49" charset="-122"/>
              </a:rPr>
              <a:t>5.顾客付款；</a:t>
            </a:r>
          </a:p>
          <a:p>
            <a:pPr marL="0" indent="0">
              <a:buNone/>
            </a:pPr>
            <a:r>
              <a:rPr kumimoji="1" lang="en-US" altLang="zh-CN" sz="2400" dirty="0">
                <a:latin typeface="KaiTi" panose="02010609060101010101" pitchFamily="49" charset="-122"/>
                <a:ea typeface="KaiTi" panose="02010609060101010101" pitchFamily="49" charset="-122"/>
              </a:rPr>
              <a:t>6.系统找零；</a:t>
            </a:r>
          </a:p>
          <a:p>
            <a:pPr marL="0" indent="0">
              <a:buNone/>
            </a:pPr>
            <a:r>
              <a:rPr kumimoji="1" lang="en-US" altLang="zh-CN" sz="2400" dirty="0">
                <a:latin typeface="KaiTi" panose="02010609060101010101" pitchFamily="49" charset="-122"/>
                <a:ea typeface="KaiTi" panose="02010609060101010101" pitchFamily="49" charset="-122"/>
              </a:rPr>
              <a:t>7.系统更新数据；</a:t>
            </a:r>
          </a:p>
          <a:p>
            <a:pPr marL="0" indent="0">
              <a:buNone/>
            </a:pPr>
            <a:r>
              <a:rPr kumimoji="1" lang="en-US" altLang="zh-CN" sz="2400" dirty="0">
                <a:latin typeface="KaiTi" panose="02010609060101010101" pitchFamily="49" charset="-122"/>
                <a:ea typeface="KaiTi" panose="02010609060101010101" pitchFamily="49" charset="-122"/>
              </a:rPr>
              <a:t>8.系统打印收据；</a:t>
            </a:r>
          </a:p>
          <a:p>
            <a:pPr marL="0" indent="0">
              <a:buNone/>
            </a:pPr>
            <a:r>
              <a:rPr kumimoji="1" lang="en-US" altLang="zh-CN" sz="2400" dirty="0">
                <a:latin typeface="KaiTi" panose="02010609060101010101" pitchFamily="49" charset="-122"/>
                <a:ea typeface="KaiTi" panose="02010609060101010101" pitchFamily="49" charset="-122"/>
              </a:rPr>
              <a:t>9.顾客离开</a:t>
            </a:r>
          </a:p>
        </p:txBody>
      </p:sp>
      <p:sp>
        <p:nvSpPr>
          <p:cNvPr id="6" name="文本框 5"/>
          <p:cNvSpPr txBox="1"/>
          <p:nvPr/>
        </p:nvSpPr>
        <p:spPr>
          <a:xfrm>
            <a:off x="151596" y="16999"/>
            <a:ext cx="509524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rPr>
              <a:t>以用例/场景模型为主线索开展用户需求开发</a:t>
            </a:r>
          </a:p>
        </p:txBody>
      </p:sp>
      <p:sp>
        <p:nvSpPr>
          <p:cNvPr id="7" name="文本框 6"/>
          <p:cNvSpPr txBox="1"/>
          <p:nvPr/>
        </p:nvSpPr>
        <p:spPr>
          <a:xfrm>
            <a:off x="4568825" y="541655"/>
            <a:ext cx="3336925" cy="709930"/>
          </a:xfrm>
          <a:prstGeom prst="rect">
            <a:avLst/>
          </a:prstGeom>
          <a:noFill/>
        </p:spPr>
        <p:txBody>
          <a:bodyPr wrap="square" rtlCol="0">
            <a:noAutofit/>
          </a:bodyPr>
          <a:lstStyle/>
          <a:p>
            <a:r>
              <a:rPr lang="zh-CN" altLang="en-US">
                <a:latin typeface="楷体" charset="0"/>
                <a:ea typeface="楷体" charset="0"/>
                <a:sym typeface="+mn-ea"/>
              </a:rPr>
              <a:t>在金蝶为汇文书刊定制的线下书店购物系统中进行购物</a:t>
            </a:r>
          </a:p>
        </p:txBody>
      </p:sp>
      <p:sp>
        <p:nvSpPr>
          <p:cNvPr id="9" name="文本框 8"/>
          <p:cNvSpPr txBox="1"/>
          <p:nvPr/>
        </p:nvSpPr>
        <p:spPr>
          <a:xfrm>
            <a:off x="4771390" y="1862455"/>
            <a:ext cx="4190365" cy="3441065"/>
          </a:xfrm>
          <a:prstGeom prst="rect">
            <a:avLst/>
          </a:prstGeom>
          <a:solidFill>
            <a:schemeClr val="accent1">
              <a:lumMod val="20000"/>
              <a:lumOff val="80000"/>
            </a:schemeClr>
          </a:solidFill>
        </p:spPr>
        <p:txBody>
          <a:bodyPr wrap="square" rtlCol="0" anchor="t">
            <a:noAutofit/>
          </a:bodyPr>
          <a:lstStyle/>
          <a:p>
            <a:pPr indent="0">
              <a:lnSpc>
                <a:spcPct val="110000"/>
              </a:lnSpc>
              <a:buFont typeface="Wingdings" panose="05000000000000000000" charset="0"/>
              <a:buNone/>
            </a:pPr>
            <a:r>
              <a:rPr lang="zh-CN" altLang="en-US" b="1">
                <a:solidFill>
                  <a:srgbClr val="870078"/>
                </a:solidFill>
                <a:latin typeface="楷体" charset="0"/>
                <a:ea typeface="楷体" charset="0"/>
                <a:cs typeface="楷体" charset="0"/>
                <a:sym typeface="+mn-ea"/>
              </a:rPr>
              <a:t>为该用例绘制系统顺序图时发现问题</a:t>
            </a:r>
            <a:endParaRPr lang="zh-CN" altLang="en-US" b="1">
              <a:latin typeface="楷体" charset="0"/>
              <a:ea typeface="楷体" charset="0"/>
              <a:cs typeface="楷体" charset="0"/>
              <a:sym typeface="+mn-ea"/>
            </a:endParaRPr>
          </a:p>
          <a:p>
            <a:pPr indent="0">
              <a:lnSpc>
                <a:spcPct val="110000"/>
              </a:lnSpc>
              <a:buFont typeface="Wingdings" panose="05000000000000000000" charset="0"/>
              <a:buNone/>
            </a:pPr>
            <a:r>
              <a:rPr lang="en-US" altLang="zh-CN">
                <a:latin typeface="Times New Roman Regular" panose="02020603050405020304" charset="0"/>
                <a:ea typeface="楷体" charset="0"/>
                <a:cs typeface="Times New Roman Regular" panose="02020603050405020304" charset="0"/>
                <a:sym typeface="+mn-ea"/>
              </a:rPr>
              <a:t>1.</a:t>
            </a:r>
            <a:r>
              <a:rPr lang="zh-CN" altLang="en-US">
                <a:latin typeface="Times New Roman Regular" panose="02020603050405020304" charset="0"/>
                <a:ea typeface="楷体" charset="0"/>
                <a:cs typeface="Times New Roman Regular" panose="02020603050405020304" charset="0"/>
                <a:sym typeface="+mn-ea"/>
              </a:rPr>
              <a:t>描述内容的交互性不足，即没有清晰的“外界请求→系统响应→外界再请求→系统再响应…”的过程；</a:t>
            </a:r>
          </a:p>
          <a:p>
            <a:pPr indent="0">
              <a:lnSpc>
                <a:spcPct val="110000"/>
              </a:lnSpc>
              <a:buFont typeface="Wingdings" panose="05000000000000000000" charset="0"/>
              <a:buNone/>
            </a:pPr>
            <a:r>
              <a:rPr lang="en-US" altLang="zh-CN">
                <a:latin typeface="Times New Roman Regular" panose="02020603050405020304" charset="0"/>
                <a:ea typeface="楷体" charset="0"/>
                <a:cs typeface="Times New Roman Regular" panose="02020603050405020304" charset="0"/>
                <a:sym typeface="+mn-ea"/>
              </a:rPr>
              <a:t>2.</a:t>
            </a:r>
            <a:r>
              <a:rPr lang="zh-CN" altLang="en-US">
                <a:latin typeface="Times New Roman Regular" panose="02020603050405020304" charset="0"/>
                <a:ea typeface="楷体" charset="0"/>
                <a:cs typeface="Times New Roman Regular" panose="02020603050405020304" charset="0"/>
                <a:sym typeface="+mn-ea"/>
              </a:rPr>
              <a:t>顾客是无法直接与系统发生交互的，所以其步骤5、6、9都需要修正。</a:t>
            </a:r>
          </a:p>
          <a:p>
            <a:pPr indent="0">
              <a:lnSpc>
                <a:spcPct val="110000"/>
              </a:lnSpc>
              <a:buFont typeface="Wingdings" panose="05000000000000000000" charset="0"/>
              <a:buNone/>
            </a:pPr>
            <a:endParaRPr lang="zh-CN" altLang="en-US">
              <a:latin typeface="Times New Roman Regular" panose="02020603050405020304" charset="0"/>
              <a:ea typeface="楷体" charset="0"/>
              <a:cs typeface="Times New Roman Regular" panose="02020603050405020304" charset="0"/>
            </a:endParaRPr>
          </a:p>
          <a:p>
            <a:pPr indent="0">
              <a:lnSpc>
                <a:spcPct val="110000"/>
              </a:lnSpc>
              <a:buFont typeface="Wingdings" panose="05000000000000000000" charset="0"/>
              <a:buNone/>
            </a:pPr>
            <a:r>
              <a:rPr lang="zh-CN" altLang="en-US" b="1">
                <a:solidFill>
                  <a:srgbClr val="870078"/>
                </a:solidFill>
                <a:latin typeface="Times New Roman Regular" panose="02020603050405020304" charset="0"/>
                <a:ea typeface="楷体" charset="0"/>
                <a:cs typeface="Times New Roman Regular" panose="02020603050405020304" charset="0"/>
                <a:sym typeface="+mn-ea"/>
              </a:rPr>
              <a:t>问题修正</a:t>
            </a:r>
          </a:p>
          <a:p>
            <a:pPr indent="0">
              <a:lnSpc>
                <a:spcPct val="110000"/>
              </a:lnSpc>
              <a:buFont typeface="Wingdings" panose="05000000000000000000" charset="0"/>
              <a:buNone/>
            </a:pPr>
            <a:r>
              <a:rPr lang="zh-CN" altLang="en-US">
                <a:latin typeface="Times New Roman Regular" panose="02020603050405020304" charset="0"/>
                <a:ea typeface="楷体" charset="0"/>
                <a:cs typeface="Times New Roman Regular" panose="02020603050405020304" charset="0"/>
                <a:sym typeface="+mn-ea"/>
              </a:rPr>
              <a:t>针对发现的问题，可以明确后续获取内容，并再次修正系统顺序图。</a:t>
            </a:r>
          </a:p>
        </p:txBody>
      </p:sp>
      <p:pic>
        <p:nvPicPr>
          <p:cNvPr id="4" name="图片 3">
            <a:hlinkClick r:id="rId3" action="ppaction://hlinkfile"/>
          </p:cNvPr>
          <p:cNvPicPr>
            <a:picLocks noChangeAspect="1"/>
          </p:cNvPicPr>
          <p:nvPr>
            <p:custDataLst>
              <p:tags r:id="rId1"/>
            </p:custDataLst>
          </p:nvPr>
        </p:nvPicPr>
        <p:blipFill>
          <a:blip r:embed="rId4"/>
          <a:stretch>
            <a:fillRect/>
          </a:stretch>
        </p:blipFill>
        <p:spPr>
          <a:xfrm>
            <a:off x="7673196" y="541393"/>
            <a:ext cx="1215822" cy="656239"/>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销售用例的改进一</a:t>
            </a:r>
          </a:p>
        </p:txBody>
      </p:sp>
      <p:sp>
        <p:nvSpPr>
          <p:cNvPr id="3" name="内容占位符 2"/>
          <p:cNvSpPr txBox="1"/>
          <p:nvPr/>
        </p:nvSpPr>
        <p:spPr>
          <a:xfrm>
            <a:off x="628650" y="1251585"/>
            <a:ext cx="7782560" cy="5153660"/>
          </a:xfrm>
          <a:prstGeom prst="rect">
            <a:avLst/>
          </a:prstGeom>
          <a:ln w="12700">
            <a:solidFill>
              <a:schemeClr val="tx1"/>
            </a:solidFill>
          </a:ln>
        </p:spPr>
        <p:txBody>
          <a:bodyPr anchor="ctr" anchorCtr="0"/>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en-US" altLang="zh-CN" sz="2000" dirty="0">
                <a:latin typeface="KaiTi" panose="02010609060101010101" pitchFamily="49" charset="-122"/>
                <a:ea typeface="KaiTi" panose="02010609060101010101" pitchFamily="49" charset="-122"/>
              </a:rPr>
              <a:t>1. 收银员输入会员编号；</a:t>
            </a:r>
          </a:p>
          <a:p>
            <a:pPr marL="0" indent="0">
              <a:buNone/>
            </a:pPr>
            <a:r>
              <a:rPr kumimoji="1" lang="en-US" altLang="zh-CN" sz="2000" dirty="0">
                <a:latin typeface="KaiTi" panose="02010609060101010101" pitchFamily="49" charset="-122"/>
                <a:ea typeface="KaiTi" panose="02010609060101010101" pitchFamily="49" charset="-122"/>
              </a:rPr>
              <a:t>2. 系统显示会员信息；</a:t>
            </a:r>
          </a:p>
          <a:p>
            <a:pPr marL="0" indent="0">
              <a:buNone/>
            </a:pPr>
            <a:r>
              <a:rPr kumimoji="1" lang="en-US" altLang="zh-CN" sz="2000" dirty="0">
                <a:latin typeface="KaiTi" panose="02010609060101010101" pitchFamily="49" charset="-122"/>
                <a:ea typeface="KaiTi" panose="02010609060101010101" pitchFamily="49" charset="-122"/>
              </a:rPr>
              <a:t>3. 收银员输入商品；</a:t>
            </a:r>
          </a:p>
          <a:p>
            <a:pPr marL="0" indent="0">
              <a:buNone/>
            </a:pPr>
            <a:r>
              <a:rPr kumimoji="1" lang="en-US" altLang="zh-CN" sz="2000" dirty="0">
                <a:latin typeface="KaiTi" panose="02010609060101010101" pitchFamily="49" charset="-122"/>
                <a:ea typeface="KaiTi" panose="02010609060101010101" pitchFamily="49" charset="-122"/>
              </a:rPr>
              <a:t>4. 系统显示输入商品的信息；</a:t>
            </a:r>
          </a:p>
          <a:p>
            <a:pPr marL="0" indent="0">
              <a:buNone/>
            </a:pPr>
            <a:r>
              <a:rPr kumimoji="1" lang="en-US" altLang="zh-CN" sz="2000" dirty="0">
                <a:latin typeface="KaiTi" panose="02010609060101010101" pitchFamily="49" charset="-122"/>
                <a:ea typeface="KaiTi" panose="02010609060101010101" pitchFamily="49" charset="-122"/>
              </a:rPr>
              <a:t>5. 系统显示所有已输入商品的信息；</a:t>
            </a:r>
          </a:p>
          <a:p>
            <a:pPr marL="0" indent="0">
              <a:buNone/>
            </a:pPr>
            <a:r>
              <a:rPr kumimoji="1" lang="en-US" altLang="zh-CN" sz="2000" dirty="0">
                <a:latin typeface="KaiTi" panose="02010609060101010101" pitchFamily="49" charset="-122"/>
                <a:ea typeface="KaiTi" panose="02010609060101010101" pitchFamily="49" charset="-122"/>
              </a:rPr>
              <a:t>收银员重复 3-5 步，直至完成所有输入</a:t>
            </a:r>
          </a:p>
          <a:p>
            <a:pPr marL="0" indent="0">
              <a:buNone/>
            </a:pPr>
            <a:r>
              <a:rPr kumimoji="1" lang="en-US" altLang="zh-CN" sz="2000" dirty="0">
                <a:latin typeface="KaiTi" panose="02010609060101010101" pitchFamily="49" charset="-122"/>
                <a:ea typeface="KaiTi" panose="02010609060101010101" pitchFamily="49" charset="-122"/>
              </a:rPr>
              <a:t>6. 收银员结束商品输入；</a:t>
            </a:r>
          </a:p>
          <a:p>
            <a:pPr marL="0" indent="0">
              <a:buNone/>
            </a:pPr>
            <a:r>
              <a:rPr kumimoji="1" lang="en-US" altLang="zh-CN" sz="2000" dirty="0">
                <a:latin typeface="KaiTi" panose="02010609060101010101" pitchFamily="49" charset="-122"/>
                <a:ea typeface="KaiTi" panose="02010609060101010101" pitchFamily="49" charset="-122"/>
              </a:rPr>
              <a:t>7. 系统显示总价和赠品信息；</a:t>
            </a:r>
          </a:p>
          <a:p>
            <a:pPr marL="0" indent="0">
              <a:buNone/>
            </a:pPr>
            <a:r>
              <a:rPr kumimoji="1" lang="en-US" altLang="zh-CN" sz="2000" dirty="0">
                <a:latin typeface="KaiTi" panose="02010609060101010101" pitchFamily="49" charset="-122"/>
                <a:ea typeface="KaiTi" panose="02010609060101010101" pitchFamily="49" charset="-122"/>
              </a:rPr>
              <a:t>8. 收银员请求顾客付款；</a:t>
            </a:r>
          </a:p>
          <a:p>
            <a:pPr marL="0" indent="0">
              <a:buNone/>
            </a:pPr>
            <a:r>
              <a:rPr kumimoji="1" lang="en-US" altLang="zh-CN" sz="2000" dirty="0">
                <a:latin typeface="KaiTi" panose="02010609060101010101" pitchFamily="49" charset="-122"/>
                <a:ea typeface="KaiTi" panose="02010609060101010101" pitchFamily="49" charset="-122"/>
              </a:rPr>
              <a:t>9. 顾客支付，收银员输入支付数额；</a:t>
            </a:r>
          </a:p>
          <a:p>
            <a:pPr marL="0" indent="0">
              <a:buNone/>
            </a:pPr>
            <a:r>
              <a:rPr kumimoji="1" lang="en-US" altLang="zh-CN" sz="2000" dirty="0">
                <a:latin typeface="KaiTi" panose="02010609060101010101" pitchFamily="49" charset="-122"/>
                <a:ea typeface="KaiTi" panose="02010609060101010101" pitchFamily="49" charset="-122"/>
              </a:rPr>
              <a:t>10. 系统显示应找零数额，收银员找零；</a:t>
            </a:r>
          </a:p>
          <a:p>
            <a:pPr marL="0" indent="0">
              <a:buNone/>
            </a:pPr>
            <a:r>
              <a:rPr kumimoji="1" lang="en-US" altLang="zh-CN" sz="2000" dirty="0">
                <a:latin typeface="KaiTi" panose="02010609060101010101" pitchFamily="49" charset="-122"/>
                <a:ea typeface="KaiTi" panose="02010609060101010101" pitchFamily="49" charset="-122"/>
              </a:rPr>
              <a:t>11. 收银员结束销售；</a:t>
            </a:r>
          </a:p>
          <a:p>
            <a:pPr marL="0" indent="0">
              <a:buNone/>
            </a:pPr>
            <a:r>
              <a:rPr kumimoji="1" lang="en-US" altLang="zh-CN" sz="2000" dirty="0">
                <a:latin typeface="KaiTi" panose="02010609060101010101" pitchFamily="49" charset="-122"/>
                <a:ea typeface="KaiTi" panose="02010609060101010101" pitchFamily="49" charset="-122"/>
              </a:rPr>
              <a:t>12. 系统更新数据，并打印收据。</a:t>
            </a:r>
          </a:p>
        </p:txBody>
      </p:sp>
      <p:sp>
        <p:nvSpPr>
          <p:cNvPr id="6" name="文本框 5"/>
          <p:cNvSpPr txBox="1"/>
          <p:nvPr/>
        </p:nvSpPr>
        <p:spPr>
          <a:xfrm>
            <a:off x="151596" y="16999"/>
            <a:ext cx="509524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rPr>
              <a:t>以用例/场景模型为主线索开展用户需求开发</a:t>
            </a:r>
          </a:p>
        </p:txBody>
      </p:sp>
      <p:pic>
        <p:nvPicPr>
          <p:cNvPr id="4" name="图片 3">
            <a:hlinkClick r:id="rId3" action="ppaction://hlinkfile"/>
          </p:cNvPr>
          <p:cNvPicPr>
            <a:picLocks noChangeAspect="1"/>
          </p:cNvPicPr>
          <p:nvPr>
            <p:custDataLst>
              <p:tags r:id="rId1"/>
            </p:custDataLst>
          </p:nvPr>
        </p:nvPicPr>
        <p:blipFill>
          <a:blip r:embed="rId4"/>
          <a:stretch>
            <a:fillRect/>
          </a:stretch>
        </p:blipFill>
        <p:spPr>
          <a:xfrm>
            <a:off x="7673196" y="541393"/>
            <a:ext cx="1215822" cy="656239"/>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改进后的</a:t>
            </a:r>
            <a:r>
              <a:rPr kumimoji="1" lang="zh-CN" altLang="en-US" sz="3200" b="1" dirty="0">
                <a:latin typeface="微软雅黑" panose="020B0503020204020204" pitchFamily="34" charset="-122"/>
                <a:ea typeface="微软雅黑" panose="020B0503020204020204" pitchFamily="34" charset="-122"/>
                <a:sym typeface="+mn-ea"/>
              </a:rPr>
              <a:t>系统顺序图</a:t>
            </a:r>
            <a:endParaRPr kumimoji="1" lang="zh-CN" altLang="en-US" sz="32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151596" y="16999"/>
            <a:ext cx="509524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rPr>
              <a:t>以用例/场景模型为主线索开展用户需求开发</a:t>
            </a:r>
          </a:p>
        </p:txBody>
      </p:sp>
      <p:sp>
        <p:nvSpPr>
          <p:cNvPr id="7" name="文本框 6"/>
          <p:cNvSpPr txBox="1"/>
          <p:nvPr/>
        </p:nvSpPr>
        <p:spPr>
          <a:xfrm>
            <a:off x="1209040" y="1913890"/>
            <a:ext cx="3048000" cy="398145"/>
          </a:xfrm>
          <a:prstGeom prst="rect">
            <a:avLst/>
          </a:prstGeom>
          <a:noFill/>
        </p:spPr>
        <p:txBody>
          <a:bodyPr wrap="square" rtlCol="0">
            <a:noAutofit/>
          </a:bodyPr>
          <a:lstStyle/>
          <a:p>
            <a:endParaRPr lang="zh-CN" altLang="en-US"/>
          </a:p>
        </p:txBody>
      </p:sp>
      <p:sp>
        <p:nvSpPr>
          <p:cNvPr id="11" name="圆角矩形 10"/>
          <p:cNvSpPr/>
          <p:nvPr/>
        </p:nvSpPr>
        <p:spPr>
          <a:xfrm>
            <a:off x="5549265" y="2397760"/>
            <a:ext cx="3048000" cy="461645"/>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latin typeface="楷体" charset="0"/>
                <a:ea typeface="楷体" charset="0"/>
                <a:sym typeface="+mn-ea"/>
              </a:rPr>
              <a:t>修改后成功绘制系统顺序图！</a:t>
            </a:r>
            <a:endParaRPr lang="zh-CN" altLang="en-US"/>
          </a:p>
        </p:txBody>
      </p:sp>
      <p:pic>
        <p:nvPicPr>
          <p:cNvPr id="12" name="图片 11" descr="962956618f0570b74185eb82ac675bcb"/>
          <p:cNvPicPr>
            <a:picLocks noChangeAspect="1"/>
          </p:cNvPicPr>
          <p:nvPr/>
        </p:nvPicPr>
        <p:blipFill>
          <a:blip r:embed="rId3"/>
          <a:stretch>
            <a:fillRect/>
          </a:stretch>
        </p:blipFill>
        <p:spPr>
          <a:xfrm>
            <a:off x="1101090" y="1125220"/>
            <a:ext cx="4269105" cy="5328285"/>
          </a:xfrm>
          <a:prstGeom prst="rect">
            <a:avLst/>
          </a:prstGeom>
        </p:spPr>
      </p:pic>
      <p:pic>
        <p:nvPicPr>
          <p:cNvPr id="4" name="图片 3">
            <a:hlinkClick r:id="rId4" action="ppaction://hlinkfile"/>
          </p:cNvPr>
          <p:cNvPicPr>
            <a:picLocks noChangeAspect="1"/>
          </p:cNvPicPr>
          <p:nvPr>
            <p:custDataLst>
              <p:tags r:id="rId1"/>
            </p:custDataLst>
          </p:nvPr>
        </p:nvPicPr>
        <p:blipFill>
          <a:blip r:embed="rId5"/>
          <a:stretch>
            <a:fillRect/>
          </a:stretch>
        </p:blipFill>
        <p:spPr>
          <a:xfrm>
            <a:off x="7673196" y="541393"/>
            <a:ext cx="1215822" cy="656239"/>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销售用例改进一存在的问题</a:t>
            </a:r>
          </a:p>
        </p:txBody>
      </p:sp>
      <p:sp>
        <p:nvSpPr>
          <p:cNvPr id="3" name="内容占位符 2"/>
          <p:cNvSpPr txBox="1"/>
          <p:nvPr/>
        </p:nvSpPr>
        <p:spPr>
          <a:xfrm>
            <a:off x="628650" y="1322070"/>
            <a:ext cx="8081645" cy="4486910"/>
          </a:xfrm>
          <a:prstGeom prst="rect">
            <a:avLst/>
          </a:prstGeom>
          <a:ln w="12700">
            <a:noFill/>
          </a:ln>
        </p:spPr>
        <p:txBody>
          <a:bodyPr anchor="ctr" anchorCtr="0"/>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10000"/>
              </a:lnSpc>
              <a:buFont typeface="Wingdings" panose="05000000000000000000" charset="0"/>
              <a:buChar char=""/>
            </a:pPr>
            <a:r>
              <a:rPr kumimoji="1" lang="en-US" altLang="zh-CN" dirty="0">
                <a:latin typeface="KaiTi" panose="02010609060101010101" pitchFamily="49" charset="-122"/>
                <a:ea typeface="KaiTi" panose="02010609060101010101" pitchFamily="49" charset="-122"/>
              </a:rPr>
              <a:t>在</a:t>
            </a:r>
            <a:r>
              <a:rPr kumimoji="1" lang="en-US" altLang="zh-CN" b="1" dirty="0">
                <a:solidFill>
                  <a:srgbClr val="870078"/>
                </a:solidFill>
                <a:latin typeface="KaiTi" panose="02010609060101010101" pitchFamily="49" charset="-122"/>
                <a:ea typeface="KaiTi" panose="02010609060101010101" pitchFamily="49" charset="-122"/>
              </a:rPr>
              <a:t>问题域</a:t>
            </a:r>
            <a:r>
              <a:rPr kumimoji="1" lang="en-US" altLang="zh-CN" dirty="0">
                <a:latin typeface="KaiTi" panose="02010609060101010101" pitchFamily="49" charset="-122"/>
                <a:ea typeface="KaiTi" panose="02010609060101010101" pitchFamily="49" charset="-122"/>
              </a:rPr>
              <a:t>知识方面有着较大的欠缺</a:t>
            </a:r>
          </a:p>
          <a:p>
            <a:pPr lvl="1">
              <a:lnSpc>
                <a:spcPct val="110000"/>
              </a:lnSpc>
            </a:pPr>
            <a:r>
              <a:rPr kumimoji="1" lang="en-US" altLang="zh-CN" sz="2000" b="1" dirty="0">
                <a:solidFill>
                  <a:srgbClr val="870078"/>
                </a:solidFill>
                <a:latin typeface="KaiTi" panose="02010609060101010101" pitchFamily="49" charset="-122"/>
                <a:ea typeface="KaiTi" panose="02010609060101010101" pitchFamily="49" charset="-122"/>
              </a:rPr>
              <a:t>部分信息的使用不准确</a:t>
            </a:r>
            <a:r>
              <a:rPr kumimoji="1" lang="en-US" altLang="zh-CN" sz="2000" dirty="0">
                <a:latin typeface="KaiTi" panose="02010609060101010101" pitchFamily="49" charset="-122"/>
                <a:ea typeface="KaiTi" panose="02010609060101010101" pitchFamily="49" charset="-122"/>
              </a:rPr>
              <a:t>，例如步骤2中输入的应该是商品标识而不是商品，第5步显示的应该是明确的已输入商品列表信息（例如商品标识、名称、价格、数量、总价……）。</a:t>
            </a:r>
            <a:endParaRPr kumimoji="1" lang="en-US" altLang="zh-CN" sz="2800" dirty="0">
              <a:latin typeface="KaiTi" panose="02010609060101010101" pitchFamily="49" charset="-122"/>
              <a:ea typeface="KaiTi" panose="02010609060101010101" pitchFamily="49" charset="-122"/>
            </a:endParaRPr>
          </a:p>
          <a:p>
            <a:pPr lvl="1">
              <a:lnSpc>
                <a:spcPct val="110000"/>
              </a:lnSpc>
            </a:pPr>
            <a:r>
              <a:rPr kumimoji="1" lang="en-US" altLang="zh-CN" sz="2000" b="1" dirty="0">
                <a:solidFill>
                  <a:srgbClr val="870078"/>
                </a:solidFill>
                <a:latin typeface="KaiTi" panose="02010609060101010101" pitchFamily="49" charset="-122"/>
                <a:ea typeface="KaiTi" panose="02010609060101010101" pitchFamily="49" charset="-122"/>
              </a:rPr>
              <a:t>部分信息不明确</a:t>
            </a:r>
            <a:r>
              <a:rPr kumimoji="1" lang="en-US" altLang="zh-CN" sz="2000" dirty="0">
                <a:latin typeface="KaiTi" panose="02010609060101010101" pitchFamily="49" charset="-122"/>
                <a:ea typeface="KaiTi" panose="02010609060101010101" pitchFamily="49" charset="-122"/>
              </a:rPr>
              <a:t>，例如会员信息、商品信息、商品列表信息、赠品信息、更新的数据、收据等等各自的详细内容并没有描述。</a:t>
            </a:r>
            <a:endParaRPr kumimoji="1" lang="en-US" altLang="zh-CN" sz="2800" dirty="0">
              <a:latin typeface="KaiTi" panose="02010609060101010101" pitchFamily="49" charset="-122"/>
              <a:ea typeface="KaiTi" panose="02010609060101010101" pitchFamily="49" charset="-122"/>
            </a:endParaRPr>
          </a:p>
          <a:p>
            <a:pPr lvl="1">
              <a:lnSpc>
                <a:spcPct val="110000"/>
              </a:lnSpc>
            </a:pPr>
            <a:r>
              <a:rPr kumimoji="1" lang="en-US" altLang="zh-CN" sz="2000" b="1" dirty="0">
                <a:solidFill>
                  <a:srgbClr val="870078"/>
                </a:solidFill>
                <a:latin typeface="KaiTi" panose="02010609060101010101" pitchFamily="49" charset="-122"/>
                <a:ea typeface="KaiTi" panose="02010609060101010101" pitchFamily="49" charset="-122"/>
              </a:rPr>
              <a:t>遗漏了重要内容</a:t>
            </a:r>
            <a:r>
              <a:rPr kumimoji="1" lang="en-US" altLang="zh-CN" sz="2000" dirty="0">
                <a:latin typeface="KaiTi" panose="02010609060101010101" pitchFamily="49" charset="-122"/>
                <a:ea typeface="KaiTi" panose="02010609060101010101" pitchFamily="49" charset="-122"/>
              </a:rPr>
              <a:t>，例如总价的计算需要使用商品特价策略和总额特价策略，赠品的计算需要使用商品赠送策略和总额赠送策略。</a:t>
            </a:r>
          </a:p>
          <a:p>
            <a:pPr>
              <a:lnSpc>
                <a:spcPct val="110000"/>
              </a:lnSpc>
              <a:buFont typeface="Wingdings" panose="05000000000000000000" charset="0"/>
              <a:buChar char=""/>
            </a:pPr>
            <a:r>
              <a:rPr kumimoji="1" lang="en-US" altLang="zh-CN" dirty="0">
                <a:latin typeface="KaiTi" panose="02010609060101010101" pitchFamily="49" charset="-122"/>
                <a:ea typeface="KaiTi" panose="02010609060101010101" pitchFamily="49" charset="-122"/>
              </a:rPr>
              <a:t>上述问题也要后续获取活动中解决才能通过类图验证</a:t>
            </a:r>
          </a:p>
        </p:txBody>
      </p:sp>
      <p:sp>
        <p:nvSpPr>
          <p:cNvPr id="6" name="文本框 5"/>
          <p:cNvSpPr txBox="1"/>
          <p:nvPr/>
        </p:nvSpPr>
        <p:spPr>
          <a:xfrm>
            <a:off x="151596" y="16999"/>
            <a:ext cx="509524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rPr>
              <a:t>以用例/场景模型为主线索开展用户需求开发</a:t>
            </a:r>
          </a:p>
        </p:txBody>
      </p:sp>
      <p:pic>
        <p:nvPicPr>
          <p:cNvPr id="4" name="图片 3">
            <a:hlinkClick r:id="rId3" action="ppaction://hlinkfile"/>
          </p:cNvPr>
          <p:cNvPicPr>
            <a:picLocks noChangeAspect="1"/>
          </p:cNvPicPr>
          <p:nvPr>
            <p:custDataLst>
              <p:tags r:id="rId1"/>
            </p:custDataLst>
          </p:nvPr>
        </p:nvPicPr>
        <p:blipFill>
          <a:blip r:embed="rId4"/>
          <a:stretch>
            <a:fillRect/>
          </a:stretch>
        </p:blipFill>
        <p:spPr>
          <a:xfrm>
            <a:off x="7673196" y="541393"/>
            <a:ext cx="1215822" cy="656239"/>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hlinkClick r:id="rId3" action="ppaction://hlinkfile"/>
          </p:cNvPr>
          <p:cNvPicPr>
            <a:picLocks noChangeAspect="1"/>
          </p:cNvPicPr>
          <p:nvPr>
            <p:custDataLst>
              <p:tags r:id="rId1"/>
            </p:custDataLst>
          </p:nvPr>
        </p:nvPicPr>
        <p:blipFill>
          <a:blip r:embed="rId4"/>
          <a:stretch>
            <a:fillRect/>
          </a:stretch>
        </p:blipFill>
        <p:spPr>
          <a:xfrm>
            <a:off x="7673196" y="441063"/>
            <a:ext cx="1215822" cy="656239"/>
          </a:xfrm>
          <a:prstGeom prst="rect">
            <a:avLst/>
          </a:prstGeom>
        </p:spPr>
      </p:pic>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销售用例的改进二</a:t>
            </a:r>
          </a:p>
        </p:txBody>
      </p:sp>
      <p:sp>
        <p:nvSpPr>
          <p:cNvPr id="3" name="内容占位符 2"/>
          <p:cNvSpPr txBox="1"/>
          <p:nvPr/>
        </p:nvSpPr>
        <p:spPr>
          <a:xfrm>
            <a:off x="628650" y="1097280"/>
            <a:ext cx="7782560" cy="5307965"/>
          </a:xfrm>
          <a:prstGeom prst="rect">
            <a:avLst/>
          </a:prstGeom>
          <a:ln w="12700">
            <a:solidFill>
              <a:schemeClr val="tx1"/>
            </a:solidFill>
          </a:ln>
        </p:spPr>
        <p:txBody>
          <a:bodyPr anchor="ctr" anchorCtr="0"/>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r>
              <a:rPr kumimoji="1" lang="en-US" altLang="zh-CN" sz="1600" dirty="0">
                <a:latin typeface="KaiTi" panose="02010609060101010101" pitchFamily="49" charset="-122"/>
                <a:ea typeface="KaiTi" panose="02010609060101010101" pitchFamily="49" charset="-122"/>
              </a:rPr>
              <a:t>1. 如果是会员，收银员输入客户编号</a:t>
            </a:r>
          </a:p>
          <a:p>
            <a:pPr marL="0" indent="0">
              <a:buNone/>
            </a:pPr>
            <a:r>
              <a:rPr kumimoji="1" lang="en-US" altLang="zh-CN" sz="1600" dirty="0">
                <a:latin typeface="KaiTi" panose="02010609060101010101" pitchFamily="49" charset="-122"/>
                <a:ea typeface="KaiTi" panose="02010609060101010101" pitchFamily="49" charset="-122"/>
              </a:rPr>
              <a:t>2. 系统显示会员信息，包括姓名与积分</a:t>
            </a:r>
          </a:p>
          <a:p>
            <a:pPr marL="0" indent="0">
              <a:buNone/>
            </a:pPr>
            <a:r>
              <a:rPr kumimoji="1" lang="en-US" altLang="zh-CN" sz="1600" dirty="0">
                <a:latin typeface="KaiTi" panose="02010609060101010101" pitchFamily="49" charset="-122"/>
                <a:ea typeface="KaiTi" panose="02010609060101010101" pitchFamily="49" charset="-122"/>
              </a:rPr>
              <a:t>3. 收银员输入商品标识</a:t>
            </a:r>
          </a:p>
          <a:p>
            <a:pPr marL="0" indent="0">
              <a:buNone/>
            </a:pPr>
            <a:r>
              <a:rPr kumimoji="1" lang="en-US" altLang="zh-CN" sz="1600" dirty="0">
                <a:latin typeface="KaiTi" panose="02010609060101010101" pitchFamily="49" charset="-122"/>
                <a:ea typeface="KaiTi" panose="02010609060101010101" pitchFamily="49" charset="-122"/>
              </a:rPr>
              <a:t>4. 系统记录并显示商品信息，商品信息包括商品标识、描述、数量、价格、特价（如果有商品特价策略的话）和本项商品总价</a:t>
            </a:r>
          </a:p>
          <a:p>
            <a:pPr marL="0" indent="0">
              <a:buNone/>
            </a:pPr>
            <a:r>
              <a:rPr kumimoji="1" lang="en-US" altLang="zh-CN" sz="1600" dirty="0">
                <a:latin typeface="KaiTi" panose="02010609060101010101" pitchFamily="49" charset="-122"/>
                <a:ea typeface="KaiTi" panose="02010609060101010101" pitchFamily="49" charset="-122"/>
              </a:rPr>
              <a:t>5. 系统显示已购入的商品清单，商品清单包括商品标识、描述、数量、价格、特价、各项商品总价和所有商品总价</a:t>
            </a:r>
          </a:p>
          <a:p>
            <a:pPr marL="0" indent="0">
              <a:buNone/>
            </a:pPr>
            <a:r>
              <a:rPr kumimoji="1" lang="en-US" altLang="zh-CN" sz="1600" dirty="0">
                <a:latin typeface="KaiTi" panose="02010609060101010101" pitchFamily="49" charset="-122"/>
                <a:ea typeface="KaiTi" panose="02010609060101010101" pitchFamily="49" charset="-122"/>
              </a:rPr>
              <a:t>收银员重复 3-5 步，直到完成所有商品的输入</a:t>
            </a:r>
          </a:p>
          <a:p>
            <a:pPr marL="0" indent="0">
              <a:buNone/>
            </a:pPr>
            <a:r>
              <a:rPr kumimoji="1" lang="en-US" altLang="zh-CN" sz="1600" dirty="0">
                <a:latin typeface="KaiTi" panose="02010609060101010101" pitchFamily="49" charset="-122"/>
                <a:ea typeface="KaiTi" panose="02010609060101010101" pitchFamily="49" charset="-122"/>
              </a:rPr>
              <a:t>6. 收银员结束输入，系统计算并显示总价，计算根据总额特价策略进行</a:t>
            </a:r>
          </a:p>
          <a:p>
            <a:pPr marL="0" indent="0">
              <a:buNone/>
            </a:pPr>
            <a:r>
              <a:rPr kumimoji="1" lang="en-US" altLang="zh-CN" sz="1600" dirty="0">
                <a:latin typeface="KaiTi" panose="02010609060101010101" pitchFamily="49" charset="-122"/>
                <a:ea typeface="KaiTi" panose="02010609060101010101" pitchFamily="49" charset="-122"/>
              </a:rPr>
              <a:t>7. 系统根据商品赠送策略和总额赠送策略计算并显示赠品清单，赠品清单包括各项赠品的标识、描述与数量</a:t>
            </a:r>
          </a:p>
          <a:p>
            <a:pPr marL="0" indent="0">
              <a:buNone/>
            </a:pPr>
            <a:r>
              <a:rPr kumimoji="1" lang="en-US" altLang="zh-CN" sz="1600" dirty="0">
                <a:latin typeface="KaiTi" panose="02010609060101010101" pitchFamily="49" charset="-122"/>
                <a:ea typeface="KaiTi" panose="02010609060101010101" pitchFamily="49" charset="-122"/>
              </a:rPr>
              <a:t>8. 收银员请顾客支付账单</a:t>
            </a:r>
          </a:p>
          <a:p>
            <a:pPr marL="0" indent="0">
              <a:buNone/>
            </a:pPr>
            <a:r>
              <a:rPr kumimoji="1" lang="en-US" altLang="zh-CN" sz="1600" dirty="0">
                <a:latin typeface="KaiTi" panose="02010609060101010101" pitchFamily="49" charset="-122"/>
                <a:ea typeface="KaiTi" panose="02010609060101010101" pitchFamily="49" charset="-122"/>
              </a:rPr>
              <a:t>9. 顾客支付，收银员输入收取的现金数额</a:t>
            </a:r>
          </a:p>
          <a:p>
            <a:pPr marL="0" indent="0">
              <a:buNone/>
            </a:pPr>
            <a:r>
              <a:rPr kumimoji="1" lang="en-US" altLang="zh-CN" sz="1600" dirty="0">
                <a:latin typeface="KaiTi" panose="02010609060101010101" pitchFamily="49" charset="-122"/>
                <a:ea typeface="KaiTi" panose="02010609060101010101" pitchFamily="49" charset="-122"/>
              </a:rPr>
              <a:t>10. 系统给出应找的余额，收银员找零</a:t>
            </a:r>
          </a:p>
          <a:p>
            <a:pPr marL="0" indent="0">
              <a:buNone/>
            </a:pPr>
            <a:r>
              <a:rPr kumimoji="1" lang="en-US" altLang="zh-CN" sz="1600" dirty="0">
                <a:latin typeface="KaiTi" panose="02010609060101010101" pitchFamily="49" charset="-122"/>
                <a:ea typeface="KaiTi" panose="02010609060101010101" pitchFamily="49" charset="-122"/>
              </a:rPr>
              <a:t>11. 收银员结束销售，系统记录销售信息、商品清单、赠品清单和账单信息，并更新库存</a:t>
            </a:r>
          </a:p>
          <a:p>
            <a:pPr marL="0" indent="0">
              <a:buNone/>
            </a:pPr>
            <a:r>
              <a:rPr kumimoji="1" lang="en-US" altLang="zh-CN" sz="1600" dirty="0">
                <a:latin typeface="KaiTi" panose="02010609060101010101" pitchFamily="49" charset="-122"/>
                <a:ea typeface="KaiTi" panose="02010609060101010101" pitchFamily="49" charset="-122"/>
              </a:rPr>
              <a:t>12. 系统打印收据（格式为．．．）</a:t>
            </a:r>
          </a:p>
        </p:txBody>
      </p:sp>
      <p:sp>
        <p:nvSpPr>
          <p:cNvPr id="6" name="文本框 5"/>
          <p:cNvSpPr txBox="1"/>
          <p:nvPr/>
        </p:nvSpPr>
        <p:spPr>
          <a:xfrm>
            <a:off x="151596" y="16999"/>
            <a:ext cx="509524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rPr>
              <a:t>以用例/场景模型为主线索开展用户需求开发</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改进后概念类图</a:t>
            </a:r>
          </a:p>
        </p:txBody>
      </p:sp>
      <p:sp>
        <p:nvSpPr>
          <p:cNvPr id="3" name="内容占位符 2"/>
          <p:cNvSpPr txBox="1"/>
          <p:nvPr/>
        </p:nvSpPr>
        <p:spPr>
          <a:xfrm>
            <a:off x="628650" y="141367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buNone/>
            </a:pPr>
            <a:endParaRPr kumimoji="1" lang="en-US" altLang="zh-CN" dirty="0">
              <a:latin typeface="KaiTi" panose="02010609060101010101" pitchFamily="49" charset="-122"/>
              <a:ea typeface="KaiTi" panose="02010609060101010101" pitchFamily="49" charset="-122"/>
            </a:endParaRPr>
          </a:p>
        </p:txBody>
      </p:sp>
      <p:sp>
        <p:nvSpPr>
          <p:cNvPr id="6" name="文本框 5"/>
          <p:cNvSpPr txBox="1"/>
          <p:nvPr/>
        </p:nvSpPr>
        <p:spPr>
          <a:xfrm>
            <a:off x="151596" y="16999"/>
            <a:ext cx="5095240" cy="398780"/>
          </a:xfrm>
          <a:prstGeom prst="rect">
            <a:avLst/>
          </a:prstGeom>
          <a:noFill/>
        </p:spPr>
        <p:txBody>
          <a:bodyPr wrap="none" rtlCol="0">
            <a:spAutoFit/>
          </a:bodyPr>
          <a:lstStyle/>
          <a:p>
            <a:pPr algn="l"/>
            <a:r>
              <a:rPr kumimoji="1" lang="en-US" altLang="zh-CN" sz="2000" dirty="0">
                <a:solidFill>
                  <a:schemeClr val="bg1"/>
                </a:solidFill>
                <a:latin typeface="KaiTi" panose="02010609060101010101" pitchFamily="49" charset="-122"/>
                <a:ea typeface="KaiTi" panose="02010609060101010101" pitchFamily="49" charset="-122"/>
              </a:rPr>
              <a:t>以用例/场景模型为主线索开展用户需求开发</a:t>
            </a:r>
          </a:p>
        </p:txBody>
      </p:sp>
      <p:pic>
        <p:nvPicPr>
          <p:cNvPr id="4" name="图片 3" descr="截屏2024-11-13 17.06.24"/>
          <p:cNvPicPr>
            <a:picLocks noChangeAspect="1"/>
          </p:cNvPicPr>
          <p:nvPr/>
        </p:nvPicPr>
        <p:blipFill>
          <a:blip r:embed="rId3"/>
          <a:stretch>
            <a:fillRect/>
          </a:stretch>
        </p:blipFill>
        <p:spPr>
          <a:xfrm>
            <a:off x="628650" y="1251585"/>
            <a:ext cx="7853680" cy="4763770"/>
          </a:xfrm>
          <a:prstGeom prst="rect">
            <a:avLst/>
          </a:prstGeom>
        </p:spPr>
      </p:pic>
      <p:pic>
        <p:nvPicPr>
          <p:cNvPr id="5" name="图片 4">
            <a:hlinkClick r:id="rId4" action="ppaction://hlinkfile"/>
          </p:cNvPr>
          <p:cNvPicPr>
            <a:picLocks noChangeAspect="1"/>
          </p:cNvPicPr>
          <p:nvPr>
            <p:custDataLst>
              <p:tags r:id="rId1"/>
            </p:custDataLst>
          </p:nvPr>
        </p:nvPicPr>
        <p:blipFill>
          <a:blip r:embed="rId5"/>
          <a:stretch>
            <a:fillRect/>
          </a:stretch>
        </p:blipFill>
        <p:spPr>
          <a:xfrm>
            <a:off x="7673196" y="541393"/>
            <a:ext cx="1215822" cy="656239"/>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目录</a:t>
            </a:r>
          </a:p>
        </p:txBody>
      </p:sp>
      <p:sp>
        <p:nvSpPr>
          <p:cNvPr id="7" name="内容占位符 2"/>
          <p:cNvSpPr txBox="1"/>
          <p:nvPr/>
        </p:nvSpPr>
        <p:spPr>
          <a:xfrm>
            <a:off x="628650" y="141367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r>
              <a:rPr kumimoji="1" lang="zh-CN" altLang="en-US" dirty="0">
                <a:latin typeface="KaiTi" panose="02010609060101010101" pitchFamily="49" charset="-122"/>
                <a:ea typeface="KaiTi" panose="02010609060101010101" pitchFamily="49" charset="-122"/>
              </a:rPr>
              <a:t>用户需求开发活动的展开</a:t>
            </a:r>
            <a:endParaRPr kumimoji="1" lang="en-US" altLang="zh-CN" dirty="0">
              <a:latin typeface="KaiTi" panose="02010609060101010101" pitchFamily="49" charset="-122"/>
              <a:ea typeface="KaiTi" panose="02010609060101010101" pitchFamily="49" charset="-122"/>
            </a:endParaRPr>
          </a:p>
          <a:p>
            <a:r>
              <a:rPr kumimoji="1" lang="zh-CN" altLang="en-US" dirty="0">
                <a:latin typeface="KaiTi" panose="02010609060101010101" pitchFamily="49" charset="-122"/>
                <a:ea typeface="KaiTi" panose="02010609060101010101" pitchFamily="49" charset="-122"/>
              </a:rPr>
              <a:t>用例与场景</a:t>
            </a:r>
            <a:endParaRPr kumimoji="1" lang="en-US" altLang="zh-CN" dirty="0">
              <a:latin typeface="KaiTi" panose="02010609060101010101" pitchFamily="49" charset="-122"/>
              <a:ea typeface="KaiTi" panose="02010609060101010101" pitchFamily="49" charset="-122"/>
            </a:endParaRPr>
          </a:p>
          <a:p>
            <a:r>
              <a:rPr kumimoji="1" lang="zh-CN" altLang="en-US" dirty="0">
                <a:latin typeface="KaiTi" panose="02010609060101010101" pitchFamily="49" charset="-122"/>
                <a:ea typeface="KaiTi" panose="02010609060101010101" pitchFamily="49" charset="-122"/>
              </a:rPr>
              <a:t>用例</a:t>
            </a:r>
            <a:r>
              <a:rPr kumimoji="1" lang="en-US" altLang="zh-CN" dirty="0">
                <a:latin typeface="KaiTi" panose="02010609060101010101" pitchFamily="49" charset="-122"/>
                <a:ea typeface="KaiTi" panose="02010609060101010101" pitchFamily="49" charset="-122"/>
              </a:rPr>
              <a:t>/</a:t>
            </a:r>
            <a:r>
              <a:rPr kumimoji="1" lang="zh-CN" altLang="en-US" dirty="0">
                <a:latin typeface="KaiTi" panose="02010609060101010101" pitchFamily="49" charset="-122"/>
                <a:ea typeface="KaiTi" panose="02010609060101010101" pitchFamily="49" charset="-122"/>
              </a:rPr>
              <a:t>场景模型</a:t>
            </a:r>
            <a:endParaRPr kumimoji="1" lang="en-US" altLang="zh-CN" dirty="0">
              <a:latin typeface="KaiTi" panose="02010609060101010101" pitchFamily="49" charset="-122"/>
              <a:ea typeface="KaiTi" panose="02010609060101010101" pitchFamily="49" charset="-122"/>
            </a:endParaRPr>
          </a:p>
          <a:p>
            <a:r>
              <a:rPr kumimoji="1" lang="zh-CN" altLang="en-US" dirty="0">
                <a:latin typeface="KaiTi" panose="02010609060101010101" pitchFamily="49" charset="-122"/>
                <a:ea typeface="KaiTi" panose="02010609060101010101" pitchFamily="49" charset="-122"/>
              </a:rPr>
              <a:t>以用例</a:t>
            </a:r>
            <a:r>
              <a:rPr kumimoji="1" lang="en-US" altLang="zh-CN" dirty="0">
                <a:latin typeface="KaiTi" panose="02010609060101010101" pitchFamily="49" charset="-122"/>
                <a:ea typeface="KaiTi" panose="02010609060101010101" pitchFamily="49" charset="-122"/>
              </a:rPr>
              <a:t>/</a:t>
            </a:r>
            <a:r>
              <a:rPr kumimoji="1" lang="zh-CN" altLang="en-US" dirty="0">
                <a:latin typeface="KaiTi" panose="02010609060101010101" pitchFamily="49" charset="-122"/>
                <a:ea typeface="KaiTi" panose="02010609060101010101" pitchFamily="49" charset="-122"/>
              </a:rPr>
              <a:t>场景模型为主线索开展用户需求开发</a:t>
            </a:r>
            <a:endParaRPr kumimoji="1" lang="en-US" altLang="zh-CN" dirty="0">
              <a:latin typeface="KaiTi" panose="02010609060101010101" pitchFamily="49" charset="-122"/>
              <a:ea typeface="KaiTi" panose="02010609060101010101" pitchFamily="49" charset="-122"/>
            </a:endParaRPr>
          </a:p>
          <a:p>
            <a:r>
              <a:rPr kumimoji="1" lang="zh-CN" altLang="en-US" dirty="0">
                <a:solidFill>
                  <a:srgbClr val="FF0000"/>
                </a:solidFill>
                <a:latin typeface="KaiTi" panose="02010609060101010101" pitchFamily="49" charset="-122"/>
                <a:ea typeface="KaiTi" panose="02010609060101010101" pitchFamily="49" charset="-122"/>
              </a:rPr>
              <a:t>用户故事</a:t>
            </a:r>
            <a:endParaRPr kumimoji="1" lang="en-US" altLang="zh-CN" dirty="0">
              <a:solidFill>
                <a:srgbClr val="FF0000"/>
              </a:solidFill>
              <a:latin typeface="KaiTi" panose="02010609060101010101" pitchFamily="49" charset="-122"/>
              <a:ea typeface="KaiTi" panose="02010609060101010101" pitchFamily="49" charset="-122"/>
            </a:endParaRPr>
          </a:p>
          <a:p>
            <a:pPr lvl="1"/>
            <a:r>
              <a:rPr kumimoji="1" lang="zh-CN" altLang="en-US" dirty="0">
                <a:solidFill>
                  <a:srgbClr val="FF0000"/>
                </a:solidFill>
                <a:latin typeface="KaiTi" panose="02010609060101010101" pitchFamily="49" charset="-122"/>
                <a:ea typeface="KaiTi" panose="02010609060101010101" pitchFamily="49" charset="-122"/>
              </a:rPr>
              <a:t>用户故事的特点</a:t>
            </a:r>
            <a:endParaRPr kumimoji="1" lang="en-US" altLang="zh-CN" dirty="0">
              <a:solidFill>
                <a:srgbClr val="FF0000"/>
              </a:solidFill>
              <a:latin typeface="KaiTi" panose="02010609060101010101" pitchFamily="49" charset="-122"/>
              <a:ea typeface="KaiTi" panose="02010609060101010101" pitchFamily="49" charset="-122"/>
            </a:endParaRPr>
          </a:p>
          <a:p>
            <a:pPr lvl="1"/>
            <a:r>
              <a:rPr kumimoji="1" lang="zh-CN" altLang="en-US" dirty="0">
                <a:solidFill>
                  <a:srgbClr val="FF0000"/>
                </a:solidFill>
                <a:latin typeface="KaiTi" panose="02010609060101010101" pitchFamily="49" charset="-122"/>
                <a:ea typeface="KaiTi" panose="02010609060101010101" pitchFamily="49" charset="-122"/>
              </a:rPr>
              <a:t>用户故事方法的要素</a:t>
            </a:r>
            <a:endParaRPr kumimoji="1" lang="en-US" altLang="zh-CN" dirty="0">
              <a:solidFill>
                <a:srgbClr val="FF0000"/>
              </a:solidFill>
              <a:latin typeface="KaiTi" panose="02010609060101010101" pitchFamily="49" charset="-122"/>
              <a:ea typeface="KaiTi" panose="02010609060101010101" pitchFamily="49" charset="-122"/>
            </a:endParaRPr>
          </a:p>
          <a:p>
            <a:pPr lvl="1"/>
            <a:r>
              <a:rPr kumimoji="1" lang="zh-CN" altLang="en-US" dirty="0">
                <a:solidFill>
                  <a:srgbClr val="FF0000"/>
                </a:solidFill>
                <a:latin typeface="KaiTi" panose="02010609060101010101" pitchFamily="49" charset="-122"/>
                <a:ea typeface="KaiTi" panose="02010609060101010101" pitchFamily="49" charset="-122"/>
              </a:rPr>
              <a:t>用户故事地图</a:t>
            </a:r>
            <a:endParaRPr kumimoji="1" lang="en-US" altLang="zh-CN" dirty="0">
              <a:solidFill>
                <a:srgbClr val="FF0000"/>
              </a:solidFill>
              <a:latin typeface="KaiTi" panose="02010609060101010101" pitchFamily="49" charset="-122"/>
              <a:ea typeface="KaiTi" panose="02010609060101010101" pitchFamily="49" charset="-122"/>
            </a:endParaRPr>
          </a:p>
          <a:p>
            <a:pPr lvl="1"/>
            <a:r>
              <a:rPr kumimoji="1" lang="zh-CN" altLang="en-US" dirty="0">
                <a:solidFill>
                  <a:srgbClr val="FF0000"/>
                </a:solidFill>
                <a:latin typeface="KaiTi" panose="02010609060101010101" pitchFamily="49" charset="-122"/>
                <a:ea typeface="KaiTi" panose="02010609060101010101" pitchFamily="49" charset="-122"/>
              </a:rPr>
              <a:t>用户故事的书写</a:t>
            </a:r>
            <a:endParaRPr kumimoji="1" lang="en-US" altLang="zh-CN" dirty="0">
              <a:solidFill>
                <a:srgbClr val="FF0000"/>
              </a:solidFill>
              <a:latin typeface="KaiTi" panose="02010609060101010101" pitchFamily="49" charset="-122"/>
              <a:ea typeface="KaiTi" panose="02010609060101010101" pitchFamily="49" charset="-122"/>
            </a:endParaRPr>
          </a:p>
        </p:txBody>
      </p:sp>
      <p:sp>
        <p:nvSpPr>
          <p:cNvPr id="8" name="文本框 7"/>
          <p:cNvSpPr txBox="1"/>
          <p:nvPr/>
        </p:nvSpPr>
        <p:spPr>
          <a:xfrm>
            <a:off x="151596" y="16999"/>
            <a:ext cx="697627" cy="400110"/>
          </a:xfrm>
          <a:prstGeom prst="rect">
            <a:avLst/>
          </a:prstGeom>
          <a:noFill/>
        </p:spPr>
        <p:txBody>
          <a:bodyPr wrap="none" rtlCol="0">
            <a:spAutoFit/>
          </a:bodyPr>
          <a:lstStyle/>
          <a:p>
            <a:r>
              <a:rPr kumimoji="1" lang="zh-CN" altLang="en-US" sz="2000" dirty="0">
                <a:solidFill>
                  <a:schemeClr val="bg1"/>
                </a:solidFill>
                <a:latin typeface="KaiTi" panose="02010609060101010101" pitchFamily="49" charset="-122"/>
                <a:ea typeface="KaiTi" panose="02010609060101010101" pitchFamily="49" charset="-122"/>
              </a:rPr>
              <a:t>目录</a:t>
            </a:r>
            <a:endParaRPr kumimoji="1" lang="en-US" altLang="zh-CN" sz="2000" dirty="0">
              <a:solidFill>
                <a:schemeClr val="bg1"/>
              </a:solidFill>
              <a:latin typeface="KaiTi" panose="02010609060101010101" pitchFamily="49" charset="-122"/>
              <a:ea typeface="KaiTi" panose="02010609060101010101" pitchFamily="49"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用户故事的特点</a:t>
            </a:r>
          </a:p>
        </p:txBody>
      </p:sp>
      <p:sp>
        <p:nvSpPr>
          <p:cNvPr id="3" name="内容占位符 2"/>
          <p:cNvSpPr txBox="1"/>
          <p:nvPr/>
        </p:nvSpPr>
        <p:spPr>
          <a:xfrm>
            <a:off x="628650" y="141367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spcAft>
                <a:spcPts val="600"/>
              </a:spcAft>
              <a:buFont typeface="Wingdings" panose="05000000000000000000" pitchFamily="2" charset="2"/>
              <a:buChar char="Ø"/>
            </a:pPr>
            <a:r>
              <a:rPr kumimoji="1" lang="zh-CN" altLang="en-US" sz="2400" dirty="0">
                <a:latin typeface="Times New Roman" panose="02020603050405020304" pitchFamily="18" charset="0"/>
                <a:ea typeface="KaiTi" panose="02010609060101010101" pitchFamily="49" charset="-122"/>
                <a:cs typeface="Times New Roman" panose="02020603050405020304" pitchFamily="18" charset="0"/>
              </a:rPr>
              <a:t>用户故事与用例</a:t>
            </a:r>
            <a:r>
              <a:rPr kumimoji="1" lang="en-US" altLang="zh-CN" sz="2400" dirty="0">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2400" dirty="0">
                <a:latin typeface="Times New Roman" panose="02020603050405020304" pitchFamily="18" charset="0"/>
                <a:ea typeface="KaiTi" panose="02010609060101010101" pitchFamily="49" charset="-122"/>
                <a:cs typeface="Times New Roman" panose="02020603050405020304" pitchFamily="18" charset="0"/>
              </a:rPr>
              <a:t>场景看上去相似，实则大不相同。主要由敏捷方法提出和使用。</a:t>
            </a:r>
            <a:endParaRPr kumimoji="1" lang="en-US" altLang="zh-CN" sz="2400" dirty="0">
              <a:latin typeface="Times New Roman" panose="02020603050405020304" pitchFamily="18" charset="0"/>
              <a:ea typeface="KaiTi" panose="02010609060101010101" pitchFamily="49" charset="-122"/>
              <a:cs typeface="Times New Roman" panose="02020603050405020304" pitchFamily="18" charset="0"/>
            </a:endParaRPr>
          </a:p>
          <a:p>
            <a:pPr>
              <a:spcAft>
                <a:spcPts val="600"/>
              </a:spcAft>
              <a:buFont typeface="Wingdings" panose="05000000000000000000" pitchFamily="2" charset="2"/>
              <a:buChar char="Ø"/>
            </a:pPr>
            <a:r>
              <a:rPr kumimoji="1" lang="zh-CN" altLang="en-US" sz="2400" dirty="0">
                <a:latin typeface="Times New Roman" panose="02020603050405020304" pitchFamily="18" charset="0"/>
                <a:ea typeface="KaiTi" panose="02010609060101010101" pitchFamily="49" charset="-122"/>
                <a:cs typeface="Times New Roman" panose="02020603050405020304" pitchFamily="18" charset="0"/>
              </a:rPr>
              <a:t>人类探索和组织信息的方法：</a:t>
            </a:r>
            <a:r>
              <a:rPr kumimoji="1" lang="zh-CN" altLang="en-US" sz="24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归纳 </a:t>
            </a:r>
            <a:r>
              <a:rPr kumimoji="1" lang="en-US" altLang="zh-CN" sz="24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VS </a:t>
            </a:r>
            <a:r>
              <a:rPr kumimoji="1" lang="zh-CN" altLang="en-US" sz="24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演绎</a:t>
            </a:r>
            <a:endParaRPr kumimoji="1" lang="en-US" altLang="zh-CN" sz="24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endParaRPr>
          </a:p>
          <a:p>
            <a:pPr lvl="1">
              <a:spcAft>
                <a:spcPts val="600"/>
              </a:spcAft>
              <a:buFont typeface="Arial" panose="020B0604020202090204" pitchFamily="34" charset="0"/>
              <a:buChar char="•"/>
            </a:pPr>
            <a:r>
              <a:rPr kumimoji="1" lang="zh-CN" altLang="en-US" sz="2000" dirty="0">
                <a:latin typeface="Times New Roman" panose="02020603050405020304" pitchFamily="18" charset="0"/>
                <a:ea typeface="KaiTi" panose="02010609060101010101" pitchFamily="49" charset="-122"/>
                <a:cs typeface="Times New Roman" panose="02020603050405020304" pitchFamily="18" charset="0"/>
              </a:rPr>
              <a:t>归纳的思路是高屋建瓴、自顶向下将信息分门别类，如字典，信息量既高效又丰富，适合专家；</a:t>
            </a:r>
            <a:endParaRPr kumimoji="1" lang="en-US" altLang="zh-CN" sz="2000" dirty="0">
              <a:latin typeface="Times New Roman" panose="02020603050405020304" pitchFamily="18" charset="0"/>
              <a:ea typeface="KaiTi" panose="02010609060101010101" pitchFamily="49" charset="-122"/>
              <a:cs typeface="Times New Roman" panose="02020603050405020304" pitchFamily="18" charset="0"/>
            </a:endParaRPr>
          </a:p>
          <a:p>
            <a:pPr lvl="1">
              <a:spcAft>
                <a:spcPts val="600"/>
              </a:spcAft>
              <a:buFont typeface="Arial" panose="020B0604020202090204" pitchFamily="34" charset="0"/>
              <a:buChar char="•"/>
            </a:pPr>
            <a:r>
              <a:rPr kumimoji="1" lang="zh-CN" altLang="en-US" sz="2000" dirty="0">
                <a:latin typeface="Times New Roman" panose="02020603050405020304" pitchFamily="18" charset="0"/>
                <a:ea typeface="KaiTi" panose="02010609060101010101" pitchFamily="49" charset="-122"/>
                <a:cs typeface="Times New Roman" panose="02020603050405020304" pitchFamily="18" charset="0"/>
              </a:rPr>
              <a:t>演绎的思路是将信息按照某种线索过程组织起来，如文章、诗词，适合初学者。</a:t>
            </a:r>
            <a:endParaRPr kumimoji="1" lang="en-US" altLang="zh-CN" sz="2400" dirty="0">
              <a:latin typeface="Times New Roman" panose="02020603050405020304" pitchFamily="18" charset="0"/>
              <a:ea typeface="KaiTi" panose="02010609060101010101" pitchFamily="49" charset="-122"/>
              <a:cs typeface="Times New Roman" panose="02020603050405020304" pitchFamily="18" charset="0"/>
            </a:endParaRPr>
          </a:p>
          <a:p>
            <a:pPr>
              <a:spcAft>
                <a:spcPts val="600"/>
              </a:spcAft>
              <a:buFont typeface="Wingdings" panose="05000000000000000000" pitchFamily="2" charset="2"/>
              <a:buChar char="Ø"/>
            </a:pPr>
            <a:r>
              <a:rPr kumimoji="1" lang="zh-CN" altLang="en-US" sz="2400" dirty="0">
                <a:latin typeface="Times New Roman" panose="02020603050405020304" pitchFamily="18" charset="0"/>
                <a:ea typeface="KaiTi" panose="02010609060101010101" pitchFamily="49" charset="-122"/>
                <a:cs typeface="Times New Roman" panose="02020603050405020304" pitchFamily="18" charset="0"/>
              </a:rPr>
              <a:t>用例</a:t>
            </a:r>
            <a:r>
              <a:rPr kumimoji="1" lang="en-US" altLang="zh-CN" sz="2400" dirty="0">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2400" dirty="0">
                <a:latin typeface="Times New Roman" panose="02020603050405020304" pitchFamily="18" charset="0"/>
                <a:ea typeface="KaiTi" panose="02010609060101010101" pitchFamily="49" charset="-122"/>
                <a:cs typeface="Times New Roman" panose="02020603050405020304" pitchFamily="18" charset="0"/>
              </a:rPr>
              <a:t>场景在细粒度需求的组织上使用了</a:t>
            </a:r>
            <a:r>
              <a:rPr kumimoji="1" lang="zh-CN" altLang="en-US" sz="24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演绎</a:t>
            </a:r>
            <a:r>
              <a:rPr kumimoji="1" lang="zh-CN" altLang="en-US" sz="2400" dirty="0">
                <a:latin typeface="Times New Roman" panose="02020603050405020304" pitchFamily="18" charset="0"/>
                <a:ea typeface="KaiTi" panose="02010609060101010101" pitchFamily="49" charset="-122"/>
                <a:cs typeface="Times New Roman" panose="02020603050405020304" pitchFamily="18" charset="0"/>
              </a:rPr>
              <a:t>思路，易于被用户和初级开发者使用和理解。但是在整体框架上，用例</a:t>
            </a:r>
            <a:r>
              <a:rPr kumimoji="1" lang="en-US" altLang="zh-CN" sz="2400" dirty="0">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2400" dirty="0">
                <a:latin typeface="Times New Roman" panose="02020603050405020304" pitchFamily="18" charset="0"/>
                <a:ea typeface="KaiTi" panose="02010609060101010101" pitchFamily="49" charset="-122"/>
                <a:cs typeface="Times New Roman" panose="02020603050405020304" pitchFamily="18" charset="0"/>
              </a:rPr>
              <a:t>场景仍然是</a:t>
            </a:r>
            <a:r>
              <a:rPr kumimoji="1" lang="zh-CN" altLang="en-US" sz="24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归纳</a:t>
            </a:r>
            <a:r>
              <a:rPr kumimoji="1" lang="zh-CN" altLang="en-US" sz="2400" dirty="0">
                <a:latin typeface="Times New Roman" panose="02020603050405020304" pitchFamily="18" charset="0"/>
                <a:ea typeface="KaiTi" panose="02010609060101010101" pitchFamily="49" charset="-122"/>
                <a:cs typeface="Times New Roman" panose="02020603050405020304" pitchFamily="18" charset="0"/>
              </a:rPr>
              <a:t>思路的。</a:t>
            </a:r>
            <a:endParaRPr kumimoji="1" lang="en-US" altLang="zh-CN" sz="2400" dirty="0">
              <a:latin typeface="Times New Roman" panose="02020603050405020304" pitchFamily="18" charset="0"/>
              <a:ea typeface="KaiTi" panose="02010609060101010101" pitchFamily="49" charset="-122"/>
              <a:cs typeface="Times New Roman" panose="02020603050405020304" pitchFamily="18" charset="0"/>
            </a:endParaRPr>
          </a:p>
          <a:p>
            <a:pPr>
              <a:spcAft>
                <a:spcPts val="600"/>
              </a:spcAft>
              <a:buFont typeface="Wingdings" panose="05000000000000000000" pitchFamily="2" charset="2"/>
              <a:buChar char="Ø"/>
            </a:pPr>
            <a:r>
              <a:rPr kumimoji="1" lang="zh-CN" altLang="en-US" sz="2400" dirty="0">
                <a:latin typeface="Times New Roman" panose="02020603050405020304" pitchFamily="18" charset="0"/>
                <a:ea typeface="KaiTi" panose="02010609060101010101" pitchFamily="49" charset="-122"/>
                <a:cs typeface="Times New Roman" panose="02020603050405020304" pitchFamily="18" charset="0"/>
              </a:rPr>
              <a:t>用户故事方法试图全部使用</a:t>
            </a:r>
            <a:r>
              <a:rPr kumimoji="1" lang="zh-CN" altLang="en-US" sz="24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演绎</a:t>
            </a:r>
            <a:r>
              <a:rPr kumimoji="1" lang="zh-CN" altLang="en-US" sz="2400" dirty="0">
                <a:latin typeface="Times New Roman" panose="02020603050405020304" pitchFamily="18" charset="0"/>
                <a:ea typeface="KaiTi" panose="02010609060101010101" pitchFamily="49" charset="-122"/>
                <a:cs typeface="Times New Roman" panose="02020603050405020304" pitchFamily="18" charset="0"/>
              </a:rPr>
              <a:t>的思路处理需求。</a:t>
            </a:r>
            <a:endParaRPr kumimoji="1" lang="en-US" altLang="zh-CN" sz="2400"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6" name="文本框 5"/>
          <p:cNvSpPr txBox="1"/>
          <p:nvPr/>
        </p:nvSpPr>
        <p:spPr>
          <a:xfrm>
            <a:off x="151596" y="16999"/>
            <a:ext cx="1210588" cy="400110"/>
          </a:xfrm>
          <a:prstGeom prst="rect">
            <a:avLst/>
          </a:prstGeom>
          <a:noFill/>
        </p:spPr>
        <p:txBody>
          <a:bodyPr wrap="none" rtlCol="0">
            <a:spAutoFit/>
          </a:bodyPr>
          <a:lstStyle/>
          <a:p>
            <a:r>
              <a:rPr kumimoji="1" lang="zh-CN" altLang="en-US" sz="2000" dirty="0">
                <a:solidFill>
                  <a:schemeClr val="bg1"/>
                </a:solidFill>
                <a:latin typeface="KaiTi" panose="02010609060101010101" pitchFamily="49" charset="-122"/>
                <a:ea typeface="KaiTi" panose="02010609060101010101" pitchFamily="49" charset="-122"/>
              </a:rPr>
              <a:t>用户故事</a:t>
            </a:r>
            <a:endParaRPr kumimoji="1" lang="en-US" altLang="zh-CN" sz="2000" dirty="0">
              <a:solidFill>
                <a:schemeClr val="bg1"/>
              </a:solidFill>
              <a:latin typeface="KaiTi" panose="02010609060101010101" pitchFamily="49" charset="-122"/>
              <a:ea typeface="KaiTi"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用户故事的特点</a:t>
            </a:r>
          </a:p>
        </p:txBody>
      </p:sp>
      <p:sp>
        <p:nvSpPr>
          <p:cNvPr id="3" name="内容占位符 2"/>
          <p:cNvSpPr txBox="1"/>
          <p:nvPr/>
        </p:nvSpPr>
        <p:spPr>
          <a:xfrm>
            <a:off x="628649" y="1413672"/>
            <a:ext cx="8051711"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spcAft>
                <a:spcPts val="600"/>
              </a:spcAft>
              <a:buFont typeface="Wingdings" panose="05000000000000000000" pitchFamily="2" charset="2"/>
              <a:buChar char="Ø"/>
            </a:pPr>
            <a:r>
              <a:rPr kumimoji="1" lang="zh-CN" altLang="en-US" sz="2000" dirty="0">
                <a:latin typeface="KaiTi" panose="02010609060101010101" pitchFamily="49" charset="-122"/>
                <a:ea typeface="KaiTi" panose="02010609060101010101" pitchFamily="49" charset="-122"/>
              </a:rPr>
              <a:t>总体框架的组织上，用户故事不纠结于软件系统的功能排列，而是以用户角色使用系统完成任务的过程组织需求。</a:t>
            </a:r>
            <a:endParaRPr kumimoji="1" lang="en-US" altLang="zh-CN" sz="2000" dirty="0">
              <a:latin typeface="KaiTi" panose="02010609060101010101" pitchFamily="49" charset="-122"/>
              <a:ea typeface="KaiTi" panose="02010609060101010101" pitchFamily="49" charset="-122"/>
            </a:endParaRPr>
          </a:p>
          <a:p>
            <a:pPr>
              <a:spcAft>
                <a:spcPts val="600"/>
              </a:spcAft>
              <a:buFont typeface="Wingdings" panose="05000000000000000000" pitchFamily="2" charset="2"/>
              <a:buChar char="Ø"/>
            </a:pPr>
            <a:r>
              <a:rPr kumimoji="1" lang="zh-CN" altLang="en-US" sz="2000" dirty="0">
                <a:latin typeface="KaiTi" panose="02010609060101010101" pitchFamily="49" charset="-122"/>
                <a:ea typeface="KaiTi" panose="02010609060101010101" pitchFamily="49" charset="-122"/>
              </a:rPr>
              <a:t>例：一个基于网络的课程学习系统</a:t>
            </a:r>
            <a:endParaRPr kumimoji="1" lang="en-US" altLang="zh-CN" sz="2000" dirty="0">
              <a:latin typeface="KaiTi" panose="02010609060101010101" pitchFamily="49" charset="-122"/>
              <a:ea typeface="KaiTi" panose="02010609060101010101" pitchFamily="49" charset="-122"/>
            </a:endParaRPr>
          </a:p>
          <a:p>
            <a:pPr>
              <a:spcAft>
                <a:spcPts val="600"/>
              </a:spcAft>
              <a:buFont typeface="Wingdings" panose="05000000000000000000" pitchFamily="2" charset="2"/>
              <a:buChar char="Ø"/>
            </a:pPr>
            <a:endParaRPr kumimoji="1" lang="en-US" altLang="zh-CN" sz="2000" dirty="0">
              <a:latin typeface="KaiTi" panose="02010609060101010101" pitchFamily="49" charset="-122"/>
              <a:ea typeface="KaiTi" panose="02010609060101010101" pitchFamily="49" charset="-122"/>
            </a:endParaRPr>
          </a:p>
          <a:p>
            <a:pPr>
              <a:spcAft>
                <a:spcPts val="600"/>
              </a:spcAft>
              <a:buFont typeface="Wingdings" panose="05000000000000000000" pitchFamily="2" charset="2"/>
              <a:buChar char="Ø"/>
            </a:pPr>
            <a:endParaRPr kumimoji="1" lang="en-US" altLang="zh-CN" sz="2000" dirty="0">
              <a:latin typeface="KaiTi" panose="02010609060101010101" pitchFamily="49" charset="-122"/>
              <a:ea typeface="KaiTi" panose="02010609060101010101" pitchFamily="49" charset="-122"/>
            </a:endParaRPr>
          </a:p>
          <a:p>
            <a:pPr>
              <a:spcAft>
                <a:spcPts val="600"/>
              </a:spcAft>
              <a:buFont typeface="Wingdings" panose="05000000000000000000" pitchFamily="2" charset="2"/>
              <a:buChar char="Ø"/>
            </a:pPr>
            <a:endParaRPr kumimoji="1" lang="en-US" altLang="zh-CN" sz="2000" dirty="0">
              <a:latin typeface="KaiTi" panose="02010609060101010101" pitchFamily="49" charset="-122"/>
              <a:ea typeface="KaiTi" panose="02010609060101010101" pitchFamily="49" charset="-122"/>
            </a:endParaRPr>
          </a:p>
          <a:p>
            <a:pPr>
              <a:spcAft>
                <a:spcPts val="600"/>
              </a:spcAft>
              <a:buFont typeface="Wingdings" panose="05000000000000000000" pitchFamily="2" charset="2"/>
              <a:buChar char="Ø"/>
            </a:pPr>
            <a:endParaRPr kumimoji="1" lang="en-US" altLang="zh-CN" sz="2000" dirty="0">
              <a:latin typeface="KaiTi" panose="02010609060101010101" pitchFamily="49" charset="-122"/>
              <a:ea typeface="KaiTi" panose="02010609060101010101" pitchFamily="49" charset="-122"/>
            </a:endParaRPr>
          </a:p>
          <a:p>
            <a:pPr>
              <a:spcBef>
                <a:spcPts val="1200"/>
              </a:spcBef>
              <a:spcAft>
                <a:spcPts val="600"/>
              </a:spcAft>
              <a:buFont typeface="Wingdings" panose="05000000000000000000" pitchFamily="2" charset="2"/>
              <a:buChar char="Ø"/>
            </a:pPr>
            <a:r>
              <a:rPr kumimoji="1" lang="zh-CN" altLang="en-US" sz="2000" dirty="0">
                <a:latin typeface="KaiTi" panose="02010609060101010101" pitchFamily="49" charset="-122"/>
                <a:ea typeface="KaiTi" panose="02010609060101010101" pitchFamily="49" charset="-122"/>
              </a:rPr>
              <a:t>传统思路</a:t>
            </a:r>
            <a:r>
              <a:rPr kumimoji="1" lang="zh-CN" altLang="en-US" sz="2000" b="1" dirty="0">
                <a:solidFill>
                  <a:srgbClr val="870078"/>
                </a:solidFill>
                <a:latin typeface="KaiTi" panose="02010609060101010101" pitchFamily="49" charset="-122"/>
                <a:ea typeface="KaiTi" panose="02010609060101010101" pitchFamily="49" charset="-122"/>
              </a:rPr>
              <a:t>没有重复冗余</a:t>
            </a:r>
            <a:r>
              <a:rPr kumimoji="1" lang="zh-CN" altLang="en-US" sz="2000" dirty="0">
                <a:latin typeface="KaiTi" panose="02010609060101010101" pitchFamily="49" charset="-122"/>
                <a:ea typeface="KaiTi" panose="02010609060101010101" pitchFamily="49" charset="-122"/>
              </a:rPr>
              <a:t>、每一分钟的知识介绍都很</a:t>
            </a:r>
            <a:r>
              <a:rPr kumimoji="1" lang="zh-CN" altLang="en-US" sz="2000" b="1" dirty="0">
                <a:solidFill>
                  <a:srgbClr val="870078"/>
                </a:solidFill>
                <a:latin typeface="KaiTi" panose="02010609060101010101" pitchFamily="49" charset="-122"/>
                <a:ea typeface="KaiTi" panose="02010609060101010101" pitchFamily="49" charset="-122"/>
              </a:rPr>
              <a:t>高效</a:t>
            </a:r>
            <a:r>
              <a:rPr kumimoji="1" lang="zh-CN" altLang="en-US" sz="2000" dirty="0">
                <a:latin typeface="KaiTi" panose="02010609060101010101" pitchFamily="49" charset="-122"/>
                <a:ea typeface="KaiTi" panose="02010609060101010101" pitchFamily="49" charset="-122"/>
              </a:rPr>
              <a:t>，但是读者要想将这些知识联合起来颇有困难；</a:t>
            </a:r>
            <a:endParaRPr kumimoji="1" lang="en-US" altLang="zh-CN" sz="2000" dirty="0">
              <a:latin typeface="KaiTi" panose="02010609060101010101" pitchFamily="49" charset="-122"/>
              <a:ea typeface="KaiTi" panose="02010609060101010101" pitchFamily="49" charset="-122"/>
            </a:endParaRPr>
          </a:p>
          <a:p>
            <a:pPr>
              <a:spcAft>
                <a:spcPts val="600"/>
              </a:spcAft>
              <a:buFont typeface="Wingdings" panose="05000000000000000000" pitchFamily="2" charset="2"/>
              <a:buChar char="Ø"/>
            </a:pPr>
            <a:r>
              <a:rPr kumimoji="1" lang="zh-CN" altLang="en-US" sz="2000" dirty="0">
                <a:latin typeface="KaiTi" panose="02010609060101010101" pitchFamily="49" charset="-122"/>
                <a:ea typeface="KaiTi" panose="02010609060101010101" pitchFamily="49" charset="-122"/>
              </a:rPr>
              <a:t>用户故事</a:t>
            </a:r>
            <a:r>
              <a:rPr kumimoji="1" lang="zh-CN" altLang="en-US" sz="2000" b="1" dirty="0">
                <a:solidFill>
                  <a:srgbClr val="870078"/>
                </a:solidFill>
                <a:latin typeface="KaiTi" panose="02010609060101010101" pitchFamily="49" charset="-122"/>
                <a:ea typeface="KaiTi" panose="02010609060101010101" pitchFamily="49" charset="-122"/>
              </a:rPr>
              <a:t>过程连贯</a:t>
            </a:r>
            <a:r>
              <a:rPr kumimoji="1" lang="zh-CN" altLang="en-US" sz="2000" dirty="0">
                <a:latin typeface="KaiTi" panose="02010609060101010101" pitchFamily="49" charset="-122"/>
                <a:ea typeface="KaiTi" panose="02010609060101010101" pitchFamily="49" charset="-122"/>
              </a:rPr>
              <a:t>、特别</a:t>
            </a:r>
            <a:r>
              <a:rPr kumimoji="1" lang="zh-CN" altLang="en-US" sz="2000" b="1" dirty="0">
                <a:solidFill>
                  <a:srgbClr val="870078"/>
                </a:solidFill>
                <a:latin typeface="KaiTi" panose="02010609060101010101" pitchFamily="49" charset="-122"/>
                <a:ea typeface="KaiTi" panose="02010609060101010101" pitchFamily="49" charset="-122"/>
              </a:rPr>
              <a:t>易于被接受和理解</a:t>
            </a:r>
            <a:r>
              <a:rPr kumimoji="1" lang="zh-CN" altLang="en-US" sz="2000" dirty="0">
                <a:latin typeface="KaiTi" panose="02010609060101010101" pitchFamily="49" charset="-122"/>
                <a:ea typeface="KaiTi" panose="02010609060101010101" pitchFamily="49" charset="-122"/>
              </a:rPr>
              <a:t>，但是不同人物的故事中有很多重复，尤其是多人一起参与的故事，需要开发者很仔细地处理。</a:t>
            </a:r>
            <a:endParaRPr kumimoji="1" lang="en-US" altLang="zh-CN" sz="2000" dirty="0">
              <a:latin typeface="KaiTi" panose="02010609060101010101" pitchFamily="49" charset="-122"/>
              <a:ea typeface="KaiTi" panose="02010609060101010101" pitchFamily="49" charset="-122"/>
            </a:endParaRPr>
          </a:p>
        </p:txBody>
      </p:sp>
      <p:sp>
        <p:nvSpPr>
          <p:cNvPr id="6" name="文本框 5"/>
          <p:cNvSpPr txBox="1"/>
          <p:nvPr/>
        </p:nvSpPr>
        <p:spPr>
          <a:xfrm>
            <a:off x="151596" y="16999"/>
            <a:ext cx="1210588" cy="400110"/>
          </a:xfrm>
          <a:prstGeom prst="rect">
            <a:avLst/>
          </a:prstGeom>
          <a:noFill/>
        </p:spPr>
        <p:txBody>
          <a:bodyPr wrap="none" rtlCol="0">
            <a:spAutoFit/>
          </a:bodyPr>
          <a:lstStyle/>
          <a:p>
            <a:r>
              <a:rPr kumimoji="1" lang="zh-CN" altLang="en-US" sz="2000" dirty="0">
                <a:solidFill>
                  <a:schemeClr val="bg1"/>
                </a:solidFill>
                <a:latin typeface="KaiTi" panose="02010609060101010101" pitchFamily="49" charset="-122"/>
                <a:ea typeface="KaiTi" panose="02010609060101010101" pitchFamily="49" charset="-122"/>
              </a:rPr>
              <a:t>用户故事</a:t>
            </a:r>
            <a:endParaRPr kumimoji="1" lang="en-US" altLang="zh-CN" sz="2000" dirty="0">
              <a:solidFill>
                <a:schemeClr val="bg1"/>
              </a:solidFill>
              <a:latin typeface="KaiTi" panose="02010609060101010101" pitchFamily="49" charset="-122"/>
              <a:ea typeface="KaiTi" panose="02010609060101010101" pitchFamily="49" charset="-122"/>
            </a:endParaRPr>
          </a:p>
        </p:txBody>
      </p:sp>
      <p:sp>
        <p:nvSpPr>
          <p:cNvPr id="4" name="矩形: 圆角 3"/>
          <p:cNvSpPr/>
          <p:nvPr/>
        </p:nvSpPr>
        <p:spPr>
          <a:xfrm>
            <a:off x="724687" y="2726380"/>
            <a:ext cx="2642584" cy="1635617"/>
          </a:xfrm>
          <a:prstGeom prst="round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2000" b="1" dirty="0">
                <a:solidFill>
                  <a:srgbClr val="231240"/>
                </a:solidFill>
                <a:latin typeface="楷体" panose="02010609060101010101" pitchFamily="49" charset="-122"/>
                <a:ea typeface="楷体" panose="02010609060101010101" pitchFamily="49" charset="-122"/>
              </a:rPr>
              <a:t>传统思路</a:t>
            </a:r>
            <a:endParaRPr kumimoji="1" lang="en-US" altLang="zh-CN" sz="2000" b="1" dirty="0">
              <a:solidFill>
                <a:srgbClr val="231240"/>
              </a:solidFill>
              <a:latin typeface="楷体" panose="02010609060101010101" pitchFamily="49" charset="-122"/>
              <a:ea typeface="楷体" panose="02010609060101010101" pitchFamily="49" charset="-122"/>
            </a:endParaRPr>
          </a:p>
          <a:p>
            <a:r>
              <a:rPr kumimoji="1" lang="zh-CN" altLang="en-US" sz="2000" dirty="0">
                <a:solidFill>
                  <a:srgbClr val="231240"/>
                </a:solidFill>
                <a:latin typeface="楷体" panose="02010609060101010101" pitchFamily="49" charset="-122"/>
                <a:ea typeface="楷体" panose="02010609060101010101" pitchFamily="49" charset="-122"/>
              </a:rPr>
              <a:t>逐一介绍软件系统的用户管理、课程管理、教师管理、学生管理、考试管理</a:t>
            </a:r>
            <a:r>
              <a:rPr kumimoji="1" lang="en-US" altLang="zh-CN" sz="2000" dirty="0">
                <a:solidFill>
                  <a:srgbClr val="231240"/>
                </a:solidFill>
                <a:latin typeface="楷体" panose="02010609060101010101" pitchFamily="49" charset="-122"/>
                <a:ea typeface="楷体" panose="02010609060101010101" pitchFamily="49" charset="-122"/>
              </a:rPr>
              <a:t>……</a:t>
            </a:r>
            <a:endParaRPr kumimoji="1" lang="en-US" altLang="zh-CN" sz="1800" dirty="0">
              <a:solidFill>
                <a:srgbClr val="231240"/>
              </a:solidFill>
              <a:latin typeface="楷体" panose="02010609060101010101" pitchFamily="49" charset="-122"/>
              <a:ea typeface="楷体" panose="02010609060101010101" pitchFamily="49" charset="-122"/>
            </a:endParaRPr>
          </a:p>
        </p:txBody>
      </p:sp>
      <p:sp>
        <p:nvSpPr>
          <p:cNvPr id="5" name="矩形: 圆角 4"/>
          <p:cNvSpPr/>
          <p:nvPr/>
        </p:nvSpPr>
        <p:spPr>
          <a:xfrm>
            <a:off x="3740757" y="2726380"/>
            <a:ext cx="4920292" cy="1635617"/>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sz="2000" b="1" dirty="0">
                <a:solidFill>
                  <a:srgbClr val="231240"/>
                </a:solidFill>
                <a:latin typeface="楷体" panose="02010609060101010101" pitchFamily="49" charset="-122"/>
                <a:ea typeface="楷体" panose="02010609060101010101" pitchFamily="49" charset="-122"/>
              </a:rPr>
              <a:t>用户故事</a:t>
            </a:r>
            <a:endParaRPr kumimoji="1" lang="en-US" altLang="zh-CN" sz="2000" b="1" dirty="0">
              <a:solidFill>
                <a:srgbClr val="231240"/>
              </a:solidFill>
              <a:latin typeface="楷体" panose="02010609060101010101" pitchFamily="49" charset="-122"/>
              <a:ea typeface="楷体" panose="02010609060101010101" pitchFamily="49" charset="-122"/>
            </a:endParaRPr>
          </a:p>
          <a:p>
            <a:r>
              <a:rPr kumimoji="1" lang="zh-CN" altLang="en-US" sz="2000" dirty="0">
                <a:solidFill>
                  <a:srgbClr val="231240"/>
                </a:solidFill>
                <a:latin typeface="楷体" panose="02010609060101010101" pitchFamily="49" charset="-122"/>
                <a:ea typeface="楷体" panose="02010609060101010101" pitchFamily="49" charset="-122"/>
              </a:rPr>
              <a:t>管理员组织班级→管理员布置课程→教师开课→学生选课→教师讲课、学生听课→教师组织考试→学生考试→教师给课程成绩、学生获得学分→教师结束课程</a:t>
            </a:r>
            <a:endParaRPr kumimoji="1" lang="en-US" altLang="zh-CN" sz="1800" dirty="0">
              <a:solidFill>
                <a:srgbClr val="231240"/>
              </a:solidFill>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用户故事方法的要素</a:t>
            </a:r>
          </a:p>
        </p:txBody>
      </p:sp>
      <p:sp>
        <p:nvSpPr>
          <p:cNvPr id="3" name="内容占位符 2"/>
          <p:cNvSpPr txBox="1"/>
          <p:nvPr/>
        </p:nvSpPr>
        <p:spPr>
          <a:xfrm>
            <a:off x="628649" y="1413672"/>
            <a:ext cx="8051711"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spcAft>
                <a:spcPts val="600"/>
              </a:spcAft>
              <a:buFont typeface="Wingdings" panose="05000000000000000000" pitchFamily="2" charset="2"/>
              <a:buChar char="Ø"/>
            </a:pPr>
            <a:r>
              <a:rPr kumimoji="1" lang="zh-CN" altLang="en-US" sz="2400" dirty="0">
                <a:latin typeface="KaiTi" panose="02010609060101010101" pitchFamily="49" charset="-122"/>
                <a:ea typeface="KaiTi" panose="02010609060101010101" pitchFamily="49" charset="-122"/>
              </a:rPr>
              <a:t>用户角色</a:t>
            </a:r>
            <a:endParaRPr kumimoji="1" lang="en-US" altLang="zh-CN" sz="2400" dirty="0">
              <a:latin typeface="KaiTi" panose="02010609060101010101" pitchFamily="49" charset="-122"/>
              <a:ea typeface="KaiTi" panose="02010609060101010101" pitchFamily="49" charset="-122"/>
            </a:endParaRPr>
          </a:p>
          <a:p>
            <a:pPr lvl="1">
              <a:spcAft>
                <a:spcPts val="600"/>
              </a:spcAft>
              <a:buFont typeface="Arial" panose="020B0604020202090204" pitchFamily="34" charset="0"/>
              <a:buChar char="•"/>
            </a:pPr>
            <a:r>
              <a:rPr kumimoji="1" lang="zh-CN" altLang="en-US" sz="2000" dirty="0">
                <a:latin typeface="KaiTi" panose="02010609060101010101" pitchFamily="49" charset="-122"/>
                <a:ea typeface="KaiTi" panose="02010609060101010101" pitchFamily="49" charset="-122"/>
              </a:rPr>
              <a:t>将系统的用户细分类别，也就是</a:t>
            </a:r>
            <a:r>
              <a:rPr kumimoji="1" lang="zh-CN" altLang="en-US" sz="2000" b="1" dirty="0">
                <a:solidFill>
                  <a:srgbClr val="870078"/>
                </a:solidFill>
                <a:latin typeface="KaiTi" panose="02010609060101010101" pitchFamily="49" charset="-122"/>
                <a:ea typeface="KaiTi" panose="02010609060101010101" pitchFamily="49" charset="-122"/>
              </a:rPr>
              <a:t>对涉众的分类</a:t>
            </a:r>
            <a:r>
              <a:rPr kumimoji="1" lang="zh-CN" altLang="en-US" sz="2000" dirty="0">
                <a:latin typeface="KaiTi" panose="02010609060101010101" pitchFamily="49" charset="-122"/>
                <a:ea typeface="KaiTi" panose="02010609060101010101" pitchFamily="49" charset="-122"/>
              </a:rPr>
              <a:t>。用户故事要站在各个用户角色的立场上，组织人物们角色的故事过程，过程中包含了与系统的交互过程和对各种功能的使用。</a:t>
            </a:r>
            <a:endParaRPr kumimoji="1" lang="en-US" altLang="zh-CN" sz="2000" dirty="0">
              <a:latin typeface="KaiTi" panose="02010609060101010101" pitchFamily="49" charset="-122"/>
              <a:ea typeface="KaiTi" panose="02010609060101010101" pitchFamily="49" charset="-122"/>
            </a:endParaRPr>
          </a:p>
          <a:p>
            <a:pPr>
              <a:spcAft>
                <a:spcPts val="600"/>
              </a:spcAft>
              <a:buFont typeface="Wingdings" panose="05000000000000000000" pitchFamily="2" charset="2"/>
              <a:buChar char="Ø"/>
            </a:pPr>
            <a:r>
              <a:rPr kumimoji="1" lang="zh-CN" altLang="en-US" sz="2400" dirty="0">
                <a:latin typeface="KaiTi" panose="02010609060101010101" pitchFamily="49" charset="-122"/>
                <a:ea typeface="KaiTi" panose="02010609060101010101" pitchFamily="49" charset="-122"/>
              </a:rPr>
              <a:t>用户故事</a:t>
            </a:r>
            <a:endParaRPr kumimoji="1" lang="en-US" altLang="zh-CN" sz="2400" dirty="0">
              <a:latin typeface="KaiTi" panose="02010609060101010101" pitchFamily="49" charset="-122"/>
              <a:ea typeface="KaiTi" panose="02010609060101010101" pitchFamily="49" charset="-122"/>
            </a:endParaRPr>
          </a:p>
          <a:p>
            <a:pPr lvl="1">
              <a:spcAft>
                <a:spcPts val="600"/>
              </a:spcAft>
              <a:buFont typeface="Arial" panose="020B0604020202090204" pitchFamily="34" charset="0"/>
              <a:buChar char="•"/>
            </a:pPr>
            <a:r>
              <a:rPr kumimoji="1" lang="zh-CN" altLang="en-US" sz="2000" dirty="0">
                <a:latin typeface="KaiTi" panose="02010609060101010101" pitchFamily="49" charset="-122"/>
                <a:ea typeface="KaiTi" panose="02010609060101010101" pitchFamily="49" charset="-122"/>
              </a:rPr>
              <a:t>用户故事描述了对用户、系统或软件购买者</a:t>
            </a:r>
            <a:r>
              <a:rPr kumimoji="1" lang="zh-CN" altLang="en-US" sz="2000" b="1" dirty="0">
                <a:solidFill>
                  <a:srgbClr val="870078"/>
                </a:solidFill>
                <a:latin typeface="KaiTi" panose="02010609060101010101" pitchFamily="49" charset="-122"/>
                <a:ea typeface="KaiTi" panose="02010609060101010101" pitchFamily="49" charset="-122"/>
              </a:rPr>
              <a:t>有价值的功能</a:t>
            </a:r>
            <a:r>
              <a:rPr kumimoji="1" lang="zh-CN" altLang="en-US" sz="2000" dirty="0">
                <a:latin typeface="KaiTi" panose="02010609060101010101" pitchFamily="49" charset="-122"/>
                <a:ea typeface="KaiTi" panose="02010609060101010101" pitchFamily="49" charset="-122"/>
              </a:rPr>
              <a:t>。例如，“学生可以在系统上选课”，“教师可以在系统上开课”，“学生可以在课程中提交作业”，等等。</a:t>
            </a:r>
            <a:endParaRPr kumimoji="1" lang="en-US" altLang="zh-CN" sz="2000" dirty="0">
              <a:latin typeface="KaiTi" panose="02010609060101010101" pitchFamily="49" charset="-122"/>
              <a:ea typeface="KaiTi" panose="02010609060101010101" pitchFamily="49" charset="-122"/>
            </a:endParaRPr>
          </a:p>
          <a:p>
            <a:pPr>
              <a:spcAft>
                <a:spcPts val="600"/>
              </a:spcAft>
              <a:buFont typeface="Wingdings" panose="05000000000000000000" pitchFamily="2" charset="2"/>
              <a:buChar char="Ø"/>
            </a:pPr>
            <a:r>
              <a:rPr kumimoji="1" lang="zh-CN" altLang="en-US" sz="2400" dirty="0">
                <a:latin typeface="KaiTi" panose="02010609060101010101" pitchFamily="49" charset="-122"/>
                <a:ea typeface="KaiTi" panose="02010609060101010101" pitchFamily="49" charset="-122"/>
              </a:rPr>
              <a:t>用户故事地图</a:t>
            </a:r>
            <a:endParaRPr kumimoji="1" lang="en-US" altLang="zh-CN" sz="2400" dirty="0">
              <a:latin typeface="KaiTi" panose="02010609060101010101" pitchFamily="49" charset="-122"/>
              <a:ea typeface="KaiTi" panose="02010609060101010101" pitchFamily="49" charset="-122"/>
            </a:endParaRPr>
          </a:p>
          <a:p>
            <a:pPr lvl="1">
              <a:spcAft>
                <a:spcPts val="600"/>
              </a:spcAft>
              <a:buFont typeface="Arial" panose="020B0604020202090204" pitchFamily="34" charset="0"/>
              <a:buChar char="•"/>
            </a:pPr>
            <a:r>
              <a:rPr kumimoji="1" lang="zh-CN" altLang="en-US" sz="2000" dirty="0">
                <a:latin typeface="KaiTi" panose="02010609060101010101" pitchFamily="49" charset="-122"/>
                <a:ea typeface="KaiTi" panose="02010609060101010101" pitchFamily="49" charset="-122"/>
              </a:rPr>
              <a:t>用户故事地图以网格的形式将细分故事</a:t>
            </a:r>
            <a:r>
              <a:rPr kumimoji="1" lang="zh-CN" altLang="en-US" sz="2000" b="1" dirty="0">
                <a:solidFill>
                  <a:srgbClr val="870078"/>
                </a:solidFill>
                <a:latin typeface="KaiTi" panose="02010609060101010101" pitchFamily="49" charset="-122"/>
                <a:ea typeface="KaiTi" panose="02010609060101010101" pitchFamily="49" charset="-122"/>
              </a:rPr>
              <a:t>组织为全景图</a:t>
            </a:r>
            <a:r>
              <a:rPr kumimoji="1" lang="zh-CN" altLang="en-US" sz="2000" dirty="0">
                <a:latin typeface="KaiTi" panose="02010609060101010101" pitchFamily="49" charset="-122"/>
                <a:ea typeface="KaiTi" panose="02010609060101010101" pitchFamily="49" charset="-122"/>
              </a:rPr>
              <a:t>。网格使用规则是从左到右讲述故事，即叙事主线；自上向下进行拆分，即由大到小的细节展现。</a:t>
            </a:r>
            <a:endParaRPr kumimoji="1" lang="en-US" altLang="zh-CN" sz="2000" dirty="0">
              <a:latin typeface="KaiTi" panose="02010609060101010101" pitchFamily="49" charset="-122"/>
              <a:ea typeface="KaiTi" panose="02010609060101010101" pitchFamily="49" charset="-122"/>
            </a:endParaRPr>
          </a:p>
        </p:txBody>
      </p:sp>
      <p:sp>
        <p:nvSpPr>
          <p:cNvPr id="6" name="文本框 5"/>
          <p:cNvSpPr txBox="1"/>
          <p:nvPr/>
        </p:nvSpPr>
        <p:spPr>
          <a:xfrm>
            <a:off x="151596" y="16999"/>
            <a:ext cx="1210588" cy="400110"/>
          </a:xfrm>
          <a:prstGeom prst="rect">
            <a:avLst/>
          </a:prstGeom>
          <a:noFill/>
        </p:spPr>
        <p:txBody>
          <a:bodyPr wrap="none" rtlCol="0">
            <a:spAutoFit/>
          </a:bodyPr>
          <a:lstStyle/>
          <a:p>
            <a:r>
              <a:rPr kumimoji="1" lang="zh-CN" altLang="en-US" sz="2000" dirty="0">
                <a:solidFill>
                  <a:schemeClr val="bg1"/>
                </a:solidFill>
                <a:latin typeface="KaiTi" panose="02010609060101010101" pitchFamily="49" charset="-122"/>
                <a:ea typeface="KaiTi" panose="02010609060101010101" pitchFamily="49" charset="-122"/>
              </a:rPr>
              <a:t>用户故事</a:t>
            </a:r>
            <a:endParaRPr kumimoji="1" lang="en-US" altLang="zh-CN" sz="2000" dirty="0">
              <a:solidFill>
                <a:schemeClr val="bg1"/>
              </a:solidFill>
              <a:latin typeface="KaiTi" panose="02010609060101010101" pitchFamily="49" charset="-122"/>
              <a:ea typeface="KaiTi"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用户故事地图</a:t>
            </a:r>
          </a:p>
        </p:txBody>
      </p:sp>
      <p:sp>
        <p:nvSpPr>
          <p:cNvPr id="3" name="内容占位符 2"/>
          <p:cNvSpPr txBox="1"/>
          <p:nvPr/>
        </p:nvSpPr>
        <p:spPr>
          <a:xfrm>
            <a:off x="628649" y="1413672"/>
            <a:ext cx="8051711"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spcAft>
                <a:spcPts val="600"/>
              </a:spcAft>
              <a:buFont typeface="Wingdings" panose="05000000000000000000" pitchFamily="2" charset="2"/>
              <a:buChar char="Ø"/>
            </a:pPr>
            <a:r>
              <a:rPr kumimoji="1" lang="zh-CN" altLang="en-US" sz="2400" dirty="0">
                <a:latin typeface="KaiTi" panose="02010609060101010101" pitchFamily="49" charset="-122"/>
                <a:ea typeface="KaiTi" panose="02010609060101010101" pitchFamily="49" charset="-122"/>
              </a:rPr>
              <a:t>基本框架：一种看板形式的网络结构</a:t>
            </a:r>
            <a:endParaRPr kumimoji="1" lang="en-US" altLang="zh-CN" sz="2000" dirty="0">
              <a:latin typeface="KaiTi" panose="02010609060101010101" pitchFamily="49" charset="-122"/>
              <a:ea typeface="KaiTi" panose="02010609060101010101" pitchFamily="49" charset="-122"/>
            </a:endParaRPr>
          </a:p>
        </p:txBody>
      </p:sp>
      <p:sp>
        <p:nvSpPr>
          <p:cNvPr id="6" name="文本框 5"/>
          <p:cNvSpPr txBox="1"/>
          <p:nvPr/>
        </p:nvSpPr>
        <p:spPr>
          <a:xfrm>
            <a:off x="151596" y="16999"/>
            <a:ext cx="1210588" cy="400110"/>
          </a:xfrm>
          <a:prstGeom prst="rect">
            <a:avLst/>
          </a:prstGeom>
          <a:noFill/>
        </p:spPr>
        <p:txBody>
          <a:bodyPr wrap="none" rtlCol="0">
            <a:spAutoFit/>
          </a:bodyPr>
          <a:lstStyle/>
          <a:p>
            <a:r>
              <a:rPr kumimoji="1" lang="zh-CN" altLang="en-US" sz="2000" dirty="0">
                <a:solidFill>
                  <a:schemeClr val="bg1"/>
                </a:solidFill>
                <a:latin typeface="KaiTi" panose="02010609060101010101" pitchFamily="49" charset="-122"/>
                <a:ea typeface="KaiTi" panose="02010609060101010101" pitchFamily="49" charset="-122"/>
              </a:rPr>
              <a:t>用户故事</a:t>
            </a:r>
            <a:endParaRPr kumimoji="1" lang="en-US" altLang="zh-CN" sz="2000" dirty="0">
              <a:solidFill>
                <a:schemeClr val="bg1"/>
              </a:solidFill>
              <a:latin typeface="KaiTi" panose="02010609060101010101" pitchFamily="49" charset="-122"/>
              <a:ea typeface="KaiTi" panose="02010609060101010101" pitchFamily="49" charset="-122"/>
            </a:endParaRPr>
          </a:p>
        </p:txBody>
      </p:sp>
      <p:pic>
        <p:nvPicPr>
          <p:cNvPr id="5" name="图片 4"/>
          <p:cNvPicPr>
            <a:picLocks noChangeAspect="1"/>
          </p:cNvPicPr>
          <p:nvPr/>
        </p:nvPicPr>
        <p:blipFill>
          <a:blip r:embed="rId4"/>
          <a:stretch>
            <a:fillRect/>
          </a:stretch>
        </p:blipFill>
        <p:spPr>
          <a:xfrm>
            <a:off x="1468720" y="1913366"/>
            <a:ext cx="6365419" cy="3027110"/>
          </a:xfrm>
          <a:prstGeom prst="rect">
            <a:avLst/>
          </a:prstGeom>
        </p:spPr>
      </p:pic>
      <p:sp>
        <p:nvSpPr>
          <p:cNvPr id="7" name="圆角矩形 13"/>
          <p:cNvSpPr/>
          <p:nvPr>
            <p:custDataLst>
              <p:tags r:id="rId1"/>
            </p:custDataLst>
          </p:nvPr>
        </p:nvSpPr>
        <p:spPr>
          <a:xfrm>
            <a:off x="853031" y="5102864"/>
            <a:ext cx="7522093" cy="1236487"/>
          </a:xfrm>
          <a:prstGeom prst="roundRect">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文本框 7"/>
          <p:cNvSpPr txBox="1"/>
          <p:nvPr/>
        </p:nvSpPr>
        <p:spPr>
          <a:xfrm>
            <a:off x="927734" y="5139022"/>
            <a:ext cx="7447390" cy="1200329"/>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cs typeface="楷体" panose="02010609060101010101" pitchFamily="49" charset="-122"/>
              </a:rPr>
              <a:t>主干部分是待开发功能列表，体现为系统特性所要求的用户任务和活动。需要一个或多个用户角色的参与。</a:t>
            </a:r>
            <a:endParaRPr lang="en-US" altLang="zh-CN" dirty="0">
              <a:latin typeface="楷体" panose="02010609060101010101" pitchFamily="49" charset="-122"/>
              <a:ea typeface="楷体" panose="02010609060101010101" pitchFamily="49" charset="-122"/>
              <a:cs typeface="楷体" panose="02010609060101010101" pitchFamily="49" charset="-122"/>
            </a:endParaRPr>
          </a:p>
          <a:p>
            <a:r>
              <a:rPr lang="zh-CN" altLang="en-US" dirty="0">
                <a:latin typeface="楷体" panose="02010609060101010101" pitchFamily="49" charset="-122"/>
                <a:ea typeface="楷体" panose="02010609060101010101" pitchFamily="49" charset="-122"/>
                <a:cs typeface="楷体" panose="02010609060101010101" pitchFamily="49" charset="-122"/>
              </a:rPr>
              <a:t>任务和活动被展开为用户故事，用户故事被划分为不同的迭代。每一个迭代中，用户故事自左至右形成能够演绎一个“业务”的故事。</a:t>
            </a:r>
            <a:endParaRPr lang="en-US" altLang="zh-CN" dirty="0">
              <a:latin typeface="楷体" panose="02010609060101010101" pitchFamily="49" charset="-122"/>
              <a:ea typeface="楷体" panose="02010609060101010101" pitchFamily="49" charset="-122"/>
              <a:cs typeface="楷体" panose="02010609060101010101" pitchFamily="49"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用户故事地图</a:t>
            </a:r>
          </a:p>
        </p:txBody>
      </p:sp>
      <p:sp>
        <p:nvSpPr>
          <p:cNvPr id="3" name="内容占位符 2"/>
          <p:cNvSpPr txBox="1"/>
          <p:nvPr/>
        </p:nvSpPr>
        <p:spPr>
          <a:xfrm>
            <a:off x="628649" y="1413672"/>
            <a:ext cx="8051711"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spcAft>
                <a:spcPts val="600"/>
              </a:spcAft>
              <a:buFont typeface="Wingdings" panose="05000000000000000000" pitchFamily="2" charset="2"/>
              <a:buChar char="Ø"/>
            </a:pPr>
            <a:r>
              <a:rPr kumimoji="1" lang="zh-CN" altLang="en-US" sz="2400" dirty="0">
                <a:latin typeface="KaiTi" panose="02010609060101010101" pitchFamily="49" charset="-122"/>
                <a:ea typeface="KaiTi" panose="02010609060101010101" pitchFamily="49" charset="-122"/>
              </a:rPr>
              <a:t>地图主干</a:t>
            </a:r>
            <a:endParaRPr kumimoji="1" lang="en-US" altLang="zh-CN" sz="2400" dirty="0">
              <a:latin typeface="KaiTi" panose="02010609060101010101" pitchFamily="49" charset="-122"/>
              <a:ea typeface="KaiTi" panose="02010609060101010101" pitchFamily="49" charset="-122"/>
            </a:endParaRPr>
          </a:p>
          <a:p>
            <a:pPr lvl="1">
              <a:spcAft>
                <a:spcPts val="600"/>
              </a:spcAft>
              <a:buFont typeface="Arial" panose="020B0604020202090204" pitchFamily="34" charset="0"/>
              <a:buChar char="•"/>
            </a:pPr>
            <a:r>
              <a:rPr kumimoji="1" lang="zh-CN" altLang="en-US" sz="2000" dirty="0">
                <a:latin typeface="KaiTi" panose="02010609060101010101" pitchFamily="49" charset="-122"/>
                <a:ea typeface="KaiTi" panose="02010609060101010101" pitchFamily="49" charset="-122"/>
              </a:rPr>
              <a:t>故事地图是一种自上而下的需求收集方法，表示为树。</a:t>
            </a:r>
            <a:endParaRPr kumimoji="1" lang="en-US" altLang="zh-CN" sz="2000" dirty="0">
              <a:latin typeface="KaiTi" panose="02010609060101010101" pitchFamily="49" charset="-122"/>
              <a:ea typeface="KaiTi" panose="02010609060101010101" pitchFamily="49" charset="-122"/>
            </a:endParaRPr>
          </a:p>
          <a:p>
            <a:pPr lvl="1">
              <a:spcAft>
                <a:spcPts val="600"/>
              </a:spcAft>
              <a:buFont typeface="Arial" panose="020B0604020202090204" pitchFamily="34" charset="0"/>
              <a:buChar char="•"/>
            </a:pPr>
            <a:r>
              <a:rPr kumimoji="1" lang="zh-CN" altLang="en-US" sz="2000" dirty="0">
                <a:latin typeface="KaiTi" panose="02010609060101010101" pitchFamily="49" charset="-122"/>
                <a:ea typeface="KaiTi" panose="02010609060101010101" pitchFamily="49" charset="-122"/>
              </a:rPr>
              <a:t>故事地图从</a:t>
            </a:r>
            <a:r>
              <a:rPr kumimoji="1" lang="zh-CN" altLang="en-US" sz="2000" b="1" dirty="0">
                <a:solidFill>
                  <a:srgbClr val="870078"/>
                </a:solidFill>
                <a:latin typeface="KaiTi" panose="02010609060101010101" pitchFamily="49" charset="-122"/>
                <a:ea typeface="KaiTi" panose="02010609060101010101" pitchFamily="49" charset="-122"/>
              </a:rPr>
              <a:t>用户活动</a:t>
            </a:r>
            <a:r>
              <a:rPr kumimoji="1" lang="zh-CN" altLang="en-US" sz="2000" dirty="0">
                <a:latin typeface="KaiTi" panose="02010609060101010101" pitchFamily="49" charset="-122"/>
                <a:ea typeface="KaiTi" panose="02010609060101010101" pitchFamily="49" charset="-122"/>
              </a:rPr>
              <a:t>开始。用户活动应达到特定目标；</a:t>
            </a:r>
            <a:endParaRPr kumimoji="1" lang="en-US" altLang="zh-CN" sz="2000" dirty="0">
              <a:latin typeface="KaiTi" panose="02010609060101010101" pitchFamily="49" charset="-122"/>
              <a:ea typeface="KaiTi" panose="02010609060101010101" pitchFamily="49" charset="-122"/>
            </a:endParaRPr>
          </a:p>
          <a:p>
            <a:pPr lvl="1">
              <a:spcAft>
                <a:spcPts val="600"/>
              </a:spcAft>
              <a:buFont typeface="Arial" panose="020B0604020202090204" pitchFamily="34" charset="0"/>
              <a:buChar char="•"/>
            </a:pPr>
            <a:r>
              <a:rPr kumimoji="1" lang="zh-CN" altLang="en-US" sz="2000" dirty="0">
                <a:latin typeface="KaiTi" panose="02010609060101010101" pitchFamily="49" charset="-122"/>
                <a:ea typeface="KaiTi" panose="02010609060101010101" pitchFamily="49" charset="-122"/>
              </a:rPr>
              <a:t>要完成活动，</a:t>
            </a:r>
            <a:r>
              <a:rPr kumimoji="1" lang="zh-CN" altLang="en-US" sz="2000" b="1" dirty="0">
                <a:solidFill>
                  <a:srgbClr val="870078"/>
                </a:solidFill>
                <a:latin typeface="KaiTi" panose="02010609060101010101" pitchFamily="49" charset="-122"/>
                <a:ea typeface="KaiTi" panose="02010609060101010101" pitchFamily="49" charset="-122"/>
              </a:rPr>
              <a:t>用户</a:t>
            </a:r>
            <a:r>
              <a:rPr kumimoji="1" lang="zh-CN" altLang="en-US" sz="2000" dirty="0">
                <a:latin typeface="KaiTi" panose="02010609060101010101" pitchFamily="49" charset="-122"/>
                <a:ea typeface="KaiTi" panose="02010609060101010101" pitchFamily="49" charset="-122"/>
              </a:rPr>
              <a:t>需要执行相关</a:t>
            </a:r>
            <a:r>
              <a:rPr kumimoji="1" lang="zh-CN" altLang="en-US" sz="2000" b="1" dirty="0">
                <a:solidFill>
                  <a:srgbClr val="870078"/>
                </a:solidFill>
                <a:latin typeface="KaiTi" panose="02010609060101010101" pitchFamily="49" charset="-122"/>
                <a:ea typeface="KaiTi" panose="02010609060101010101" pitchFamily="49" charset="-122"/>
              </a:rPr>
              <a:t>任务</a:t>
            </a:r>
            <a:r>
              <a:rPr kumimoji="1" lang="zh-CN" altLang="en-US" sz="2000" dirty="0">
                <a:latin typeface="KaiTi" panose="02010609060101010101" pitchFamily="49" charset="-122"/>
                <a:ea typeface="KaiTi" panose="02010609060101010101" pitchFamily="49" charset="-122"/>
              </a:rPr>
              <a:t>；</a:t>
            </a:r>
            <a:endParaRPr kumimoji="1" lang="en-US" altLang="zh-CN" sz="2000" dirty="0">
              <a:latin typeface="KaiTi" panose="02010609060101010101" pitchFamily="49" charset="-122"/>
              <a:ea typeface="KaiTi" panose="02010609060101010101" pitchFamily="49" charset="-122"/>
            </a:endParaRPr>
          </a:p>
          <a:p>
            <a:pPr lvl="1">
              <a:spcAft>
                <a:spcPts val="600"/>
              </a:spcAft>
              <a:buFont typeface="Arial" panose="020B0604020202090204" pitchFamily="34" charset="0"/>
              <a:buChar char="•"/>
            </a:pPr>
            <a:r>
              <a:rPr kumimoji="1" lang="zh-CN" altLang="en-US" sz="2000" dirty="0">
                <a:latin typeface="KaiTi" panose="02010609060101010101" pitchFamily="49" charset="-122"/>
                <a:ea typeface="KaiTi" panose="02010609060101010101" pitchFamily="49" charset="-122"/>
              </a:rPr>
              <a:t>这些任务可以转化为用于软件开发的</a:t>
            </a:r>
            <a:r>
              <a:rPr kumimoji="1" lang="zh-CN" altLang="en-US" sz="2000" b="1" dirty="0">
                <a:solidFill>
                  <a:srgbClr val="870078"/>
                </a:solidFill>
                <a:latin typeface="KaiTi" panose="02010609060101010101" pitchFamily="49" charset="-122"/>
                <a:ea typeface="KaiTi" panose="02010609060101010101" pitchFamily="49" charset="-122"/>
              </a:rPr>
              <a:t>用户故事</a:t>
            </a:r>
            <a:r>
              <a:rPr kumimoji="1" lang="zh-CN" altLang="en-US" sz="2000" dirty="0">
                <a:latin typeface="KaiTi" panose="02010609060101010101" pitchFamily="49" charset="-122"/>
                <a:ea typeface="KaiTi" panose="02010609060101010101" pitchFamily="49" charset="-122"/>
              </a:rPr>
              <a:t>。</a:t>
            </a:r>
            <a:endParaRPr kumimoji="1" lang="en-US" altLang="zh-CN" sz="2000" dirty="0">
              <a:latin typeface="KaiTi" panose="02010609060101010101" pitchFamily="49" charset="-122"/>
              <a:ea typeface="KaiTi" panose="02010609060101010101" pitchFamily="49" charset="-122"/>
            </a:endParaRPr>
          </a:p>
        </p:txBody>
      </p:sp>
      <p:sp>
        <p:nvSpPr>
          <p:cNvPr id="6" name="文本框 5"/>
          <p:cNvSpPr txBox="1"/>
          <p:nvPr/>
        </p:nvSpPr>
        <p:spPr>
          <a:xfrm>
            <a:off x="151596" y="16999"/>
            <a:ext cx="1210588" cy="400110"/>
          </a:xfrm>
          <a:prstGeom prst="rect">
            <a:avLst/>
          </a:prstGeom>
          <a:noFill/>
        </p:spPr>
        <p:txBody>
          <a:bodyPr wrap="none" rtlCol="0">
            <a:spAutoFit/>
          </a:bodyPr>
          <a:lstStyle/>
          <a:p>
            <a:r>
              <a:rPr kumimoji="1" lang="zh-CN" altLang="en-US" sz="2000" dirty="0">
                <a:solidFill>
                  <a:schemeClr val="bg1"/>
                </a:solidFill>
                <a:latin typeface="KaiTi" panose="02010609060101010101" pitchFamily="49" charset="-122"/>
                <a:ea typeface="KaiTi" panose="02010609060101010101" pitchFamily="49" charset="-122"/>
              </a:rPr>
              <a:t>用户故事</a:t>
            </a:r>
            <a:endParaRPr kumimoji="1" lang="en-US" altLang="zh-CN" sz="2000" dirty="0">
              <a:solidFill>
                <a:schemeClr val="bg1"/>
              </a:solidFill>
              <a:latin typeface="KaiTi" panose="02010609060101010101" pitchFamily="49" charset="-122"/>
              <a:ea typeface="KaiTi" panose="02010609060101010101" pitchFamily="49" charset="-122"/>
            </a:endParaRPr>
          </a:p>
        </p:txBody>
      </p:sp>
      <p:pic>
        <p:nvPicPr>
          <p:cNvPr id="9" name="图片 8"/>
          <p:cNvPicPr>
            <a:picLocks noChangeAspect="1"/>
          </p:cNvPicPr>
          <p:nvPr/>
        </p:nvPicPr>
        <p:blipFill>
          <a:blip r:embed="rId3"/>
          <a:stretch>
            <a:fillRect/>
          </a:stretch>
        </p:blipFill>
        <p:spPr>
          <a:xfrm>
            <a:off x="273462" y="3702863"/>
            <a:ext cx="4460877" cy="2309036"/>
          </a:xfrm>
          <a:prstGeom prst="rect">
            <a:avLst/>
          </a:prstGeom>
        </p:spPr>
      </p:pic>
      <p:sp>
        <p:nvSpPr>
          <p:cNvPr id="14" name="矩形 13"/>
          <p:cNvSpPr/>
          <p:nvPr/>
        </p:nvSpPr>
        <p:spPr>
          <a:xfrm>
            <a:off x="5232961" y="5516947"/>
            <a:ext cx="3710256" cy="713740"/>
          </a:xfrm>
          <a:prstGeom prst="rect">
            <a:avLst/>
          </a:prstGeom>
          <a:ln w="28575">
            <a:solidFill>
              <a:srgbClr val="47268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5" name="文本框 14"/>
          <p:cNvSpPr txBox="1"/>
          <p:nvPr/>
        </p:nvSpPr>
        <p:spPr>
          <a:xfrm>
            <a:off x="5240433" y="5567200"/>
            <a:ext cx="3695312" cy="646430"/>
          </a:xfrm>
          <a:prstGeom prst="rect">
            <a:avLst/>
          </a:prstGeom>
          <a:noFill/>
        </p:spPr>
        <p:txBody>
          <a:bodyPr wrap="square" rtlCol="0">
            <a:noAutofit/>
          </a:bodyPr>
          <a:lstStyle/>
          <a:p>
            <a:r>
              <a:rPr lang="zh-CN" altLang="en-US" sz="1600" dirty="0">
                <a:latin typeface="楷体" panose="02010609060101010101" pitchFamily="49" charset="-122"/>
                <a:ea typeface="楷体" panose="02010609060101010101" pitchFamily="49" charset="-122"/>
              </a:rPr>
              <a:t>用户故事：每个用户任务都直接分解为实现特定功能的用户故事。</a:t>
            </a:r>
            <a:endParaRPr lang="zh-CN" altLang="en-US" sz="1600" dirty="0">
              <a:solidFill>
                <a:srgbClr val="FF0000"/>
              </a:solidFill>
              <a:latin typeface="楷体" panose="02010609060101010101" pitchFamily="49" charset="-122"/>
              <a:ea typeface="楷体" panose="02010609060101010101" pitchFamily="49" charset="-122"/>
            </a:endParaRPr>
          </a:p>
        </p:txBody>
      </p:sp>
      <p:sp>
        <p:nvSpPr>
          <p:cNvPr id="17" name="左弧形箭头 32"/>
          <p:cNvSpPr/>
          <p:nvPr/>
        </p:nvSpPr>
        <p:spPr>
          <a:xfrm>
            <a:off x="4887532" y="5051809"/>
            <a:ext cx="324284" cy="930275"/>
          </a:xfrm>
          <a:prstGeom prst="curvedRightArrow">
            <a:avLst/>
          </a:prstGeom>
          <a:solidFill>
            <a:srgbClr val="472680"/>
          </a:solidFill>
        </p:spPr>
        <p:style>
          <a:lnRef idx="2">
            <a:schemeClr val="lt1"/>
          </a:lnRef>
          <a:fillRef idx="1">
            <a:schemeClr val="accent1"/>
          </a:fillRef>
          <a:effectRef idx="1">
            <a:schemeClr val="accent1"/>
          </a:effectRef>
          <a:fontRef idx="minor">
            <a:schemeClr val="lt1"/>
          </a:fontRef>
        </p:style>
        <p:txBody>
          <a:bodyPr rtlCol="0" anchor="ctr"/>
          <a:lstStyle/>
          <a:p>
            <a:pPr algn="ctr"/>
            <a:endParaRPr lang="zh-CN" altLang="en-US">
              <a:solidFill>
                <a:schemeClr val="tx1"/>
              </a:solidFill>
            </a:endParaRPr>
          </a:p>
        </p:txBody>
      </p:sp>
      <p:sp>
        <p:nvSpPr>
          <p:cNvPr id="18" name="矩形 17"/>
          <p:cNvSpPr/>
          <p:nvPr/>
        </p:nvSpPr>
        <p:spPr>
          <a:xfrm>
            <a:off x="5232961" y="4550379"/>
            <a:ext cx="3710256" cy="837835"/>
          </a:xfrm>
          <a:prstGeom prst="rect">
            <a:avLst/>
          </a:prstGeom>
          <a:ln w="28575">
            <a:solidFill>
              <a:srgbClr val="47268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9" name="文本框 18"/>
          <p:cNvSpPr txBox="1"/>
          <p:nvPr/>
        </p:nvSpPr>
        <p:spPr>
          <a:xfrm>
            <a:off x="5200984" y="4566064"/>
            <a:ext cx="3695312" cy="646430"/>
          </a:xfrm>
          <a:prstGeom prst="rect">
            <a:avLst/>
          </a:prstGeom>
          <a:noFill/>
        </p:spPr>
        <p:txBody>
          <a:bodyPr wrap="square" rtlCol="0">
            <a:noAutofit/>
          </a:bodyPr>
          <a:lstStyle/>
          <a:p>
            <a:r>
              <a:rPr lang="zh-CN" altLang="en-US" sz="1600" dirty="0">
                <a:latin typeface="楷体" panose="02010609060101010101" pitchFamily="49" charset="-122"/>
                <a:ea typeface="楷体" panose="02010609060101010101" pitchFamily="49" charset="-122"/>
              </a:rPr>
              <a:t>用户任务：每个用户活动都分解为一组称为叙述流的相关用户任务。整行形成了叙事骨架。</a:t>
            </a:r>
            <a:endParaRPr lang="zh-CN" altLang="en-US" sz="1600" dirty="0">
              <a:solidFill>
                <a:srgbClr val="FF0000"/>
              </a:solidFill>
              <a:latin typeface="楷体" panose="02010609060101010101" pitchFamily="49" charset="-122"/>
              <a:ea typeface="楷体" panose="02010609060101010101" pitchFamily="49" charset="-122"/>
            </a:endParaRPr>
          </a:p>
        </p:txBody>
      </p:sp>
      <p:sp>
        <p:nvSpPr>
          <p:cNvPr id="20" name="左弧形箭头 32"/>
          <p:cNvSpPr/>
          <p:nvPr/>
        </p:nvSpPr>
        <p:spPr>
          <a:xfrm>
            <a:off x="4887532" y="3927106"/>
            <a:ext cx="317723" cy="930275"/>
          </a:xfrm>
          <a:prstGeom prst="curvedRightArrow">
            <a:avLst/>
          </a:prstGeom>
          <a:solidFill>
            <a:srgbClr val="472680"/>
          </a:solidFill>
        </p:spPr>
        <p:style>
          <a:lnRef idx="2">
            <a:schemeClr val="lt1"/>
          </a:lnRef>
          <a:fillRef idx="1">
            <a:schemeClr val="accent1"/>
          </a:fillRef>
          <a:effectRef idx="1">
            <a:schemeClr val="accent1"/>
          </a:effectRef>
          <a:fontRef idx="minor">
            <a:schemeClr val="lt1"/>
          </a:fontRef>
        </p:style>
        <p:txBody>
          <a:bodyPr rtlCol="0" anchor="ctr"/>
          <a:lstStyle/>
          <a:p>
            <a:pPr algn="ctr"/>
            <a:endParaRPr lang="zh-CN" altLang="en-US">
              <a:solidFill>
                <a:schemeClr val="tx1"/>
              </a:solidFill>
            </a:endParaRPr>
          </a:p>
        </p:txBody>
      </p:sp>
      <p:sp>
        <p:nvSpPr>
          <p:cNvPr id="21" name="矩形 20"/>
          <p:cNvSpPr/>
          <p:nvPr/>
        </p:nvSpPr>
        <p:spPr>
          <a:xfrm>
            <a:off x="5232961" y="3677244"/>
            <a:ext cx="3710256" cy="713740"/>
          </a:xfrm>
          <a:prstGeom prst="rect">
            <a:avLst/>
          </a:prstGeom>
          <a:ln w="28575">
            <a:solidFill>
              <a:srgbClr val="472680"/>
            </a:solidFill>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22" name="文本框 21"/>
          <p:cNvSpPr txBox="1"/>
          <p:nvPr/>
        </p:nvSpPr>
        <p:spPr>
          <a:xfrm>
            <a:off x="5200984" y="3717338"/>
            <a:ext cx="3695312" cy="646430"/>
          </a:xfrm>
          <a:prstGeom prst="rect">
            <a:avLst/>
          </a:prstGeom>
          <a:noFill/>
        </p:spPr>
        <p:txBody>
          <a:bodyPr wrap="square" rtlCol="0">
            <a:noAutofit/>
          </a:bodyPr>
          <a:lstStyle/>
          <a:p>
            <a:r>
              <a:rPr lang="zh-CN" altLang="en-US" sz="1600" dirty="0">
                <a:latin typeface="楷体" panose="02010609060101010101" pitchFamily="49" charset="-122"/>
                <a:ea typeface="楷体" panose="02010609060101010101" pitchFamily="49" charset="-122"/>
              </a:rPr>
              <a:t>用户活动：是系统必须支持的主要目标，具有切实的业务成果。整行构成了主干。</a:t>
            </a:r>
            <a:endParaRPr lang="zh-CN" altLang="en-US" sz="1600" dirty="0">
              <a:solidFill>
                <a:srgbClr val="FF0000"/>
              </a:solidFill>
              <a:latin typeface="楷体" panose="02010609060101010101" pitchFamily="49" charset="-122"/>
              <a:ea typeface="楷体" panose="02010609060101010101" pitchFamily="49"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用户故事地图</a:t>
            </a:r>
          </a:p>
        </p:txBody>
      </p:sp>
      <p:sp>
        <p:nvSpPr>
          <p:cNvPr id="3" name="内容占位符 2"/>
          <p:cNvSpPr txBox="1"/>
          <p:nvPr/>
        </p:nvSpPr>
        <p:spPr>
          <a:xfrm>
            <a:off x="628649" y="1413672"/>
            <a:ext cx="8051711"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spcAft>
                <a:spcPts val="600"/>
              </a:spcAft>
              <a:buFont typeface="Wingdings" panose="05000000000000000000" pitchFamily="2" charset="2"/>
              <a:buChar char="Ø"/>
            </a:pPr>
            <a:r>
              <a:rPr kumimoji="1" lang="zh-CN" altLang="en-US" sz="2400" dirty="0">
                <a:latin typeface="KaiTi" panose="02010609060101010101" pitchFamily="49" charset="-122"/>
                <a:ea typeface="KaiTi" panose="02010609060101010101" pitchFamily="49" charset="-122"/>
              </a:rPr>
              <a:t>用户故事和迭代计划</a:t>
            </a:r>
            <a:endParaRPr kumimoji="1" lang="en-US" altLang="zh-CN" sz="2400" dirty="0">
              <a:latin typeface="KaiTi" panose="02010609060101010101" pitchFamily="49" charset="-122"/>
              <a:ea typeface="KaiTi" panose="02010609060101010101" pitchFamily="49" charset="-122"/>
            </a:endParaRPr>
          </a:p>
          <a:p>
            <a:pPr lvl="1">
              <a:spcAft>
                <a:spcPts val="600"/>
              </a:spcAft>
              <a:buFont typeface="Arial" panose="020B0604020202090204" pitchFamily="34" charset="0"/>
              <a:buChar char="•"/>
            </a:pPr>
            <a:r>
              <a:rPr kumimoji="1" lang="zh-CN" altLang="en-US" sz="2000" dirty="0">
                <a:latin typeface="KaiTi" panose="02010609060101010101" pitchFamily="49" charset="-122"/>
                <a:ea typeface="KaiTi" panose="02010609060101010101" pitchFamily="49" charset="-122"/>
              </a:rPr>
              <a:t>用户故事是在分析用户任务时通过面谈、原型、观察、头脑风暴等方法从用户那里获取到的软件系统功能。用户故事地图是要把故事组织成完整的业务流程。</a:t>
            </a:r>
            <a:endParaRPr kumimoji="1" lang="en-US" altLang="zh-CN" sz="2000" dirty="0">
              <a:latin typeface="KaiTi" panose="02010609060101010101" pitchFamily="49" charset="-122"/>
              <a:ea typeface="KaiTi" panose="02010609060101010101" pitchFamily="49" charset="-122"/>
            </a:endParaRPr>
          </a:p>
        </p:txBody>
      </p:sp>
      <p:sp>
        <p:nvSpPr>
          <p:cNvPr id="6" name="文本框 5"/>
          <p:cNvSpPr txBox="1"/>
          <p:nvPr/>
        </p:nvSpPr>
        <p:spPr>
          <a:xfrm>
            <a:off x="151596" y="16999"/>
            <a:ext cx="1210588" cy="400110"/>
          </a:xfrm>
          <a:prstGeom prst="rect">
            <a:avLst/>
          </a:prstGeom>
          <a:noFill/>
        </p:spPr>
        <p:txBody>
          <a:bodyPr wrap="none" rtlCol="0">
            <a:spAutoFit/>
          </a:bodyPr>
          <a:lstStyle/>
          <a:p>
            <a:r>
              <a:rPr kumimoji="1" lang="zh-CN" altLang="en-US" sz="2000" dirty="0">
                <a:solidFill>
                  <a:schemeClr val="bg1"/>
                </a:solidFill>
                <a:latin typeface="KaiTi" panose="02010609060101010101" pitchFamily="49" charset="-122"/>
                <a:ea typeface="KaiTi" panose="02010609060101010101" pitchFamily="49" charset="-122"/>
              </a:rPr>
              <a:t>用户故事</a:t>
            </a:r>
            <a:endParaRPr kumimoji="1" lang="en-US" altLang="zh-CN" sz="2000" dirty="0">
              <a:solidFill>
                <a:schemeClr val="bg1"/>
              </a:solidFill>
              <a:latin typeface="KaiTi" panose="02010609060101010101" pitchFamily="49" charset="-122"/>
              <a:ea typeface="KaiTi" panose="02010609060101010101" pitchFamily="49" charset="-122"/>
            </a:endParaRPr>
          </a:p>
        </p:txBody>
      </p:sp>
      <p:pic>
        <p:nvPicPr>
          <p:cNvPr id="5" name="图片 4"/>
          <p:cNvPicPr>
            <a:picLocks noChangeAspect="1"/>
          </p:cNvPicPr>
          <p:nvPr/>
        </p:nvPicPr>
        <p:blipFill>
          <a:blip r:embed="rId4"/>
          <a:stretch>
            <a:fillRect/>
          </a:stretch>
        </p:blipFill>
        <p:spPr>
          <a:xfrm>
            <a:off x="756890" y="2987188"/>
            <a:ext cx="5907928" cy="2880688"/>
          </a:xfrm>
          <a:prstGeom prst="rect">
            <a:avLst/>
          </a:prstGeom>
        </p:spPr>
      </p:pic>
      <p:sp>
        <p:nvSpPr>
          <p:cNvPr id="7" name="圆角矩形 13"/>
          <p:cNvSpPr/>
          <p:nvPr>
            <p:custDataLst>
              <p:tags r:id="rId1"/>
            </p:custDataLst>
          </p:nvPr>
        </p:nvSpPr>
        <p:spPr>
          <a:xfrm>
            <a:off x="6888038" y="3279967"/>
            <a:ext cx="1802588" cy="2164361"/>
          </a:xfrm>
          <a:prstGeom prst="roundRect">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文本框 7"/>
          <p:cNvSpPr txBox="1"/>
          <p:nvPr/>
        </p:nvSpPr>
        <p:spPr>
          <a:xfrm>
            <a:off x="6888038" y="3342711"/>
            <a:ext cx="1877290" cy="2031325"/>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cs typeface="楷体" panose="02010609060101010101" pitchFamily="49" charset="-122"/>
              </a:rPr>
              <a:t>从左到右看每一个迭代内的用户故事，讲述的都是完整的故事。这种从左到右的顺序，就是叙事的主线。</a:t>
            </a:r>
            <a:endParaRPr lang="en-US" altLang="zh-CN" dirty="0">
              <a:latin typeface="楷体" panose="02010609060101010101" pitchFamily="49" charset="-122"/>
              <a:ea typeface="楷体" panose="02010609060101010101" pitchFamily="49" charset="-122"/>
              <a:cs typeface="楷体" panose="02010609060101010101" pitchFamily="49" charset="-122"/>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用户故事地图</a:t>
            </a:r>
          </a:p>
        </p:txBody>
      </p:sp>
      <p:sp>
        <p:nvSpPr>
          <p:cNvPr id="3" name="内容占位符 2"/>
          <p:cNvSpPr txBox="1"/>
          <p:nvPr/>
        </p:nvSpPr>
        <p:spPr>
          <a:xfrm>
            <a:off x="628649" y="1413672"/>
            <a:ext cx="8051711"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spcAft>
                <a:spcPts val="600"/>
              </a:spcAft>
              <a:buFont typeface="Wingdings" panose="05000000000000000000" pitchFamily="2" charset="2"/>
              <a:buChar char="Ø"/>
            </a:pPr>
            <a:r>
              <a:rPr kumimoji="1" lang="zh-CN" altLang="en-US" sz="2400" dirty="0">
                <a:latin typeface="KaiTi" panose="02010609060101010101" pitchFamily="49" charset="-122"/>
                <a:ea typeface="KaiTi" panose="02010609060101010101" pitchFamily="49" charset="-122"/>
              </a:rPr>
              <a:t>用户故事地图实例</a:t>
            </a:r>
            <a:endParaRPr kumimoji="1" lang="en-US" altLang="zh-CN" sz="2400" dirty="0">
              <a:latin typeface="KaiTi" panose="02010609060101010101" pitchFamily="49" charset="-122"/>
              <a:ea typeface="KaiTi" panose="02010609060101010101" pitchFamily="49" charset="-122"/>
            </a:endParaRPr>
          </a:p>
        </p:txBody>
      </p:sp>
      <p:sp>
        <p:nvSpPr>
          <p:cNvPr id="6" name="文本框 5"/>
          <p:cNvSpPr txBox="1"/>
          <p:nvPr/>
        </p:nvSpPr>
        <p:spPr>
          <a:xfrm>
            <a:off x="151596" y="16999"/>
            <a:ext cx="1210588" cy="400110"/>
          </a:xfrm>
          <a:prstGeom prst="rect">
            <a:avLst/>
          </a:prstGeom>
          <a:noFill/>
        </p:spPr>
        <p:txBody>
          <a:bodyPr wrap="none" rtlCol="0">
            <a:spAutoFit/>
          </a:bodyPr>
          <a:lstStyle/>
          <a:p>
            <a:r>
              <a:rPr kumimoji="1" lang="zh-CN" altLang="en-US" sz="2000" dirty="0">
                <a:solidFill>
                  <a:schemeClr val="bg1"/>
                </a:solidFill>
                <a:latin typeface="KaiTi" panose="02010609060101010101" pitchFamily="49" charset="-122"/>
                <a:ea typeface="KaiTi" panose="02010609060101010101" pitchFamily="49" charset="-122"/>
              </a:rPr>
              <a:t>用户故事</a:t>
            </a:r>
            <a:endParaRPr kumimoji="1" lang="en-US" altLang="zh-CN" sz="2000" dirty="0">
              <a:solidFill>
                <a:schemeClr val="bg1"/>
              </a:solidFill>
              <a:latin typeface="KaiTi" panose="02010609060101010101" pitchFamily="49" charset="-122"/>
              <a:ea typeface="KaiTi" panose="02010609060101010101" pitchFamily="49" charset="-122"/>
            </a:endParaRPr>
          </a:p>
        </p:txBody>
      </p:sp>
      <p:sp>
        <p:nvSpPr>
          <p:cNvPr id="7" name="圆角矩形 13"/>
          <p:cNvSpPr/>
          <p:nvPr>
            <p:custDataLst>
              <p:tags r:id="rId1"/>
            </p:custDataLst>
          </p:nvPr>
        </p:nvSpPr>
        <p:spPr>
          <a:xfrm>
            <a:off x="6033753" y="1939177"/>
            <a:ext cx="2881649" cy="4316702"/>
          </a:xfrm>
          <a:prstGeom prst="roundRect">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文本框 7"/>
          <p:cNvSpPr txBox="1"/>
          <p:nvPr/>
        </p:nvSpPr>
        <p:spPr>
          <a:xfrm>
            <a:off x="6082048" y="1973869"/>
            <a:ext cx="2833354" cy="4247317"/>
          </a:xfrm>
          <a:prstGeom prst="rect">
            <a:avLst/>
          </a:prstGeom>
          <a:noFill/>
        </p:spPr>
        <p:txBody>
          <a:bodyPr wrap="square" rtlCol="0">
            <a:spAutoFit/>
          </a:bodyPr>
          <a:lstStyle/>
          <a:p>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dirty="0">
                <a:latin typeface="Times New Roman" panose="02020603050405020304" pitchFamily="18" charset="0"/>
                <a:ea typeface="楷体" panose="02010609060101010101" pitchFamily="49" charset="-122"/>
                <a:cs typeface="Times New Roman" panose="02020603050405020304" pitchFamily="18" charset="0"/>
              </a:rPr>
              <a:t>系统主要目标有四个，每个目标有一些活动需要执行，活动中包含很多用户故事（具体功能）。</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dirty="0">
                <a:latin typeface="Times New Roman" panose="02020603050405020304" pitchFamily="18" charset="0"/>
                <a:ea typeface="楷体" panose="02010609060101010101" pitchFamily="49" charset="-122"/>
                <a:cs typeface="Times New Roman" panose="02020603050405020304" pitchFamily="18" charset="0"/>
              </a:rPr>
              <a:t>用户故事被组织为三个迭代版本，第一个版本就是最小可行产品</a:t>
            </a:r>
            <a:r>
              <a:rPr lang="en-US" altLang="zh-CN" dirty="0">
                <a:latin typeface="Times New Roman" panose="02020603050405020304" pitchFamily="18" charset="0"/>
                <a:ea typeface="楷体" panose="02010609060101010101" pitchFamily="49" charset="-122"/>
                <a:cs typeface="Times New Roman" panose="02020603050405020304" pitchFamily="18" charset="0"/>
              </a:rPr>
              <a:t>MVP</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，完成最基础邮件的管理故事。后续两个版本的增强也都是有内聚逻辑的，分别是管理</a:t>
            </a:r>
            <a:r>
              <a:rPr lang="en-US" altLang="zh-CN" dirty="0">
                <a:latin typeface="Times New Roman" panose="02020603050405020304" pitchFamily="18" charset="0"/>
                <a:ea typeface="楷体" panose="02010609060101010101" pitchFamily="49" charset="-122"/>
                <a:cs typeface="Times New Roman" panose="02020603050405020304" pitchFamily="18" charset="0"/>
              </a:rPr>
              <a:t>HTML</a:t>
            </a:r>
            <a:r>
              <a:rPr lang="zh-CN" altLang="en-US" dirty="0">
                <a:latin typeface="Times New Roman" panose="02020603050405020304" pitchFamily="18" charset="0"/>
                <a:ea typeface="楷体" panose="02010609060101010101" pitchFamily="49" charset="-122"/>
                <a:cs typeface="Times New Roman" panose="02020603050405020304" pitchFamily="18" charset="0"/>
              </a:rPr>
              <a:t>邮件和带附件邮件的故事。</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a:p>
            <a:r>
              <a:rPr lang="en-US" altLang="zh-CN"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实践中更为复杂，经常会将有关联性的用户故事卡片叠放起来。</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9" name="图片 8"/>
          <p:cNvPicPr>
            <a:picLocks noChangeAspect="1"/>
          </p:cNvPicPr>
          <p:nvPr/>
        </p:nvPicPr>
        <p:blipFill>
          <a:blip r:embed="rId4"/>
          <a:stretch>
            <a:fillRect/>
          </a:stretch>
        </p:blipFill>
        <p:spPr>
          <a:xfrm>
            <a:off x="528320" y="2067875"/>
            <a:ext cx="5318686" cy="3872507"/>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用户故事的书写</a:t>
            </a:r>
          </a:p>
        </p:txBody>
      </p:sp>
      <p:sp>
        <p:nvSpPr>
          <p:cNvPr id="3" name="内容占位符 2"/>
          <p:cNvSpPr txBox="1"/>
          <p:nvPr/>
        </p:nvSpPr>
        <p:spPr>
          <a:xfrm>
            <a:off x="628649" y="1413672"/>
            <a:ext cx="8051711"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spcAft>
                <a:spcPts val="600"/>
              </a:spcAft>
              <a:buFont typeface="Wingdings" panose="05000000000000000000" pitchFamily="2" charset="2"/>
              <a:buChar char="Ø"/>
            </a:pPr>
            <a:r>
              <a:rPr kumimoji="1" lang="zh-CN" altLang="en-US" sz="2400" dirty="0">
                <a:latin typeface="KaiTi" panose="02010609060101010101" pitchFamily="49" charset="-122"/>
                <a:ea typeface="KaiTi" panose="02010609060101010101" pitchFamily="49" charset="-122"/>
              </a:rPr>
              <a:t>基本结构：一个用户故事是一个非正式的，自然语言描述的一个或多个软件系统功能，它由三个方面组成。</a:t>
            </a:r>
            <a:endParaRPr kumimoji="1" lang="en-US" altLang="zh-CN" sz="2000" dirty="0">
              <a:latin typeface="KaiTi" panose="02010609060101010101" pitchFamily="49" charset="-122"/>
              <a:ea typeface="KaiTi" panose="02010609060101010101" pitchFamily="49" charset="-122"/>
            </a:endParaRPr>
          </a:p>
        </p:txBody>
      </p:sp>
      <p:sp>
        <p:nvSpPr>
          <p:cNvPr id="6" name="文本框 5"/>
          <p:cNvSpPr txBox="1"/>
          <p:nvPr/>
        </p:nvSpPr>
        <p:spPr>
          <a:xfrm>
            <a:off x="151596" y="16999"/>
            <a:ext cx="1210588" cy="400110"/>
          </a:xfrm>
          <a:prstGeom prst="rect">
            <a:avLst/>
          </a:prstGeom>
          <a:noFill/>
        </p:spPr>
        <p:txBody>
          <a:bodyPr wrap="none" rtlCol="0">
            <a:spAutoFit/>
          </a:bodyPr>
          <a:lstStyle/>
          <a:p>
            <a:r>
              <a:rPr kumimoji="1" lang="zh-CN" altLang="en-US" sz="2000" dirty="0">
                <a:solidFill>
                  <a:schemeClr val="bg1"/>
                </a:solidFill>
                <a:latin typeface="KaiTi" panose="02010609060101010101" pitchFamily="49" charset="-122"/>
                <a:ea typeface="KaiTi" panose="02010609060101010101" pitchFamily="49" charset="-122"/>
              </a:rPr>
              <a:t>用户故事</a:t>
            </a:r>
            <a:endParaRPr kumimoji="1" lang="en-US" altLang="zh-CN" sz="2000" dirty="0">
              <a:solidFill>
                <a:schemeClr val="bg1"/>
              </a:solidFill>
              <a:latin typeface="KaiTi" panose="02010609060101010101" pitchFamily="49" charset="-122"/>
              <a:ea typeface="KaiTi" panose="02010609060101010101" pitchFamily="49" charset="-122"/>
            </a:endParaRPr>
          </a:p>
        </p:txBody>
      </p:sp>
      <p:sp>
        <p:nvSpPr>
          <p:cNvPr id="4" name="矩形: 圆角 3"/>
          <p:cNvSpPr/>
          <p:nvPr/>
        </p:nvSpPr>
        <p:spPr>
          <a:xfrm>
            <a:off x="6288221" y="3017589"/>
            <a:ext cx="2191320" cy="2170875"/>
          </a:xfrm>
          <a:prstGeom prst="roundRect">
            <a:avLst/>
          </a:prstGeom>
          <a:solidFill>
            <a:schemeClr val="bg1">
              <a:lumMod val="95000"/>
            </a:schemeClr>
          </a:solidFill>
          <a:ln>
            <a:noFill/>
          </a:ln>
          <a:effectLst>
            <a:outerShdw blurRad="50800" dist="38100" dir="5400000" algn="t"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5" name="任意多边形: 形状 4"/>
          <p:cNvSpPr/>
          <p:nvPr/>
        </p:nvSpPr>
        <p:spPr>
          <a:xfrm>
            <a:off x="6288221" y="2994862"/>
            <a:ext cx="2191320" cy="2170874"/>
          </a:xfrm>
          <a:custGeom>
            <a:avLst/>
            <a:gdLst>
              <a:gd name="connsiteX0" fmla="*/ 407446 w 2720850"/>
              <a:gd name="connsiteY0" fmla="*/ 0 h 2037189"/>
              <a:gd name="connsiteX1" fmla="*/ 2313404 w 2720850"/>
              <a:gd name="connsiteY1" fmla="*/ 0 h 2037189"/>
              <a:gd name="connsiteX2" fmla="*/ 2720850 w 2720850"/>
              <a:gd name="connsiteY2" fmla="*/ 407446 h 2037189"/>
              <a:gd name="connsiteX3" fmla="*/ 2720850 w 2720850"/>
              <a:gd name="connsiteY3" fmla="*/ 548733 h 2037189"/>
              <a:gd name="connsiteX4" fmla="*/ 1 w 2720850"/>
              <a:gd name="connsiteY4" fmla="*/ 548733 h 2037189"/>
              <a:gd name="connsiteX5" fmla="*/ 1 w 2720850"/>
              <a:gd name="connsiteY5" fmla="*/ 2037189 h 2037189"/>
              <a:gd name="connsiteX6" fmla="*/ 0 w 2720850"/>
              <a:gd name="connsiteY6" fmla="*/ 2037179 h 2037189"/>
              <a:gd name="connsiteX7" fmla="*/ 0 w 2720850"/>
              <a:gd name="connsiteY7" fmla="*/ 407446 h 2037189"/>
              <a:gd name="connsiteX8" fmla="*/ 407446 w 2720850"/>
              <a:gd name="connsiteY8" fmla="*/ 0 h 2037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0850" h="2037189">
                <a:moveTo>
                  <a:pt x="407446" y="0"/>
                </a:moveTo>
                <a:lnTo>
                  <a:pt x="2313404" y="0"/>
                </a:lnTo>
                <a:cubicBezTo>
                  <a:pt x="2538430" y="0"/>
                  <a:pt x="2720850" y="182420"/>
                  <a:pt x="2720850" y="407446"/>
                </a:cubicBezTo>
                <a:lnTo>
                  <a:pt x="2720850" y="548733"/>
                </a:lnTo>
                <a:lnTo>
                  <a:pt x="1" y="548733"/>
                </a:lnTo>
                <a:lnTo>
                  <a:pt x="1" y="2037189"/>
                </a:lnTo>
                <a:lnTo>
                  <a:pt x="0" y="2037179"/>
                </a:lnTo>
                <a:lnTo>
                  <a:pt x="0" y="407446"/>
                </a:lnTo>
                <a:cubicBezTo>
                  <a:pt x="0" y="182420"/>
                  <a:pt x="182420" y="0"/>
                  <a:pt x="407446" y="0"/>
                </a:cubicBezTo>
                <a:close/>
              </a:path>
            </a:pathLst>
          </a:custGeom>
          <a:solidFill>
            <a:srgbClr val="00B050"/>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zh-CN" altLang="en-US" dirty="0"/>
          </a:p>
        </p:txBody>
      </p:sp>
      <p:sp>
        <p:nvSpPr>
          <p:cNvPr id="10" name="文本框 9"/>
          <p:cNvSpPr txBox="1"/>
          <p:nvPr/>
        </p:nvSpPr>
        <p:spPr>
          <a:xfrm>
            <a:off x="6388518" y="3113737"/>
            <a:ext cx="1990725" cy="369332"/>
          </a:xfrm>
          <a:prstGeom prst="rect">
            <a:avLst/>
          </a:prstGeom>
          <a:noFill/>
        </p:spPr>
        <p:txBody>
          <a:bodyPr wrap="square" rtlCol="0">
            <a:spAutoFit/>
          </a:bodyPr>
          <a:lstStyle/>
          <a:p>
            <a:pPr algn="ctr"/>
            <a:r>
              <a:rPr lang="zh-CN" altLang="en-US" dirty="0">
                <a:solidFill>
                  <a:schemeClr val="bg1"/>
                </a:solidFill>
                <a:latin typeface="楷体" panose="02010609060101010101" pitchFamily="49" charset="-122"/>
                <a:ea typeface="楷体" panose="02010609060101010101" pitchFamily="49" charset="-122"/>
              </a:rPr>
              <a:t>完成标准</a:t>
            </a:r>
            <a:endParaRPr lang="zh-CN" altLang="en-US" b="1" dirty="0">
              <a:solidFill>
                <a:schemeClr val="bg1"/>
              </a:solidFill>
              <a:latin typeface="楷体" panose="02010609060101010101" pitchFamily="49" charset="-122"/>
              <a:ea typeface="楷体" panose="02010609060101010101" pitchFamily="49" charset="-122"/>
            </a:endParaRPr>
          </a:p>
        </p:txBody>
      </p:sp>
      <p:sp>
        <p:nvSpPr>
          <p:cNvPr id="22" name="文本框 21"/>
          <p:cNvSpPr txBox="1"/>
          <p:nvPr/>
        </p:nvSpPr>
        <p:spPr>
          <a:xfrm>
            <a:off x="6395551" y="3830937"/>
            <a:ext cx="2083990" cy="923330"/>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用验收测试来确认用户故事开发的完整度和正确性</a:t>
            </a:r>
          </a:p>
        </p:txBody>
      </p:sp>
      <p:sp>
        <p:nvSpPr>
          <p:cNvPr id="24" name="矩形: 圆角 23"/>
          <p:cNvSpPr/>
          <p:nvPr/>
        </p:nvSpPr>
        <p:spPr>
          <a:xfrm>
            <a:off x="3476340" y="3017589"/>
            <a:ext cx="2191320" cy="2170875"/>
          </a:xfrm>
          <a:prstGeom prst="roundRect">
            <a:avLst/>
          </a:prstGeom>
          <a:solidFill>
            <a:schemeClr val="bg1">
              <a:lumMod val="95000"/>
            </a:schemeClr>
          </a:solidFill>
          <a:ln>
            <a:noFill/>
          </a:ln>
          <a:effectLst>
            <a:outerShdw blurRad="50800" dist="38100" dir="5400000" algn="t"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5" name="任意多边形: 形状 24"/>
          <p:cNvSpPr/>
          <p:nvPr/>
        </p:nvSpPr>
        <p:spPr>
          <a:xfrm>
            <a:off x="3476340" y="2994862"/>
            <a:ext cx="2191320" cy="2170874"/>
          </a:xfrm>
          <a:custGeom>
            <a:avLst/>
            <a:gdLst>
              <a:gd name="connsiteX0" fmla="*/ 407446 w 2720850"/>
              <a:gd name="connsiteY0" fmla="*/ 0 h 2037189"/>
              <a:gd name="connsiteX1" fmla="*/ 2313404 w 2720850"/>
              <a:gd name="connsiteY1" fmla="*/ 0 h 2037189"/>
              <a:gd name="connsiteX2" fmla="*/ 2720850 w 2720850"/>
              <a:gd name="connsiteY2" fmla="*/ 407446 h 2037189"/>
              <a:gd name="connsiteX3" fmla="*/ 2720850 w 2720850"/>
              <a:gd name="connsiteY3" fmla="*/ 548733 h 2037189"/>
              <a:gd name="connsiteX4" fmla="*/ 1 w 2720850"/>
              <a:gd name="connsiteY4" fmla="*/ 548733 h 2037189"/>
              <a:gd name="connsiteX5" fmla="*/ 1 w 2720850"/>
              <a:gd name="connsiteY5" fmla="*/ 2037189 h 2037189"/>
              <a:gd name="connsiteX6" fmla="*/ 0 w 2720850"/>
              <a:gd name="connsiteY6" fmla="*/ 2037179 h 2037189"/>
              <a:gd name="connsiteX7" fmla="*/ 0 w 2720850"/>
              <a:gd name="connsiteY7" fmla="*/ 407446 h 2037189"/>
              <a:gd name="connsiteX8" fmla="*/ 407446 w 2720850"/>
              <a:gd name="connsiteY8" fmla="*/ 0 h 2037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0850" h="2037189">
                <a:moveTo>
                  <a:pt x="407446" y="0"/>
                </a:moveTo>
                <a:lnTo>
                  <a:pt x="2313404" y="0"/>
                </a:lnTo>
                <a:cubicBezTo>
                  <a:pt x="2538430" y="0"/>
                  <a:pt x="2720850" y="182420"/>
                  <a:pt x="2720850" y="407446"/>
                </a:cubicBezTo>
                <a:lnTo>
                  <a:pt x="2720850" y="548733"/>
                </a:lnTo>
                <a:lnTo>
                  <a:pt x="1" y="548733"/>
                </a:lnTo>
                <a:lnTo>
                  <a:pt x="1" y="2037189"/>
                </a:lnTo>
                <a:lnTo>
                  <a:pt x="0" y="2037179"/>
                </a:lnTo>
                <a:lnTo>
                  <a:pt x="0" y="407446"/>
                </a:lnTo>
                <a:cubicBezTo>
                  <a:pt x="0" y="182420"/>
                  <a:pt x="182420" y="0"/>
                  <a:pt x="407446" y="0"/>
                </a:cubicBezTo>
                <a:close/>
              </a:path>
            </a:pathLst>
          </a:custGeom>
          <a:solidFill>
            <a:srgbClr val="7030A0"/>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zh-CN" altLang="en-US" dirty="0"/>
          </a:p>
        </p:txBody>
      </p:sp>
      <p:sp>
        <p:nvSpPr>
          <p:cNvPr id="26" name="文本框 25"/>
          <p:cNvSpPr txBox="1"/>
          <p:nvPr/>
        </p:nvSpPr>
        <p:spPr>
          <a:xfrm>
            <a:off x="3576637" y="3113737"/>
            <a:ext cx="1990725" cy="369332"/>
          </a:xfrm>
          <a:prstGeom prst="rect">
            <a:avLst/>
          </a:prstGeom>
          <a:noFill/>
        </p:spPr>
        <p:txBody>
          <a:bodyPr wrap="square" rtlCol="0">
            <a:spAutoFit/>
          </a:bodyPr>
          <a:lstStyle/>
          <a:p>
            <a:pPr algn="ctr"/>
            <a:r>
              <a:rPr lang="zh-CN" altLang="en-US" b="1" dirty="0">
                <a:solidFill>
                  <a:schemeClr val="bg1"/>
                </a:solidFill>
                <a:latin typeface="楷体" panose="02010609060101010101" pitchFamily="49" charset="-122"/>
                <a:ea typeface="楷体" panose="02010609060101010101" pitchFamily="49" charset="-122"/>
              </a:rPr>
              <a:t>相关对话</a:t>
            </a:r>
          </a:p>
        </p:txBody>
      </p:sp>
      <p:sp>
        <p:nvSpPr>
          <p:cNvPr id="27" name="文本框 26"/>
          <p:cNvSpPr txBox="1"/>
          <p:nvPr/>
        </p:nvSpPr>
        <p:spPr>
          <a:xfrm>
            <a:off x="3583670" y="3830937"/>
            <a:ext cx="2083990" cy="646331"/>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可以补充故事的细节</a:t>
            </a:r>
          </a:p>
        </p:txBody>
      </p:sp>
      <p:sp>
        <p:nvSpPr>
          <p:cNvPr id="28" name="矩形: 圆角 27"/>
          <p:cNvSpPr/>
          <p:nvPr/>
        </p:nvSpPr>
        <p:spPr>
          <a:xfrm>
            <a:off x="621519" y="3040317"/>
            <a:ext cx="2191320" cy="2170875"/>
          </a:xfrm>
          <a:prstGeom prst="roundRect">
            <a:avLst/>
          </a:prstGeom>
          <a:solidFill>
            <a:schemeClr val="bg1">
              <a:lumMod val="95000"/>
            </a:schemeClr>
          </a:solidFill>
          <a:ln>
            <a:noFill/>
          </a:ln>
          <a:effectLst>
            <a:outerShdw blurRad="50800" dist="38100" dir="5400000" algn="t"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9" name="任意多边形: 形状 28"/>
          <p:cNvSpPr/>
          <p:nvPr/>
        </p:nvSpPr>
        <p:spPr>
          <a:xfrm>
            <a:off x="621519" y="3017590"/>
            <a:ext cx="2191320" cy="2170874"/>
          </a:xfrm>
          <a:custGeom>
            <a:avLst/>
            <a:gdLst>
              <a:gd name="connsiteX0" fmla="*/ 407446 w 2720850"/>
              <a:gd name="connsiteY0" fmla="*/ 0 h 2037189"/>
              <a:gd name="connsiteX1" fmla="*/ 2313404 w 2720850"/>
              <a:gd name="connsiteY1" fmla="*/ 0 h 2037189"/>
              <a:gd name="connsiteX2" fmla="*/ 2720850 w 2720850"/>
              <a:gd name="connsiteY2" fmla="*/ 407446 h 2037189"/>
              <a:gd name="connsiteX3" fmla="*/ 2720850 w 2720850"/>
              <a:gd name="connsiteY3" fmla="*/ 548733 h 2037189"/>
              <a:gd name="connsiteX4" fmla="*/ 1 w 2720850"/>
              <a:gd name="connsiteY4" fmla="*/ 548733 h 2037189"/>
              <a:gd name="connsiteX5" fmla="*/ 1 w 2720850"/>
              <a:gd name="connsiteY5" fmla="*/ 2037189 h 2037189"/>
              <a:gd name="connsiteX6" fmla="*/ 0 w 2720850"/>
              <a:gd name="connsiteY6" fmla="*/ 2037179 h 2037189"/>
              <a:gd name="connsiteX7" fmla="*/ 0 w 2720850"/>
              <a:gd name="connsiteY7" fmla="*/ 407446 h 2037189"/>
              <a:gd name="connsiteX8" fmla="*/ 407446 w 2720850"/>
              <a:gd name="connsiteY8" fmla="*/ 0 h 2037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20850" h="2037189">
                <a:moveTo>
                  <a:pt x="407446" y="0"/>
                </a:moveTo>
                <a:lnTo>
                  <a:pt x="2313404" y="0"/>
                </a:lnTo>
                <a:cubicBezTo>
                  <a:pt x="2538430" y="0"/>
                  <a:pt x="2720850" y="182420"/>
                  <a:pt x="2720850" y="407446"/>
                </a:cubicBezTo>
                <a:lnTo>
                  <a:pt x="2720850" y="548733"/>
                </a:lnTo>
                <a:lnTo>
                  <a:pt x="1" y="548733"/>
                </a:lnTo>
                <a:lnTo>
                  <a:pt x="1" y="2037189"/>
                </a:lnTo>
                <a:lnTo>
                  <a:pt x="0" y="2037179"/>
                </a:lnTo>
                <a:lnTo>
                  <a:pt x="0" y="407446"/>
                </a:lnTo>
                <a:cubicBezTo>
                  <a:pt x="0" y="182420"/>
                  <a:pt x="182420" y="0"/>
                  <a:pt x="407446" y="0"/>
                </a:cubicBezTo>
                <a:close/>
              </a:path>
            </a:pathLst>
          </a:custGeom>
          <a:solidFill>
            <a:schemeClr val="accent1">
              <a:lumMod val="60000"/>
              <a:lumOff val="40000"/>
            </a:schemeClr>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algn="ctr"/>
            <a:endParaRPr lang="zh-CN" altLang="en-US" dirty="0"/>
          </a:p>
        </p:txBody>
      </p:sp>
      <p:sp>
        <p:nvSpPr>
          <p:cNvPr id="30" name="文本框 29"/>
          <p:cNvSpPr txBox="1"/>
          <p:nvPr/>
        </p:nvSpPr>
        <p:spPr>
          <a:xfrm>
            <a:off x="721816" y="3136465"/>
            <a:ext cx="1990725" cy="369332"/>
          </a:xfrm>
          <a:prstGeom prst="rect">
            <a:avLst/>
          </a:prstGeom>
          <a:noFill/>
        </p:spPr>
        <p:txBody>
          <a:bodyPr wrap="square" rtlCol="0">
            <a:spAutoFit/>
          </a:bodyPr>
          <a:lstStyle/>
          <a:p>
            <a:pPr algn="ctr"/>
            <a:r>
              <a:rPr lang="zh-CN" altLang="en-US" b="1" dirty="0">
                <a:solidFill>
                  <a:schemeClr val="bg1"/>
                </a:solidFill>
                <a:latin typeface="楷体" panose="02010609060101010101" pitchFamily="49" charset="-122"/>
                <a:ea typeface="楷体" panose="02010609060101010101" pitchFamily="49" charset="-122"/>
              </a:rPr>
              <a:t>一段描述</a:t>
            </a:r>
          </a:p>
        </p:txBody>
      </p:sp>
      <p:sp>
        <p:nvSpPr>
          <p:cNvPr id="31" name="文本框 30"/>
          <p:cNvSpPr txBox="1"/>
          <p:nvPr/>
        </p:nvSpPr>
        <p:spPr>
          <a:xfrm>
            <a:off x="728849" y="3853665"/>
            <a:ext cx="2083990" cy="646331"/>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解释了故事所承载的软件系统功能</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用户故事的书写</a:t>
            </a:r>
          </a:p>
        </p:txBody>
      </p:sp>
      <p:sp>
        <p:nvSpPr>
          <p:cNvPr id="3" name="内容占位符 2"/>
          <p:cNvSpPr txBox="1"/>
          <p:nvPr/>
        </p:nvSpPr>
        <p:spPr>
          <a:xfrm>
            <a:off x="628649" y="1413672"/>
            <a:ext cx="8051711"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spcAft>
                <a:spcPts val="600"/>
              </a:spcAft>
              <a:buClr>
                <a:srgbClr val="231240"/>
              </a:buClr>
              <a:buFont typeface="Wingdings" panose="05000000000000000000" pitchFamily="2" charset="2"/>
              <a:buChar char="Ø"/>
            </a:pPr>
            <a:r>
              <a:rPr kumimoji="1" lang="zh-CN" altLang="en-US" sz="2400" b="1" dirty="0">
                <a:solidFill>
                  <a:srgbClr val="870078"/>
                </a:solidFill>
                <a:latin typeface="KaiTi" panose="02010609060101010101" pitchFamily="49" charset="-122"/>
                <a:ea typeface="KaiTi" panose="02010609060101010101" pitchFamily="49" charset="-122"/>
              </a:rPr>
              <a:t>故事描述</a:t>
            </a:r>
            <a:r>
              <a:rPr kumimoji="1" lang="zh-CN" altLang="en-US" sz="2400" dirty="0">
                <a:latin typeface="KaiTi" panose="02010609060101010101" pitchFamily="49" charset="-122"/>
                <a:ea typeface="KaiTi" panose="02010609060101010101" pitchFamily="49" charset="-122"/>
              </a:rPr>
              <a:t>：</a:t>
            </a:r>
            <a:endParaRPr kumimoji="1" lang="en-US" altLang="zh-CN" sz="2400" dirty="0">
              <a:latin typeface="KaiTi" panose="02010609060101010101" pitchFamily="49" charset="-122"/>
              <a:ea typeface="KaiTi" panose="02010609060101010101" pitchFamily="49" charset="-122"/>
            </a:endParaRPr>
          </a:p>
          <a:p>
            <a:pPr lvl="1">
              <a:spcBef>
                <a:spcPts val="1200"/>
              </a:spcBef>
              <a:spcAft>
                <a:spcPts val="600"/>
              </a:spcAft>
              <a:buFont typeface="Arial" panose="020B0604020202090204" pitchFamily="34" charset="0"/>
              <a:buChar char="•"/>
            </a:pPr>
            <a:r>
              <a:rPr kumimoji="1" lang="zh-CN" altLang="en-US" sz="2000" dirty="0">
                <a:latin typeface="KaiTi" panose="02010609060101010101" pitchFamily="49" charset="-122"/>
                <a:ea typeface="KaiTi" panose="02010609060101010101" pitchFamily="49" charset="-122"/>
              </a:rPr>
              <a:t>可以是一句话简单描述，也可以是一个段落的复杂描述。</a:t>
            </a:r>
            <a:endParaRPr kumimoji="1" lang="en-US" altLang="zh-CN" sz="2000" dirty="0">
              <a:latin typeface="KaiTi" panose="02010609060101010101" pitchFamily="49" charset="-122"/>
              <a:ea typeface="KaiTi" panose="02010609060101010101" pitchFamily="49" charset="-122"/>
            </a:endParaRPr>
          </a:p>
          <a:p>
            <a:pPr lvl="1">
              <a:spcBef>
                <a:spcPts val="1200"/>
              </a:spcBef>
              <a:spcAft>
                <a:spcPts val="600"/>
              </a:spcAft>
              <a:buFont typeface="Arial" panose="020B0604020202090204" pitchFamily="34" charset="0"/>
              <a:buChar char="•"/>
            </a:pPr>
            <a:r>
              <a:rPr kumimoji="1" lang="zh-CN" altLang="en-US" sz="2000" dirty="0">
                <a:latin typeface="KaiTi" panose="02010609060101010101" pitchFamily="49" charset="-122"/>
                <a:ea typeface="KaiTi" panose="02010609060101010101" pitchFamily="49" charset="-122"/>
              </a:rPr>
              <a:t>用户故事要着重描述</a:t>
            </a:r>
            <a:r>
              <a:rPr kumimoji="1" lang="zh-CN" altLang="en-US" sz="2000" b="1" dirty="0">
                <a:solidFill>
                  <a:srgbClr val="870078"/>
                </a:solidFill>
                <a:latin typeface="KaiTi" panose="02010609060101010101" pitchFamily="49" charset="-122"/>
                <a:ea typeface="KaiTi" panose="02010609060101010101" pitchFamily="49" charset="-122"/>
              </a:rPr>
              <a:t>角色</a:t>
            </a:r>
            <a:r>
              <a:rPr kumimoji="1" lang="zh-CN" altLang="en-US" sz="2000" dirty="0">
                <a:latin typeface="KaiTi" panose="02010609060101010101" pitchFamily="49" charset="-122"/>
                <a:ea typeface="KaiTi" panose="02010609060101010101" pitchFamily="49" charset="-122"/>
              </a:rPr>
              <a:t>（谁要用这个功能）、</a:t>
            </a:r>
            <a:r>
              <a:rPr kumimoji="1" lang="zh-CN" altLang="en-US" sz="2000" b="1" dirty="0">
                <a:solidFill>
                  <a:srgbClr val="870078"/>
                </a:solidFill>
                <a:latin typeface="KaiTi" panose="02010609060101010101" pitchFamily="49" charset="-122"/>
                <a:ea typeface="KaiTi" panose="02010609060101010101" pitchFamily="49" charset="-122"/>
              </a:rPr>
              <a:t>功能</a:t>
            </a:r>
            <a:r>
              <a:rPr kumimoji="1" lang="zh-CN" altLang="en-US" sz="2000" dirty="0">
                <a:latin typeface="KaiTi" panose="02010609060101010101" pitchFamily="49" charset="-122"/>
                <a:ea typeface="KaiTi" panose="02010609060101010101" pitchFamily="49" charset="-122"/>
              </a:rPr>
              <a:t>（需要完成什么样子的功能）和</a:t>
            </a:r>
            <a:r>
              <a:rPr kumimoji="1" lang="zh-CN" altLang="en-US" sz="2000" b="1" dirty="0">
                <a:solidFill>
                  <a:srgbClr val="870078"/>
                </a:solidFill>
                <a:latin typeface="KaiTi" panose="02010609060101010101" pitchFamily="49" charset="-122"/>
                <a:ea typeface="KaiTi" panose="02010609060101010101" pitchFamily="49" charset="-122"/>
              </a:rPr>
              <a:t>价值</a:t>
            </a:r>
            <a:r>
              <a:rPr kumimoji="1" lang="zh-CN" altLang="en-US" sz="2000" dirty="0">
                <a:latin typeface="KaiTi" panose="02010609060101010101" pitchFamily="49" charset="-122"/>
                <a:ea typeface="KaiTi" panose="02010609060101010101" pitchFamily="49" charset="-122"/>
              </a:rPr>
              <a:t>（为什么需要这个功能，这个功能带来什么样的价值）。</a:t>
            </a:r>
            <a:endParaRPr kumimoji="1" lang="en-US" altLang="zh-CN" sz="2000" dirty="0">
              <a:latin typeface="KaiTi" panose="02010609060101010101" pitchFamily="49" charset="-122"/>
              <a:ea typeface="KaiTi" panose="02010609060101010101" pitchFamily="49" charset="-122"/>
            </a:endParaRPr>
          </a:p>
          <a:p>
            <a:pPr lvl="1">
              <a:spcBef>
                <a:spcPts val="1200"/>
              </a:spcBef>
              <a:spcAft>
                <a:spcPts val="600"/>
              </a:spcAft>
              <a:buFont typeface="Arial" panose="020B0604020202090204" pitchFamily="34" charset="0"/>
              <a:buChar char="•"/>
            </a:pPr>
            <a:r>
              <a:rPr kumimoji="1" lang="zh-CN" altLang="en-US" sz="2000" dirty="0">
                <a:latin typeface="KaiTi" panose="02010609060101010101" pitchFamily="49" charset="-122"/>
                <a:ea typeface="KaiTi" panose="02010609060101010101" pitchFamily="49" charset="-122"/>
              </a:rPr>
              <a:t>如果对用户故事描述不甚熟悉，可以使用下列模板。</a:t>
            </a:r>
            <a:endParaRPr kumimoji="1" lang="en-US" altLang="zh-CN" sz="1600" dirty="0">
              <a:latin typeface="KaiTi" panose="02010609060101010101" pitchFamily="49" charset="-122"/>
              <a:ea typeface="KaiTi" panose="02010609060101010101" pitchFamily="49" charset="-122"/>
            </a:endParaRPr>
          </a:p>
        </p:txBody>
      </p:sp>
      <p:sp>
        <p:nvSpPr>
          <p:cNvPr id="6" name="文本框 5"/>
          <p:cNvSpPr txBox="1"/>
          <p:nvPr/>
        </p:nvSpPr>
        <p:spPr>
          <a:xfrm>
            <a:off x="151596" y="16999"/>
            <a:ext cx="1210588" cy="400110"/>
          </a:xfrm>
          <a:prstGeom prst="rect">
            <a:avLst/>
          </a:prstGeom>
          <a:noFill/>
        </p:spPr>
        <p:txBody>
          <a:bodyPr wrap="none" rtlCol="0">
            <a:spAutoFit/>
          </a:bodyPr>
          <a:lstStyle/>
          <a:p>
            <a:r>
              <a:rPr kumimoji="1" lang="zh-CN" altLang="en-US" sz="2000" dirty="0">
                <a:solidFill>
                  <a:schemeClr val="bg1"/>
                </a:solidFill>
                <a:latin typeface="KaiTi" panose="02010609060101010101" pitchFamily="49" charset="-122"/>
                <a:ea typeface="KaiTi" panose="02010609060101010101" pitchFamily="49" charset="-122"/>
              </a:rPr>
              <a:t>用户故事</a:t>
            </a:r>
            <a:endParaRPr kumimoji="1" lang="en-US" altLang="zh-CN" sz="2000" dirty="0">
              <a:solidFill>
                <a:schemeClr val="bg1"/>
              </a:solidFill>
              <a:latin typeface="KaiTi" panose="02010609060101010101" pitchFamily="49" charset="-122"/>
              <a:ea typeface="KaiTi" panose="02010609060101010101" pitchFamily="49" charset="-122"/>
            </a:endParaRPr>
          </a:p>
        </p:txBody>
      </p:sp>
      <p:sp>
        <p:nvSpPr>
          <p:cNvPr id="7" name="圆角矩形 13"/>
          <p:cNvSpPr/>
          <p:nvPr>
            <p:custDataLst>
              <p:tags r:id="rId1"/>
            </p:custDataLst>
          </p:nvPr>
        </p:nvSpPr>
        <p:spPr>
          <a:xfrm>
            <a:off x="947466" y="4378211"/>
            <a:ext cx="7522093" cy="1194906"/>
          </a:xfrm>
          <a:prstGeom prst="roundRect">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 name="文本框 7"/>
          <p:cNvSpPr txBox="1"/>
          <p:nvPr/>
        </p:nvSpPr>
        <p:spPr>
          <a:xfrm>
            <a:off x="1022169" y="4414369"/>
            <a:ext cx="7447390" cy="1077218"/>
          </a:xfrm>
          <a:prstGeom prst="rect">
            <a:avLst/>
          </a:prstGeom>
          <a:noFill/>
        </p:spPr>
        <p:txBody>
          <a:bodyPr wrap="square" rtlCol="0">
            <a:spAutoFit/>
          </a:bodyPr>
          <a:lstStyle/>
          <a:p>
            <a:pPr>
              <a:spcAft>
                <a:spcPts val="1200"/>
              </a:spcAft>
            </a:pPr>
            <a:r>
              <a:rPr lang="zh-CN" altLang="en-US" dirty="0">
                <a:latin typeface="Times New Roman" panose="02020603050405020304" pitchFamily="18" charset="0"/>
                <a:ea typeface="楷体" panose="02010609060101010101" pitchFamily="49" charset="-122"/>
                <a:cs typeface="Times New Roman" panose="02020603050405020304" pitchFamily="18" charset="0"/>
              </a:rPr>
              <a:t>模板：</a:t>
            </a:r>
            <a:r>
              <a:rPr lang="zh-CN" altLang="en-US" i="1" dirty="0">
                <a:latin typeface="Times New Roman" panose="02020603050405020304" pitchFamily="18" charset="0"/>
                <a:ea typeface="楷体" panose="02010609060101010101" pitchFamily="49" charset="-122"/>
                <a:cs typeface="Times New Roman" panose="02020603050405020304" pitchFamily="18" charset="0"/>
              </a:rPr>
              <a:t>作为一个</a:t>
            </a:r>
            <a:r>
              <a:rPr lang="en-US" altLang="zh-CN" i="1" dirty="0">
                <a:latin typeface="Times New Roman" panose="02020603050405020304" pitchFamily="18" charset="0"/>
                <a:ea typeface="楷体" panose="02010609060101010101" pitchFamily="49" charset="-122"/>
                <a:cs typeface="Times New Roman" panose="02020603050405020304" pitchFamily="18" charset="0"/>
              </a:rPr>
              <a:t>&lt;</a:t>
            </a:r>
            <a:r>
              <a:rPr lang="zh-CN" altLang="en-US" i="1" dirty="0">
                <a:latin typeface="Times New Roman" panose="02020603050405020304" pitchFamily="18" charset="0"/>
                <a:ea typeface="楷体" panose="02010609060101010101" pitchFamily="49" charset="-122"/>
                <a:cs typeface="Times New Roman" panose="02020603050405020304" pitchFamily="18" charset="0"/>
              </a:rPr>
              <a:t>角色</a:t>
            </a:r>
            <a:r>
              <a:rPr lang="en-US" altLang="zh-CN" i="1" dirty="0">
                <a:latin typeface="Times New Roman" panose="02020603050405020304" pitchFamily="18" charset="0"/>
                <a:ea typeface="楷体" panose="02010609060101010101" pitchFamily="49" charset="-122"/>
                <a:cs typeface="Times New Roman" panose="02020603050405020304" pitchFamily="18" charset="0"/>
              </a:rPr>
              <a:t>&gt;, </a:t>
            </a:r>
            <a:r>
              <a:rPr lang="zh-CN" altLang="en-US" i="1" dirty="0">
                <a:latin typeface="Times New Roman" panose="02020603050405020304" pitchFamily="18" charset="0"/>
                <a:ea typeface="楷体" panose="02010609060101010101" pitchFamily="49" charset="-122"/>
                <a:cs typeface="Times New Roman" panose="02020603050405020304" pitchFamily="18" charset="0"/>
              </a:rPr>
              <a:t>我想要</a:t>
            </a:r>
            <a:r>
              <a:rPr lang="en-US" altLang="zh-CN" i="1" dirty="0">
                <a:latin typeface="Times New Roman" panose="02020603050405020304" pitchFamily="18" charset="0"/>
                <a:ea typeface="楷体" panose="02010609060101010101" pitchFamily="49" charset="-122"/>
                <a:cs typeface="Times New Roman" panose="02020603050405020304" pitchFamily="18" charset="0"/>
              </a:rPr>
              <a:t>&lt;</a:t>
            </a:r>
            <a:r>
              <a:rPr lang="zh-CN" altLang="en-US" i="1" dirty="0">
                <a:latin typeface="Times New Roman" panose="02020603050405020304" pitchFamily="18" charset="0"/>
                <a:ea typeface="楷体" panose="02010609060101010101" pitchFamily="49" charset="-122"/>
                <a:cs typeface="Times New Roman" panose="02020603050405020304" pitchFamily="18" charset="0"/>
              </a:rPr>
              <a:t>活动</a:t>
            </a:r>
            <a:r>
              <a:rPr lang="en-US" altLang="zh-CN" i="1" dirty="0">
                <a:latin typeface="Times New Roman" panose="02020603050405020304" pitchFamily="18" charset="0"/>
                <a:ea typeface="楷体" panose="02010609060101010101" pitchFamily="49" charset="-122"/>
                <a:cs typeface="Times New Roman" panose="02020603050405020304" pitchFamily="18" charset="0"/>
              </a:rPr>
              <a:t>&gt;, </a:t>
            </a:r>
            <a:r>
              <a:rPr lang="zh-CN" altLang="en-US" i="1" dirty="0">
                <a:latin typeface="Times New Roman" panose="02020603050405020304" pitchFamily="18" charset="0"/>
                <a:ea typeface="楷体" panose="02010609060101010101" pitchFamily="49" charset="-122"/>
                <a:cs typeface="Times New Roman" panose="02020603050405020304" pitchFamily="18" charset="0"/>
              </a:rPr>
              <a:t>以便于</a:t>
            </a:r>
            <a:r>
              <a:rPr lang="en-US" altLang="zh-CN" i="1" dirty="0">
                <a:latin typeface="Times New Roman" panose="02020603050405020304" pitchFamily="18" charset="0"/>
                <a:ea typeface="楷体" panose="02010609060101010101" pitchFamily="49" charset="-122"/>
                <a:cs typeface="Times New Roman" panose="02020603050405020304" pitchFamily="18" charset="0"/>
              </a:rPr>
              <a:t>&lt;</a:t>
            </a:r>
            <a:r>
              <a:rPr lang="zh-CN" altLang="en-US" i="1" dirty="0">
                <a:latin typeface="Times New Roman" panose="02020603050405020304" pitchFamily="18" charset="0"/>
                <a:ea typeface="楷体" panose="02010609060101010101" pitchFamily="49" charset="-122"/>
                <a:cs typeface="Times New Roman" panose="02020603050405020304" pitchFamily="18" charset="0"/>
              </a:rPr>
              <a:t>商业价值</a:t>
            </a:r>
            <a:r>
              <a:rPr lang="en-US" altLang="zh-CN" i="1" dirty="0">
                <a:latin typeface="Times New Roman" panose="02020603050405020304" pitchFamily="18" charset="0"/>
                <a:ea typeface="楷体" panose="02010609060101010101" pitchFamily="49" charset="-122"/>
                <a:cs typeface="Times New Roman" panose="02020603050405020304" pitchFamily="18" charset="0"/>
              </a:rPr>
              <a:t>&gt; </a:t>
            </a:r>
          </a:p>
          <a:p>
            <a:r>
              <a:rPr lang="zh-CN" altLang="en-US" dirty="0">
                <a:latin typeface="Times New Roman" panose="02020603050405020304" pitchFamily="18" charset="0"/>
                <a:ea typeface="楷体" panose="02010609060101010101" pitchFamily="49" charset="-122"/>
                <a:cs typeface="Times New Roman" panose="02020603050405020304" pitchFamily="18" charset="0"/>
              </a:rPr>
              <a:t>例如，</a:t>
            </a:r>
            <a:r>
              <a:rPr lang="en-US" altLang="zh-CN" dirty="0">
                <a:latin typeface="Times New Roman" panose="02020603050405020304" pitchFamily="18" charset="0"/>
                <a:ea typeface="楷体" panose="02010609060101010101" pitchFamily="49" charset="-122"/>
                <a:cs typeface="Times New Roman" panose="02020603050405020304" pitchFamily="18" charset="0"/>
              </a:rPr>
              <a:t>US1: </a:t>
            </a:r>
            <a:r>
              <a:rPr lang="zh-CN" altLang="en-US" dirty="0">
                <a:latin typeface="Times New Roman" panose="02020603050405020304" pitchFamily="18" charset="0"/>
                <a:ea typeface="楷体" panose="02010609060101010101" pitchFamily="49" charset="-122"/>
                <a:cs typeface="Times New Roman" panose="02020603050405020304" pitchFamily="18" charset="0"/>
              </a:rPr>
              <a:t>作为人事管理专员，我想维护用工合同的关键信息，以便每月计算员工薪水。</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用户故事的书写</a:t>
            </a:r>
          </a:p>
        </p:txBody>
      </p:sp>
      <p:sp>
        <p:nvSpPr>
          <p:cNvPr id="3" name="内容占位符 2"/>
          <p:cNvSpPr txBox="1"/>
          <p:nvPr/>
        </p:nvSpPr>
        <p:spPr>
          <a:xfrm>
            <a:off x="628649" y="1413672"/>
            <a:ext cx="8051711"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spcAft>
                <a:spcPts val="600"/>
              </a:spcAft>
              <a:buClr>
                <a:srgbClr val="231240"/>
              </a:buClr>
              <a:buFont typeface="Wingdings" panose="05000000000000000000" pitchFamily="2" charset="2"/>
              <a:buChar char="Ø"/>
            </a:pPr>
            <a:r>
              <a:rPr kumimoji="1" lang="zh-CN" altLang="en-US" sz="2400" b="1" dirty="0">
                <a:solidFill>
                  <a:srgbClr val="870078"/>
                </a:solidFill>
                <a:latin typeface="KaiTi" panose="02010609060101010101" pitchFamily="49" charset="-122"/>
                <a:ea typeface="KaiTi" panose="02010609060101010101" pitchFamily="49" charset="-122"/>
              </a:rPr>
              <a:t>对话</a:t>
            </a:r>
            <a:r>
              <a:rPr kumimoji="1" lang="zh-CN" altLang="en-US" sz="2400" dirty="0">
                <a:latin typeface="KaiTi" panose="02010609060101010101" pitchFamily="49" charset="-122"/>
                <a:ea typeface="KaiTi" panose="02010609060101010101" pitchFamily="49" charset="-122"/>
              </a:rPr>
              <a:t>：</a:t>
            </a:r>
            <a:endParaRPr kumimoji="1" lang="en-US" altLang="zh-CN" sz="2400" dirty="0">
              <a:latin typeface="KaiTi" panose="02010609060101010101" pitchFamily="49" charset="-122"/>
              <a:ea typeface="KaiTi" panose="02010609060101010101" pitchFamily="49" charset="-122"/>
            </a:endParaRPr>
          </a:p>
          <a:p>
            <a:pPr lvl="1">
              <a:spcBef>
                <a:spcPts val="0"/>
              </a:spcBef>
              <a:spcAft>
                <a:spcPts val="600"/>
              </a:spcAft>
              <a:buFont typeface="Arial" panose="020B0604020202090204" pitchFamily="34" charset="0"/>
              <a:buChar char="•"/>
            </a:pPr>
            <a:r>
              <a:rPr kumimoji="1" lang="zh-CN" altLang="en-US" sz="2000" dirty="0">
                <a:latin typeface="KaiTi" panose="02010609060101010101" pitchFamily="49" charset="-122"/>
                <a:ea typeface="KaiTi" panose="02010609060101010101" pitchFamily="49" charset="-122"/>
              </a:rPr>
              <a:t>描述的信息是模糊的，需要组织所有相关涉众一起对其进行讨论，展开故事的细节。讨论中有价值的信息会被组织起来，记录在用户故事的“对话中”。“对话”是故事的真正价值所在。</a:t>
            </a:r>
            <a:endParaRPr kumimoji="1" lang="en-US" altLang="zh-CN" sz="2000" dirty="0">
              <a:latin typeface="KaiTi" panose="02010609060101010101" pitchFamily="49" charset="-122"/>
              <a:ea typeface="KaiTi" panose="02010609060101010101" pitchFamily="49" charset="-122"/>
            </a:endParaRPr>
          </a:p>
          <a:p>
            <a:pPr>
              <a:spcAft>
                <a:spcPts val="600"/>
              </a:spcAft>
              <a:buFont typeface="Wingdings" panose="05000000000000000000" pitchFamily="2" charset="2"/>
              <a:buChar char="Ø"/>
            </a:pPr>
            <a:r>
              <a:rPr kumimoji="1" lang="zh-CN" altLang="en-US" sz="2400" dirty="0">
                <a:latin typeface="KaiTi" panose="02010609060101010101" pitchFamily="49" charset="-122"/>
                <a:ea typeface="KaiTi" panose="02010609060101010101" pitchFamily="49" charset="-122"/>
              </a:rPr>
              <a:t>对于用户故事</a:t>
            </a:r>
            <a:r>
              <a:rPr kumimoji="1" lang="en-US" altLang="zh-CN" sz="2400" dirty="0">
                <a:latin typeface="Times New Roman" panose="02020603050405020304" pitchFamily="18" charset="0"/>
                <a:ea typeface="KaiTi" panose="02010609060101010101" pitchFamily="49" charset="-122"/>
                <a:cs typeface="Times New Roman" panose="02020603050405020304" pitchFamily="18" charset="0"/>
              </a:rPr>
              <a:t>US1</a:t>
            </a:r>
            <a:r>
              <a:rPr kumimoji="1" lang="zh-CN" altLang="en-US" sz="2400" dirty="0">
                <a:latin typeface="KaiTi" panose="02010609060101010101" pitchFamily="49" charset="-122"/>
                <a:ea typeface="KaiTi" panose="02010609060101010101" pitchFamily="49" charset="-122"/>
              </a:rPr>
              <a:t>，通过需求获取记录的对话如下：</a:t>
            </a:r>
            <a:endParaRPr kumimoji="1" lang="en-US" altLang="zh-CN" sz="2400" dirty="0">
              <a:latin typeface="KaiTi" panose="02010609060101010101" pitchFamily="49" charset="-122"/>
              <a:ea typeface="KaiTi" panose="02010609060101010101" pitchFamily="49" charset="-122"/>
            </a:endParaRPr>
          </a:p>
        </p:txBody>
      </p:sp>
      <p:sp>
        <p:nvSpPr>
          <p:cNvPr id="6" name="文本框 5"/>
          <p:cNvSpPr txBox="1"/>
          <p:nvPr/>
        </p:nvSpPr>
        <p:spPr>
          <a:xfrm>
            <a:off x="151596" y="16999"/>
            <a:ext cx="1210588" cy="400110"/>
          </a:xfrm>
          <a:prstGeom prst="rect">
            <a:avLst/>
          </a:prstGeom>
          <a:noFill/>
        </p:spPr>
        <p:txBody>
          <a:bodyPr wrap="none" rtlCol="0">
            <a:spAutoFit/>
          </a:bodyPr>
          <a:lstStyle/>
          <a:p>
            <a:r>
              <a:rPr kumimoji="1" lang="zh-CN" altLang="en-US" sz="2000" dirty="0">
                <a:solidFill>
                  <a:schemeClr val="bg1"/>
                </a:solidFill>
                <a:latin typeface="KaiTi" panose="02010609060101010101" pitchFamily="49" charset="-122"/>
                <a:ea typeface="KaiTi" panose="02010609060101010101" pitchFamily="49" charset="-122"/>
              </a:rPr>
              <a:t>用户故事</a:t>
            </a:r>
            <a:endParaRPr kumimoji="1" lang="en-US" altLang="zh-CN" sz="2000" dirty="0">
              <a:solidFill>
                <a:schemeClr val="bg1"/>
              </a:solidFill>
              <a:latin typeface="KaiTi" panose="02010609060101010101" pitchFamily="49" charset="-122"/>
              <a:ea typeface="KaiTi" panose="02010609060101010101" pitchFamily="49" charset="-122"/>
            </a:endParaRPr>
          </a:p>
        </p:txBody>
      </p:sp>
      <p:pic>
        <p:nvPicPr>
          <p:cNvPr id="5" name="图片 4"/>
          <p:cNvPicPr>
            <a:picLocks noChangeAspect="1"/>
          </p:cNvPicPr>
          <p:nvPr/>
        </p:nvPicPr>
        <p:blipFill>
          <a:blip r:embed="rId3"/>
          <a:stretch>
            <a:fillRect/>
          </a:stretch>
        </p:blipFill>
        <p:spPr>
          <a:xfrm>
            <a:off x="721208" y="3576665"/>
            <a:ext cx="3741315" cy="1967975"/>
          </a:xfrm>
          <a:prstGeom prst="rect">
            <a:avLst/>
          </a:prstGeom>
        </p:spPr>
      </p:pic>
      <p:pic>
        <p:nvPicPr>
          <p:cNvPr id="10" name="图片 9"/>
          <p:cNvPicPr>
            <a:picLocks noChangeAspect="1"/>
          </p:cNvPicPr>
          <p:nvPr/>
        </p:nvPicPr>
        <p:blipFill>
          <a:blip r:embed="rId4"/>
          <a:stretch>
            <a:fillRect/>
          </a:stretch>
        </p:blipFill>
        <p:spPr>
          <a:xfrm>
            <a:off x="4177158" y="3563786"/>
            <a:ext cx="4741180" cy="275974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用户故事的书写</a:t>
            </a:r>
          </a:p>
        </p:txBody>
      </p:sp>
      <p:sp>
        <p:nvSpPr>
          <p:cNvPr id="3" name="内容占位符 2"/>
          <p:cNvSpPr txBox="1"/>
          <p:nvPr/>
        </p:nvSpPr>
        <p:spPr>
          <a:xfrm>
            <a:off x="628649" y="1413672"/>
            <a:ext cx="8051711"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spcAft>
                <a:spcPts val="600"/>
              </a:spcAft>
              <a:buClr>
                <a:srgbClr val="231240"/>
              </a:buClr>
              <a:buFont typeface="Wingdings" panose="05000000000000000000" pitchFamily="2" charset="2"/>
              <a:buChar char="Ø"/>
            </a:pPr>
            <a:r>
              <a:rPr kumimoji="1" lang="zh-CN" altLang="en-US" sz="2400" b="1" dirty="0">
                <a:solidFill>
                  <a:srgbClr val="870078"/>
                </a:solidFill>
                <a:latin typeface="KaiTi" panose="02010609060101010101" pitchFamily="49" charset="-122"/>
                <a:ea typeface="KaiTi" panose="02010609060101010101" pitchFamily="49" charset="-122"/>
              </a:rPr>
              <a:t>验收标准</a:t>
            </a:r>
            <a:r>
              <a:rPr kumimoji="1" lang="zh-CN" altLang="en-US" sz="2400" dirty="0">
                <a:latin typeface="KaiTi" panose="02010609060101010101" pitchFamily="49" charset="-122"/>
                <a:ea typeface="KaiTi" panose="02010609060101010101" pitchFamily="49" charset="-122"/>
              </a:rPr>
              <a:t>是用户故事被满足的条件，将用于确定故事是否满足意图以及更详细的要求：</a:t>
            </a:r>
            <a:endParaRPr kumimoji="1" lang="en-US" altLang="zh-CN" sz="2400" dirty="0">
              <a:latin typeface="KaiTi" panose="02010609060101010101" pitchFamily="49" charset="-122"/>
              <a:ea typeface="KaiTi" panose="02010609060101010101" pitchFamily="49" charset="-122"/>
            </a:endParaRPr>
          </a:p>
          <a:p>
            <a:pPr lvl="1">
              <a:lnSpc>
                <a:spcPct val="100000"/>
              </a:lnSpc>
              <a:spcBef>
                <a:spcPts val="1200"/>
              </a:spcBef>
              <a:spcAft>
                <a:spcPts val="1200"/>
              </a:spcAft>
              <a:buClr>
                <a:srgbClr val="231240"/>
              </a:buClr>
              <a:buFont typeface="Arial" panose="020B0604020202090204" pitchFamily="34" charset="0"/>
              <a:buChar char="•"/>
            </a:pPr>
            <a:r>
              <a:rPr kumimoji="1" lang="zh-CN" altLang="en-US" sz="2000" dirty="0">
                <a:latin typeface="KaiTi" panose="02010609060101010101" pitchFamily="49" charset="-122"/>
                <a:ea typeface="KaiTi" panose="02010609060101010101" pitchFamily="49" charset="-122"/>
              </a:rPr>
              <a:t>完成标准中定义的所有验收测试通过才能视为“完成”。 </a:t>
            </a:r>
          </a:p>
          <a:p>
            <a:pPr lvl="1">
              <a:lnSpc>
                <a:spcPct val="100000"/>
              </a:lnSpc>
              <a:spcBef>
                <a:spcPts val="1200"/>
              </a:spcBef>
              <a:spcAft>
                <a:spcPts val="1200"/>
              </a:spcAft>
              <a:buClr>
                <a:srgbClr val="231240"/>
              </a:buClr>
              <a:buFont typeface="Arial" panose="020B0604020202090204" pitchFamily="34" charset="0"/>
              <a:buChar char="•"/>
            </a:pPr>
            <a:r>
              <a:rPr kumimoji="1" lang="zh-CN" altLang="en-US" sz="2000" dirty="0">
                <a:latin typeface="KaiTi" panose="02010609060101010101" pitchFamily="49" charset="-122"/>
                <a:ea typeface="KaiTi" panose="02010609060101010101" pitchFamily="49" charset="-122"/>
              </a:rPr>
              <a:t>产品负责人必须确认用户故事“完成”。 </a:t>
            </a:r>
          </a:p>
          <a:p>
            <a:pPr lvl="1">
              <a:lnSpc>
                <a:spcPct val="100000"/>
              </a:lnSpc>
              <a:spcBef>
                <a:spcPts val="1200"/>
              </a:spcBef>
              <a:spcAft>
                <a:spcPts val="1200"/>
              </a:spcAft>
              <a:buClr>
                <a:srgbClr val="231240"/>
              </a:buClr>
              <a:buFont typeface="Arial" panose="020B0604020202090204" pitchFamily="34" charset="0"/>
              <a:buChar char="•"/>
            </a:pPr>
            <a:r>
              <a:rPr kumimoji="1" lang="zh-CN" altLang="en-US" sz="2000" dirty="0">
                <a:latin typeface="KaiTi" panose="02010609060101010101" pitchFamily="49" charset="-122"/>
                <a:ea typeface="KaiTi" panose="02010609060101010101" pitchFamily="49" charset="-122"/>
              </a:rPr>
              <a:t>团队和产品负责人根据团队目前对“完成”的定义检查每个故事的“完成度”。</a:t>
            </a:r>
          </a:p>
          <a:p>
            <a:pPr lvl="1">
              <a:lnSpc>
                <a:spcPct val="100000"/>
              </a:lnSpc>
              <a:spcBef>
                <a:spcPts val="1200"/>
              </a:spcBef>
              <a:spcAft>
                <a:spcPts val="1200"/>
              </a:spcAft>
              <a:buClr>
                <a:srgbClr val="231240"/>
              </a:buClr>
              <a:buFont typeface="Arial" panose="020B0604020202090204" pitchFamily="34" charset="0"/>
              <a:buChar char="•"/>
            </a:pPr>
            <a:r>
              <a:rPr kumimoji="1" lang="zh-CN" altLang="en-US" sz="2000" dirty="0">
                <a:latin typeface="KaiTi" panose="02010609060101010101" pitchFamily="49" charset="-122"/>
                <a:ea typeface="KaiTi" panose="02010609060101010101" pitchFamily="49" charset="-122"/>
              </a:rPr>
              <a:t>可以为个别故事确定与当前“完成”定义不同的具体接受标准，但是团队必须很好地理解并同意当前的标准。</a:t>
            </a:r>
            <a:endParaRPr kumimoji="1" lang="en-US" altLang="zh-CN" sz="2000" dirty="0">
              <a:latin typeface="KaiTi" panose="02010609060101010101" pitchFamily="49" charset="-122"/>
              <a:ea typeface="KaiTi" panose="02010609060101010101" pitchFamily="49" charset="-122"/>
            </a:endParaRPr>
          </a:p>
        </p:txBody>
      </p:sp>
      <p:sp>
        <p:nvSpPr>
          <p:cNvPr id="6" name="文本框 5"/>
          <p:cNvSpPr txBox="1"/>
          <p:nvPr/>
        </p:nvSpPr>
        <p:spPr>
          <a:xfrm>
            <a:off x="151596" y="16999"/>
            <a:ext cx="1210588" cy="400110"/>
          </a:xfrm>
          <a:prstGeom prst="rect">
            <a:avLst/>
          </a:prstGeom>
          <a:noFill/>
        </p:spPr>
        <p:txBody>
          <a:bodyPr wrap="none" rtlCol="0">
            <a:spAutoFit/>
          </a:bodyPr>
          <a:lstStyle/>
          <a:p>
            <a:r>
              <a:rPr kumimoji="1" lang="zh-CN" altLang="en-US" sz="2000" dirty="0">
                <a:solidFill>
                  <a:schemeClr val="bg1"/>
                </a:solidFill>
                <a:latin typeface="KaiTi" panose="02010609060101010101" pitchFamily="49" charset="-122"/>
                <a:ea typeface="KaiTi" panose="02010609060101010101" pitchFamily="49" charset="-122"/>
              </a:rPr>
              <a:t>用户故事</a:t>
            </a:r>
            <a:endParaRPr kumimoji="1" lang="en-US" altLang="zh-CN" sz="2000" dirty="0">
              <a:solidFill>
                <a:schemeClr val="bg1"/>
              </a:solidFill>
              <a:latin typeface="KaiTi" panose="02010609060101010101" pitchFamily="49" charset="-122"/>
              <a:ea typeface="KaiTi" panose="02010609060101010101" pitchFamily="49" charset="-122"/>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用户故事的书写</a:t>
            </a:r>
          </a:p>
        </p:txBody>
      </p:sp>
      <p:sp>
        <p:nvSpPr>
          <p:cNvPr id="3" name="内容占位符 2"/>
          <p:cNvSpPr txBox="1"/>
          <p:nvPr/>
        </p:nvSpPr>
        <p:spPr>
          <a:xfrm>
            <a:off x="628649" y="1413672"/>
            <a:ext cx="8051711"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spcAft>
                <a:spcPts val="600"/>
              </a:spcAft>
              <a:buClr>
                <a:srgbClr val="231240"/>
              </a:buClr>
              <a:buFont typeface="Wingdings" panose="05000000000000000000" pitchFamily="2" charset="2"/>
              <a:buChar char="Ø"/>
            </a:pPr>
            <a:r>
              <a:rPr kumimoji="1" lang="zh-CN" altLang="en-US" sz="2400" dirty="0">
                <a:latin typeface="KaiTi" panose="02010609060101010101" pitchFamily="49" charset="-122"/>
                <a:ea typeface="KaiTi" panose="02010609060101010101" pitchFamily="49" charset="-122"/>
              </a:rPr>
              <a:t>例如，对用户故事</a:t>
            </a:r>
            <a:r>
              <a:rPr kumimoji="1" lang="en-US" altLang="zh-CN" sz="2400" dirty="0">
                <a:latin typeface="Times New Roman" panose="02020603050405020304" pitchFamily="18" charset="0"/>
                <a:ea typeface="KaiTi" panose="02010609060101010101" pitchFamily="49" charset="-122"/>
                <a:cs typeface="Times New Roman" panose="02020603050405020304" pitchFamily="18" charset="0"/>
              </a:rPr>
              <a:t>US1</a:t>
            </a:r>
            <a:r>
              <a:rPr kumimoji="1" lang="zh-CN" altLang="en-US" sz="2400" dirty="0">
                <a:latin typeface="KaiTi" panose="02010609060101010101" pitchFamily="49" charset="-122"/>
                <a:ea typeface="KaiTi" panose="02010609060101010101" pitchFamily="49" charset="-122"/>
              </a:rPr>
              <a:t>，它的完成标准是</a:t>
            </a:r>
            <a:r>
              <a:rPr kumimoji="1" lang="en-US" altLang="zh-CN" sz="2400" dirty="0">
                <a:solidFill>
                  <a:srgbClr val="870078"/>
                </a:solidFill>
                <a:latin typeface="KaiTi" panose="02010609060101010101" pitchFamily="49" charset="-122"/>
                <a:ea typeface="KaiTi" panose="02010609060101010101" pitchFamily="49" charset="-122"/>
              </a:rPr>
              <a:t>:</a:t>
            </a:r>
          </a:p>
          <a:p>
            <a:pPr lvl="1">
              <a:spcAft>
                <a:spcPts val="600"/>
              </a:spcAft>
              <a:buClr>
                <a:srgbClr val="231240"/>
              </a:buClr>
              <a:buFont typeface="Arial" panose="020B0604020202090204" pitchFamily="34" charset="0"/>
              <a:buChar char="•"/>
            </a:pPr>
            <a:r>
              <a:rPr kumimoji="1" lang="zh-CN" altLang="en-US" sz="2000" dirty="0">
                <a:latin typeface="KaiTi" panose="02010609060101010101" pitchFamily="49" charset="-122"/>
                <a:ea typeface="KaiTi" panose="02010609060101010101" pitchFamily="49" charset="-122"/>
              </a:rPr>
              <a:t>数据框填写了所有必填字段，提交后显示职位概要</a:t>
            </a:r>
          </a:p>
          <a:p>
            <a:pPr lvl="1">
              <a:spcAft>
                <a:spcPts val="600"/>
              </a:spcAft>
              <a:buClr>
                <a:srgbClr val="231240"/>
              </a:buClr>
              <a:buFont typeface="Arial" panose="020B0604020202090204" pitchFamily="34" charset="0"/>
              <a:buChar char="•"/>
            </a:pPr>
            <a:r>
              <a:rPr kumimoji="1" lang="zh-CN" altLang="en-US" sz="2000" dirty="0">
                <a:latin typeface="KaiTi" panose="02010609060101010101" pitchFamily="49" charset="-122"/>
                <a:ea typeface="KaiTi" panose="02010609060101010101" pitchFamily="49" charset="-122"/>
              </a:rPr>
              <a:t>数据框填写了所有字段，提交后显示职位概要</a:t>
            </a:r>
          </a:p>
          <a:p>
            <a:pPr lvl="1">
              <a:spcAft>
                <a:spcPts val="600"/>
              </a:spcAft>
              <a:buClr>
                <a:srgbClr val="231240"/>
              </a:buClr>
              <a:buFont typeface="Arial" panose="020B0604020202090204" pitchFamily="34" charset="0"/>
              <a:buChar char="•"/>
            </a:pPr>
            <a:r>
              <a:rPr kumimoji="1" lang="zh-CN" altLang="en-US" sz="2000" dirty="0">
                <a:latin typeface="KaiTi" panose="02010609060101010101" pitchFamily="49" charset="-122"/>
                <a:ea typeface="KaiTi" panose="02010609060101010101" pitchFamily="49" charset="-122"/>
              </a:rPr>
              <a:t>如果“普通雇员 </a:t>
            </a:r>
            <a:r>
              <a:rPr kumimoji="1" lang="zh-CN" altLang="en-US" sz="2000" dirty="0">
                <a:latin typeface="Times New Roman" panose="02020603050405020304" pitchFamily="18" charset="0"/>
                <a:ea typeface="KaiTi" panose="02010609060101010101" pitchFamily="49" charset="-122"/>
                <a:cs typeface="Times New Roman" panose="02020603050405020304" pitchFamily="18" charset="0"/>
              </a:rPr>
              <a:t> </a:t>
            </a:r>
            <a:r>
              <a:rPr kumimoji="1" lang="en-US" altLang="zh-CN" sz="2000" dirty="0">
                <a:latin typeface="Times New Roman" panose="02020603050405020304" pitchFamily="18" charset="0"/>
                <a:ea typeface="KaiTi" panose="02010609060101010101" pitchFamily="49" charset="-122"/>
                <a:cs typeface="Times New Roman" panose="02020603050405020304" pitchFamily="18" charset="0"/>
              </a:rPr>
              <a:t>VS  </a:t>
            </a:r>
            <a:r>
              <a:rPr kumimoji="1" lang="zh-CN" altLang="en-US" sz="2000" dirty="0">
                <a:latin typeface="KaiTi" panose="02010609060101010101" pitchFamily="49" charset="-122"/>
                <a:ea typeface="KaiTi" panose="02010609060101010101" pitchFamily="49" charset="-122"/>
              </a:rPr>
              <a:t>人事代理”输入框未填写，提交时定焦该输入框</a:t>
            </a:r>
          </a:p>
          <a:p>
            <a:pPr lvl="1">
              <a:spcAft>
                <a:spcPts val="600"/>
              </a:spcAft>
              <a:buClr>
                <a:srgbClr val="231240"/>
              </a:buClr>
              <a:buFont typeface="Arial" panose="020B0604020202090204" pitchFamily="34" charset="0"/>
              <a:buChar char="•"/>
            </a:pPr>
            <a:r>
              <a:rPr kumimoji="1" lang="zh-CN" altLang="en-US" sz="2000" dirty="0">
                <a:latin typeface="KaiTi" panose="02010609060101010101" pitchFamily="49" charset="-122"/>
                <a:ea typeface="KaiTi" panose="02010609060101010101" pitchFamily="49" charset="-122"/>
              </a:rPr>
              <a:t>如果“企业信用号码”输入框未填写，提交时定焦该输入框</a:t>
            </a:r>
          </a:p>
          <a:p>
            <a:pPr lvl="1">
              <a:spcAft>
                <a:spcPts val="600"/>
              </a:spcAft>
              <a:buClr>
                <a:srgbClr val="231240"/>
              </a:buClr>
              <a:buFont typeface="Arial" panose="020B0604020202090204" pitchFamily="34" charset="0"/>
              <a:buChar char="•"/>
            </a:pPr>
            <a:r>
              <a:rPr kumimoji="1" lang="zh-CN" altLang="en-US" sz="2000" dirty="0">
                <a:latin typeface="KaiTi" panose="02010609060101010101" pitchFamily="49" charset="-122"/>
                <a:ea typeface="KaiTi" panose="02010609060101010101" pitchFamily="49" charset="-122"/>
              </a:rPr>
              <a:t>如果“公司名称”输入框未填写，提交时定焦该输入框</a:t>
            </a:r>
            <a:endParaRPr kumimoji="1" lang="en-US" altLang="zh-CN" sz="2000" dirty="0">
              <a:latin typeface="KaiTi" panose="02010609060101010101" pitchFamily="49" charset="-122"/>
              <a:ea typeface="KaiTi" panose="02010609060101010101" pitchFamily="49" charset="-122"/>
            </a:endParaRPr>
          </a:p>
          <a:p>
            <a:pPr lvl="1">
              <a:spcAft>
                <a:spcPts val="600"/>
              </a:spcAft>
              <a:buClr>
                <a:srgbClr val="231240"/>
              </a:buClr>
              <a:buFont typeface="Arial" panose="020B0604020202090204" pitchFamily="34" charset="0"/>
              <a:buChar char="•"/>
            </a:pPr>
            <a:r>
              <a:rPr kumimoji="1" lang="en-US" altLang="zh-CN" sz="2000" dirty="0">
                <a:latin typeface="KaiTi" panose="02010609060101010101" pitchFamily="49" charset="-122"/>
                <a:ea typeface="KaiTi" panose="02010609060101010101" pitchFamily="49" charset="-122"/>
              </a:rPr>
              <a:t>……</a:t>
            </a:r>
          </a:p>
        </p:txBody>
      </p:sp>
      <p:sp>
        <p:nvSpPr>
          <p:cNvPr id="6" name="文本框 5"/>
          <p:cNvSpPr txBox="1"/>
          <p:nvPr/>
        </p:nvSpPr>
        <p:spPr>
          <a:xfrm>
            <a:off x="151596" y="16999"/>
            <a:ext cx="1210588" cy="400110"/>
          </a:xfrm>
          <a:prstGeom prst="rect">
            <a:avLst/>
          </a:prstGeom>
          <a:noFill/>
        </p:spPr>
        <p:txBody>
          <a:bodyPr wrap="none" rtlCol="0">
            <a:spAutoFit/>
          </a:bodyPr>
          <a:lstStyle/>
          <a:p>
            <a:r>
              <a:rPr kumimoji="1" lang="zh-CN" altLang="en-US" sz="2000" dirty="0">
                <a:solidFill>
                  <a:schemeClr val="bg1"/>
                </a:solidFill>
                <a:latin typeface="KaiTi" panose="02010609060101010101" pitchFamily="49" charset="-122"/>
                <a:ea typeface="KaiTi" panose="02010609060101010101" pitchFamily="49" charset="-122"/>
              </a:rPr>
              <a:t>用户故事</a:t>
            </a:r>
            <a:endParaRPr kumimoji="1" lang="en-US" altLang="zh-CN" sz="2000" dirty="0">
              <a:solidFill>
                <a:schemeClr val="bg1"/>
              </a:solidFill>
              <a:latin typeface="KaiTi" panose="02010609060101010101" pitchFamily="49" charset="-122"/>
              <a:ea typeface="KaiTi" panose="02010609060101010101" pitchFamily="49" charset="-122"/>
            </a:endParaRPr>
          </a:p>
        </p:txBody>
      </p:sp>
      <p:sp>
        <p:nvSpPr>
          <p:cNvPr id="4" name="圆角矩形 13"/>
          <p:cNvSpPr/>
          <p:nvPr>
            <p:custDataLst>
              <p:tags r:id="rId1"/>
            </p:custDataLst>
          </p:nvPr>
        </p:nvSpPr>
        <p:spPr>
          <a:xfrm>
            <a:off x="947467" y="4796773"/>
            <a:ext cx="7493182" cy="1294935"/>
          </a:xfrm>
          <a:prstGeom prst="roundRect">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框 4"/>
          <p:cNvSpPr txBox="1"/>
          <p:nvPr/>
        </p:nvSpPr>
        <p:spPr>
          <a:xfrm>
            <a:off x="1022168" y="4832933"/>
            <a:ext cx="7493181" cy="1200329"/>
          </a:xfrm>
          <a:prstGeom prst="rect">
            <a:avLst/>
          </a:prstGeom>
          <a:noFill/>
        </p:spPr>
        <p:txBody>
          <a:bodyPr wrap="square" rtlCol="0">
            <a:spAutoFit/>
          </a:bodyPr>
          <a:lstStyle/>
          <a:p>
            <a:pPr>
              <a:spcAft>
                <a:spcPts val="1200"/>
              </a:spcAft>
            </a:pPr>
            <a:r>
              <a:rPr lang="zh-CN" altLang="en-US" dirty="0">
                <a:latin typeface="Times New Roman" panose="02020603050405020304" pitchFamily="18" charset="0"/>
                <a:ea typeface="楷体" panose="02010609060101010101" pitchFamily="49" charset="-122"/>
                <a:cs typeface="Times New Roman" panose="02020603050405020304" pitchFamily="18" charset="0"/>
              </a:rPr>
              <a:t>如果一个用户故事没有达到验收标准，则被称为不稳定的（</a:t>
            </a:r>
            <a:r>
              <a:rPr lang="en-US" altLang="zh-CN" dirty="0">
                <a:latin typeface="Times New Roman" panose="02020603050405020304" pitchFamily="18" charset="0"/>
                <a:ea typeface="楷体" panose="02010609060101010101" pitchFamily="49" charset="-122"/>
                <a:cs typeface="Times New Roman" panose="02020603050405020304" pitchFamily="18" charset="0"/>
              </a:rPr>
              <a:t>instable</a:t>
            </a:r>
            <a:r>
              <a:rPr lang="zh-CN" altLang="en-US" dirty="0">
                <a:latin typeface="Times New Roman" panose="02020603050405020304" pitchFamily="18" charset="0"/>
                <a:ea typeface="楷体" panose="02010609060101010101" pitchFamily="49" charset="-122"/>
                <a:cs typeface="Times New Roman" panose="02020603050405020304" pitchFamily="18" charset="0"/>
              </a:rPr>
              <a:t>）。为了提高用户故事编写和验收的效率，可以在完成用户故事时立即采用基于机器学习的预测模型自动判断用户故事是否已经达到稳定状态。如果不稳定则提醒编写者检查并重写。</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用户故事的书写</a:t>
            </a:r>
          </a:p>
        </p:txBody>
      </p:sp>
      <p:sp>
        <p:nvSpPr>
          <p:cNvPr id="3" name="内容占位符 2"/>
          <p:cNvSpPr txBox="1"/>
          <p:nvPr/>
        </p:nvSpPr>
        <p:spPr>
          <a:xfrm>
            <a:off x="628649" y="1413672"/>
            <a:ext cx="8083909"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just">
              <a:spcAft>
                <a:spcPts val="600"/>
              </a:spcAft>
              <a:buClr>
                <a:srgbClr val="231240"/>
              </a:buClr>
              <a:buFont typeface="Wingdings" panose="05000000000000000000" pitchFamily="2" charset="2"/>
              <a:buChar char="Ø"/>
            </a:pPr>
            <a:r>
              <a:rPr kumimoji="1" lang="zh-CN" altLang="en-US" sz="2400" dirty="0">
                <a:latin typeface="KaiTi" panose="02010609060101010101" pitchFamily="49" charset="-122"/>
                <a:ea typeface="KaiTi" panose="02010609060101010101" pitchFamily="49" charset="-122"/>
              </a:rPr>
              <a:t>用户</a:t>
            </a:r>
            <a:r>
              <a:rPr kumimoji="1" lang="zh-CN" altLang="en-US" sz="2400" dirty="0">
                <a:latin typeface="Times New Roman" panose="02020603050405020304" pitchFamily="18" charset="0"/>
                <a:ea typeface="KaiTi" panose="02010609060101010101" pitchFamily="49" charset="-122"/>
                <a:cs typeface="Times New Roman" panose="02020603050405020304" pitchFamily="18" charset="0"/>
              </a:rPr>
              <a:t>故事书写的标准：</a:t>
            </a:r>
            <a:r>
              <a:rPr kumimoji="1" lang="en-US" altLang="zh-CN" sz="2400" dirty="0">
                <a:latin typeface="Times New Roman" panose="02020603050405020304" pitchFamily="18" charset="0"/>
                <a:ea typeface="KaiTi" panose="02010609060101010101" pitchFamily="49" charset="-122"/>
                <a:cs typeface="Times New Roman" panose="02020603050405020304" pitchFamily="18" charset="0"/>
              </a:rPr>
              <a:t>INVEST</a:t>
            </a:r>
            <a:r>
              <a:rPr kumimoji="1" lang="zh-CN" altLang="en-US" sz="2400" dirty="0">
                <a:latin typeface="Times New Roman" panose="02020603050405020304" pitchFamily="18" charset="0"/>
                <a:ea typeface="KaiTi" panose="02010609060101010101" pitchFamily="49" charset="-122"/>
                <a:cs typeface="Times New Roman" panose="02020603050405020304" pitchFamily="18" charset="0"/>
              </a:rPr>
              <a:t>原则</a:t>
            </a:r>
            <a:endParaRPr kumimoji="1" lang="en-US" altLang="zh-CN" sz="2400" dirty="0">
              <a:latin typeface="Times New Roman" panose="02020603050405020304" pitchFamily="18" charset="0"/>
              <a:ea typeface="KaiTi" panose="02010609060101010101" pitchFamily="49" charset="-122"/>
              <a:cs typeface="Times New Roman" panose="02020603050405020304" pitchFamily="18" charset="0"/>
            </a:endParaRPr>
          </a:p>
          <a:p>
            <a:pPr lvl="1" algn="just">
              <a:spcAft>
                <a:spcPts val="600"/>
              </a:spcAft>
              <a:buClr>
                <a:srgbClr val="231240"/>
              </a:buClr>
              <a:buFont typeface="Arial" panose="020B0604020202090204" pitchFamily="34" charset="0"/>
              <a:buChar char="•"/>
            </a:pPr>
            <a:r>
              <a:rPr kumimoji="1" lang="zh-CN" altLang="en-US" sz="16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独立的（</a:t>
            </a:r>
            <a:r>
              <a:rPr kumimoji="1" lang="en-US" altLang="zh-CN" sz="16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Independent</a:t>
            </a:r>
            <a:r>
              <a:rPr kumimoji="1" lang="zh-CN" altLang="en-US" sz="16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600" dirty="0">
                <a:latin typeface="Times New Roman" panose="02020603050405020304" pitchFamily="18" charset="0"/>
                <a:ea typeface="KaiTi" panose="02010609060101010101" pitchFamily="49" charset="-122"/>
                <a:cs typeface="Times New Roman" panose="02020603050405020304" pitchFamily="18" charset="0"/>
              </a:rPr>
              <a:t>：一个用户故事尽可能独立于其他用户故事，并确保每个</a:t>
            </a:r>
            <a:r>
              <a:rPr kumimoji="1" lang="zh-CN" altLang="en-US" sz="1800" dirty="0">
                <a:latin typeface="Times New Roman" panose="02020603050405020304" pitchFamily="18" charset="0"/>
                <a:ea typeface="KaiTi" panose="02010609060101010101" pitchFamily="49" charset="-122"/>
                <a:cs typeface="Times New Roman" panose="02020603050405020304" pitchFamily="18" charset="0"/>
              </a:rPr>
              <a:t>单独的用户故事都有其独立的业务价值，避免用户故事间的相互依赖导致排优先级变得困难。 </a:t>
            </a:r>
          </a:p>
          <a:p>
            <a:pPr lvl="1" algn="just">
              <a:spcAft>
                <a:spcPts val="600"/>
              </a:spcAft>
              <a:buClr>
                <a:srgbClr val="231240"/>
              </a:buClr>
              <a:buFont typeface="Arial" panose="020B0604020202090204" pitchFamily="34" charset="0"/>
              <a:buChar char="•"/>
            </a:pPr>
            <a:r>
              <a:rPr kumimoji="1" lang="zh-CN" altLang="en-US" sz="18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可讨论的（</a:t>
            </a:r>
            <a:r>
              <a:rPr kumimoji="1" lang="en-US" altLang="zh-CN" sz="18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Negotiable</a:t>
            </a:r>
            <a:r>
              <a:rPr kumimoji="1" lang="zh-CN" altLang="en-US" sz="18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800" dirty="0">
                <a:latin typeface="Times New Roman" panose="02020603050405020304" pitchFamily="18" charset="0"/>
                <a:ea typeface="KaiTi" panose="02010609060101010101" pitchFamily="49" charset="-122"/>
                <a:cs typeface="Times New Roman" panose="02020603050405020304" pitchFamily="18" charset="0"/>
              </a:rPr>
              <a:t>：用户故事是可以讨论的，只捕捉用户需求的本质，将细节延迟到谈话中描述。用户故事不是合同，在保证价值的情况下，细节在与客户讨论中产生。 </a:t>
            </a:r>
          </a:p>
          <a:p>
            <a:pPr lvl="1" algn="just">
              <a:spcAft>
                <a:spcPts val="600"/>
              </a:spcAft>
              <a:buClr>
                <a:srgbClr val="231240"/>
              </a:buClr>
              <a:buFont typeface="Arial" panose="020B0604020202090204" pitchFamily="34" charset="0"/>
              <a:buChar char="•"/>
            </a:pPr>
            <a:r>
              <a:rPr kumimoji="1" lang="zh-CN" altLang="en-US" sz="18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有价值的（</a:t>
            </a:r>
            <a:r>
              <a:rPr kumimoji="1" lang="en-US" altLang="zh-CN" sz="18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Valuable</a:t>
            </a:r>
            <a:r>
              <a:rPr kumimoji="1" lang="zh-CN" altLang="en-US" sz="18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800" dirty="0">
                <a:latin typeface="Times New Roman" panose="02020603050405020304" pitchFamily="18" charset="0"/>
                <a:ea typeface="KaiTi" panose="02010609060101010101" pitchFamily="49" charset="-122"/>
                <a:cs typeface="Times New Roman" panose="02020603050405020304" pitchFamily="18" charset="0"/>
              </a:rPr>
              <a:t>：每个用户故事必须对客户或用户具有价值，避免那些只对开发团队有价值的用户故事。 </a:t>
            </a:r>
          </a:p>
          <a:p>
            <a:pPr lvl="1" algn="just">
              <a:spcAft>
                <a:spcPts val="600"/>
              </a:spcAft>
              <a:buClr>
                <a:srgbClr val="231240"/>
              </a:buClr>
              <a:buFont typeface="Arial" panose="020B0604020202090204" pitchFamily="34" charset="0"/>
              <a:buChar char="•"/>
            </a:pPr>
            <a:r>
              <a:rPr kumimoji="1" lang="zh-CN" altLang="en-US" sz="18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可估计的（</a:t>
            </a:r>
            <a:r>
              <a:rPr kumimoji="1" lang="en-US" altLang="zh-CN" sz="18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Estimable</a:t>
            </a:r>
            <a:r>
              <a:rPr kumimoji="1" lang="zh-CN" altLang="en-US" sz="18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800" dirty="0">
                <a:latin typeface="Times New Roman" panose="02020603050405020304" pitchFamily="18" charset="0"/>
                <a:ea typeface="KaiTi" panose="02010609060101010101" pitchFamily="49" charset="-122"/>
                <a:cs typeface="Times New Roman" panose="02020603050405020304" pitchFamily="18" charset="0"/>
              </a:rPr>
              <a:t>：可以对用户故事进⾏估计，以确定其优先级、工作量，并安排迭代计划。导致用户故事不可估计的原因如：缺少领域知识、缺少技术知识，故事太大了等。</a:t>
            </a:r>
          </a:p>
          <a:p>
            <a:pPr lvl="1" algn="just">
              <a:spcAft>
                <a:spcPts val="600"/>
              </a:spcAft>
              <a:buClr>
                <a:srgbClr val="231240"/>
              </a:buClr>
              <a:buFont typeface="Arial" panose="020B0604020202090204" pitchFamily="34" charset="0"/>
              <a:buChar char="•"/>
            </a:pPr>
            <a:r>
              <a:rPr kumimoji="1" lang="zh-CN" altLang="en-US" sz="18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小的（</a:t>
            </a:r>
            <a:r>
              <a:rPr kumimoji="1" lang="en-US" altLang="zh-CN" sz="18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Small</a:t>
            </a:r>
            <a:r>
              <a:rPr kumimoji="1" lang="zh-CN" altLang="en-US" sz="18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800" dirty="0">
                <a:latin typeface="Times New Roman" panose="02020603050405020304" pitchFamily="18" charset="0"/>
                <a:ea typeface="KaiTi" panose="02010609060101010101" pitchFamily="49" charset="-122"/>
                <a:cs typeface="Times New Roman" panose="02020603050405020304" pitchFamily="18" charset="0"/>
              </a:rPr>
              <a:t>：用户故事是一小部分工作，确保在一个迭代中能够完成。 </a:t>
            </a:r>
          </a:p>
          <a:p>
            <a:pPr lvl="1" algn="just">
              <a:spcAft>
                <a:spcPts val="600"/>
              </a:spcAft>
              <a:buClr>
                <a:srgbClr val="231240"/>
              </a:buClr>
              <a:buFont typeface="Arial" panose="020B0604020202090204" pitchFamily="34" charset="0"/>
              <a:buChar char="•"/>
            </a:pPr>
            <a:r>
              <a:rPr kumimoji="1" lang="zh-CN" altLang="en-US" sz="18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可测试的（</a:t>
            </a:r>
            <a:r>
              <a:rPr kumimoji="1" lang="en-US" altLang="zh-CN" sz="18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Testable</a:t>
            </a:r>
            <a:r>
              <a:rPr kumimoji="1" lang="zh-CN" altLang="en-US" sz="1800" b="1" dirty="0">
                <a:solidFill>
                  <a:srgbClr val="870078"/>
                </a:solidFill>
                <a:latin typeface="Times New Roman" panose="02020603050405020304" pitchFamily="18" charset="0"/>
                <a:ea typeface="KaiTi" panose="02010609060101010101" pitchFamily="49" charset="-122"/>
                <a:cs typeface="Times New Roman" panose="02020603050405020304" pitchFamily="18" charset="0"/>
              </a:rPr>
              <a:t>）</a:t>
            </a:r>
            <a:r>
              <a:rPr kumimoji="1" lang="zh-CN" altLang="en-US" sz="1800" dirty="0">
                <a:latin typeface="Times New Roman" panose="02020603050405020304" pitchFamily="18" charset="0"/>
                <a:ea typeface="KaiTi" panose="02010609060101010101" pitchFamily="49" charset="-122"/>
                <a:cs typeface="Times New Roman" panose="02020603050405020304" pitchFamily="18" charset="0"/>
              </a:rPr>
              <a:t>：用户故事必须是可测试的，测试通过可以确认用户故事被开发人员正确地实现了。</a:t>
            </a:r>
            <a:endParaRPr kumimoji="1" lang="en-US" altLang="zh-CN" sz="1800"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6" name="文本框 5"/>
          <p:cNvSpPr txBox="1"/>
          <p:nvPr/>
        </p:nvSpPr>
        <p:spPr>
          <a:xfrm>
            <a:off x="151596" y="16999"/>
            <a:ext cx="1210588" cy="400110"/>
          </a:xfrm>
          <a:prstGeom prst="rect">
            <a:avLst/>
          </a:prstGeom>
          <a:noFill/>
        </p:spPr>
        <p:txBody>
          <a:bodyPr wrap="none" rtlCol="0">
            <a:spAutoFit/>
          </a:bodyPr>
          <a:lstStyle/>
          <a:p>
            <a:r>
              <a:rPr kumimoji="1" lang="zh-CN" altLang="en-US" sz="2000" dirty="0">
                <a:solidFill>
                  <a:schemeClr val="bg1"/>
                </a:solidFill>
                <a:latin typeface="KaiTi" panose="02010609060101010101" pitchFamily="49" charset="-122"/>
                <a:ea typeface="KaiTi" panose="02010609060101010101" pitchFamily="49" charset="-122"/>
              </a:rPr>
              <a:t>用户故事</a:t>
            </a:r>
            <a:endParaRPr kumimoji="1" lang="en-US" altLang="zh-CN" sz="2000" dirty="0">
              <a:solidFill>
                <a:schemeClr val="bg1"/>
              </a:solidFill>
              <a:latin typeface="KaiTi" panose="02010609060101010101" pitchFamily="49" charset="-122"/>
              <a:ea typeface="KaiTi"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用户故事的书写</a:t>
            </a:r>
          </a:p>
        </p:txBody>
      </p:sp>
      <p:sp>
        <p:nvSpPr>
          <p:cNvPr id="3" name="内容占位符 2"/>
          <p:cNvSpPr txBox="1"/>
          <p:nvPr/>
        </p:nvSpPr>
        <p:spPr>
          <a:xfrm>
            <a:off x="628649" y="1413672"/>
            <a:ext cx="8051711"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spcAft>
                <a:spcPts val="600"/>
              </a:spcAft>
              <a:buClr>
                <a:srgbClr val="231240"/>
              </a:buClr>
              <a:buFont typeface="Wingdings" panose="05000000000000000000" pitchFamily="2" charset="2"/>
              <a:buChar char="Ø"/>
            </a:pPr>
            <a:r>
              <a:rPr kumimoji="1" lang="zh-CN" altLang="en-US" sz="2400" dirty="0">
                <a:latin typeface="KaiTi" panose="02010609060101010101" pitchFamily="49" charset="-122"/>
                <a:ea typeface="KaiTi" panose="02010609060101010101" pitchFamily="49" charset="-122"/>
              </a:rPr>
              <a:t>用户</a:t>
            </a:r>
            <a:r>
              <a:rPr kumimoji="1" lang="zh-CN" altLang="en-US" sz="2400" dirty="0">
                <a:latin typeface="Times New Roman" panose="02020603050405020304" pitchFamily="18" charset="0"/>
                <a:ea typeface="KaiTi" panose="02010609060101010101" pitchFamily="49" charset="-122"/>
                <a:cs typeface="Times New Roman" panose="02020603050405020304" pitchFamily="18" charset="0"/>
              </a:rPr>
              <a:t>故事类型：史诗（</a:t>
            </a:r>
            <a:r>
              <a:rPr kumimoji="1" lang="en-US" altLang="zh-CN" sz="2400" dirty="0">
                <a:latin typeface="Times New Roman" panose="02020603050405020304" pitchFamily="18" charset="0"/>
                <a:ea typeface="KaiTi" panose="02010609060101010101" pitchFamily="49" charset="-122"/>
                <a:cs typeface="Times New Roman" panose="02020603050405020304" pitchFamily="18" charset="0"/>
              </a:rPr>
              <a:t>Epic</a:t>
            </a:r>
            <a:r>
              <a:rPr kumimoji="1" lang="zh-CN" altLang="en-US" sz="2400" dirty="0">
                <a:latin typeface="Times New Roman" panose="02020603050405020304" pitchFamily="18" charset="0"/>
                <a:ea typeface="KaiTi" panose="02010609060101010101" pitchFamily="49" charset="-122"/>
                <a:cs typeface="Times New Roman" panose="02020603050405020304" pitchFamily="18" charset="0"/>
              </a:rPr>
              <a:t>）、主题（</a:t>
            </a:r>
            <a:r>
              <a:rPr kumimoji="1" lang="en-US" altLang="zh-CN" sz="2400" dirty="0">
                <a:latin typeface="Times New Roman" panose="02020603050405020304" pitchFamily="18" charset="0"/>
                <a:ea typeface="KaiTi" panose="02010609060101010101" pitchFamily="49" charset="-122"/>
                <a:cs typeface="Times New Roman" panose="02020603050405020304" pitchFamily="18" charset="0"/>
              </a:rPr>
              <a:t>Theme</a:t>
            </a:r>
            <a:r>
              <a:rPr kumimoji="1" lang="zh-CN" altLang="en-US" sz="2400" dirty="0">
                <a:latin typeface="Times New Roman" panose="02020603050405020304" pitchFamily="18" charset="0"/>
                <a:ea typeface="KaiTi" panose="02010609060101010101" pitchFamily="49" charset="-122"/>
                <a:cs typeface="Times New Roman" panose="02020603050405020304" pitchFamily="18" charset="0"/>
              </a:rPr>
              <a:t>）、用户故事（</a:t>
            </a:r>
            <a:r>
              <a:rPr kumimoji="1" lang="en-US" altLang="zh-CN" sz="2400" dirty="0">
                <a:latin typeface="Times New Roman" panose="02020603050405020304" pitchFamily="18" charset="0"/>
                <a:ea typeface="KaiTi" panose="02010609060101010101" pitchFamily="49" charset="-122"/>
                <a:cs typeface="Times New Roman" panose="02020603050405020304" pitchFamily="18" charset="0"/>
              </a:rPr>
              <a:t>User Story</a:t>
            </a:r>
            <a:r>
              <a:rPr kumimoji="1" lang="zh-CN" altLang="en-US" sz="2400" dirty="0">
                <a:latin typeface="Times New Roman" panose="02020603050405020304" pitchFamily="18" charset="0"/>
                <a:ea typeface="KaiTi" panose="02010609060101010101" pitchFamily="49" charset="-122"/>
                <a:cs typeface="Times New Roman" panose="02020603050405020304" pitchFamily="18" charset="0"/>
              </a:rPr>
              <a:t>）</a:t>
            </a:r>
            <a:endParaRPr kumimoji="1" lang="en-US" altLang="zh-CN" sz="2400" dirty="0">
              <a:latin typeface="Times New Roman" panose="02020603050405020304" pitchFamily="18" charset="0"/>
              <a:ea typeface="KaiTi" panose="02010609060101010101" pitchFamily="49" charset="-122"/>
              <a:cs typeface="Times New Roman" panose="02020603050405020304" pitchFamily="18" charset="0"/>
            </a:endParaRPr>
          </a:p>
          <a:p>
            <a:pPr lvl="1">
              <a:spcAft>
                <a:spcPts val="600"/>
              </a:spcAft>
              <a:buClr>
                <a:srgbClr val="231240"/>
              </a:buClr>
              <a:buFont typeface="Arial" panose="020B0604020202090204" pitchFamily="34" charset="0"/>
              <a:buChar char="•"/>
            </a:pPr>
            <a:r>
              <a:rPr kumimoji="1" lang="zh-CN" altLang="en-US" sz="2000" dirty="0">
                <a:latin typeface="Times New Roman" panose="02020603050405020304" pitchFamily="18" charset="0"/>
                <a:ea typeface="KaiTi" panose="02010609060101010101" pitchFamily="49" charset="-122"/>
                <a:cs typeface="Times New Roman" panose="02020603050405020304" pitchFamily="18" charset="0"/>
              </a:rPr>
              <a:t>史诗：由多个较小的故事组成的功能。 </a:t>
            </a:r>
          </a:p>
          <a:p>
            <a:pPr lvl="1">
              <a:spcAft>
                <a:spcPts val="600"/>
              </a:spcAft>
              <a:buClr>
                <a:srgbClr val="231240"/>
              </a:buClr>
              <a:buFont typeface="Arial" panose="020B0604020202090204" pitchFamily="34" charset="0"/>
              <a:buChar char="•"/>
            </a:pPr>
            <a:r>
              <a:rPr kumimoji="1" lang="zh-CN" altLang="en-US" sz="2000" dirty="0">
                <a:latin typeface="Times New Roman" panose="02020603050405020304" pitchFamily="18" charset="0"/>
                <a:ea typeface="KaiTi" panose="02010609060101010101" pitchFamily="49" charset="-122"/>
                <a:cs typeface="Times New Roman" panose="02020603050405020304" pitchFamily="18" charset="0"/>
              </a:rPr>
              <a:t>主题：一组相关的故事，有价值的单方向功能集合。 </a:t>
            </a:r>
          </a:p>
          <a:p>
            <a:pPr lvl="1">
              <a:spcAft>
                <a:spcPts val="600"/>
              </a:spcAft>
              <a:buClr>
                <a:srgbClr val="231240"/>
              </a:buClr>
              <a:buFont typeface="Arial" panose="020B0604020202090204" pitchFamily="34" charset="0"/>
              <a:buChar char="•"/>
            </a:pPr>
            <a:r>
              <a:rPr kumimoji="1" lang="zh-CN" altLang="en-US" sz="2000" dirty="0">
                <a:latin typeface="Times New Roman" panose="02020603050405020304" pitchFamily="18" charset="0"/>
                <a:ea typeface="KaiTi" panose="02010609060101010101" pitchFamily="49" charset="-122"/>
                <a:cs typeface="Times New Roman" panose="02020603050405020304" pitchFamily="18" charset="0"/>
              </a:rPr>
              <a:t>用户故事：独立的较小用户的价值交付单元。有可能不足以单独发布。</a:t>
            </a:r>
            <a:endParaRPr kumimoji="1" lang="en-US" altLang="zh-CN" sz="2000" dirty="0">
              <a:latin typeface="Times New Roman" panose="02020603050405020304" pitchFamily="18" charset="0"/>
              <a:ea typeface="KaiTi" panose="02010609060101010101" pitchFamily="49" charset="-122"/>
              <a:cs typeface="Times New Roman" panose="02020603050405020304" pitchFamily="18" charset="0"/>
            </a:endParaRPr>
          </a:p>
        </p:txBody>
      </p:sp>
      <p:sp>
        <p:nvSpPr>
          <p:cNvPr id="6" name="文本框 5"/>
          <p:cNvSpPr txBox="1"/>
          <p:nvPr/>
        </p:nvSpPr>
        <p:spPr>
          <a:xfrm>
            <a:off x="151596" y="16999"/>
            <a:ext cx="1210588" cy="400110"/>
          </a:xfrm>
          <a:prstGeom prst="rect">
            <a:avLst/>
          </a:prstGeom>
          <a:noFill/>
        </p:spPr>
        <p:txBody>
          <a:bodyPr wrap="none" rtlCol="0">
            <a:spAutoFit/>
          </a:bodyPr>
          <a:lstStyle/>
          <a:p>
            <a:r>
              <a:rPr kumimoji="1" lang="zh-CN" altLang="en-US" sz="2000" dirty="0">
                <a:solidFill>
                  <a:schemeClr val="bg1"/>
                </a:solidFill>
                <a:latin typeface="KaiTi" panose="02010609060101010101" pitchFamily="49" charset="-122"/>
                <a:ea typeface="KaiTi" panose="02010609060101010101" pitchFamily="49" charset="-122"/>
              </a:rPr>
              <a:t>用户故事</a:t>
            </a:r>
            <a:endParaRPr kumimoji="1" lang="en-US" altLang="zh-CN" sz="2000" dirty="0">
              <a:solidFill>
                <a:schemeClr val="bg1"/>
              </a:solidFill>
              <a:latin typeface="KaiTi" panose="02010609060101010101" pitchFamily="49" charset="-122"/>
              <a:ea typeface="KaiTi" panose="02010609060101010101" pitchFamily="49" charset="-122"/>
            </a:endParaRPr>
          </a:p>
        </p:txBody>
      </p:sp>
      <p:sp>
        <p:nvSpPr>
          <p:cNvPr id="4" name="圆角矩形 13"/>
          <p:cNvSpPr/>
          <p:nvPr>
            <p:custDataLst>
              <p:tags r:id="rId1"/>
            </p:custDataLst>
          </p:nvPr>
        </p:nvSpPr>
        <p:spPr>
          <a:xfrm>
            <a:off x="1278036" y="4078563"/>
            <a:ext cx="3055705" cy="1298368"/>
          </a:xfrm>
          <a:prstGeom prst="roundRect">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框 4"/>
          <p:cNvSpPr txBox="1"/>
          <p:nvPr/>
        </p:nvSpPr>
        <p:spPr>
          <a:xfrm>
            <a:off x="1278038" y="4114721"/>
            <a:ext cx="3055703" cy="1200329"/>
          </a:xfrm>
          <a:prstGeom prst="rect">
            <a:avLst/>
          </a:prstGeom>
          <a:noFill/>
        </p:spPr>
        <p:txBody>
          <a:bodyPr wrap="square" rtlCol="0">
            <a:spAutoFit/>
          </a:bodyPr>
          <a:lstStyle/>
          <a:p>
            <a:pPr>
              <a:spcAft>
                <a:spcPts val="1200"/>
              </a:spcAft>
            </a:pPr>
            <a:r>
              <a:rPr lang="zh-CN" altLang="en-US" dirty="0">
                <a:latin typeface="Times New Roman" panose="02020603050405020304" pitchFamily="18" charset="0"/>
                <a:ea typeface="楷体" panose="02010609060101010101" pitchFamily="49" charset="-122"/>
                <a:cs typeface="Times New Roman" panose="02020603050405020304" pitchFamily="18" charset="0"/>
              </a:rPr>
              <a:t>史诗、主题、用户故事，逐层往下，粒度越来越小。需求直到被分解至用户故事时，才能进入迭代开发计划</a:t>
            </a:r>
            <a:endParaRPr lang="en-US" altLang="zh-CN"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8" name="图片 7"/>
          <p:cNvPicPr>
            <a:picLocks noChangeAspect="1"/>
          </p:cNvPicPr>
          <p:nvPr/>
        </p:nvPicPr>
        <p:blipFill>
          <a:blip r:embed="rId4"/>
          <a:stretch>
            <a:fillRect/>
          </a:stretch>
        </p:blipFill>
        <p:spPr>
          <a:xfrm>
            <a:off x="4680316" y="3429000"/>
            <a:ext cx="3357255" cy="2553833"/>
          </a:xfrm>
          <a:prstGeom prst="rect">
            <a:avLst/>
          </a:prstGeom>
        </p:spPr>
      </p:pic>
      <p:sp>
        <p:nvSpPr>
          <p:cNvPr id="9" name="文本框 1"/>
          <p:cNvSpPr txBox="1"/>
          <p:nvPr/>
        </p:nvSpPr>
        <p:spPr>
          <a:xfrm>
            <a:off x="5232332" y="6031574"/>
            <a:ext cx="3583255" cy="307777"/>
          </a:xfrm>
          <a:prstGeom prst="rect">
            <a:avLst/>
          </a:prstGeom>
          <a:noFill/>
          <a:ln w="9525">
            <a:noFill/>
          </a:ln>
        </p:spPr>
        <p:txBody>
          <a:bodyPr wrap="square" anchor="t" anchorCtr="0">
            <a:spAutoFit/>
          </a:bodyPr>
          <a:lstStyle/>
          <a:p>
            <a:r>
              <a:rPr lang="zh-CN" altLang="en-US" sz="1400" dirty="0">
                <a:latin typeface="Times New Roman" panose="02020603050405020304" pitchFamily="18" charset="0"/>
                <a:ea typeface="楷体" panose="02010609060101010101" pitchFamily="49" charset="-122"/>
              </a:rPr>
              <a:t>敏捷方法建议的用户故事粒度参照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9"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628650" y="596497"/>
            <a:ext cx="7886700" cy="654787"/>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zh-CN" altLang="en-US" sz="3200" b="1" dirty="0">
                <a:latin typeface="微软雅黑" panose="020B0503020204020204" pitchFamily="34" charset="-122"/>
                <a:ea typeface="微软雅黑" panose="020B0503020204020204" pitchFamily="34" charset="-122"/>
              </a:rPr>
              <a:t>本章小结</a:t>
            </a:r>
          </a:p>
        </p:txBody>
      </p:sp>
      <p:sp>
        <p:nvSpPr>
          <p:cNvPr id="3" name="内容占位符 2"/>
          <p:cNvSpPr txBox="1"/>
          <p:nvPr/>
        </p:nvSpPr>
        <p:spPr>
          <a:xfrm>
            <a:off x="628650" y="1413672"/>
            <a:ext cx="7886700" cy="4763291"/>
          </a:xfrm>
          <a:prstGeom prst="rect">
            <a:avLst/>
          </a:prstGeom>
        </p:spPr>
        <p:txBody>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buFont typeface="Wingdings" panose="05000000000000000000" charset="0"/>
              <a:buChar char="Ø"/>
            </a:pPr>
            <a:r>
              <a:rPr kumimoji="1" lang="zh-CN" altLang="en-US" sz="2400" dirty="0">
                <a:latin typeface="楷体" panose="02010609060101010101" pitchFamily="49" charset="-122"/>
                <a:ea typeface="楷体" panose="02010609060101010101" pitchFamily="49" charset="-122"/>
              </a:rPr>
              <a:t>需求获取的展开过程是递进、迭代的，用例</a:t>
            </a:r>
            <a:r>
              <a:rPr kumimoji="1" lang="en-US" altLang="zh-CN" sz="2400" dirty="0">
                <a:latin typeface="楷体" panose="02010609060101010101" pitchFamily="49" charset="-122"/>
                <a:ea typeface="楷体" panose="02010609060101010101" pitchFamily="49" charset="-122"/>
              </a:rPr>
              <a:t>/</a:t>
            </a:r>
            <a:r>
              <a:rPr kumimoji="1" lang="zh-CN" altLang="en-US" sz="2400" dirty="0">
                <a:latin typeface="楷体" panose="02010609060101010101" pitchFamily="49" charset="-122"/>
                <a:ea typeface="楷体" panose="02010609060101010101" pitchFamily="49" charset="-122"/>
              </a:rPr>
              <a:t>场景模型在其中起着重要的作用。</a:t>
            </a:r>
            <a:endParaRPr kumimoji="1" lang="en-US" altLang="zh-CN" sz="2400" dirty="0">
              <a:latin typeface="楷体" panose="02010609060101010101" pitchFamily="49" charset="-122"/>
              <a:ea typeface="楷体" panose="02010609060101010101" pitchFamily="49" charset="-122"/>
            </a:endParaRPr>
          </a:p>
          <a:p>
            <a:pPr>
              <a:buFont typeface="Wingdings" panose="05000000000000000000" charset="0"/>
              <a:buChar char="Ø"/>
            </a:pPr>
            <a:r>
              <a:rPr kumimoji="1" lang="zh-CN" altLang="en-US" sz="2400" dirty="0">
                <a:latin typeface="楷体" panose="02010609060101010101" pitchFamily="49" charset="-122"/>
                <a:ea typeface="楷体" panose="02010609060101010101" pitchFamily="49" charset="-122"/>
              </a:rPr>
              <a:t>用例</a:t>
            </a:r>
            <a:r>
              <a:rPr kumimoji="1" lang="en-US" altLang="zh-CN" sz="2400" dirty="0">
                <a:latin typeface="楷体" panose="02010609060101010101" pitchFamily="49" charset="-122"/>
                <a:ea typeface="楷体" panose="02010609060101010101" pitchFamily="49" charset="-122"/>
              </a:rPr>
              <a:t>/</a:t>
            </a:r>
            <a:r>
              <a:rPr kumimoji="1" lang="zh-CN" altLang="en-US" sz="2400" dirty="0">
                <a:latin typeface="楷体" panose="02010609060101010101" pitchFamily="49" charset="-122"/>
                <a:ea typeface="楷体" panose="02010609060101010101" pitchFamily="49" charset="-122"/>
              </a:rPr>
              <a:t>场景是需求的组织手段，是一种更为用户接受的需求线索表达方式。</a:t>
            </a:r>
          </a:p>
          <a:p>
            <a:pPr>
              <a:buFont typeface="Wingdings" panose="05000000000000000000" charset="0"/>
              <a:buChar char="Ø"/>
            </a:pPr>
            <a:r>
              <a:rPr kumimoji="1" lang="zh-CN" altLang="en-US" sz="2400" dirty="0">
                <a:latin typeface="楷体" panose="02010609060101010101" pitchFamily="49" charset="-122"/>
                <a:ea typeface="楷体" panose="02010609060101010101" pitchFamily="49" charset="-122"/>
              </a:rPr>
              <a:t>在实践中，用例</a:t>
            </a:r>
            <a:r>
              <a:rPr kumimoji="1" lang="en-US" altLang="zh-CN" sz="2400" dirty="0">
                <a:latin typeface="楷体" panose="02010609060101010101" pitchFamily="49" charset="-122"/>
                <a:ea typeface="楷体" panose="02010609060101010101" pitchFamily="49" charset="-122"/>
              </a:rPr>
              <a:t>/</a:t>
            </a:r>
            <a:r>
              <a:rPr kumimoji="1" lang="zh-CN" altLang="en-US" sz="2400" dirty="0">
                <a:latin typeface="楷体" panose="02010609060101010101" pitchFamily="49" charset="-122"/>
                <a:ea typeface="楷体" panose="02010609060101010101" pitchFamily="49" charset="-122"/>
              </a:rPr>
              <a:t>场景模型有很大的差异性，要正确掌握和使用需求的用例</a:t>
            </a:r>
            <a:r>
              <a:rPr kumimoji="1" lang="en-US" altLang="zh-CN" sz="2400" dirty="0">
                <a:latin typeface="楷体" panose="02010609060101010101" pitchFamily="49" charset="-122"/>
                <a:ea typeface="楷体" panose="02010609060101010101" pitchFamily="49" charset="-122"/>
              </a:rPr>
              <a:t>/</a:t>
            </a:r>
            <a:r>
              <a:rPr kumimoji="1" lang="zh-CN" altLang="en-US" sz="2400">
                <a:latin typeface="楷体" panose="02010609060101010101" pitchFamily="49" charset="-122"/>
                <a:ea typeface="楷体" panose="02010609060101010101" pitchFamily="49" charset="-122"/>
              </a:rPr>
              <a:t>场景特点</a:t>
            </a:r>
            <a:r>
              <a:rPr kumimoji="1" lang="zh-CN" altLang="en-US" sz="2400" dirty="0">
                <a:latin typeface="楷体" panose="02010609060101010101" pitchFamily="49" charset="-122"/>
                <a:ea typeface="楷体" panose="02010609060101010101" pitchFamily="49" charset="-122"/>
              </a:rPr>
              <a:t>。</a:t>
            </a:r>
            <a:endParaRPr kumimoji="1" lang="en-US" altLang="zh-CN" sz="2400" dirty="0">
              <a:latin typeface="楷体" panose="02010609060101010101" pitchFamily="49" charset="-122"/>
              <a:ea typeface="楷体" panose="02010609060101010101" pitchFamily="49" charset="-122"/>
            </a:endParaRPr>
          </a:p>
          <a:p>
            <a:pPr>
              <a:buFont typeface="Wingdings" panose="05000000000000000000" charset="0"/>
              <a:buChar char="Ø"/>
            </a:pPr>
            <a:r>
              <a:rPr kumimoji="1" lang="zh-CN" altLang="en-US" sz="2400" dirty="0">
                <a:latin typeface="楷体" panose="02010609060101010101" pitchFamily="49" charset="-122"/>
                <a:ea typeface="楷体" panose="02010609060101010101" pitchFamily="49" charset="-122"/>
              </a:rPr>
              <a:t>围绕用例</a:t>
            </a:r>
            <a:r>
              <a:rPr kumimoji="1" lang="en-US" altLang="zh-CN" sz="2400" dirty="0">
                <a:latin typeface="楷体" panose="02010609060101010101" pitchFamily="49" charset="-122"/>
                <a:ea typeface="楷体" panose="02010609060101010101" pitchFamily="49" charset="-122"/>
              </a:rPr>
              <a:t>/</a:t>
            </a:r>
            <a:r>
              <a:rPr kumimoji="1" lang="zh-CN" altLang="en-US" sz="2400" dirty="0">
                <a:latin typeface="楷体" panose="02010609060101010101" pitchFamily="49" charset="-122"/>
                <a:ea typeface="楷体" panose="02010609060101010101" pitchFamily="49" charset="-122"/>
              </a:rPr>
              <a:t>场景模型为核心，可以展开用户需求的获取活动。</a:t>
            </a:r>
          </a:p>
          <a:p>
            <a:pPr>
              <a:buFont typeface="Wingdings" panose="05000000000000000000" charset="0"/>
              <a:buChar char="Ø"/>
            </a:pPr>
            <a:r>
              <a:rPr kumimoji="1" lang="zh-CN" altLang="en-US" sz="2400" dirty="0">
                <a:latin typeface="楷体" panose="02010609060101010101" pitchFamily="49" charset="-122"/>
                <a:ea typeface="楷体" panose="02010609060101010101" pitchFamily="49" charset="-122"/>
              </a:rPr>
              <a:t>用户故事全部使用演绎的思路处理需求，好的用户故事应该符合</a:t>
            </a:r>
            <a:r>
              <a:rPr kumimoji="1" lang="en-US" altLang="zh-CN" sz="2400" dirty="0">
                <a:latin typeface="Times New Roman" panose="02020603050405020304" pitchFamily="18" charset="0"/>
                <a:ea typeface="楷体" panose="02010609060101010101" pitchFamily="49" charset="-122"/>
                <a:cs typeface="Times New Roman" panose="02020603050405020304" pitchFamily="18" charset="0"/>
              </a:rPr>
              <a:t>INVEST</a:t>
            </a:r>
            <a:r>
              <a:rPr kumimoji="1" lang="zh-CN" altLang="en-US" sz="2400" dirty="0">
                <a:latin typeface="楷体" panose="02010609060101010101" pitchFamily="49" charset="-122"/>
                <a:ea typeface="楷体" panose="02010609060101010101" pitchFamily="49" charset="-122"/>
              </a:rPr>
              <a:t>原则。</a:t>
            </a:r>
          </a:p>
          <a:p>
            <a:pPr>
              <a:buFont typeface="Wingdings" panose="05000000000000000000" charset="0"/>
              <a:buChar char="Ø"/>
            </a:pPr>
            <a:endParaRPr kumimoji="1" lang="zh-CN" altLang="en-US" sz="2000" dirty="0">
              <a:latin typeface="楷体" panose="02010609060101010101" pitchFamily="49" charset="-122"/>
              <a:ea typeface="楷体" panose="02010609060101010101" pitchFamily="49" charset="-122"/>
            </a:endParaRPr>
          </a:p>
        </p:txBody>
      </p:sp>
      <p:sp>
        <p:nvSpPr>
          <p:cNvPr id="6" name="文本框 5"/>
          <p:cNvSpPr txBox="1"/>
          <p:nvPr/>
        </p:nvSpPr>
        <p:spPr>
          <a:xfrm>
            <a:off x="151596" y="16999"/>
            <a:ext cx="1198880" cy="398780"/>
          </a:xfrm>
          <a:prstGeom prst="rect">
            <a:avLst/>
          </a:prstGeom>
          <a:noFill/>
        </p:spPr>
        <p:txBody>
          <a:bodyPr wrap="none" rtlCol="0">
            <a:spAutoFit/>
          </a:bodyPr>
          <a:lstStyle/>
          <a:p>
            <a:pPr algn="l"/>
            <a:r>
              <a:rPr kumimoji="1" lang="zh-CN" altLang="en-US" sz="2000" dirty="0">
                <a:solidFill>
                  <a:schemeClr val="bg1"/>
                </a:solidFill>
                <a:latin typeface="楷体" panose="02010609060101010101" pitchFamily="49" charset="-122"/>
                <a:ea typeface="楷体" panose="02010609060101010101" pitchFamily="49" charset="-122"/>
                <a:sym typeface="+mn-ea"/>
              </a:rPr>
              <a:t>本章小结</a:t>
            </a:r>
          </a:p>
        </p:txBody>
      </p:sp>
      <p:sp>
        <p:nvSpPr>
          <p:cNvPr id="8" name="日期占位符 3"/>
          <p:cNvSpPr txBox="1"/>
          <p:nvPr/>
        </p:nvSpPr>
        <p:spPr>
          <a:xfrm>
            <a:off x="7807759" y="6615898"/>
            <a:ext cx="1042236" cy="3651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F214E5E3-2818-B64F-840F-A7671DDB136C}" type="datetime1">
              <a:rPr kumimoji="1" lang="zh-CN" altLang="en-US" sz="1200" b="1" smtClean="0">
                <a:solidFill>
                  <a:schemeClr val="bg1"/>
                </a:solidFill>
              </a:rPr>
              <a:t>2025/6/4</a:t>
            </a:fld>
            <a:endParaRPr kumimoji="1" lang="zh-CN" altLang="en-US" sz="1200" b="1" dirty="0">
              <a:solidFill>
                <a:schemeClr val="bg1"/>
              </a:solidFill>
            </a:endParaRPr>
          </a:p>
        </p:txBody>
      </p:sp>
      <p:sp>
        <p:nvSpPr>
          <p:cNvPr id="9" name="灯片编号占位符 4"/>
          <p:cNvSpPr txBox="1"/>
          <p:nvPr/>
        </p:nvSpPr>
        <p:spPr>
          <a:xfrm>
            <a:off x="7925435" y="6435091"/>
            <a:ext cx="589915" cy="545932"/>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AC7FBBBC-E95E-3B45-AB29-0BB0A79D7891}" type="slidenum">
              <a:rPr kumimoji="1" lang="zh-CN" altLang="en-US" sz="1200" b="1" smtClean="0">
                <a:solidFill>
                  <a:schemeClr val="bg1"/>
                </a:solidFill>
              </a:rPr>
              <a:t>85</a:t>
            </a:fld>
            <a:endParaRPr kumimoji="1" lang="zh-CN" altLang="en-US" sz="1200" b="1" dirty="0">
              <a:solidFill>
                <a:schemeClr val="bg1"/>
              </a:solidFill>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ODFjNjBiNmUzY2UwYWU2ODRhYjgyY2Q4YzExM2JhZWM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241.05401574803153,&quot;left&quot;:41.566220472440946,&quot;top&quot;:254.07141732283463,&quot;width&quot;:639.7300787401575}"/>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241.05401574803153,&quot;left&quot;:41.566220472440946,&quot;top&quot;:254.07141732283463,&quot;width&quot;:639.7300787401575}"/>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241.05401574803153,&quot;left&quot;:41.566220472440946,&quot;top&quot;:254.07141732283463,&quot;width&quot;:639.7300787401575}"/>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241.05401574803153,&quot;left&quot;:41.566220472440946,&quot;top&quot;:254.07141732283463,&quot;width&quot;:639.7300787401575}"/>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241.05401574803153,&quot;left&quot;:41.566220472440946,&quot;top&quot;:254.07141732283463,&quot;width&quot;:639.7300787401575}"/>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241.05401574803153,&quot;left&quot;:41.566220472440946,&quot;top&quot;:254.07141732283463,&quot;width&quot;:639.7300787401575}"/>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241.05401574803153,&quot;left&quot;:41.566220472440946,&quot;top&quot;:254.07141732283463,&quot;width&quot;:639.7300787401575}"/>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TABLE_ENDDRAG_ORIGIN_RECT" val="640*320"/>
  <p:tag name="TABLE_ENDDRAG_RECT" val="49*125*640*320"/>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TABLE_ENDDRAG_ORIGIN_RECT" val="594*363"/>
  <p:tag name="TABLE_ENDDRAG_RECT" val="62*98*594*363"/>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241.05401574803153,&quot;left&quot;:41.566220472440946,&quot;top&quot;:254.07141732283463,&quot;width&quot;:639.7300787401575}"/>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241.05401574803153,&quot;left&quot;:41.566220472440946,&quot;top&quot;:254.07141732283463,&quot;width&quot;:639.7300787401575}"/>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241.05401574803153,&quot;left&quot;:41.566220472440946,&quot;top&quot;:254.07141732283463,&quot;width&quot;:639.7300787401575}"/>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241.05401574803153,&quot;left&quot;:41.566220472440946,&quot;top&quot;:254.07141732283463,&quot;width&quot;:639.7300787401575}"/>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241.05401574803153,&quot;left&quot;:41.566220472440946,&quot;top&quot;:254.07141732283463,&quot;width&quot;:639.7300787401575}"/>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241.05401574803153,&quot;left&quot;:41.566220472440946,&quot;top&quot;:254.07141732283463,&quot;width&quot;:639.7300787401575}"/>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54</TotalTime>
  <Words>6304</Words>
  <Application>Microsoft Macintosh PowerPoint</Application>
  <PresentationFormat>全屏显示(4:3)</PresentationFormat>
  <Paragraphs>679</Paragraphs>
  <Slides>86</Slides>
  <Notes>16</Notes>
  <HiddenSlides>0</HiddenSlides>
  <MMClips>0</MMClips>
  <ScaleCrop>false</ScaleCrop>
  <HeadingPairs>
    <vt:vector size="8" baseType="variant">
      <vt:variant>
        <vt:lpstr>已用的字体</vt:lpstr>
      </vt:variant>
      <vt:variant>
        <vt:i4>12</vt:i4>
      </vt:variant>
      <vt:variant>
        <vt:lpstr>主题</vt:lpstr>
      </vt:variant>
      <vt:variant>
        <vt:i4>2</vt:i4>
      </vt:variant>
      <vt:variant>
        <vt:lpstr>嵌入 OLE 服务器</vt:lpstr>
      </vt:variant>
      <vt:variant>
        <vt:i4>2</vt:i4>
      </vt:variant>
      <vt:variant>
        <vt:lpstr>幻灯片标题</vt:lpstr>
      </vt:variant>
      <vt:variant>
        <vt:i4>86</vt:i4>
      </vt:variant>
    </vt:vector>
  </HeadingPairs>
  <TitlesOfParts>
    <vt:vector size="102" baseType="lpstr">
      <vt:lpstr>等线</vt:lpstr>
      <vt:lpstr>等线 Light</vt:lpstr>
      <vt:lpstr>华文楷体</vt:lpstr>
      <vt:lpstr>楷体</vt:lpstr>
      <vt:lpstr>楷体</vt:lpstr>
      <vt:lpstr>微软雅黑</vt:lpstr>
      <vt:lpstr>Times New Roman Regular</vt:lpstr>
      <vt:lpstr>Arial</vt:lpstr>
      <vt:lpstr>Calibri</vt:lpstr>
      <vt:lpstr>Calibri Light</vt:lpstr>
      <vt:lpstr>Times New Roman</vt:lpstr>
      <vt:lpstr>Wingdings</vt:lpstr>
      <vt:lpstr>Office 主题​​</vt:lpstr>
      <vt:lpstr>自定义设计方案</vt:lpstr>
      <vt:lpstr>Visio.Drawing.11</vt:lpstr>
      <vt:lpstr>MSGraph.Chart.8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传艺 李</dc:creator>
  <cp:lastModifiedBy>传艺 李</cp:lastModifiedBy>
  <cp:revision>31</cp:revision>
  <dcterms:created xsi:type="dcterms:W3CDTF">2024-11-19T04:36:27Z</dcterms:created>
  <dcterms:modified xsi:type="dcterms:W3CDTF">2025-06-04T06:41:10Z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13061EC447D76D27F2C43267DD5645F6_42</vt:lpwstr>
  </property>
  <property fmtid="{D5CDD505-2E9C-101B-9397-08002B2CF9AE}" pid="3" name="KSOProductBuildVer">
    <vt:lpwstr>2052-6.10.1.8873</vt:lpwstr>
  </property>
</Properties>
</file>