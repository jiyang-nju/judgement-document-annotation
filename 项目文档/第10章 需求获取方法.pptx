
<file path=[Content_Types].xml><?xml version="1.0" encoding="utf-8"?>
<Types xmlns="http://schemas.openxmlformats.org/package/2006/content-types">
  <Default Extension="png" ContentType="image/png"/>
  <Default Extension="svg" ContentType="image/svg+xml"/>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tiff" ContentType="image/tif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1.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58.xml" ContentType="application/vnd.openxmlformats-officedocument.presentationml.tags+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59.xml" ContentType="application/vnd.openxmlformats-officedocument.presentationml.tags+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notesSlides/notesSlide2.xml" ContentType="application/vnd.openxmlformats-officedocument.presentationml.notesSlide+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autoCompressPictures="0">
  <p:sldMasterIdLst>
    <p:sldMasterId id="2147483648" r:id="rId1"/>
    <p:sldMasterId id="2147483663" r:id="rId2"/>
  </p:sldMasterIdLst>
  <p:notesMasterIdLst>
    <p:notesMasterId r:id="rId81"/>
  </p:notesMasterIdLst>
  <p:handoutMasterIdLst>
    <p:handoutMasterId r:id="rId82"/>
  </p:handoutMasterIdLst>
  <p:sldIdLst>
    <p:sldId id="263" r:id="rId3"/>
    <p:sldId id="262" r:id="rId4"/>
    <p:sldId id="272" r:id="rId5"/>
    <p:sldId id="357" r:id="rId6"/>
    <p:sldId id="358" r:id="rId7"/>
    <p:sldId id="359" r:id="rId8"/>
    <p:sldId id="360" r:id="rId9"/>
    <p:sldId id="361" r:id="rId10"/>
    <p:sldId id="362" r:id="rId11"/>
    <p:sldId id="363" r:id="rId12"/>
    <p:sldId id="364" r:id="rId13"/>
    <p:sldId id="365" r:id="rId14"/>
    <p:sldId id="366" r:id="rId15"/>
    <p:sldId id="367" r:id="rId16"/>
    <p:sldId id="368" r:id="rId17"/>
    <p:sldId id="369" r:id="rId18"/>
    <p:sldId id="370" r:id="rId19"/>
    <p:sldId id="371" r:id="rId20"/>
    <p:sldId id="372" r:id="rId21"/>
    <p:sldId id="373" r:id="rId22"/>
    <p:sldId id="374" r:id="rId23"/>
    <p:sldId id="273" r:id="rId24"/>
    <p:sldId id="275" r:id="rId25"/>
    <p:sldId id="277" r:id="rId26"/>
    <p:sldId id="274" r:id="rId27"/>
    <p:sldId id="278" r:id="rId28"/>
    <p:sldId id="322" r:id="rId29"/>
    <p:sldId id="279" r:id="rId30"/>
    <p:sldId id="276" r:id="rId31"/>
    <p:sldId id="280" r:id="rId32"/>
    <p:sldId id="281" r:id="rId33"/>
    <p:sldId id="282" r:id="rId34"/>
    <p:sldId id="283" r:id="rId35"/>
    <p:sldId id="284" r:id="rId36"/>
    <p:sldId id="285" r:id="rId37"/>
    <p:sldId id="290" r:id="rId38"/>
    <p:sldId id="292" r:id="rId39"/>
    <p:sldId id="293" r:id="rId40"/>
    <p:sldId id="294" r:id="rId41"/>
    <p:sldId id="286" r:id="rId42"/>
    <p:sldId id="296" r:id="rId43"/>
    <p:sldId id="295" r:id="rId44"/>
    <p:sldId id="297" r:id="rId45"/>
    <p:sldId id="287" r:id="rId46"/>
    <p:sldId id="298" r:id="rId47"/>
    <p:sldId id="301" r:id="rId48"/>
    <p:sldId id="302" r:id="rId49"/>
    <p:sldId id="300" r:id="rId50"/>
    <p:sldId id="305" r:id="rId51"/>
    <p:sldId id="288" r:id="rId52"/>
    <p:sldId id="309" r:id="rId53"/>
    <p:sldId id="303" r:id="rId54"/>
    <p:sldId id="304" r:id="rId55"/>
    <p:sldId id="311" r:id="rId56"/>
    <p:sldId id="310" r:id="rId57"/>
    <p:sldId id="312" r:id="rId58"/>
    <p:sldId id="313" r:id="rId59"/>
    <p:sldId id="314" r:id="rId60"/>
    <p:sldId id="319" r:id="rId61"/>
    <p:sldId id="320" r:id="rId62"/>
    <p:sldId id="321" r:id="rId63"/>
    <p:sldId id="375" r:id="rId64"/>
    <p:sldId id="376" r:id="rId65"/>
    <p:sldId id="377" r:id="rId66"/>
    <p:sldId id="378" r:id="rId67"/>
    <p:sldId id="379" r:id="rId68"/>
    <p:sldId id="380" r:id="rId69"/>
    <p:sldId id="381" r:id="rId70"/>
    <p:sldId id="382" r:id="rId71"/>
    <p:sldId id="383" r:id="rId72"/>
    <p:sldId id="384" r:id="rId73"/>
    <p:sldId id="385" r:id="rId74"/>
    <p:sldId id="386" r:id="rId75"/>
    <p:sldId id="387" r:id="rId76"/>
    <p:sldId id="388" r:id="rId77"/>
    <p:sldId id="389" r:id="rId78"/>
    <p:sldId id="390" r:id="rId79"/>
    <p:sldId id="391" r:id="rId80"/>
  </p:sldIdLst>
  <p:sldSz cx="9144000" cy="6858000" type="screen4x3"/>
  <p:notesSz cx="6858000" cy="9144000"/>
  <p:custDataLst>
    <p:tags r:id="rId83"/>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72680"/>
    <a:srgbClr val="BD2BB4"/>
    <a:srgbClr val="88057A"/>
    <a:srgbClr val="CFD5EA"/>
    <a:srgbClr val="E9EBF5"/>
    <a:srgbClr val="6D91D1"/>
    <a:srgbClr val="4472C4"/>
    <a:srgbClr val="2312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79"/>
    <p:restoredTop sz="94651"/>
  </p:normalViewPr>
  <p:slideViewPr>
    <p:cSldViewPr snapToGrid="0">
      <p:cViewPr varScale="1">
        <p:scale>
          <a:sx n="118" d="100"/>
          <a:sy n="118" d="100"/>
        </p:scale>
        <p:origin x="1829" y="86"/>
      </p:cViewPr>
      <p:guideLst/>
    </p:cSldViewPr>
  </p:slideViewPr>
  <p:notesTextViewPr>
    <p:cViewPr>
      <p:scale>
        <a:sx n="1" d="1"/>
        <a:sy n="1" d="1"/>
      </p:scale>
      <p:origin x="0" y="0"/>
    </p:cViewPr>
  </p:notesTextViewPr>
  <p:notesViewPr>
    <p:cSldViewPr snapToGrid="0">
      <p:cViewPr varScale="1">
        <p:scale>
          <a:sx n="64" d="100"/>
          <a:sy n="64" d="100"/>
        </p:scale>
        <p:origin x="3192" y="7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presProps" Target="presProp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tags" Target="tags/tag1.xml"/><Relationship Id="rId88"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notesMaster" Target="notesMasters/notesMaster1.xml"/><Relationship Id="rId86"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tableStyles" Target="tableStyles.xml"/><Relationship Id="rId61" Type="http://schemas.openxmlformats.org/officeDocument/2006/relationships/slide" Target="slides/slide59.xml"/><Relationship Id="rId82"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userId="18704901d6efe90a" providerId="LiveId" clId="{F6AC7CBE-6BEB-45D9-A69C-959D0AFF92E8}"/>
    <pc:docChg chg="modSld">
      <pc:chgData name="" userId="18704901d6efe90a" providerId="LiveId" clId="{F6AC7CBE-6BEB-45D9-A69C-959D0AFF92E8}" dt="2025-05-29T02:53:57.827" v="18" actId="20577"/>
      <pc:docMkLst>
        <pc:docMk/>
      </pc:docMkLst>
      <pc:sldChg chg="modSp">
        <pc:chgData name="" userId="18704901d6efe90a" providerId="LiveId" clId="{F6AC7CBE-6BEB-45D9-A69C-959D0AFF92E8}" dt="2025-05-29T02:53:57.827" v="18" actId="20577"/>
        <pc:sldMkLst>
          <pc:docMk/>
          <pc:sldMk cId="0" sldId="367"/>
        </pc:sldMkLst>
        <pc:spChg chg="mod">
          <ac:chgData name="" userId="18704901d6efe90a" providerId="LiveId" clId="{F6AC7CBE-6BEB-45D9-A69C-959D0AFF92E8}" dt="2025-05-29T02:53:57.827" v="18" actId="20577"/>
          <ac:spMkLst>
            <pc:docMk/>
            <pc:sldMk cId="0" sldId="367"/>
            <ac:spMk id="6"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4">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EBAE718B-9658-42D3-908B-EB4A7C9712F9}" type="doc">
      <dgm:prSet loTypeId="urn:microsoft.com/office/officeart/2005/8/layout/vList4" loCatId="list" qsTypeId="urn:microsoft.com/office/officeart/2005/8/quickstyle/simple1#1" qsCatId="simple" csTypeId="urn:microsoft.com/office/officeart/2005/8/colors/accent1_2#1" csCatId="accent1" phldr="0"/>
      <dgm:spPr/>
      <dgm:t>
        <a:bodyPr/>
        <a:lstStyle/>
        <a:p>
          <a:endParaRPr lang="zh-CN" altLang="en-US"/>
        </a:p>
      </dgm:t>
    </dgm:pt>
    <dgm:pt modelId="{9D8FDF43-5F22-4C58-95A6-F6FA2BC1C4FF}" type="pres">
      <dgm:prSet presAssocID="{EBAE718B-9658-42D3-908B-EB4A7C9712F9}" presName="linear" presStyleCnt="0">
        <dgm:presLayoutVars>
          <dgm:dir/>
          <dgm:resizeHandles val="exact"/>
        </dgm:presLayoutVars>
      </dgm:prSet>
      <dgm:spPr/>
    </dgm:pt>
  </dgm:ptLst>
  <dgm:cxnLst>
    <dgm:cxn modelId="{1F2DAD44-2BA5-4F00-B7D6-7F94503C8338}" type="presOf" srcId="{EBAE718B-9658-42D3-908B-EB4A7C9712F9}" destId="{9D8FDF43-5F22-4C58-95A6-F6FA2BC1C4FF}" srcOrd="0" destOrd="0" presId="urn:microsoft.com/office/officeart/2005/8/layout/vList4"/>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BAE718B-9658-42D3-908B-EB4A7C9712F9}" type="doc">
      <dgm:prSet loTypeId="urn:microsoft.com/office/officeart/2005/8/layout/vList4" loCatId="list" qsTypeId="urn:microsoft.com/office/officeart/2005/8/quickstyle/simple1#2" qsCatId="simple" csTypeId="urn:microsoft.com/office/officeart/2005/8/colors/accent1_2#2" csCatId="accent1" phldr="0"/>
      <dgm:spPr/>
      <dgm:t>
        <a:bodyPr/>
        <a:lstStyle/>
        <a:p>
          <a:endParaRPr lang="zh-CN" altLang="en-US"/>
        </a:p>
      </dgm:t>
    </dgm:pt>
    <dgm:pt modelId="{9D8FDF43-5F22-4C58-95A6-F6FA2BC1C4FF}" type="pres">
      <dgm:prSet presAssocID="{EBAE718B-9658-42D3-908B-EB4A7C9712F9}" presName="linear" presStyleCnt="0">
        <dgm:presLayoutVars>
          <dgm:dir/>
          <dgm:resizeHandles val="exact"/>
        </dgm:presLayoutVars>
      </dgm:prSet>
      <dgm:spPr/>
    </dgm:pt>
  </dgm:ptLst>
  <dgm:cxnLst>
    <dgm:cxn modelId="{1F2DAD44-2BA5-4F00-B7D6-7F94503C8338}" type="presOf" srcId="{EBAE718B-9658-42D3-908B-EB4A7C9712F9}" destId="{9D8FDF43-5F22-4C58-95A6-F6FA2BC1C4FF}" srcOrd="0" destOrd="0" presId="urn:microsoft.com/office/officeart/2005/8/layout/vList4"/>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BAE718B-9658-42D3-908B-EB4A7C9712F9}" type="doc">
      <dgm:prSet loTypeId="urn:microsoft.com/office/officeart/2005/8/layout/vList4" loCatId="list" qsTypeId="urn:microsoft.com/office/officeart/2005/8/quickstyle/simple1#3" qsCatId="simple" csTypeId="urn:microsoft.com/office/officeart/2005/8/colors/accent1_2#3" csCatId="accent1" phldr="0"/>
      <dgm:spPr/>
      <dgm:t>
        <a:bodyPr/>
        <a:lstStyle/>
        <a:p>
          <a:endParaRPr lang="zh-CN" altLang="en-US"/>
        </a:p>
      </dgm:t>
    </dgm:pt>
    <dgm:pt modelId="{9D8FDF43-5F22-4C58-95A6-F6FA2BC1C4FF}" type="pres">
      <dgm:prSet presAssocID="{EBAE718B-9658-42D3-908B-EB4A7C9712F9}" presName="linear" presStyleCnt="0">
        <dgm:presLayoutVars>
          <dgm:dir/>
          <dgm:resizeHandles val="exact"/>
        </dgm:presLayoutVars>
      </dgm:prSet>
      <dgm:spPr/>
    </dgm:pt>
  </dgm:ptLst>
  <dgm:cxnLst>
    <dgm:cxn modelId="{1F2DAD44-2BA5-4F00-B7D6-7F94503C8338}" type="presOf" srcId="{EBAE718B-9658-42D3-908B-EB4A7C9712F9}" destId="{9D8FDF43-5F22-4C58-95A6-F6FA2BC1C4FF}" srcOrd="0"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BAE718B-9658-42D3-908B-EB4A7C9712F9}" type="doc">
      <dgm:prSet loTypeId="urn:microsoft.com/office/officeart/2005/8/layout/vList4" loCatId="list" qsTypeId="urn:microsoft.com/office/officeart/2005/8/quickstyle/simple1#4" qsCatId="simple" csTypeId="urn:microsoft.com/office/officeart/2005/8/colors/accent1_2#4" csCatId="accent1" phldr="0"/>
      <dgm:spPr/>
      <dgm:t>
        <a:bodyPr/>
        <a:lstStyle/>
        <a:p>
          <a:endParaRPr lang="zh-CN" altLang="en-US"/>
        </a:p>
      </dgm:t>
    </dgm:pt>
    <dgm:pt modelId="{9D8FDF43-5F22-4C58-95A6-F6FA2BC1C4FF}" type="pres">
      <dgm:prSet presAssocID="{EBAE718B-9658-42D3-908B-EB4A7C9712F9}" presName="linear" presStyleCnt="0">
        <dgm:presLayoutVars>
          <dgm:dir/>
          <dgm:resizeHandles val="exact"/>
        </dgm:presLayoutVars>
      </dgm:prSet>
      <dgm:spPr/>
    </dgm:pt>
  </dgm:ptLst>
  <dgm:cxnLst>
    <dgm:cxn modelId="{1F2DAD44-2BA5-4F00-B7D6-7F94503C8338}" type="presOf" srcId="{EBAE718B-9658-42D3-908B-EB4A7C9712F9}" destId="{9D8FDF43-5F22-4C58-95A6-F6FA2BC1C4FF}" srcOrd="0"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40.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DE72145-0369-BC41-8852-9A54270ECA69}" type="datetimeFigureOut">
              <a:rPr kumimoji="1" lang="zh-CN" altLang="en-US" smtClean="0"/>
              <a:t>2025/5/29</a:t>
            </a:fld>
            <a:endParaRPr kumimoji="1"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B814A60-76EA-5549-A6C7-556C94127007}"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B48004-2B8C-5943-8D5D-9492CFBF072F}" type="datetimeFigureOut">
              <a:rPr kumimoji="1" lang="zh-CN" altLang="en-US" smtClean="0"/>
              <a:t>2025/5/29</a:t>
            </a:fld>
            <a:endParaRPr kumimoji="1"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B6B530-5EF1-2443-B0C7-97E718DD23FB}"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D7B6B530-5EF1-2443-B0C7-97E718DD23FB}" type="slidenum">
              <a:rPr kumimoji="1" lang="zh-CN" altLang="en-US" smtClean="0"/>
              <a:t>18</a:t>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D7B6B530-5EF1-2443-B0C7-97E718DD23FB}" type="slidenum">
              <a:rPr kumimoji="1" lang="zh-CN" altLang="en-US" smtClean="0"/>
              <a:t>66</a:t>
            </a:fld>
            <a:endParaRPr kumimoji="1"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幻灯片图像占位符 1"/>
          <p:cNvSpPr>
            <a:spLocks noGrp="1" noRot="1" noChangeAspect="1"/>
          </p:cNvSpPr>
          <p:nvPr>
            <p:ph type="sldImg"/>
          </p:nvPr>
        </p:nvSpPr>
        <p:spPr/>
      </p:sp>
      <p:sp>
        <p:nvSpPr>
          <p:cNvPr id="107522" name="备注占位符 2"/>
          <p:cNvSpPr>
            <a:spLocks noGrp="1"/>
          </p:cNvSpPr>
          <p:nvPr>
            <p:ph type="body"/>
          </p:nvPr>
        </p:nvSpPr>
        <p:spPr/>
        <p:txBody>
          <a:bodyPr lIns="91440" tIns="45720" rIns="91440" bIns="45720" anchor="t" anchorCtr="0"/>
          <a:lstStyle/>
          <a:p>
            <a:pPr lvl="0"/>
            <a:endParaRPr lang="zh-CN" altLang="en-US" dirty="0">
              <a:ea typeface="等线" panose="02010600030101010101" charset="-122"/>
            </a:endParaRPr>
          </a:p>
        </p:txBody>
      </p:sp>
      <p:sp>
        <p:nvSpPr>
          <p:cNvPr id="107523" name="灯片编号占位符 3"/>
          <p:cNvSpPr>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lstStyle/>
          <a:p>
            <a:pPr lvl="0" algn="r"/>
            <a:fld id="{9A0DB2DC-4C9A-4742-B13C-FB6460FD3503}" type="slidenum">
              <a:rPr lang="zh-CN" altLang="en-US" sz="1200"/>
              <a:t>77</a:t>
            </a:fld>
            <a:endParaRPr lang="zh-CN" altLang="en-US"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BDDFBAA5-A015-5B41-96F4-52A88ECA445D}" type="datetime1">
              <a:rPr kumimoji="1" lang="zh-CN" altLang="en-US" smtClean="0"/>
              <a:t>2025/5/29</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AC7FBBBC-E95E-3B45-AB29-0BB0A79D7891}" type="slidenum">
              <a:rPr kumimoji="1" lang="zh-CN" altLang="en-US" smtClean="0"/>
              <a:t>‹#›</a:t>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6" name="矩形 5"/>
          <p:cNvSpPr/>
          <p:nvPr userDrawn="1"/>
        </p:nvSpPr>
        <p:spPr>
          <a:xfrm>
            <a:off x="0" y="6456474"/>
            <a:ext cx="9144000" cy="217784"/>
          </a:xfrm>
          <a:prstGeom prst="rect">
            <a:avLst/>
          </a:prstGeom>
          <a:solidFill>
            <a:srgbClr val="4726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矩形 6"/>
          <p:cNvSpPr/>
          <p:nvPr userDrawn="1"/>
        </p:nvSpPr>
        <p:spPr>
          <a:xfrm>
            <a:off x="0" y="6665917"/>
            <a:ext cx="9144000" cy="198000"/>
          </a:xfrm>
          <a:prstGeom prst="rect">
            <a:avLst/>
          </a:prstGeom>
          <a:solidFill>
            <a:srgbClr val="2312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8" name="图片 7"/>
          <p:cNvPicPr>
            <a:picLocks noChangeAspect="1"/>
          </p:cNvPicPr>
          <p:nvPr userDrawn="1"/>
        </p:nvPicPr>
        <p:blipFill>
          <a:blip r:embed="rId2"/>
          <a:stretch>
            <a:fillRect/>
          </a:stretch>
        </p:blipFill>
        <p:spPr>
          <a:xfrm>
            <a:off x="228508" y="6477639"/>
            <a:ext cx="2116221" cy="369340"/>
          </a:xfrm>
          <a:prstGeom prst="rect">
            <a:avLst/>
          </a:prstGeom>
        </p:spPr>
      </p:pic>
      <p:pic>
        <p:nvPicPr>
          <p:cNvPr id="9" name="图片 8"/>
          <p:cNvPicPr>
            <a:picLocks noChangeAspect="1"/>
          </p:cNvPicPr>
          <p:nvPr userDrawn="1"/>
        </p:nvPicPr>
        <p:blipFill>
          <a:blip r:embed="rId3"/>
          <a:stretch>
            <a:fillRect/>
          </a:stretch>
        </p:blipFill>
        <p:spPr>
          <a:xfrm>
            <a:off x="3332892" y="6473412"/>
            <a:ext cx="2478203" cy="324730"/>
          </a:xfrm>
          <a:prstGeom prst="rect">
            <a:avLst/>
          </a:prstGeom>
        </p:spPr>
      </p:pic>
      <p:sp>
        <p:nvSpPr>
          <p:cNvPr id="12" name="矩形 11"/>
          <p:cNvSpPr/>
          <p:nvPr userDrawn="1"/>
        </p:nvSpPr>
        <p:spPr>
          <a:xfrm>
            <a:off x="0" y="0"/>
            <a:ext cx="9144000" cy="434109"/>
          </a:xfrm>
          <a:prstGeom prst="rect">
            <a:avLst/>
          </a:prstGeom>
          <a:solidFill>
            <a:srgbClr val="2312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灯片编号占位符 4"/>
          <p:cNvSpPr txBox="1"/>
          <p:nvPr userDrawn="1"/>
        </p:nvSpPr>
        <p:spPr>
          <a:xfrm>
            <a:off x="7925435" y="6435091"/>
            <a:ext cx="589915" cy="545932"/>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AC7FBBBC-E95E-3B45-AB29-0BB0A79D7891}" type="slidenum">
              <a:rPr kumimoji="1" lang="zh-CN" altLang="en-US" sz="1200" b="1" smtClean="0">
                <a:solidFill>
                  <a:schemeClr val="bg1"/>
                </a:solidFill>
              </a:rPr>
              <a:t>‹#›</a:t>
            </a:fld>
            <a:endParaRPr kumimoji="1" lang="zh-CN" altLang="en-US" sz="1200" b="1" dirty="0">
              <a:solidFill>
                <a:schemeClr val="bg1"/>
              </a:solidFill>
            </a:endParaRPr>
          </a:p>
        </p:txBody>
      </p:sp>
      <p:sp>
        <p:nvSpPr>
          <p:cNvPr id="11" name="日期占位符 3"/>
          <p:cNvSpPr txBox="1"/>
          <p:nvPr userDrawn="1"/>
        </p:nvSpPr>
        <p:spPr>
          <a:xfrm>
            <a:off x="7807759" y="6615898"/>
            <a:ext cx="1042236"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F214E5E3-2818-B64F-840F-A7671DDB136C}" type="datetime1">
              <a:rPr kumimoji="1" lang="zh-CN" altLang="en-US" sz="1200" b="1" smtClean="0">
                <a:solidFill>
                  <a:schemeClr val="bg1"/>
                </a:solidFill>
              </a:rPr>
              <a:t>2025/5/29</a:t>
            </a:fld>
            <a:endParaRPr kumimoji="1" lang="zh-CN" altLang="en-US" sz="1200" b="1" dirty="0">
              <a:solidFill>
                <a:schemeClr val="bg1"/>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0" name="矩形 19"/>
          <p:cNvSpPr/>
          <p:nvPr userDrawn="1"/>
        </p:nvSpPr>
        <p:spPr>
          <a:xfrm>
            <a:off x="0" y="6456474"/>
            <a:ext cx="9144000" cy="217784"/>
          </a:xfrm>
          <a:prstGeom prst="rect">
            <a:avLst/>
          </a:prstGeom>
          <a:solidFill>
            <a:srgbClr val="4726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矩形 6"/>
          <p:cNvSpPr/>
          <p:nvPr userDrawn="1"/>
        </p:nvSpPr>
        <p:spPr>
          <a:xfrm>
            <a:off x="0" y="0"/>
            <a:ext cx="9144000" cy="434109"/>
          </a:xfrm>
          <a:prstGeom prst="rect">
            <a:avLst/>
          </a:prstGeom>
          <a:solidFill>
            <a:srgbClr val="2312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矩形 7"/>
          <p:cNvSpPr/>
          <p:nvPr userDrawn="1"/>
        </p:nvSpPr>
        <p:spPr>
          <a:xfrm>
            <a:off x="992605" y="1648327"/>
            <a:ext cx="7158789" cy="1780674"/>
          </a:xfrm>
          <a:prstGeom prst="rect">
            <a:avLst/>
          </a:prstGeom>
          <a:solidFill>
            <a:srgbClr val="4726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文本框 8"/>
          <p:cNvSpPr txBox="1"/>
          <p:nvPr userDrawn="1"/>
        </p:nvSpPr>
        <p:spPr>
          <a:xfrm>
            <a:off x="2684302" y="1936363"/>
            <a:ext cx="3775393" cy="400110"/>
          </a:xfrm>
          <a:prstGeom prst="rect">
            <a:avLst/>
          </a:prstGeom>
          <a:noFill/>
        </p:spPr>
        <p:txBody>
          <a:bodyPr wrap="none" rtlCol="0">
            <a:spAutoFit/>
          </a:bodyPr>
          <a:lstStyle/>
          <a:p>
            <a:r>
              <a:rPr kumimoji="1" lang="en-US" altLang="zh-CN" sz="2000" dirty="0">
                <a:solidFill>
                  <a:schemeClr val="bg1"/>
                </a:solidFill>
              </a:rPr>
              <a:t>《</a:t>
            </a:r>
            <a:r>
              <a:rPr kumimoji="1" lang="zh-CN" altLang="en-US" sz="2000" dirty="0">
                <a:solidFill>
                  <a:schemeClr val="bg1"/>
                </a:solidFill>
              </a:rPr>
              <a:t>需求工程：软件建模与分析</a:t>
            </a:r>
            <a:r>
              <a:rPr kumimoji="1" lang="en-US" altLang="zh-CN" sz="2000" dirty="0">
                <a:solidFill>
                  <a:schemeClr val="bg1"/>
                </a:solidFill>
              </a:rPr>
              <a:t>》</a:t>
            </a:r>
            <a:endParaRPr kumimoji="1" lang="zh-CN" altLang="en-US" sz="2000" dirty="0">
              <a:solidFill>
                <a:schemeClr val="bg1"/>
              </a:solidFill>
            </a:endParaRPr>
          </a:p>
        </p:txBody>
      </p:sp>
      <p:sp>
        <p:nvSpPr>
          <p:cNvPr id="11" name="文本框 10"/>
          <p:cNvSpPr txBox="1"/>
          <p:nvPr userDrawn="1"/>
        </p:nvSpPr>
        <p:spPr>
          <a:xfrm>
            <a:off x="4017996" y="4054072"/>
            <a:ext cx="1107996" cy="461665"/>
          </a:xfrm>
          <a:prstGeom prst="rect">
            <a:avLst/>
          </a:prstGeom>
          <a:noFill/>
        </p:spPr>
        <p:txBody>
          <a:bodyPr wrap="none" rtlCol="0">
            <a:spAutoFit/>
          </a:bodyPr>
          <a:lstStyle/>
          <a:p>
            <a:r>
              <a:rPr kumimoji="1" lang="zh-CN" altLang="en-US" sz="2400" dirty="0">
                <a:latin typeface="楷体" panose="02010609060101010101" pitchFamily="49" charset="-122"/>
                <a:ea typeface="楷体" panose="02010609060101010101" pitchFamily="49" charset="-122"/>
              </a:rPr>
              <a:t>李传艺</a:t>
            </a:r>
            <a:endParaRPr kumimoji="1" lang="en-US" altLang="zh-CN" sz="2400" dirty="0">
              <a:latin typeface="楷体" panose="02010609060101010101" pitchFamily="49" charset="-122"/>
              <a:ea typeface="楷体" panose="02010609060101010101" pitchFamily="49" charset="-122"/>
            </a:endParaRPr>
          </a:p>
        </p:txBody>
      </p:sp>
      <p:sp>
        <p:nvSpPr>
          <p:cNvPr id="12" name="文本框 11"/>
          <p:cNvSpPr txBox="1"/>
          <p:nvPr userDrawn="1"/>
        </p:nvSpPr>
        <p:spPr>
          <a:xfrm>
            <a:off x="3453739" y="4643219"/>
            <a:ext cx="2236510" cy="400110"/>
          </a:xfrm>
          <a:prstGeom prst="rect">
            <a:avLst/>
          </a:prstGeom>
          <a:noFill/>
        </p:spPr>
        <p:txBody>
          <a:bodyPr wrap="none" rtlCol="0">
            <a:spAutoFit/>
          </a:bodyPr>
          <a:lstStyle/>
          <a:p>
            <a:r>
              <a:rPr kumimoji="1" lang="zh-CN" altLang="en-US" sz="2000" dirty="0">
                <a:latin typeface="楷体" panose="02010609060101010101" pitchFamily="49" charset="-122"/>
                <a:ea typeface="楷体" panose="02010609060101010101" pitchFamily="49" charset="-122"/>
              </a:rPr>
              <a:t>南京大学软件学院</a:t>
            </a:r>
            <a:endParaRPr kumimoji="1" lang="en-US" altLang="zh-CN" sz="2000" dirty="0">
              <a:latin typeface="楷体" panose="02010609060101010101" pitchFamily="49" charset="-122"/>
              <a:ea typeface="楷体" panose="02010609060101010101" pitchFamily="49" charset="-122"/>
            </a:endParaRPr>
          </a:p>
        </p:txBody>
      </p:sp>
      <p:pic>
        <p:nvPicPr>
          <p:cNvPr id="13" name="图片 12"/>
          <p:cNvPicPr>
            <a:picLocks noChangeAspect="1"/>
          </p:cNvPicPr>
          <p:nvPr userDrawn="1"/>
        </p:nvPicPr>
        <p:blipFill>
          <a:blip r:embed="rId2"/>
          <a:stretch>
            <a:fillRect/>
          </a:stretch>
        </p:blipFill>
        <p:spPr>
          <a:xfrm>
            <a:off x="85557" y="29353"/>
            <a:ext cx="2116221" cy="369340"/>
          </a:xfrm>
          <a:prstGeom prst="rect">
            <a:avLst/>
          </a:prstGeom>
        </p:spPr>
      </p:pic>
      <p:grpSp>
        <p:nvGrpSpPr>
          <p:cNvPr id="14" name="组合 13"/>
          <p:cNvGrpSpPr/>
          <p:nvPr userDrawn="1"/>
        </p:nvGrpSpPr>
        <p:grpSpPr>
          <a:xfrm>
            <a:off x="0" y="6473412"/>
            <a:ext cx="9144000" cy="390505"/>
            <a:chOff x="0" y="6463887"/>
            <a:chExt cx="9144000" cy="390505"/>
          </a:xfrm>
        </p:grpSpPr>
        <p:sp>
          <p:nvSpPr>
            <p:cNvPr id="18" name="矩形 17"/>
            <p:cNvSpPr/>
            <p:nvPr/>
          </p:nvSpPr>
          <p:spPr>
            <a:xfrm>
              <a:off x="0" y="6656392"/>
              <a:ext cx="9144000" cy="198000"/>
            </a:xfrm>
            <a:prstGeom prst="rect">
              <a:avLst/>
            </a:prstGeom>
            <a:solidFill>
              <a:srgbClr val="2312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16" name="图片 15"/>
            <p:cNvPicPr>
              <a:picLocks noChangeAspect="1"/>
            </p:cNvPicPr>
            <p:nvPr/>
          </p:nvPicPr>
          <p:blipFill>
            <a:blip r:embed="rId3"/>
            <a:stretch>
              <a:fillRect/>
            </a:stretch>
          </p:blipFill>
          <p:spPr>
            <a:xfrm>
              <a:off x="3332892" y="6463887"/>
              <a:ext cx="2478203" cy="324730"/>
            </a:xfrm>
            <a:prstGeom prst="rect">
              <a:avLst/>
            </a:prstGeom>
          </p:spPr>
        </p:pic>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86E44BA-59A2-A54F-A8FC-495D0BE71B9E}" type="datetime1">
              <a:rPr kumimoji="1" lang="zh-CN" altLang="en-US" smtClean="0"/>
              <a:t>2025/5/29</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AC7FBBBC-E95E-3B45-AB29-0BB0A79D7891}" type="slidenum">
              <a:rPr kumimoji="1" lang="zh-CN" altLang="en-US" smtClean="0"/>
              <a:t>‹#›</a:t>
            </a:fld>
            <a:endParaRPr kumimoji="1"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6F0AD60A-D380-5A41-9148-240E79CF6CDA}" type="datetime1">
              <a:rPr kumimoji="1" lang="zh-CN" altLang="en-US" smtClean="0"/>
              <a:t>2025/5/29</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AC7FBBBC-E95E-3B45-AB29-0BB0A79D7891}" type="slidenum">
              <a:rPr kumimoji="1" lang="zh-CN" altLang="en-US" smtClean="0"/>
              <a:t>‹#›</a:t>
            </a:fld>
            <a:endParaRPr kumimoji="1"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48F93C7C-318E-434C-80A3-0185647E8331}" type="datetime1">
              <a:rPr kumimoji="1" lang="zh-CN" altLang="en-US" smtClean="0"/>
              <a:t>2025/5/29</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AC7FBBBC-E95E-3B45-AB29-0BB0A79D7891}" type="slidenum">
              <a:rPr kumimoji="1" lang="zh-CN" altLang="en-US" smtClean="0"/>
              <a:t>‹#›</a:t>
            </a:fld>
            <a:endParaRPr kumimoji="1"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792BBA29-EE3B-F341-B657-52203BC8FB26}" type="datetime1">
              <a:rPr kumimoji="1" lang="zh-CN" altLang="en-US" smtClean="0"/>
              <a:t>2025/5/29</a:t>
            </a:fld>
            <a:endParaRPr kumimoji="1" lang="zh-CN" altLang="en-US"/>
          </a:p>
        </p:txBody>
      </p:sp>
      <p:sp>
        <p:nvSpPr>
          <p:cNvPr id="8" name="Footer Placeholder 7"/>
          <p:cNvSpPr>
            <a:spLocks noGrp="1"/>
          </p:cNvSpPr>
          <p:nvPr>
            <p:ph type="ftr" sz="quarter" idx="11"/>
          </p:nvPr>
        </p:nvSpPr>
        <p:spPr/>
        <p:txBody>
          <a:bodyPr/>
          <a:lstStyle/>
          <a:p>
            <a:endParaRPr kumimoji="1" lang="zh-CN" altLang="en-US"/>
          </a:p>
        </p:txBody>
      </p:sp>
      <p:sp>
        <p:nvSpPr>
          <p:cNvPr id="9" name="Slide Number Placeholder 8"/>
          <p:cNvSpPr>
            <a:spLocks noGrp="1"/>
          </p:cNvSpPr>
          <p:nvPr>
            <p:ph type="sldNum" sz="quarter" idx="12"/>
          </p:nvPr>
        </p:nvSpPr>
        <p:spPr/>
        <p:txBody>
          <a:bodyPr/>
          <a:lstStyle/>
          <a:p>
            <a:fld id="{AC7FBBBC-E95E-3B45-AB29-0BB0A79D7891}" type="slidenum">
              <a:rPr kumimoji="1" lang="zh-CN" altLang="en-US" smtClean="0"/>
              <a:t>‹#›</a:t>
            </a:fld>
            <a:endParaRPr kumimoji="1"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F3CF35F2-F3CF-5846-9831-C9E937471F8F}" type="datetime1">
              <a:rPr kumimoji="1" lang="zh-CN" altLang="en-US" smtClean="0"/>
              <a:t>2025/5/29</a:t>
            </a:fld>
            <a:endParaRPr kumimoji="1" lang="zh-CN" altLang="en-US"/>
          </a:p>
        </p:txBody>
      </p:sp>
      <p:sp>
        <p:nvSpPr>
          <p:cNvPr id="4" name="Footer Placeholder 3"/>
          <p:cNvSpPr>
            <a:spLocks noGrp="1"/>
          </p:cNvSpPr>
          <p:nvPr>
            <p:ph type="ftr" sz="quarter" idx="11"/>
          </p:nvPr>
        </p:nvSpPr>
        <p:spPr/>
        <p:txBody>
          <a:bodyPr/>
          <a:lstStyle/>
          <a:p>
            <a:endParaRPr kumimoji="1" lang="zh-CN" altLang="en-US"/>
          </a:p>
        </p:txBody>
      </p:sp>
      <p:sp>
        <p:nvSpPr>
          <p:cNvPr id="5" name="Slide Number Placeholder 4"/>
          <p:cNvSpPr>
            <a:spLocks noGrp="1"/>
          </p:cNvSpPr>
          <p:nvPr>
            <p:ph type="sldNum" sz="quarter" idx="12"/>
          </p:nvPr>
        </p:nvSpPr>
        <p:spPr/>
        <p:txBody>
          <a:bodyPr/>
          <a:lstStyle/>
          <a:p>
            <a:fld id="{AC7FBBBC-E95E-3B45-AB29-0BB0A79D7891}" type="slidenum">
              <a:rPr kumimoji="1" lang="zh-CN" altLang="en-US" smtClean="0"/>
              <a:t>‹#›</a:t>
            </a:fld>
            <a:endParaRPr kumimoji="1"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8BAF5D2-51B6-D746-8717-D63DEB88CF2D}" type="datetime1">
              <a:rPr kumimoji="1" lang="zh-CN" altLang="en-US" smtClean="0"/>
              <a:t>2025/5/29</a:t>
            </a:fld>
            <a:endParaRPr kumimoji="1" lang="zh-CN" altLang="en-US"/>
          </a:p>
        </p:txBody>
      </p:sp>
      <p:sp>
        <p:nvSpPr>
          <p:cNvPr id="3" name="Footer Placeholder 2"/>
          <p:cNvSpPr>
            <a:spLocks noGrp="1"/>
          </p:cNvSpPr>
          <p:nvPr>
            <p:ph type="ftr" sz="quarter" idx="11"/>
          </p:nvPr>
        </p:nvSpPr>
        <p:spPr/>
        <p:txBody>
          <a:bodyPr/>
          <a:lstStyle/>
          <a:p>
            <a:endParaRPr kumimoji="1" lang="zh-CN" altLang="en-US"/>
          </a:p>
        </p:txBody>
      </p:sp>
      <p:sp>
        <p:nvSpPr>
          <p:cNvPr id="4" name="Slide Number Placeholder 3"/>
          <p:cNvSpPr>
            <a:spLocks noGrp="1"/>
          </p:cNvSpPr>
          <p:nvPr>
            <p:ph type="sldNum" sz="quarter" idx="12"/>
          </p:nvPr>
        </p:nvSpPr>
        <p:spPr/>
        <p:txBody>
          <a:bodyPr/>
          <a:lstStyle/>
          <a:p>
            <a:fld id="{AC7FBBBC-E95E-3B45-AB29-0BB0A79D7891}" type="slidenum">
              <a:rPr kumimoji="1" lang="zh-CN" altLang="en-US" smtClean="0"/>
              <a:t>‹#›</a:t>
            </a:fld>
            <a:endParaRPr kumimoji="1"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CBE87AA7-6E1B-FF4D-9A3B-9CBBF774340B}" type="datetime1">
              <a:rPr kumimoji="1" lang="zh-CN" altLang="en-US" smtClean="0"/>
              <a:t>2025/5/29</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AC7FBBBC-E95E-3B45-AB29-0BB0A79D7891}" type="slidenum">
              <a:rPr kumimoji="1" lang="zh-CN" altLang="en-US" smtClean="0"/>
              <a:t>‹#›</a:t>
            </a:fld>
            <a:endParaRPr kumimoji="1"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FFBCD18F-7132-E64A-9287-A02B080255F0}" type="datetime1">
              <a:rPr kumimoji="1" lang="zh-CN" altLang="en-US" smtClean="0"/>
              <a:t>2025/5/29</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AC7FBBBC-E95E-3B45-AB29-0BB0A79D7891}" type="slidenum">
              <a:rPr kumimoji="1" lang="zh-CN" altLang="en-US" smtClean="0"/>
              <a:t>‹#›</a:t>
            </a:fld>
            <a:endParaRPr kumimoji="1"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B5B52687-2CB9-B14B-879C-91D787153BFE}" type="datetime1">
              <a:rPr kumimoji="1" lang="zh-CN" altLang="en-US" smtClean="0"/>
              <a:t>2025/5/29</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AC7FBBBC-E95E-3B45-AB29-0BB0A79D7891}" type="slidenum">
              <a:rPr kumimoji="1" lang="zh-CN" altLang="en-US" smtClean="0"/>
              <a:t>‹#›</a:t>
            </a:fld>
            <a:endParaRPr kumimoji="1"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B4D7229F-2383-E440-87A9-C6510D509D76}" type="datetime1">
              <a:rPr kumimoji="1" lang="zh-CN" altLang="en-US" smtClean="0"/>
              <a:t>2025/5/29</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AC7FBBBC-E95E-3B45-AB29-0BB0A79D7891}" type="slidenum">
              <a:rPr kumimoji="1" lang="zh-CN" altLang="en-US" smtClean="0"/>
              <a:t>‹#›</a:t>
            </a:fld>
            <a:endParaRPr kumimoji="1"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E26B3C9-2FB0-814F-8752-CF4359C47200}" type="datetime1">
              <a:rPr kumimoji="1" lang="zh-CN" altLang="en-US" smtClean="0"/>
              <a:t>2025/5/29</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AC7FBBBC-E95E-3B45-AB29-0BB0A79D7891}" type="slidenum">
              <a:rPr kumimoji="1" lang="zh-CN" altLang="en-US" smtClean="0"/>
              <a:t>‹#›</a:t>
            </a:fld>
            <a:endParaRPr kumimoji="1"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90FAD0AC-DBFD-4A60-A3B7-D1ACA9453ED5}" type="datetimeFigureOut">
              <a:rPr lang="zh-CN" altLang="en-US" smtClean="0"/>
              <a:t>2025/5/29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64EA52F-0AD9-4FFD-BB74-21B8B92C8254}"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90FAD0AC-DBFD-4A60-A3B7-D1ACA9453ED5}" type="datetimeFigureOut">
              <a:rPr lang="zh-CN" altLang="en-US" smtClean="0"/>
              <a:t>2025/5/29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64EA52F-0AD9-4FFD-BB74-21B8B92C8254}"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90FAD0AC-DBFD-4A60-A3B7-D1ACA9453ED5}" type="datetimeFigureOut">
              <a:rPr lang="zh-CN" altLang="en-US" smtClean="0"/>
              <a:t>2025/5/29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64EA52F-0AD9-4FFD-BB74-21B8B92C8254}"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6715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48200" y="1825625"/>
            <a:ext cx="386715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90FAD0AC-DBFD-4A60-A3B7-D1ACA9453ED5}" type="datetimeFigureOut">
              <a:rPr lang="zh-CN" altLang="en-US" smtClean="0"/>
              <a:t>2025/5/29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64EA52F-0AD9-4FFD-BB74-21B8B92C8254}"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90FAD0AC-DBFD-4A60-A3B7-D1ACA9453ED5}" type="datetimeFigureOut">
              <a:rPr lang="zh-CN" altLang="en-US" smtClean="0"/>
              <a:t>2025/5/29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64EA52F-0AD9-4FFD-BB74-21B8B92C8254}"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0FAD0AC-DBFD-4A60-A3B7-D1ACA9453ED5}" type="datetimeFigureOut">
              <a:rPr lang="zh-CN" altLang="en-US" smtClean="0"/>
              <a:t>2025/5/29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64EA52F-0AD9-4FFD-BB74-21B8B92C8254}"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0FAD0AC-DBFD-4A60-A3B7-D1ACA9453ED5}" type="datetimeFigureOut">
              <a:rPr lang="zh-CN" altLang="en-US" smtClean="0"/>
              <a:t>2025/5/29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64EA52F-0AD9-4FFD-BB74-21B8B92C8254}"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0FAD0AC-DBFD-4A60-A3B7-D1ACA9453ED5}" type="datetimeFigureOut">
              <a:rPr lang="zh-CN" altLang="en-US" smtClean="0"/>
              <a:t>2025/5/29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64EA52F-0AD9-4FFD-BB74-21B8B92C8254}" type="slidenum">
              <a:rPr lang="zh-CN" altLang="en-US" smtClean="0"/>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0FAD0AC-DBFD-4A60-A3B7-D1ACA9453ED5}" type="datetimeFigureOut">
              <a:rPr lang="zh-CN" altLang="en-US" smtClean="0"/>
              <a:t>2025/5/29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64EA52F-0AD9-4FFD-BB74-21B8B92C8254}" type="slidenum">
              <a:rPr lang="zh-CN" altLang="en-US" smtClean="0"/>
              <a:t>‹#›</a:t>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90FAD0AC-DBFD-4A60-A3B7-D1ACA9453ED5}" type="datetimeFigureOut">
              <a:rPr lang="zh-CN" altLang="en-US" smtClean="0"/>
              <a:t>2025/5/29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64EA52F-0AD9-4FFD-BB74-21B8B92C8254}" type="slidenum">
              <a:rPr lang="zh-CN" altLang="en-US" smtClean="0"/>
              <a:t>‹#›</a:t>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7626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90FAD0AC-DBFD-4A60-A3B7-D1ACA9453ED5}" type="datetimeFigureOut">
              <a:rPr lang="zh-CN" altLang="en-US" smtClean="0"/>
              <a:t>2025/5/29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64EA52F-0AD9-4FFD-BB74-21B8B92C8254}"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26B3C9-2FB0-814F-8752-CF4359C47200}" type="datetime1">
              <a:rPr kumimoji="1" lang="zh-CN" altLang="en-US" smtClean="0"/>
              <a:t>2025/5/29</a:t>
            </a:fld>
            <a:endParaRPr kumimoji="1"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7FBBBC-E95E-3B45-AB29-0BB0A79D7891}"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FAD0AC-DBFD-4A60-A3B7-D1ACA9453ED5}" type="datetimeFigureOut">
              <a:rPr lang="zh-CN" altLang="en-US" smtClean="0"/>
              <a:t>2025/5/29</a:t>
            </a:fld>
            <a:endParaRPr lang="zh-CN" altLang="en-US"/>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4EA52F-0AD9-4FFD-BB74-21B8B92C825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xml"/><Relationship Id="rId1" Type="http://schemas.openxmlformats.org/officeDocument/2006/relationships/tags" Target="../tags/tag4.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tags" Target="../tags/tag9.xml"/><Relationship Id="rId7" Type="http://schemas.openxmlformats.org/officeDocument/2006/relationships/slideLayout" Target="../slideLayouts/slideLayout2.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tags" Target="../tags/tag10.xml"/></Relationships>
</file>

<file path=ppt/slides/_rels/slide21.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 Id="rId5" Type="http://schemas.openxmlformats.org/officeDocument/2006/relationships/slideLayout" Target="../slideLayouts/slideLayout2.xml"/><Relationship Id="rId4" Type="http://schemas.openxmlformats.org/officeDocument/2006/relationships/tags" Target="../tags/tag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xml"/><Relationship Id="rId1" Type="http://schemas.openxmlformats.org/officeDocument/2006/relationships/tags" Target="../tags/tag17.xml"/></Relationships>
</file>

<file path=ppt/slides/_rels/slide24.xml.rels><?xml version="1.0" encoding="UTF-8" standalone="yes"?>
<Relationships xmlns="http://schemas.openxmlformats.org/package/2006/relationships"><Relationship Id="rId8" Type="http://schemas.openxmlformats.org/officeDocument/2006/relationships/tags" Target="../tags/tag26.xml"/><Relationship Id="rId13" Type="http://schemas.openxmlformats.org/officeDocument/2006/relationships/image" Target="../media/image20.svg"/><Relationship Id="rId18" Type="http://schemas.openxmlformats.org/officeDocument/2006/relationships/image" Target="../media/image25.png"/><Relationship Id="rId3" Type="http://schemas.openxmlformats.org/officeDocument/2006/relationships/tags" Target="../tags/tag21.xml"/><Relationship Id="rId21" Type="http://schemas.openxmlformats.org/officeDocument/2006/relationships/image" Target="../media/image28.png"/><Relationship Id="rId7" Type="http://schemas.openxmlformats.org/officeDocument/2006/relationships/tags" Target="../tags/tag25.xml"/><Relationship Id="rId12" Type="http://schemas.openxmlformats.org/officeDocument/2006/relationships/image" Target="../media/image19.png"/><Relationship Id="rId17" Type="http://schemas.openxmlformats.org/officeDocument/2006/relationships/image" Target="../media/image24.svg"/><Relationship Id="rId2" Type="http://schemas.openxmlformats.org/officeDocument/2006/relationships/tags" Target="../tags/tag20.xml"/><Relationship Id="rId16" Type="http://schemas.openxmlformats.org/officeDocument/2006/relationships/image" Target="../media/image23.png"/><Relationship Id="rId20" Type="http://schemas.openxmlformats.org/officeDocument/2006/relationships/image" Target="../media/image27.svg"/><Relationship Id="rId1" Type="http://schemas.openxmlformats.org/officeDocument/2006/relationships/tags" Target="../tags/tag19.xml"/><Relationship Id="rId6" Type="http://schemas.openxmlformats.org/officeDocument/2006/relationships/tags" Target="../tags/tag24.xml"/><Relationship Id="rId11" Type="http://schemas.openxmlformats.org/officeDocument/2006/relationships/image" Target="../media/image18.svg"/><Relationship Id="rId5" Type="http://schemas.openxmlformats.org/officeDocument/2006/relationships/tags" Target="../tags/tag23.xml"/><Relationship Id="rId15" Type="http://schemas.openxmlformats.org/officeDocument/2006/relationships/image" Target="../media/image22.svg"/><Relationship Id="rId10" Type="http://schemas.openxmlformats.org/officeDocument/2006/relationships/image" Target="../media/image17.png"/><Relationship Id="rId19" Type="http://schemas.openxmlformats.org/officeDocument/2006/relationships/image" Target="../media/image26.svg"/><Relationship Id="rId4" Type="http://schemas.openxmlformats.org/officeDocument/2006/relationships/tags" Target="../tags/tag22.xml"/><Relationship Id="rId9" Type="http://schemas.openxmlformats.org/officeDocument/2006/relationships/slideLayout" Target="../slideLayouts/slideLayout2.xml"/><Relationship Id="rId14" Type="http://schemas.openxmlformats.org/officeDocument/2006/relationships/image" Target="../media/image21.png"/><Relationship Id="rId22" Type="http://schemas.openxmlformats.org/officeDocument/2006/relationships/image" Target="../media/image29.sv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slideLayout" Target="../slideLayouts/slideLayout2.xml"/><Relationship Id="rId1" Type="http://schemas.openxmlformats.org/officeDocument/2006/relationships/tags" Target="../tags/tag27.xml"/><Relationship Id="rId4" Type="http://schemas.openxmlformats.org/officeDocument/2006/relationships/image" Target="../media/image3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tags" Target="../tags/tag30.xml"/><Relationship Id="rId7" Type="http://schemas.openxmlformats.org/officeDocument/2006/relationships/slideLayout" Target="../slideLayouts/slideLayout2.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s>
</file>

<file path=ppt/slides/_rels/slide30.xml.rels><?xml version="1.0" encoding="UTF-8" standalone="yes"?>
<Relationships xmlns="http://schemas.openxmlformats.org/package/2006/relationships"><Relationship Id="rId8" Type="http://schemas.openxmlformats.org/officeDocument/2006/relationships/tags" Target="../tags/tag41.xml"/><Relationship Id="rId13" Type="http://schemas.openxmlformats.org/officeDocument/2006/relationships/slideLayout" Target="../slideLayouts/slideLayout2.xml"/><Relationship Id="rId3" Type="http://schemas.openxmlformats.org/officeDocument/2006/relationships/tags" Target="../tags/tag36.xml"/><Relationship Id="rId7" Type="http://schemas.openxmlformats.org/officeDocument/2006/relationships/tags" Target="../tags/tag40.xml"/><Relationship Id="rId12" Type="http://schemas.openxmlformats.org/officeDocument/2006/relationships/tags" Target="../tags/tag45.xml"/><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tags" Target="../tags/tag39.xml"/><Relationship Id="rId11" Type="http://schemas.openxmlformats.org/officeDocument/2006/relationships/tags" Target="../tags/tag44.xml"/><Relationship Id="rId5" Type="http://schemas.openxmlformats.org/officeDocument/2006/relationships/tags" Target="../tags/tag38.xml"/><Relationship Id="rId10" Type="http://schemas.openxmlformats.org/officeDocument/2006/relationships/tags" Target="../tags/tag43.xml"/><Relationship Id="rId4" Type="http://schemas.openxmlformats.org/officeDocument/2006/relationships/tags" Target="../tags/tag37.xml"/><Relationship Id="rId9" Type="http://schemas.openxmlformats.org/officeDocument/2006/relationships/tags" Target="../tags/tag42.xml"/></Relationships>
</file>

<file path=ppt/slides/_rels/slide31.xml.rels><?xml version="1.0" encoding="UTF-8" standalone="yes"?>
<Relationships xmlns="http://schemas.openxmlformats.org/package/2006/relationships"><Relationship Id="rId8" Type="http://schemas.openxmlformats.org/officeDocument/2006/relationships/diagramData" Target="../diagrams/data1.xml"/><Relationship Id="rId3" Type="http://schemas.openxmlformats.org/officeDocument/2006/relationships/tags" Target="../tags/tag48.xml"/><Relationship Id="rId7" Type="http://schemas.openxmlformats.org/officeDocument/2006/relationships/slideLayout" Target="../slideLayouts/slideLayout2.xml"/><Relationship Id="rId12" Type="http://schemas.microsoft.com/office/2007/relationships/diagramDrawing" Target="../diagrams/drawing1.xml"/><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tags" Target="../tags/tag51.xml"/><Relationship Id="rId11" Type="http://schemas.openxmlformats.org/officeDocument/2006/relationships/diagramColors" Target="../diagrams/colors1.xml"/><Relationship Id="rId5" Type="http://schemas.openxmlformats.org/officeDocument/2006/relationships/tags" Target="../tags/tag50.xml"/><Relationship Id="rId10" Type="http://schemas.openxmlformats.org/officeDocument/2006/relationships/diagramQuickStyle" Target="../diagrams/quickStyle1.xml"/><Relationship Id="rId4" Type="http://schemas.openxmlformats.org/officeDocument/2006/relationships/tags" Target="../tags/tag49.xml"/><Relationship Id="rId9" Type="http://schemas.openxmlformats.org/officeDocument/2006/relationships/diagramLayout" Target="../diagrams/layout1.xml"/></Relationships>
</file>

<file path=ppt/slides/_rels/slide32.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tags" Target="../tags/tag54.xml"/><Relationship Id="rId7" Type="http://schemas.openxmlformats.org/officeDocument/2006/relationships/slideLayout" Target="../slideLayouts/slideLayout2.xml"/><Relationship Id="rId12" Type="http://schemas.microsoft.com/office/2007/relationships/diagramDrawing" Target="../diagrams/drawing2.xml"/><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tags" Target="../tags/tag57.xml"/><Relationship Id="rId11" Type="http://schemas.openxmlformats.org/officeDocument/2006/relationships/diagramColors" Target="../diagrams/colors2.xml"/><Relationship Id="rId5" Type="http://schemas.openxmlformats.org/officeDocument/2006/relationships/tags" Target="../tags/tag56.xml"/><Relationship Id="rId10" Type="http://schemas.openxmlformats.org/officeDocument/2006/relationships/diagramQuickStyle" Target="../diagrams/quickStyle2.xml"/><Relationship Id="rId4" Type="http://schemas.openxmlformats.org/officeDocument/2006/relationships/tags" Target="../tags/tag55.xml"/><Relationship Id="rId9" Type="http://schemas.openxmlformats.org/officeDocument/2006/relationships/diagramLayout" Target="../diagrams/layout2.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slideLayout" Target="../slideLayouts/slideLayout2.xml"/><Relationship Id="rId1" Type="http://schemas.openxmlformats.org/officeDocument/2006/relationships/tags" Target="../tags/tag58.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slideLayout" Target="../slideLayouts/slideLayout2.xml"/><Relationship Id="rId1" Type="http://schemas.openxmlformats.org/officeDocument/2006/relationships/tags" Target="../tags/tag59.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35.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62.xml"/><Relationship Id="rId7" Type="http://schemas.openxmlformats.org/officeDocument/2006/relationships/tags" Target="../tags/tag66.xml"/><Relationship Id="rId2" Type="http://schemas.openxmlformats.org/officeDocument/2006/relationships/tags" Target="../tags/tag61.xml"/><Relationship Id="rId1" Type="http://schemas.openxmlformats.org/officeDocument/2006/relationships/tags" Target="../tags/tag60.xml"/><Relationship Id="rId6" Type="http://schemas.openxmlformats.org/officeDocument/2006/relationships/tags" Target="../tags/tag65.xml"/><Relationship Id="rId5" Type="http://schemas.openxmlformats.org/officeDocument/2006/relationships/tags" Target="../tags/tag64.xml"/><Relationship Id="rId4" Type="http://schemas.openxmlformats.org/officeDocument/2006/relationships/tags" Target="../tags/tag63.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7.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9.xml"/><Relationship Id="rId1" Type="http://schemas.openxmlformats.org/officeDocument/2006/relationships/tags" Target="../tags/tag68.xml"/></Relationships>
</file>

<file path=ppt/slides/_rels/slide38.xml.rels><?xml version="1.0" encoding="UTF-8" standalone="yes"?>
<Relationships xmlns="http://schemas.openxmlformats.org/package/2006/relationships"><Relationship Id="rId13" Type="http://schemas.openxmlformats.org/officeDocument/2006/relationships/tags" Target="../tags/tag82.xml"/><Relationship Id="rId18" Type="http://schemas.openxmlformats.org/officeDocument/2006/relationships/tags" Target="../tags/tag87.xml"/><Relationship Id="rId26" Type="http://schemas.openxmlformats.org/officeDocument/2006/relationships/tags" Target="../tags/tag95.xml"/><Relationship Id="rId21" Type="http://schemas.openxmlformats.org/officeDocument/2006/relationships/tags" Target="../tags/tag90.xml"/><Relationship Id="rId34" Type="http://schemas.openxmlformats.org/officeDocument/2006/relationships/tags" Target="../tags/tag103.xml"/><Relationship Id="rId7" Type="http://schemas.openxmlformats.org/officeDocument/2006/relationships/tags" Target="../tags/tag76.xml"/><Relationship Id="rId12" Type="http://schemas.openxmlformats.org/officeDocument/2006/relationships/tags" Target="../tags/tag81.xml"/><Relationship Id="rId17" Type="http://schemas.openxmlformats.org/officeDocument/2006/relationships/tags" Target="../tags/tag86.xml"/><Relationship Id="rId25" Type="http://schemas.openxmlformats.org/officeDocument/2006/relationships/tags" Target="../tags/tag94.xml"/><Relationship Id="rId33" Type="http://schemas.openxmlformats.org/officeDocument/2006/relationships/tags" Target="../tags/tag102.xml"/><Relationship Id="rId2" Type="http://schemas.openxmlformats.org/officeDocument/2006/relationships/tags" Target="../tags/tag71.xml"/><Relationship Id="rId16" Type="http://schemas.openxmlformats.org/officeDocument/2006/relationships/tags" Target="../tags/tag85.xml"/><Relationship Id="rId20" Type="http://schemas.openxmlformats.org/officeDocument/2006/relationships/tags" Target="../tags/tag89.xml"/><Relationship Id="rId29" Type="http://schemas.openxmlformats.org/officeDocument/2006/relationships/tags" Target="../tags/tag98.xml"/><Relationship Id="rId1" Type="http://schemas.openxmlformats.org/officeDocument/2006/relationships/tags" Target="../tags/tag70.xml"/><Relationship Id="rId6" Type="http://schemas.openxmlformats.org/officeDocument/2006/relationships/tags" Target="../tags/tag75.xml"/><Relationship Id="rId11" Type="http://schemas.openxmlformats.org/officeDocument/2006/relationships/tags" Target="../tags/tag80.xml"/><Relationship Id="rId24" Type="http://schemas.openxmlformats.org/officeDocument/2006/relationships/tags" Target="../tags/tag93.xml"/><Relationship Id="rId32" Type="http://schemas.openxmlformats.org/officeDocument/2006/relationships/tags" Target="../tags/tag101.xml"/><Relationship Id="rId37" Type="http://schemas.openxmlformats.org/officeDocument/2006/relationships/slideLayout" Target="../slideLayouts/slideLayout2.xml"/><Relationship Id="rId5" Type="http://schemas.openxmlformats.org/officeDocument/2006/relationships/tags" Target="../tags/tag74.xml"/><Relationship Id="rId15" Type="http://schemas.openxmlformats.org/officeDocument/2006/relationships/tags" Target="../tags/tag84.xml"/><Relationship Id="rId23" Type="http://schemas.openxmlformats.org/officeDocument/2006/relationships/tags" Target="../tags/tag92.xml"/><Relationship Id="rId28" Type="http://schemas.openxmlformats.org/officeDocument/2006/relationships/tags" Target="../tags/tag97.xml"/><Relationship Id="rId36" Type="http://schemas.openxmlformats.org/officeDocument/2006/relationships/tags" Target="../tags/tag105.xml"/><Relationship Id="rId10" Type="http://schemas.openxmlformats.org/officeDocument/2006/relationships/tags" Target="../tags/tag79.xml"/><Relationship Id="rId19" Type="http://schemas.openxmlformats.org/officeDocument/2006/relationships/tags" Target="../tags/tag88.xml"/><Relationship Id="rId31" Type="http://schemas.openxmlformats.org/officeDocument/2006/relationships/tags" Target="../tags/tag100.xml"/><Relationship Id="rId4" Type="http://schemas.openxmlformats.org/officeDocument/2006/relationships/tags" Target="../tags/tag73.xml"/><Relationship Id="rId9" Type="http://schemas.openxmlformats.org/officeDocument/2006/relationships/tags" Target="../tags/tag78.xml"/><Relationship Id="rId14" Type="http://schemas.openxmlformats.org/officeDocument/2006/relationships/tags" Target="../tags/tag83.xml"/><Relationship Id="rId22" Type="http://schemas.openxmlformats.org/officeDocument/2006/relationships/tags" Target="../tags/tag91.xml"/><Relationship Id="rId27" Type="http://schemas.openxmlformats.org/officeDocument/2006/relationships/tags" Target="../tags/tag96.xml"/><Relationship Id="rId30" Type="http://schemas.openxmlformats.org/officeDocument/2006/relationships/tags" Target="../tags/tag99.xml"/><Relationship Id="rId35" Type="http://schemas.openxmlformats.org/officeDocument/2006/relationships/tags" Target="../tags/tag104.xml"/><Relationship Id="rId8" Type="http://schemas.openxmlformats.org/officeDocument/2006/relationships/tags" Target="../tags/tag77.xml"/><Relationship Id="rId3" Type="http://schemas.openxmlformats.org/officeDocument/2006/relationships/tags" Target="../tags/tag72.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7.xml"/><Relationship Id="rId1" Type="http://schemas.openxmlformats.org/officeDocument/2006/relationships/tags" Target="../tags/tag106.xml"/></Relationships>
</file>

<file path=ppt/slides/_rels/slide40.xml.rels><?xml version="1.0" encoding="UTF-8" standalone="yes"?>
<Relationships xmlns="http://schemas.openxmlformats.org/package/2006/relationships"><Relationship Id="rId3" Type="http://schemas.openxmlformats.org/officeDocument/2006/relationships/tags" Target="../tags/tag110.xml"/><Relationship Id="rId7" Type="http://schemas.openxmlformats.org/officeDocument/2006/relationships/slideLayout" Target="../slideLayouts/slideLayout2.xml"/><Relationship Id="rId2" Type="http://schemas.openxmlformats.org/officeDocument/2006/relationships/tags" Target="../tags/tag109.xml"/><Relationship Id="rId1" Type="http://schemas.openxmlformats.org/officeDocument/2006/relationships/tags" Target="../tags/tag108.xml"/><Relationship Id="rId6" Type="http://schemas.openxmlformats.org/officeDocument/2006/relationships/tags" Target="../tags/tag113.xml"/><Relationship Id="rId5" Type="http://schemas.openxmlformats.org/officeDocument/2006/relationships/tags" Target="../tags/tag112.xml"/><Relationship Id="rId4" Type="http://schemas.openxmlformats.org/officeDocument/2006/relationships/tags" Target="../tags/tag11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tags" Target="../tags/tag121.xml"/><Relationship Id="rId13" Type="http://schemas.openxmlformats.org/officeDocument/2006/relationships/slideLayout" Target="../slideLayouts/slideLayout2.xml"/><Relationship Id="rId18" Type="http://schemas.openxmlformats.org/officeDocument/2006/relationships/image" Target="../media/image36.png"/><Relationship Id="rId3" Type="http://schemas.openxmlformats.org/officeDocument/2006/relationships/tags" Target="../tags/tag116.xml"/><Relationship Id="rId21" Type="http://schemas.openxmlformats.org/officeDocument/2006/relationships/image" Target="../media/image39.svg"/><Relationship Id="rId7" Type="http://schemas.openxmlformats.org/officeDocument/2006/relationships/tags" Target="../tags/tag120.xml"/><Relationship Id="rId12" Type="http://schemas.openxmlformats.org/officeDocument/2006/relationships/tags" Target="../tags/tag125.xml"/><Relationship Id="rId17" Type="http://schemas.openxmlformats.org/officeDocument/2006/relationships/image" Target="../media/image35.svg"/><Relationship Id="rId2" Type="http://schemas.openxmlformats.org/officeDocument/2006/relationships/tags" Target="../tags/tag115.xml"/><Relationship Id="rId16" Type="http://schemas.openxmlformats.org/officeDocument/2006/relationships/image" Target="../media/image34.png"/><Relationship Id="rId20" Type="http://schemas.openxmlformats.org/officeDocument/2006/relationships/image" Target="../media/image38.png"/><Relationship Id="rId1" Type="http://schemas.openxmlformats.org/officeDocument/2006/relationships/tags" Target="../tags/tag114.xml"/><Relationship Id="rId6" Type="http://schemas.openxmlformats.org/officeDocument/2006/relationships/tags" Target="../tags/tag119.xml"/><Relationship Id="rId11" Type="http://schemas.openxmlformats.org/officeDocument/2006/relationships/tags" Target="../tags/tag124.xml"/><Relationship Id="rId5" Type="http://schemas.openxmlformats.org/officeDocument/2006/relationships/tags" Target="../tags/tag118.xml"/><Relationship Id="rId15" Type="http://schemas.openxmlformats.org/officeDocument/2006/relationships/image" Target="../media/image33.svg"/><Relationship Id="rId10" Type="http://schemas.openxmlformats.org/officeDocument/2006/relationships/tags" Target="../tags/tag123.xml"/><Relationship Id="rId19" Type="http://schemas.openxmlformats.org/officeDocument/2006/relationships/image" Target="../media/image37.svg"/><Relationship Id="rId4" Type="http://schemas.openxmlformats.org/officeDocument/2006/relationships/tags" Target="../tags/tag117.xml"/><Relationship Id="rId9" Type="http://schemas.openxmlformats.org/officeDocument/2006/relationships/tags" Target="../tags/tag122.xml"/><Relationship Id="rId14" Type="http://schemas.openxmlformats.org/officeDocument/2006/relationships/image" Target="../media/image3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tags" Target="../tags/tag128.xml"/><Relationship Id="rId2" Type="http://schemas.openxmlformats.org/officeDocument/2006/relationships/tags" Target="../tags/tag127.xml"/><Relationship Id="rId1" Type="http://schemas.openxmlformats.org/officeDocument/2006/relationships/tags" Target="../tags/tag126.xml"/><Relationship Id="rId5" Type="http://schemas.openxmlformats.org/officeDocument/2006/relationships/slideLayout" Target="../slideLayouts/slideLayout2.xml"/><Relationship Id="rId4" Type="http://schemas.openxmlformats.org/officeDocument/2006/relationships/tags" Target="../tags/tag12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8" Type="http://schemas.openxmlformats.org/officeDocument/2006/relationships/tags" Target="../tags/tag137.xml"/><Relationship Id="rId13" Type="http://schemas.openxmlformats.org/officeDocument/2006/relationships/tags" Target="../tags/tag142.xml"/><Relationship Id="rId18" Type="http://schemas.openxmlformats.org/officeDocument/2006/relationships/tags" Target="../tags/tag147.xml"/><Relationship Id="rId3" Type="http://schemas.openxmlformats.org/officeDocument/2006/relationships/tags" Target="../tags/tag132.xml"/><Relationship Id="rId7" Type="http://schemas.openxmlformats.org/officeDocument/2006/relationships/tags" Target="../tags/tag136.xml"/><Relationship Id="rId12" Type="http://schemas.openxmlformats.org/officeDocument/2006/relationships/tags" Target="../tags/tag141.xml"/><Relationship Id="rId17" Type="http://schemas.openxmlformats.org/officeDocument/2006/relationships/tags" Target="../tags/tag146.xml"/><Relationship Id="rId2" Type="http://schemas.openxmlformats.org/officeDocument/2006/relationships/tags" Target="../tags/tag131.xml"/><Relationship Id="rId16" Type="http://schemas.openxmlformats.org/officeDocument/2006/relationships/tags" Target="../tags/tag145.xml"/><Relationship Id="rId20" Type="http://schemas.openxmlformats.org/officeDocument/2006/relationships/slideLayout" Target="../slideLayouts/slideLayout2.xml"/><Relationship Id="rId1" Type="http://schemas.openxmlformats.org/officeDocument/2006/relationships/tags" Target="../tags/tag130.xml"/><Relationship Id="rId6" Type="http://schemas.openxmlformats.org/officeDocument/2006/relationships/tags" Target="../tags/tag135.xml"/><Relationship Id="rId11" Type="http://schemas.openxmlformats.org/officeDocument/2006/relationships/tags" Target="../tags/tag140.xml"/><Relationship Id="rId5" Type="http://schemas.openxmlformats.org/officeDocument/2006/relationships/tags" Target="../tags/tag134.xml"/><Relationship Id="rId15" Type="http://schemas.openxmlformats.org/officeDocument/2006/relationships/tags" Target="../tags/tag144.xml"/><Relationship Id="rId10" Type="http://schemas.openxmlformats.org/officeDocument/2006/relationships/tags" Target="../tags/tag139.xml"/><Relationship Id="rId19" Type="http://schemas.openxmlformats.org/officeDocument/2006/relationships/tags" Target="../tags/tag148.xml"/><Relationship Id="rId4" Type="http://schemas.openxmlformats.org/officeDocument/2006/relationships/tags" Target="../tags/tag133.xml"/><Relationship Id="rId9" Type="http://schemas.openxmlformats.org/officeDocument/2006/relationships/tags" Target="../tags/tag138.xml"/><Relationship Id="rId14" Type="http://schemas.openxmlformats.org/officeDocument/2006/relationships/tags" Target="../tags/tag143.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9.xml"/><Relationship Id="rId1" Type="http://schemas.openxmlformats.org/officeDocument/2006/relationships/vmlDrawing" Target="../drawings/vmlDrawing1.vml"/><Relationship Id="rId5" Type="http://schemas.openxmlformats.org/officeDocument/2006/relationships/image" Target="../media/image40.emf"/><Relationship Id="rId4" Type="http://schemas.openxmlformats.org/officeDocument/2006/relationships/oleObject" Target="../embeddings/oleObject1.bin"/></Relationships>
</file>

<file path=ppt/slides/_rels/slide4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43.svg"/></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1.xml"/><Relationship Id="rId1" Type="http://schemas.openxmlformats.org/officeDocument/2006/relationships/tags" Target="../tags/tag150.xml"/><Relationship Id="rId5" Type="http://schemas.openxmlformats.org/officeDocument/2006/relationships/image" Target="../media/image43.svg"/><Relationship Id="rId4" Type="http://schemas.openxmlformats.org/officeDocument/2006/relationships/image" Target="../media/image4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2.xml"/><Relationship Id="rId1" Type="http://schemas.openxmlformats.org/officeDocument/2006/relationships/vmlDrawing" Target="../drawings/vmlDrawing2.vml"/><Relationship Id="rId5" Type="http://schemas.openxmlformats.org/officeDocument/2006/relationships/image" Target="../media/image44.emf"/><Relationship Id="rId4" Type="http://schemas.openxmlformats.org/officeDocument/2006/relationships/oleObject" Target="../embeddings/oleObject2.bin"/></Relationships>
</file>

<file path=ppt/slides/_rels/slide5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slideLayout" Target="../slideLayouts/slideLayout2.xml"/><Relationship Id="rId1" Type="http://schemas.openxmlformats.org/officeDocument/2006/relationships/tags" Target="../tags/tag15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slideLayout" Target="../slideLayouts/slideLayout2.xml"/><Relationship Id="rId1" Type="http://schemas.openxmlformats.org/officeDocument/2006/relationships/tags" Target="../tags/tag15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tags" Target="../tags/tag157.xml"/><Relationship Id="rId2" Type="http://schemas.openxmlformats.org/officeDocument/2006/relationships/tags" Target="../tags/tag156.xml"/><Relationship Id="rId1" Type="http://schemas.openxmlformats.org/officeDocument/2006/relationships/tags" Target="../tags/tag155.xml"/><Relationship Id="rId6" Type="http://schemas.openxmlformats.org/officeDocument/2006/relationships/slideLayout" Target="../slideLayouts/slideLayout2.xml"/><Relationship Id="rId5" Type="http://schemas.openxmlformats.org/officeDocument/2006/relationships/tags" Target="../tags/tag159.xml"/><Relationship Id="rId4" Type="http://schemas.openxmlformats.org/officeDocument/2006/relationships/tags" Target="../tags/tag158.xml"/></Relationships>
</file>

<file path=ppt/slides/_rels/slide59.xml.rels><?xml version="1.0" encoding="UTF-8" standalone="yes"?>
<Relationships xmlns="http://schemas.openxmlformats.org/package/2006/relationships"><Relationship Id="rId3" Type="http://schemas.openxmlformats.org/officeDocument/2006/relationships/tags" Target="../tags/tag162.xml"/><Relationship Id="rId2" Type="http://schemas.openxmlformats.org/officeDocument/2006/relationships/tags" Target="../tags/tag161.xml"/><Relationship Id="rId1" Type="http://schemas.openxmlformats.org/officeDocument/2006/relationships/tags" Target="../tags/tag160.xml"/><Relationship Id="rId6" Type="http://schemas.openxmlformats.org/officeDocument/2006/relationships/slideLayout" Target="../slideLayouts/slideLayout2.xml"/><Relationship Id="rId5" Type="http://schemas.openxmlformats.org/officeDocument/2006/relationships/tags" Target="../tags/tag164.xml"/><Relationship Id="rId4" Type="http://schemas.openxmlformats.org/officeDocument/2006/relationships/tags" Target="../tags/tag163.xml"/></Relationships>
</file>

<file path=ppt/slides/_rels/slide60.xml.rels><?xml version="1.0" encoding="UTF-8" standalone="yes"?>
<Relationships xmlns="http://schemas.openxmlformats.org/package/2006/relationships"><Relationship Id="rId3" Type="http://schemas.openxmlformats.org/officeDocument/2006/relationships/tags" Target="../tags/tag167.xml"/><Relationship Id="rId2" Type="http://schemas.openxmlformats.org/officeDocument/2006/relationships/tags" Target="../tags/tag166.xml"/><Relationship Id="rId1" Type="http://schemas.openxmlformats.org/officeDocument/2006/relationships/tags" Target="../tags/tag165.xml"/><Relationship Id="rId6" Type="http://schemas.openxmlformats.org/officeDocument/2006/relationships/slideLayout" Target="../slideLayouts/slideLayout2.xml"/><Relationship Id="rId5" Type="http://schemas.openxmlformats.org/officeDocument/2006/relationships/tags" Target="../tags/tag169.xml"/><Relationship Id="rId4" Type="http://schemas.openxmlformats.org/officeDocument/2006/relationships/tags" Target="../tags/tag168.xml"/></Relationships>
</file>

<file path=ppt/slides/_rels/slide61.xml.rels><?xml version="1.0" encoding="UTF-8" standalone="yes"?>
<Relationships xmlns="http://schemas.openxmlformats.org/package/2006/relationships"><Relationship Id="rId3" Type="http://schemas.openxmlformats.org/officeDocument/2006/relationships/tags" Target="../tags/tag172.xml"/><Relationship Id="rId2" Type="http://schemas.openxmlformats.org/officeDocument/2006/relationships/tags" Target="../tags/tag171.xml"/><Relationship Id="rId1" Type="http://schemas.openxmlformats.org/officeDocument/2006/relationships/tags" Target="../tags/tag170.xml"/><Relationship Id="rId6" Type="http://schemas.openxmlformats.org/officeDocument/2006/relationships/slideLayout" Target="../slideLayouts/slideLayout2.xml"/><Relationship Id="rId5" Type="http://schemas.openxmlformats.org/officeDocument/2006/relationships/tags" Target="../tags/tag174.xml"/><Relationship Id="rId4" Type="http://schemas.openxmlformats.org/officeDocument/2006/relationships/tags" Target="../tags/tag17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5.xml"/></Relationships>
</file>

<file path=ppt/slides/_rels/slide69.xml.rels><?xml version="1.0" encoding="UTF-8" standalone="yes"?>
<Relationships xmlns="http://schemas.openxmlformats.org/package/2006/relationships"><Relationship Id="rId3" Type="http://schemas.openxmlformats.org/officeDocument/2006/relationships/tags" Target="../tags/tag178.xml"/><Relationship Id="rId7" Type="http://schemas.openxmlformats.org/officeDocument/2006/relationships/slideLayout" Target="../slideLayouts/slideLayout2.xml"/><Relationship Id="rId2" Type="http://schemas.openxmlformats.org/officeDocument/2006/relationships/tags" Target="../tags/tag177.xml"/><Relationship Id="rId1" Type="http://schemas.openxmlformats.org/officeDocument/2006/relationships/tags" Target="../tags/tag176.xml"/><Relationship Id="rId6" Type="http://schemas.openxmlformats.org/officeDocument/2006/relationships/tags" Target="../tags/tag181.xml"/><Relationship Id="rId5" Type="http://schemas.openxmlformats.org/officeDocument/2006/relationships/tags" Target="../tags/tag180.xml"/><Relationship Id="rId4" Type="http://schemas.openxmlformats.org/officeDocument/2006/relationships/tags" Target="../tags/tag179.xml"/></Relationships>
</file>

<file path=ppt/slides/_rels/slide7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slideLayout" Target="../slideLayouts/slideLayout2.xml"/><Relationship Id="rId1" Type="http://schemas.openxmlformats.org/officeDocument/2006/relationships/tags" Target="../tags/tag182.xml"/></Relationships>
</file>

<file path=ppt/slides/_rels/slide7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8" Type="http://schemas.openxmlformats.org/officeDocument/2006/relationships/tags" Target="../tags/tag191.xml"/><Relationship Id="rId3" Type="http://schemas.openxmlformats.org/officeDocument/2006/relationships/tags" Target="../tags/tag186.xml"/><Relationship Id="rId7" Type="http://schemas.openxmlformats.org/officeDocument/2006/relationships/tags" Target="../tags/tag190.xml"/><Relationship Id="rId2" Type="http://schemas.openxmlformats.org/officeDocument/2006/relationships/tags" Target="../tags/tag185.xml"/><Relationship Id="rId1" Type="http://schemas.openxmlformats.org/officeDocument/2006/relationships/tags" Target="../tags/tag184.xml"/><Relationship Id="rId6" Type="http://schemas.openxmlformats.org/officeDocument/2006/relationships/tags" Target="../tags/tag189.xml"/><Relationship Id="rId5" Type="http://schemas.openxmlformats.org/officeDocument/2006/relationships/tags" Target="../tags/tag188.xml"/><Relationship Id="rId4" Type="http://schemas.openxmlformats.org/officeDocument/2006/relationships/tags" Target="../tags/tag187.xml"/><Relationship Id="rId9"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427821" y="2558812"/>
            <a:ext cx="4246880" cy="583565"/>
          </a:xfrm>
          <a:prstGeom prst="rect">
            <a:avLst/>
          </a:prstGeom>
          <a:noFill/>
        </p:spPr>
        <p:txBody>
          <a:bodyPr wrap="none" rtlCol="0">
            <a:spAutoFit/>
          </a:bodyPr>
          <a:lstStyle/>
          <a:p>
            <a:r>
              <a:rPr kumimoji="1" lang="zh-CN" altLang="en-US" sz="3200" dirty="0">
                <a:solidFill>
                  <a:schemeClr val="bg1"/>
                </a:solidFill>
                <a:latin typeface="微软雅黑" panose="020B0503020204020204" pitchFamily="34" charset="-122"/>
                <a:ea typeface="微软雅黑" panose="020B0503020204020204" pitchFamily="34" charset="-122"/>
              </a:rPr>
              <a:t>第十章：需求获取方法</a:t>
            </a:r>
          </a:p>
        </p:txBody>
      </p:sp>
      <p:sp>
        <p:nvSpPr>
          <p:cNvPr id="3" name="日期占位符 3"/>
          <p:cNvSpPr txBox="1"/>
          <p:nvPr/>
        </p:nvSpPr>
        <p:spPr>
          <a:xfrm>
            <a:off x="3543293" y="5362256"/>
            <a:ext cx="20574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F214E5E3-2818-B64F-840F-A7671DDB136C}" type="datetime1">
              <a:rPr kumimoji="1" lang="zh-CN" altLang="en-US" sz="1400" smtClean="0"/>
              <a:t>2025/5/29</a:t>
            </a:fld>
            <a:endParaRPr kumimoji="1" lang="zh-CN" alt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目录</a:t>
            </a:r>
          </a:p>
        </p:txBody>
      </p:sp>
      <p:sp>
        <p:nvSpPr>
          <p:cNvPr id="7" name="内容占位符 2"/>
          <p:cNvSpPr txBox="1"/>
          <p:nvPr/>
        </p:nvSpPr>
        <p:spPr>
          <a:xfrm>
            <a:off x="628650" y="1413672"/>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dirty="0">
                <a:solidFill>
                  <a:srgbClr val="FF0000"/>
                </a:solidFill>
                <a:latin typeface="楷体" panose="02010609060101010101" pitchFamily="49" charset="-122"/>
                <a:ea typeface="楷体" panose="02010609060101010101" pitchFamily="49" charset="-122"/>
              </a:rPr>
              <a:t>概述</a:t>
            </a:r>
          </a:p>
          <a:p>
            <a:r>
              <a:rPr kumimoji="1" lang="zh-CN" altLang="en-US" dirty="0">
                <a:latin typeface="楷体" panose="02010609060101010101" pitchFamily="49" charset="-122"/>
                <a:ea typeface="楷体" panose="02010609060101010101" pitchFamily="49" charset="-122"/>
              </a:rPr>
              <a:t>面谈</a:t>
            </a:r>
          </a:p>
          <a:p>
            <a:r>
              <a:rPr kumimoji="1" lang="zh-CN" altLang="en-US" dirty="0">
                <a:latin typeface="楷体" panose="02010609060101010101" pitchFamily="49" charset="-122"/>
                <a:ea typeface="楷体" panose="02010609060101010101" pitchFamily="49" charset="-122"/>
              </a:rPr>
              <a:t>原型</a:t>
            </a:r>
          </a:p>
          <a:p>
            <a:r>
              <a:rPr kumimoji="1" lang="zh-CN" altLang="en-US" dirty="0">
                <a:latin typeface="楷体" panose="02010609060101010101" pitchFamily="49" charset="-122"/>
                <a:ea typeface="楷体" panose="02010609060101010101" pitchFamily="49" charset="-122"/>
              </a:rPr>
              <a:t>观察</a:t>
            </a:r>
          </a:p>
          <a:p>
            <a:r>
              <a:rPr kumimoji="1" lang="zh-CN" altLang="en-US" dirty="0">
                <a:latin typeface="楷体" panose="02010609060101010101" pitchFamily="49" charset="-122"/>
                <a:ea typeface="楷体" panose="02010609060101010101" pitchFamily="49" charset="-122"/>
              </a:rPr>
              <a:t>文档审查</a:t>
            </a:r>
            <a:endParaRPr kumimoji="1" lang="en-US" altLang="zh-CN" dirty="0">
              <a:latin typeface="楷体" panose="02010609060101010101" pitchFamily="49" charset="-122"/>
              <a:ea typeface="楷体" panose="02010609060101010101" pitchFamily="49" charset="-122"/>
            </a:endParaRPr>
          </a:p>
          <a:p>
            <a:endParaRPr kumimoji="1" lang="en-US" altLang="zh-CN" dirty="0">
              <a:latin typeface="楷体" panose="02010609060101010101" pitchFamily="49" charset="-122"/>
              <a:ea typeface="楷体" panose="02010609060101010101" pitchFamily="49" charset="-122"/>
            </a:endParaRPr>
          </a:p>
          <a:p>
            <a:endParaRPr kumimoji="1" lang="en-US" altLang="zh-CN" dirty="0">
              <a:latin typeface="楷体" panose="02010609060101010101" pitchFamily="49" charset="-122"/>
              <a:ea typeface="楷体" panose="02010609060101010101" pitchFamily="49" charset="-122"/>
            </a:endParaRPr>
          </a:p>
        </p:txBody>
      </p:sp>
      <p:sp>
        <p:nvSpPr>
          <p:cNvPr id="8" name="文本框 7"/>
          <p:cNvSpPr txBox="1"/>
          <p:nvPr/>
        </p:nvSpPr>
        <p:spPr>
          <a:xfrm>
            <a:off x="151596" y="16999"/>
            <a:ext cx="697627" cy="40011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目录</a:t>
            </a:r>
            <a:endParaRPr kumimoji="1" lang="en-US" altLang="zh-CN" sz="2000" dirty="0">
              <a:solidFill>
                <a:schemeClr val="bg1"/>
              </a:solidFill>
              <a:latin typeface="楷体" panose="02010609060101010101" pitchFamily="49" charset="-122"/>
              <a:ea typeface="楷体" panose="02010609060101010101" pitchFamily="49"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CN" sz="3200" b="1" dirty="0">
                <a:latin typeface="微软雅黑" panose="020B0503020204020204" pitchFamily="34" charset="-122"/>
                <a:ea typeface="微软雅黑" panose="020B0503020204020204" pitchFamily="34" charset="-122"/>
              </a:rPr>
              <a:t> </a:t>
            </a:r>
            <a:r>
              <a:rPr kumimoji="1" lang="zh-CN" altLang="en-US" sz="3200" b="1" dirty="0">
                <a:latin typeface="微软雅黑" panose="020B0503020204020204" pitchFamily="34" charset="-122"/>
                <a:ea typeface="微软雅黑" panose="020B0503020204020204" pitchFamily="34" charset="-122"/>
              </a:rPr>
              <a:t>常用的需求获取方法</a:t>
            </a:r>
          </a:p>
        </p:txBody>
      </p:sp>
      <p:sp>
        <p:nvSpPr>
          <p:cNvPr id="3" name="内容占位符 2"/>
          <p:cNvSpPr txBox="1"/>
          <p:nvPr/>
        </p:nvSpPr>
        <p:spPr>
          <a:xfrm>
            <a:off x="628650" y="1413672"/>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kumimoji="1" lang="en-US" altLang="zh-CN" dirty="0">
              <a:latin typeface="楷体" panose="02010609060101010101" pitchFamily="49" charset="-122"/>
              <a:ea typeface="楷体" panose="02010609060101010101" pitchFamily="49" charset="-122"/>
            </a:endParaRPr>
          </a:p>
        </p:txBody>
      </p:sp>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概述</a:t>
            </a:r>
          </a:p>
        </p:txBody>
      </p:sp>
      <p:graphicFrame>
        <p:nvGraphicFramePr>
          <p:cNvPr id="7" name="表格 6"/>
          <p:cNvGraphicFramePr/>
          <p:nvPr>
            <p:custDataLst>
              <p:tags r:id="rId1"/>
            </p:custDataLst>
          </p:nvPr>
        </p:nvGraphicFramePr>
        <p:xfrm>
          <a:off x="513080" y="1252220"/>
          <a:ext cx="8297545" cy="5086985"/>
        </p:xfrm>
        <a:graphic>
          <a:graphicData uri="http://schemas.openxmlformats.org/drawingml/2006/table">
            <a:tbl>
              <a:tblPr firstRow="1" bandRow="1">
                <a:tableStyleId>{5C22544A-7EE6-4342-B048-85BDC9FD1C3A}</a:tableStyleId>
              </a:tblPr>
              <a:tblGrid>
                <a:gridCol w="2088515">
                  <a:extLst>
                    <a:ext uri="{9D8B030D-6E8A-4147-A177-3AD203B41FA5}">
                      <a16:colId xmlns:a16="http://schemas.microsoft.com/office/drawing/2014/main" val="20000"/>
                    </a:ext>
                  </a:extLst>
                </a:gridCol>
                <a:gridCol w="6209030">
                  <a:extLst>
                    <a:ext uri="{9D8B030D-6E8A-4147-A177-3AD203B41FA5}">
                      <a16:colId xmlns:a16="http://schemas.microsoft.com/office/drawing/2014/main" val="20001"/>
                    </a:ext>
                  </a:extLst>
                </a:gridCol>
              </a:tblGrid>
              <a:tr h="495935">
                <a:tc>
                  <a:txBody>
                    <a:bodyPr/>
                    <a:lstStyle/>
                    <a:p>
                      <a:pPr algn="ctr">
                        <a:buNone/>
                      </a:pPr>
                      <a:r>
                        <a:rPr lang="zh-CN" altLang="en-US" b="0">
                          <a:latin typeface="楷体" panose="02010609060101010101" pitchFamily="49" charset="-122"/>
                          <a:ea typeface="楷体" panose="02010609060101010101" pitchFamily="49" charset="-122"/>
                        </a:rPr>
                        <a:t>方法名称</a:t>
                      </a:r>
                    </a:p>
                  </a:txBody>
                  <a:tcPr anchor="ctr"/>
                </a:tc>
                <a:tc>
                  <a:txBody>
                    <a:bodyPr/>
                    <a:lstStyle/>
                    <a:p>
                      <a:pPr algn="ctr">
                        <a:buNone/>
                      </a:pPr>
                      <a:r>
                        <a:rPr lang="zh-CN" altLang="en-US" b="0">
                          <a:latin typeface="楷体" panose="02010609060101010101" pitchFamily="49" charset="-122"/>
                          <a:ea typeface="楷体" panose="02010609060101010101" pitchFamily="49" charset="-122"/>
                        </a:rPr>
                        <a:t>方法介绍</a:t>
                      </a:r>
                    </a:p>
                  </a:txBody>
                  <a:tcPr anchor="ctr"/>
                </a:tc>
                <a:extLst>
                  <a:ext uri="{0D108BD9-81ED-4DB2-BD59-A6C34878D82A}">
                    <a16:rowId xmlns:a16="http://schemas.microsoft.com/office/drawing/2014/main" val="10000"/>
                  </a:ext>
                </a:extLst>
              </a:tr>
              <a:tr h="828040">
                <a:tc>
                  <a:txBody>
                    <a:bodyPr/>
                    <a:lstStyle/>
                    <a:p>
                      <a:pPr algn="ctr">
                        <a:buNone/>
                      </a:pPr>
                      <a:r>
                        <a:rPr lang="zh-CN" altLang="en-US" b="0">
                          <a:latin typeface="楷体" panose="02010609060101010101" pitchFamily="49" charset="-122"/>
                          <a:ea typeface="楷体" panose="02010609060101010101" pitchFamily="49" charset="-122"/>
                        </a:rPr>
                        <a:t>面谈</a:t>
                      </a:r>
                    </a:p>
                  </a:txBody>
                  <a:tcPr anchor="ctr"/>
                </a:tc>
                <a:tc>
                  <a:txBody>
                    <a:bodyPr/>
                    <a:lstStyle/>
                    <a:p>
                      <a:pPr>
                        <a:buNone/>
                      </a:pPr>
                      <a:r>
                        <a:rPr lang="zh-CN" altLang="en-US" sz="1800">
                          <a:latin typeface="楷体" panose="02010609060101010101" pitchFamily="49" charset="-122"/>
                          <a:ea typeface="楷体" panose="02010609060101010101" pitchFamily="49" charset="-122"/>
                          <a:sym typeface="+mn-ea"/>
                        </a:rPr>
                        <a:t>又称客户访谈，通过</a:t>
                      </a:r>
                      <a:r>
                        <a:rPr lang="zh-CN" altLang="en-US" sz="1800" b="1">
                          <a:solidFill>
                            <a:srgbClr val="870078"/>
                          </a:solidFill>
                          <a:latin typeface="楷体" panose="02010609060101010101" pitchFamily="49" charset="-122"/>
                          <a:ea typeface="楷体" panose="02010609060101010101" pitchFamily="49" charset="-122"/>
                          <a:sym typeface="+mn-ea"/>
                        </a:rPr>
                        <a:t>面对面的谈话</a:t>
                      </a:r>
                      <a:r>
                        <a:rPr lang="zh-CN" altLang="en-US" sz="1800">
                          <a:latin typeface="楷体" panose="02010609060101010101" pitchFamily="49" charset="-122"/>
                          <a:ea typeface="楷体" panose="02010609060101010101" pitchFamily="49" charset="-122"/>
                          <a:sym typeface="+mn-ea"/>
                        </a:rPr>
                        <a:t>获取需求，基本上所有项目都会使用，是</a:t>
                      </a:r>
                      <a:r>
                        <a:rPr lang="zh-CN" altLang="en-US" sz="1800" b="1">
                          <a:solidFill>
                            <a:srgbClr val="870078"/>
                          </a:solidFill>
                          <a:latin typeface="楷体" panose="02010609060101010101" pitchFamily="49" charset="-122"/>
                          <a:ea typeface="楷体" panose="02010609060101010101" pitchFamily="49" charset="-122"/>
                          <a:sym typeface="+mn-ea"/>
                        </a:rPr>
                        <a:t>最常规</a:t>
                      </a:r>
                      <a:r>
                        <a:rPr lang="zh-CN" altLang="en-US" sz="1800">
                          <a:latin typeface="楷体" panose="02010609060101010101" pitchFamily="49" charset="-122"/>
                          <a:ea typeface="楷体" panose="02010609060101010101" pitchFamily="49" charset="-122"/>
                          <a:sym typeface="+mn-ea"/>
                        </a:rPr>
                        <a:t>、适用面广泛的方法。</a:t>
                      </a:r>
                      <a:endParaRPr lang="zh-CN" altLang="en-US" sz="1800" b="0">
                        <a:latin typeface="楷体" panose="02010609060101010101" pitchFamily="49" charset="-122"/>
                        <a:ea typeface="楷体" panose="02010609060101010101" pitchFamily="49" charset="-122"/>
                        <a:sym typeface="+mn-ea"/>
                      </a:endParaRPr>
                    </a:p>
                  </a:txBody>
                  <a:tcPr/>
                </a:tc>
                <a:extLst>
                  <a:ext uri="{0D108BD9-81ED-4DB2-BD59-A6C34878D82A}">
                    <a16:rowId xmlns:a16="http://schemas.microsoft.com/office/drawing/2014/main" val="10001"/>
                  </a:ext>
                </a:extLst>
              </a:tr>
              <a:tr h="947420">
                <a:tc>
                  <a:txBody>
                    <a:bodyPr/>
                    <a:lstStyle/>
                    <a:p>
                      <a:pPr algn="ctr">
                        <a:buNone/>
                      </a:pPr>
                      <a:r>
                        <a:rPr lang="zh-CN" altLang="en-US" b="0">
                          <a:latin typeface="楷体" panose="02010609060101010101" pitchFamily="49" charset="-122"/>
                          <a:ea typeface="楷体" panose="02010609060101010101" pitchFamily="49" charset="-122"/>
                        </a:rPr>
                        <a:t>原型</a:t>
                      </a:r>
                    </a:p>
                  </a:txBody>
                  <a:tcPr anchor="ctr"/>
                </a:tc>
                <a:tc>
                  <a:txBody>
                    <a:bodyPr/>
                    <a:lstStyle/>
                    <a:p>
                      <a:pPr>
                        <a:buNone/>
                      </a:pPr>
                      <a:r>
                        <a:rPr lang="zh-CN" altLang="en-US" sz="1800">
                          <a:latin typeface="楷体" panose="02010609060101010101" pitchFamily="49" charset="-122"/>
                          <a:ea typeface="楷体" panose="02010609060101010101" pitchFamily="49" charset="-122"/>
                          <a:cs typeface="楷体" panose="02010609060101010101" pitchFamily="49" charset="-122"/>
                          <a:sym typeface="+mn-ea"/>
                        </a:rPr>
                        <a:t>用于获取带有</a:t>
                      </a:r>
                      <a:r>
                        <a:rPr lang="zh-CN" altLang="en-US" sz="1800" b="1">
                          <a:solidFill>
                            <a:srgbClr val="870078"/>
                          </a:solidFill>
                          <a:latin typeface="楷体" panose="02010609060101010101" pitchFamily="49" charset="-122"/>
                          <a:ea typeface="楷体" panose="02010609060101010101" pitchFamily="49" charset="-122"/>
                          <a:cs typeface="楷体" panose="02010609060101010101" pitchFamily="49" charset="-122"/>
                          <a:sym typeface="+mn-ea"/>
                        </a:rPr>
                        <a:t>不确定性的需求</a:t>
                      </a:r>
                      <a:r>
                        <a:rPr lang="zh-CN" altLang="en-US" sz="1800">
                          <a:latin typeface="楷体" panose="02010609060101010101" pitchFamily="49" charset="-122"/>
                          <a:ea typeface="楷体" panose="02010609060101010101" pitchFamily="49" charset="-122"/>
                          <a:cs typeface="楷体" panose="02010609060101010101" pitchFamily="49" charset="-122"/>
                          <a:sym typeface="+mn-ea"/>
                        </a:rPr>
                        <a:t>。实践中75%的项目会使用原型方法，因为软件开发中需求不确定性是普遍存在的。原型方法的缺点是</a:t>
                      </a:r>
                      <a:r>
                        <a:rPr lang="zh-CN" altLang="en-US" sz="1800" b="1">
                          <a:solidFill>
                            <a:srgbClr val="870078"/>
                          </a:solidFill>
                          <a:latin typeface="楷体" panose="02010609060101010101" pitchFamily="49" charset="-122"/>
                          <a:ea typeface="楷体" panose="02010609060101010101" pitchFamily="49" charset="-122"/>
                          <a:cs typeface="楷体" panose="02010609060101010101" pitchFamily="49" charset="-122"/>
                          <a:sym typeface="+mn-ea"/>
                        </a:rPr>
                        <a:t>成本较高</a:t>
                      </a:r>
                      <a:r>
                        <a:rPr lang="zh-CN" altLang="en-US" sz="1800">
                          <a:latin typeface="楷体" panose="02010609060101010101" pitchFamily="49" charset="-122"/>
                          <a:ea typeface="楷体" panose="02010609060101010101" pitchFamily="49" charset="-122"/>
                          <a:cs typeface="楷体" panose="02010609060101010101" pitchFamily="49" charset="-122"/>
                          <a:sym typeface="+mn-ea"/>
                        </a:rPr>
                        <a:t>。</a:t>
                      </a:r>
                      <a:endParaRPr lang="zh-CN" altLang="en-US" sz="1800" b="0">
                        <a:latin typeface="楷体" panose="02010609060101010101" pitchFamily="49" charset="-122"/>
                        <a:ea typeface="楷体" panose="02010609060101010101" pitchFamily="49" charset="-122"/>
                        <a:cs typeface="楷体" panose="02010609060101010101" pitchFamily="49" charset="-122"/>
                        <a:sym typeface="+mn-ea"/>
                      </a:endParaRPr>
                    </a:p>
                  </a:txBody>
                  <a:tcPr/>
                </a:tc>
                <a:extLst>
                  <a:ext uri="{0D108BD9-81ED-4DB2-BD59-A6C34878D82A}">
                    <a16:rowId xmlns:a16="http://schemas.microsoft.com/office/drawing/2014/main" val="10002"/>
                  </a:ext>
                </a:extLst>
              </a:tr>
              <a:tr h="663575">
                <a:tc>
                  <a:txBody>
                    <a:bodyPr/>
                    <a:lstStyle/>
                    <a:p>
                      <a:pPr algn="ctr">
                        <a:buNone/>
                      </a:pPr>
                      <a:r>
                        <a:rPr lang="zh-CN" altLang="en-US" b="0">
                          <a:latin typeface="楷体" panose="02010609060101010101" pitchFamily="49" charset="-122"/>
                          <a:ea typeface="楷体" panose="02010609060101010101" pitchFamily="49" charset="-122"/>
                        </a:rPr>
                        <a:t>观察</a:t>
                      </a:r>
                    </a:p>
                  </a:txBody>
                  <a:tcPr anchor="ctr"/>
                </a:tc>
                <a:tc>
                  <a:txBody>
                    <a:bodyPr/>
                    <a:lstStyle/>
                    <a:p>
                      <a:pPr>
                        <a:buNone/>
                      </a:pPr>
                      <a:r>
                        <a:rPr lang="zh-CN" altLang="en-US" sz="1800">
                          <a:latin typeface="楷体" panose="02010609060101010101" pitchFamily="49" charset="-122"/>
                          <a:ea typeface="楷体" panose="02010609060101010101" pitchFamily="49" charset="-122"/>
                          <a:sym typeface="+mn-ea"/>
                        </a:rPr>
                        <a:t>用于于获取情境性的需求。熟练的需求开发者较喜欢使用。缺点是非常</a:t>
                      </a:r>
                      <a:r>
                        <a:rPr lang="zh-CN" altLang="en-US" sz="1800" b="1">
                          <a:solidFill>
                            <a:srgbClr val="870078"/>
                          </a:solidFill>
                          <a:latin typeface="楷体" panose="02010609060101010101" pitchFamily="49" charset="-122"/>
                          <a:ea typeface="楷体" panose="02010609060101010101" pitchFamily="49" charset="-122"/>
                          <a:sym typeface="+mn-ea"/>
                        </a:rPr>
                        <a:t>耗时</a:t>
                      </a:r>
                      <a:r>
                        <a:rPr lang="zh-CN" altLang="en-US" sz="1800">
                          <a:latin typeface="楷体" panose="02010609060101010101" pitchFamily="49" charset="-122"/>
                          <a:ea typeface="楷体" panose="02010609060101010101" pitchFamily="49" charset="-122"/>
                          <a:sym typeface="+mn-ea"/>
                        </a:rPr>
                        <a:t>。</a:t>
                      </a:r>
                      <a:endParaRPr lang="zh-CN" altLang="en-US" sz="1800" b="0">
                        <a:latin typeface="楷体" panose="02010609060101010101" pitchFamily="49" charset="-122"/>
                        <a:ea typeface="楷体" panose="02010609060101010101" pitchFamily="49" charset="-122"/>
                        <a:sym typeface="+mn-ea"/>
                      </a:endParaRPr>
                    </a:p>
                  </a:txBody>
                  <a:tcPr/>
                </a:tc>
                <a:extLst>
                  <a:ext uri="{0D108BD9-81ED-4DB2-BD59-A6C34878D82A}">
                    <a16:rowId xmlns:a16="http://schemas.microsoft.com/office/drawing/2014/main" val="10003"/>
                  </a:ext>
                </a:extLst>
              </a:tr>
              <a:tr h="496570">
                <a:tc>
                  <a:txBody>
                    <a:bodyPr/>
                    <a:lstStyle/>
                    <a:p>
                      <a:pPr algn="ctr">
                        <a:buNone/>
                      </a:pPr>
                      <a:r>
                        <a:rPr lang="zh-CN" altLang="en-US" b="0">
                          <a:latin typeface="楷体" panose="02010609060101010101" pitchFamily="49" charset="-122"/>
                          <a:ea typeface="楷体" panose="02010609060101010101" pitchFamily="49" charset="-122"/>
                        </a:rPr>
                        <a:t>头脑风暴</a:t>
                      </a:r>
                    </a:p>
                  </a:txBody>
                  <a:tcPr anchor="ctr"/>
                </a:tc>
                <a:tc>
                  <a:txBody>
                    <a:bodyPr/>
                    <a:lstStyle/>
                    <a:p>
                      <a:pPr>
                        <a:buNone/>
                      </a:pPr>
                      <a:r>
                        <a:rPr lang="zh-CN" altLang="en-US" sz="1800">
                          <a:latin typeface="楷体" panose="02010609060101010101" pitchFamily="49" charset="-122"/>
                          <a:ea typeface="楷体" panose="02010609060101010101" pitchFamily="49" charset="-122"/>
                          <a:cs typeface="楷体" panose="02010609060101010101" pitchFamily="49" charset="-122"/>
                          <a:sym typeface="+mn-ea"/>
                        </a:rPr>
                        <a:t>用于发现</a:t>
                      </a:r>
                      <a:r>
                        <a:rPr lang="zh-CN" altLang="en-US" sz="1800" b="1">
                          <a:solidFill>
                            <a:srgbClr val="870078"/>
                          </a:solidFill>
                          <a:latin typeface="楷体" panose="02010609060101010101" pitchFamily="49" charset="-122"/>
                          <a:ea typeface="楷体" panose="02010609060101010101" pitchFamily="49" charset="-122"/>
                          <a:cs typeface="楷体" panose="02010609060101010101" pitchFamily="49" charset="-122"/>
                          <a:sym typeface="+mn-ea"/>
                        </a:rPr>
                        <a:t>潜在需求</a:t>
                      </a:r>
                      <a:r>
                        <a:rPr lang="zh-CN" altLang="en-US" sz="1800">
                          <a:latin typeface="楷体" panose="02010609060101010101" pitchFamily="49" charset="-122"/>
                          <a:ea typeface="楷体" panose="02010609060101010101" pitchFamily="49" charset="-122"/>
                          <a:cs typeface="楷体" panose="02010609060101010101" pitchFamily="49" charset="-122"/>
                          <a:sym typeface="+mn-ea"/>
                        </a:rPr>
                        <a:t>，或者说是“发明”新需求。</a:t>
                      </a:r>
                      <a:endParaRPr lang="zh-CN" altLang="en-US" sz="1800" b="0">
                        <a:latin typeface="楷体" panose="02010609060101010101" pitchFamily="49" charset="-122"/>
                        <a:ea typeface="楷体" panose="02010609060101010101" pitchFamily="49" charset="-122"/>
                        <a:cs typeface="楷体" panose="02010609060101010101" pitchFamily="49" charset="-122"/>
                        <a:sym typeface="+mn-ea"/>
                      </a:endParaRPr>
                    </a:p>
                  </a:txBody>
                  <a:tcPr/>
                </a:tc>
                <a:extLst>
                  <a:ext uri="{0D108BD9-81ED-4DB2-BD59-A6C34878D82A}">
                    <a16:rowId xmlns:a16="http://schemas.microsoft.com/office/drawing/2014/main" val="10004"/>
                  </a:ext>
                </a:extLst>
              </a:tr>
              <a:tr h="495300">
                <a:tc>
                  <a:txBody>
                    <a:bodyPr/>
                    <a:lstStyle/>
                    <a:p>
                      <a:pPr algn="ctr">
                        <a:buNone/>
                      </a:pPr>
                      <a:r>
                        <a:rPr lang="zh-CN" altLang="en-US" b="0">
                          <a:latin typeface="楷体" panose="02010609060101010101" pitchFamily="49" charset="-122"/>
                          <a:ea typeface="楷体" panose="02010609060101010101" pitchFamily="49" charset="-122"/>
                        </a:rPr>
                        <a:t>调查问卷</a:t>
                      </a:r>
                    </a:p>
                  </a:txBody>
                  <a:tcPr anchor="ctr"/>
                </a:tc>
                <a:tc>
                  <a:txBody>
                    <a:bodyPr/>
                    <a:lstStyle/>
                    <a:p>
                      <a:pPr>
                        <a:buNone/>
                      </a:pPr>
                      <a:r>
                        <a:rPr lang="zh-CN" altLang="en-US" sz="1800">
                          <a:latin typeface="楷体" panose="02010609060101010101" pitchFamily="49" charset="-122"/>
                          <a:ea typeface="楷体" panose="02010609060101010101" pitchFamily="49" charset="-122"/>
                          <a:sym typeface="+mn-ea"/>
                        </a:rPr>
                        <a:t>用于在较大的</a:t>
                      </a:r>
                      <a:r>
                        <a:rPr lang="zh-CN" altLang="en-US" sz="1800" b="1">
                          <a:solidFill>
                            <a:srgbClr val="870078"/>
                          </a:solidFill>
                          <a:latin typeface="楷体" panose="02010609060101010101" pitchFamily="49" charset="-122"/>
                          <a:ea typeface="楷体" panose="02010609060101010101" pitchFamily="49" charset="-122"/>
                          <a:sym typeface="+mn-ea"/>
                        </a:rPr>
                        <a:t>人群范围内</a:t>
                      </a:r>
                      <a:r>
                        <a:rPr lang="zh-CN" altLang="en-US" sz="1800">
                          <a:latin typeface="楷体" panose="02010609060101010101" pitchFamily="49" charset="-122"/>
                          <a:ea typeface="楷体" panose="02010609060101010101" pitchFamily="49" charset="-122"/>
                          <a:sym typeface="+mn-ea"/>
                        </a:rPr>
                        <a:t>获取需求。</a:t>
                      </a:r>
                      <a:endParaRPr lang="zh-CN" altLang="en-US" sz="1800" b="0">
                        <a:latin typeface="楷体" panose="02010609060101010101" pitchFamily="49" charset="-122"/>
                        <a:ea typeface="楷体" panose="02010609060101010101" pitchFamily="49" charset="-122"/>
                        <a:sym typeface="+mn-ea"/>
                      </a:endParaRPr>
                    </a:p>
                  </a:txBody>
                  <a:tcPr/>
                </a:tc>
                <a:extLst>
                  <a:ext uri="{0D108BD9-81ED-4DB2-BD59-A6C34878D82A}">
                    <a16:rowId xmlns:a16="http://schemas.microsoft.com/office/drawing/2014/main" val="10005"/>
                  </a:ext>
                </a:extLst>
              </a:tr>
              <a:tr h="496570">
                <a:tc>
                  <a:txBody>
                    <a:bodyPr/>
                    <a:lstStyle/>
                    <a:p>
                      <a:pPr algn="ctr">
                        <a:buNone/>
                      </a:pPr>
                      <a:r>
                        <a:rPr lang="zh-CN" altLang="en-US" b="0">
                          <a:latin typeface="楷体" panose="02010609060101010101" pitchFamily="49" charset="-122"/>
                          <a:ea typeface="楷体" panose="02010609060101010101" pitchFamily="49" charset="-122"/>
                        </a:rPr>
                        <a:t>群体面谈</a:t>
                      </a:r>
                    </a:p>
                  </a:txBody>
                  <a:tcPr anchor="ctr"/>
                </a:tc>
                <a:tc>
                  <a:txBody>
                    <a:bodyPr/>
                    <a:lstStyle/>
                    <a:p>
                      <a:pPr>
                        <a:buNone/>
                      </a:pPr>
                      <a:r>
                        <a:rPr lang="zh-CN" altLang="en-US" sz="1800">
                          <a:latin typeface="楷体" panose="02010609060101010101" pitchFamily="49" charset="-122"/>
                          <a:ea typeface="楷体" panose="02010609060101010101" pitchFamily="49" charset="-122"/>
                          <a:sym typeface="+mn-ea"/>
                        </a:rPr>
                        <a:t>面谈的一种</a:t>
                      </a:r>
                      <a:r>
                        <a:rPr lang="zh-CN" altLang="en-US" sz="1800" b="1">
                          <a:solidFill>
                            <a:srgbClr val="870078"/>
                          </a:solidFill>
                          <a:latin typeface="楷体" panose="02010609060101010101" pitchFamily="49" charset="-122"/>
                          <a:ea typeface="楷体" panose="02010609060101010101" pitchFamily="49" charset="-122"/>
                          <a:sym typeface="+mn-ea"/>
                        </a:rPr>
                        <a:t>集体形式</a:t>
                      </a:r>
                      <a:r>
                        <a:rPr lang="zh-CN" altLang="en-US" sz="1800">
                          <a:latin typeface="楷体" panose="02010609060101010101" pitchFamily="49" charset="-122"/>
                          <a:ea typeface="楷体" panose="02010609060101010101" pitchFamily="49" charset="-122"/>
                          <a:sym typeface="+mn-ea"/>
                        </a:rPr>
                        <a:t>，执行起来较为困难。</a:t>
                      </a:r>
                      <a:endParaRPr lang="zh-CN" altLang="en-US" sz="1800" b="0">
                        <a:latin typeface="楷体" panose="02010609060101010101" pitchFamily="49" charset="-122"/>
                        <a:ea typeface="楷体" panose="02010609060101010101" pitchFamily="49" charset="-122"/>
                        <a:sym typeface="+mn-ea"/>
                      </a:endParaRPr>
                    </a:p>
                  </a:txBody>
                  <a:tcPr/>
                </a:tc>
                <a:extLst>
                  <a:ext uri="{0D108BD9-81ED-4DB2-BD59-A6C34878D82A}">
                    <a16:rowId xmlns:a16="http://schemas.microsoft.com/office/drawing/2014/main" val="10006"/>
                  </a:ext>
                </a:extLst>
              </a:tr>
              <a:tr h="663575">
                <a:tc>
                  <a:txBody>
                    <a:bodyPr/>
                    <a:lstStyle/>
                    <a:p>
                      <a:pPr algn="ctr">
                        <a:buNone/>
                      </a:pPr>
                      <a:r>
                        <a:rPr lang="zh-CN" altLang="en-US" b="0">
                          <a:latin typeface="楷体" panose="02010609060101010101" pitchFamily="49" charset="-122"/>
                          <a:ea typeface="楷体" panose="02010609060101010101" pitchFamily="49" charset="-122"/>
                        </a:rPr>
                        <a:t>文档审查</a:t>
                      </a:r>
                    </a:p>
                  </a:txBody>
                  <a:tcPr anchor="ctr"/>
                </a:tc>
                <a:tc>
                  <a:txBody>
                    <a:bodyPr/>
                    <a:lstStyle/>
                    <a:p>
                      <a:pPr>
                        <a:buNone/>
                      </a:pPr>
                      <a:r>
                        <a:rPr lang="zh-CN" altLang="en-US" sz="1800">
                          <a:latin typeface="楷体" panose="02010609060101010101" pitchFamily="49" charset="-122"/>
                          <a:ea typeface="楷体" panose="02010609060101010101" pitchFamily="49" charset="-122"/>
                          <a:sym typeface="+mn-ea"/>
                        </a:rPr>
                        <a:t>文档审查是一系列方法的统称，这些方法都从</a:t>
                      </a:r>
                      <a:r>
                        <a:rPr lang="zh-CN" altLang="en-US" sz="1800" b="1">
                          <a:solidFill>
                            <a:srgbClr val="870078"/>
                          </a:solidFill>
                          <a:latin typeface="楷体" panose="02010609060101010101" pitchFamily="49" charset="-122"/>
                          <a:ea typeface="楷体" panose="02010609060101010101" pitchFamily="49" charset="-122"/>
                          <a:sym typeface="+mn-ea"/>
                        </a:rPr>
                        <a:t>硬数据文档</a:t>
                      </a:r>
                      <a:r>
                        <a:rPr lang="zh-CN" altLang="en-US" sz="1800">
                          <a:latin typeface="楷体" panose="02010609060101010101" pitchFamily="49" charset="-122"/>
                          <a:ea typeface="楷体" panose="02010609060101010101" pitchFamily="49" charset="-122"/>
                          <a:sym typeface="+mn-ea"/>
                        </a:rPr>
                        <a:t>中抽取需求。</a:t>
                      </a:r>
                      <a:endParaRPr lang="zh-CN" altLang="en-US" sz="1800" b="0">
                        <a:latin typeface="楷体" panose="02010609060101010101" pitchFamily="49" charset="-122"/>
                        <a:ea typeface="楷体" panose="02010609060101010101" pitchFamily="49" charset="-122"/>
                        <a:sym typeface="+mn-ea"/>
                      </a:endParaRPr>
                    </a:p>
                  </a:txBody>
                  <a:tcPr/>
                </a:tc>
                <a:extLst>
                  <a:ext uri="{0D108BD9-81ED-4DB2-BD59-A6C34878D82A}">
                    <a16:rowId xmlns:a16="http://schemas.microsoft.com/office/drawing/2014/main" val="10007"/>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目录</a:t>
            </a:r>
          </a:p>
        </p:txBody>
      </p:sp>
      <p:sp>
        <p:nvSpPr>
          <p:cNvPr id="7" name="内容占位符 2"/>
          <p:cNvSpPr txBox="1"/>
          <p:nvPr/>
        </p:nvSpPr>
        <p:spPr>
          <a:xfrm>
            <a:off x="628650" y="1459230"/>
            <a:ext cx="7886700" cy="406781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dirty="0">
                <a:latin typeface="楷体" panose="02010609060101010101" pitchFamily="49" charset="-122"/>
                <a:ea typeface="楷体" panose="02010609060101010101" pitchFamily="49" charset="-122"/>
              </a:rPr>
              <a:t>概述</a:t>
            </a:r>
            <a:endParaRPr kumimoji="1" lang="en-US" altLang="zh-CN" dirty="0">
              <a:latin typeface="楷体" panose="02010609060101010101" pitchFamily="49" charset="-122"/>
              <a:ea typeface="楷体" panose="02010609060101010101" pitchFamily="49" charset="-122"/>
            </a:endParaRPr>
          </a:p>
          <a:p>
            <a:r>
              <a:rPr kumimoji="1" lang="zh-CN" altLang="en-US" dirty="0">
                <a:solidFill>
                  <a:srgbClr val="FF0000"/>
                </a:solidFill>
                <a:latin typeface="楷体" panose="02010609060101010101" pitchFamily="49" charset="-122"/>
                <a:ea typeface="楷体" panose="02010609060101010101" pitchFamily="49" charset="-122"/>
              </a:rPr>
              <a:t>面谈</a:t>
            </a:r>
          </a:p>
          <a:p>
            <a:pPr lvl="1"/>
            <a:r>
              <a:rPr kumimoji="1" lang="zh-CN" altLang="en-US" dirty="0">
                <a:solidFill>
                  <a:srgbClr val="FF0000"/>
                </a:solidFill>
                <a:latin typeface="楷体" panose="02010609060101010101" pitchFamily="49" charset="-122"/>
                <a:ea typeface="楷体" panose="02010609060101010101" pitchFamily="49" charset="-122"/>
              </a:rPr>
              <a:t>谈话交流模式</a:t>
            </a:r>
          </a:p>
          <a:p>
            <a:pPr lvl="1"/>
            <a:r>
              <a:rPr kumimoji="1" lang="zh-CN" altLang="en-US" dirty="0">
                <a:solidFill>
                  <a:srgbClr val="FF0000"/>
                </a:solidFill>
                <a:latin typeface="楷体" panose="02010609060101010101" pitchFamily="49" charset="-122"/>
                <a:ea typeface="楷体" panose="02010609060101010101" pitchFamily="49" charset="-122"/>
              </a:rPr>
              <a:t>问题类型</a:t>
            </a:r>
          </a:p>
          <a:p>
            <a:pPr lvl="1"/>
            <a:r>
              <a:rPr kumimoji="1" lang="zh-CN" altLang="en-US" dirty="0">
                <a:solidFill>
                  <a:srgbClr val="FF0000"/>
                </a:solidFill>
                <a:latin typeface="楷体" panose="02010609060101010101" pitchFamily="49" charset="-122"/>
                <a:ea typeface="楷体" panose="02010609060101010101" pitchFamily="49" charset="-122"/>
              </a:rPr>
              <a:t>面谈过程</a:t>
            </a:r>
          </a:p>
          <a:p>
            <a:pPr lvl="1"/>
            <a:r>
              <a:rPr kumimoji="1" lang="zh-CN" altLang="en-US" dirty="0">
                <a:solidFill>
                  <a:srgbClr val="FF0000"/>
                </a:solidFill>
                <a:latin typeface="楷体" panose="02010609060101010101" pitchFamily="49" charset="-122"/>
                <a:ea typeface="楷体" panose="02010609060101010101" pitchFamily="49" charset="-122"/>
              </a:rPr>
              <a:t>面谈的类别</a:t>
            </a:r>
          </a:p>
          <a:p>
            <a:r>
              <a:rPr kumimoji="1" lang="zh-CN" altLang="en-US" dirty="0">
                <a:latin typeface="楷体" panose="02010609060101010101" pitchFamily="49" charset="-122"/>
                <a:ea typeface="楷体" panose="02010609060101010101" pitchFamily="49" charset="-122"/>
              </a:rPr>
              <a:t>原型</a:t>
            </a:r>
          </a:p>
          <a:p>
            <a:r>
              <a:rPr kumimoji="1" lang="zh-CN" altLang="en-US" dirty="0">
                <a:latin typeface="楷体" panose="02010609060101010101" pitchFamily="49" charset="-122"/>
                <a:ea typeface="楷体" panose="02010609060101010101" pitchFamily="49" charset="-122"/>
              </a:rPr>
              <a:t>观察</a:t>
            </a:r>
          </a:p>
          <a:p>
            <a:r>
              <a:rPr kumimoji="1" lang="zh-CN" altLang="en-US" dirty="0">
                <a:latin typeface="楷体" panose="02010609060101010101" pitchFamily="49" charset="-122"/>
                <a:ea typeface="楷体" panose="02010609060101010101" pitchFamily="49" charset="-122"/>
              </a:rPr>
              <a:t>文档审查</a:t>
            </a:r>
            <a:endParaRPr kumimoji="1" lang="en-US" altLang="zh-CN" dirty="0">
              <a:latin typeface="楷体" panose="02010609060101010101" pitchFamily="49" charset="-122"/>
              <a:ea typeface="楷体" panose="02010609060101010101" pitchFamily="49" charset="-122"/>
            </a:endParaRPr>
          </a:p>
          <a:p>
            <a:pPr marL="0" indent="0">
              <a:buNone/>
            </a:pPr>
            <a:endParaRPr kumimoji="1" lang="en-US" altLang="zh-CN" dirty="0">
              <a:latin typeface="楷体" panose="02010609060101010101" pitchFamily="49" charset="-122"/>
              <a:ea typeface="楷体" panose="02010609060101010101" pitchFamily="49" charset="-122"/>
            </a:endParaRPr>
          </a:p>
        </p:txBody>
      </p:sp>
      <p:sp>
        <p:nvSpPr>
          <p:cNvPr id="8" name="文本框 7"/>
          <p:cNvSpPr txBox="1"/>
          <p:nvPr/>
        </p:nvSpPr>
        <p:spPr>
          <a:xfrm>
            <a:off x="151596" y="16999"/>
            <a:ext cx="697627" cy="40011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目录</a:t>
            </a:r>
            <a:endParaRPr kumimoji="1" lang="en-US" altLang="zh-CN" sz="2000" dirty="0">
              <a:solidFill>
                <a:schemeClr val="bg1"/>
              </a:solidFill>
              <a:latin typeface="楷体" panose="02010609060101010101" pitchFamily="49" charset="-122"/>
              <a:ea typeface="楷体" panose="02010609060101010101" pitchFamily="49"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a:ln>
            <a:noFill/>
          </a:ln>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谈话交流模式</a:t>
            </a:r>
          </a:p>
        </p:txBody>
      </p:sp>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面谈</a:t>
            </a:r>
          </a:p>
        </p:txBody>
      </p:sp>
      <p:sp>
        <p:nvSpPr>
          <p:cNvPr id="4" name="文本框 3"/>
          <p:cNvSpPr txBox="1"/>
          <p:nvPr/>
        </p:nvSpPr>
        <p:spPr>
          <a:xfrm>
            <a:off x="628650" y="1522095"/>
            <a:ext cx="7886700" cy="1613535"/>
          </a:xfrm>
          <a:prstGeom prst="rect">
            <a:avLst/>
          </a:prstGeom>
          <a:noFill/>
          <a:ln>
            <a:solidFill>
              <a:schemeClr val="accent1"/>
            </a:solidFill>
          </a:ln>
        </p:spPr>
        <p:txBody>
          <a:bodyPr wrap="square" rtlCol="0">
            <a:noAutofit/>
          </a:bodyPr>
          <a:lstStyle/>
          <a:p>
            <a:r>
              <a:rPr lang="zh-CN" altLang="en-US" sz="2400">
                <a:latin typeface="楷体" panose="02010609060101010101" pitchFamily="49" charset="-122"/>
                <a:ea typeface="楷体" panose="02010609060101010101" pitchFamily="49" charset="-122"/>
              </a:rPr>
              <a:t>面谈的定义与重要性：</a:t>
            </a:r>
          </a:p>
          <a:p>
            <a:pPr marL="342900" indent="-342900">
              <a:buFont typeface="Arial" panose="020B0604020202020204" pitchFamily="34" charset="0"/>
              <a:buChar char="•"/>
            </a:pPr>
            <a:r>
              <a:rPr lang="zh-CN" altLang="en-US" sz="2400">
                <a:latin typeface="楷体" panose="02010609060101010101" pitchFamily="49" charset="-122"/>
                <a:ea typeface="楷体" panose="02010609060101010101" pitchFamily="49" charset="-122"/>
              </a:rPr>
              <a:t>面谈是访谈者与被访谈者</a:t>
            </a:r>
            <a:r>
              <a:rPr lang="zh-CN" altLang="en-US" sz="2400" b="1">
                <a:solidFill>
                  <a:srgbClr val="472680"/>
                </a:solidFill>
                <a:latin typeface="楷体" panose="02010609060101010101" pitchFamily="49" charset="-122"/>
                <a:ea typeface="楷体" panose="02010609060101010101" pitchFamily="49" charset="-122"/>
              </a:rPr>
              <a:t>面对面</a:t>
            </a:r>
            <a:r>
              <a:rPr lang="zh-CN" altLang="en-US" sz="2400">
                <a:latin typeface="楷体" panose="02010609060101010101" pitchFamily="49" charset="-122"/>
                <a:ea typeface="楷体" panose="02010609060101010101" pitchFamily="49" charset="-122"/>
              </a:rPr>
              <a:t>的交流方式，属于最基本且最具丰富内容的交流方法，能够传递所有类型的社会信息。</a:t>
            </a:r>
          </a:p>
        </p:txBody>
      </p:sp>
      <p:grpSp>
        <p:nvGrpSpPr>
          <p:cNvPr id="8" name="组合 7"/>
          <p:cNvGrpSpPr/>
          <p:nvPr/>
        </p:nvGrpSpPr>
        <p:grpSpPr>
          <a:xfrm>
            <a:off x="1091565" y="3406140"/>
            <a:ext cx="2553335" cy="2773364"/>
            <a:chOff x="990" y="5424"/>
            <a:chExt cx="4021" cy="4597"/>
          </a:xfrm>
        </p:grpSpPr>
        <p:pic>
          <p:nvPicPr>
            <p:cNvPr id="5" name="图片 4"/>
            <p:cNvPicPr>
              <a:picLocks noChangeAspect="1"/>
            </p:cNvPicPr>
            <p:nvPr/>
          </p:nvPicPr>
          <p:blipFill>
            <a:blip r:embed="rId2"/>
            <a:stretch>
              <a:fillRect/>
            </a:stretch>
          </p:blipFill>
          <p:spPr>
            <a:xfrm>
              <a:off x="1533" y="5424"/>
              <a:ext cx="2608" cy="3997"/>
            </a:xfrm>
            <a:prstGeom prst="rect">
              <a:avLst/>
            </a:prstGeom>
          </p:spPr>
        </p:pic>
        <p:sp>
          <p:nvSpPr>
            <p:cNvPr id="7" name="文本框 6"/>
            <p:cNvSpPr txBox="1"/>
            <p:nvPr/>
          </p:nvSpPr>
          <p:spPr>
            <a:xfrm>
              <a:off x="990" y="9411"/>
              <a:ext cx="4021" cy="610"/>
            </a:xfrm>
            <a:prstGeom prst="rect">
              <a:avLst/>
            </a:prstGeom>
            <a:noFill/>
          </p:spPr>
          <p:txBody>
            <a:bodyPr wrap="square" rtlCol="0">
              <a:spAutoFit/>
            </a:bodyPr>
            <a:lstStyle/>
            <a:p>
              <a:r>
                <a:rPr lang="en-US" altLang="zh-CN">
                  <a:latin typeface="楷体" panose="02010609060101010101" pitchFamily="49" charset="-122"/>
                  <a:ea typeface="楷体" panose="02010609060101010101" pitchFamily="49" charset="-122"/>
                  <a:cs typeface="楷体" panose="02010609060101010101" pitchFamily="49" charset="-122"/>
                </a:rPr>
                <a:t> </a:t>
              </a:r>
              <a:r>
                <a:rPr lang="zh-CN" altLang="en-US">
                  <a:latin typeface="楷体" panose="02010609060101010101" pitchFamily="49" charset="-122"/>
                  <a:ea typeface="楷体" panose="02010609060101010101" pitchFamily="49" charset="-122"/>
                  <a:cs typeface="楷体" panose="02010609060101010101" pitchFamily="49" charset="-122"/>
                </a:rPr>
                <a:t>图</a:t>
              </a:r>
              <a:r>
                <a:rPr lang="en-US" altLang="zh-CN">
                  <a:latin typeface="楷体" panose="02010609060101010101" pitchFamily="49" charset="-122"/>
                  <a:ea typeface="楷体" panose="02010609060101010101" pitchFamily="49" charset="-122"/>
                  <a:cs typeface="楷体" panose="02010609060101010101" pitchFamily="49" charset="-122"/>
                </a:rPr>
                <a:t>10-1 </a:t>
              </a:r>
              <a:r>
                <a:rPr lang="zh-CN" altLang="en-US">
                  <a:latin typeface="楷体" panose="02010609060101010101" pitchFamily="49" charset="-122"/>
                  <a:ea typeface="楷体" panose="02010609060101010101" pitchFamily="49" charset="-122"/>
                  <a:cs typeface="楷体" panose="02010609060101010101" pitchFamily="49" charset="-122"/>
                </a:rPr>
                <a:t>面谈交流模式</a:t>
              </a:r>
            </a:p>
          </p:txBody>
        </p:sp>
      </p:grpSp>
      <p:grpSp>
        <p:nvGrpSpPr>
          <p:cNvPr id="10" name="组合 9"/>
          <p:cNvGrpSpPr/>
          <p:nvPr/>
        </p:nvGrpSpPr>
        <p:grpSpPr>
          <a:xfrm>
            <a:off x="4769485" y="3693160"/>
            <a:ext cx="3745230" cy="2181225"/>
            <a:chOff x="7244" y="5439"/>
            <a:chExt cx="5596" cy="3435"/>
          </a:xfrm>
        </p:grpSpPr>
        <p:sp>
          <p:nvSpPr>
            <p:cNvPr id="9" name="文本框 8"/>
            <p:cNvSpPr txBox="1"/>
            <p:nvPr/>
          </p:nvSpPr>
          <p:spPr>
            <a:xfrm>
              <a:off x="7244" y="5439"/>
              <a:ext cx="5595" cy="742"/>
            </a:xfrm>
            <a:prstGeom prst="rect">
              <a:avLst/>
            </a:prstGeom>
            <a:ln>
              <a:solidFill>
                <a:schemeClr val="accent1"/>
              </a:solidFill>
            </a:ln>
          </p:spPr>
          <p:style>
            <a:lnRef idx="2">
              <a:schemeClr val="accent1"/>
            </a:lnRef>
            <a:fillRef idx="0">
              <a:srgbClr val="FFFFFF"/>
            </a:fillRef>
            <a:effectRef idx="0">
              <a:srgbClr val="FFFFFF"/>
            </a:effectRef>
            <a:fontRef idx="minor">
              <a:schemeClr val="tx1"/>
            </a:fontRef>
          </p:style>
          <p:txBody>
            <a:bodyPr wrap="square" rtlCol="0">
              <a:noAutofit/>
            </a:bodyPr>
            <a:lstStyle/>
            <a:p>
              <a:r>
                <a:rPr lang="zh-CN" altLang="en-US" sz="2400">
                  <a:latin typeface="楷体" panose="02010609060101010101" pitchFamily="49" charset="-122"/>
                  <a:ea typeface="楷体" panose="02010609060101010101" pitchFamily="49" charset="-122"/>
                </a:rPr>
                <a:t>需求获取中的面谈技巧</a:t>
              </a:r>
            </a:p>
            <a:p>
              <a:endParaRPr lang="zh-CN" altLang="en-US" sz="2400">
                <a:latin typeface="楷体" panose="02010609060101010101" pitchFamily="49" charset="-122"/>
                <a:ea typeface="楷体" panose="02010609060101010101" pitchFamily="49" charset="-122"/>
              </a:endParaRPr>
            </a:p>
            <a:p>
              <a:pPr marL="342900" indent="-342900">
                <a:buFont typeface="Arial" panose="020B0604020202020204" pitchFamily="34" charset="0"/>
                <a:buChar char="•"/>
              </a:pPr>
              <a:endParaRPr lang="zh-CN" altLang="en-US" sz="2400">
                <a:latin typeface="楷体" panose="02010609060101010101" pitchFamily="49" charset="-122"/>
                <a:ea typeface="楷体" panose="02010609060101010101" pitchFamily="49" charset="-122"/>
              </a:endParaRPr>
            </a:p>
          </p:txBody>
        </p:sp>
        <p:sp>
          <p:nvSpPr>
            <p:cNvPr id="3" name="文本框 2"/>
            <p:cNvSpPr txBox="1"/>
            <p:nvPr/>
          </p:nvSpPr>
          <p:spPr>
            <a:xfrm>
              <a:off x="7244" y="6334"/>
              <a:ext cx="5596" cy="2540"/>
            </a:xfrm>
            <a:prstGeom prst="rect">
              <a:avLst/>
            </a:prstGeom>
          </p:spPr>
          <p:style>
            <a:lnRef idx="2">
              <a:schemeClr val="accent1"/>
            </a:lnRef>
            <a:fillRef idx="0">
              <a:srgbClr val="FFFFFF"/>
            </a:fillRef>
            <a:effectRef idx="0">
              <a:srgbClr val="FFFFFF"/>
            </a:effectRef>
            <a:fontRef idx="minor">
              <a:schemeClr val="tx1"/>
            </a:fontRef>
          </p:style>
          <p:txBody>
            <a:bodyPr wrap="square" rtlCol="0">
              <a:noAutofit/>
            </a:bodyPr>
            <a:lstStyle/>
            <a:p>
              <a:pPr marL="342900" indent="-342900">
                <a:buFont typeface="Arial" panose="020B0604020202020204" pitchFamily="34" charset="0"/>
                <a:buChar char="•"/>
              </a:pPr>
              <a:r>
                <a:rPr lang="zh-CN" altLang="en-US" sz="2400">
                  <a:latin typeface="楷体" panose="02010609060101010101" pitchFamily="49" charset="-122"/>
                  <a:ea typeface="楷体" panose="02010609060101010101" pitchFamily="49" charset="-122"/>
                </a:rPr>
                <a:t>问题设计</a:t>
              </a:r>
            </a:p>
            <a:p>
              <a:pPr marL="342900" indent="-342900">
                <a:buFont typeface="Arial" panose="020B0604020202020204" pitchFamily="34" charset="0"/>
                <a:buChar char="•"/>
              </a:pPr>
              <a:r>
                <a:rPr lang="zh-CN" altLang="en-US" sz="2400">
                  <a:latin typeface="楷体" panose="02010609060101010101" pitchFamily="49" charset="-122"/>
                  <a:ea typeface="楷体" panose="02010609060101010101" pitchFamily="49" charset="-122"/>
                </a:rPr>
                <a:t>有效倾听</a:t>
              </a:r>
            </a:p>
            <a:p>
              <a:pPr marL="342900" indent="-342900">
                <a:buFont typeface="Arial" panose="020B0604020202020204" pitchFamily="34" charset="0"/>
                <a:buChar char="•"/>
              </a:pPr>
              <a:r>
                <a:rPr lang="zh-CN" altLang="en-US" sz="2400">
                  <a:latin typeface="楷体" panose="02010609060101010101" pitchFamily="49" charset="-122"/>
                  <a:ea typeface="楷体" panose="02010609060101010101" pitchFamily="49" charset="-122"/>
                </a:rPr>
                <a:t>适时打断与引导</a:t>
              </a:r>
            </a:p>
            <a:p>
              <a:pPr marL="342900" indent="-342900">
                <a:buFont typeface="Arial" panose="020B0604020202020204" pitchFamily="34" charset="0"/>
                <a:buChar char="•"/>
              </a:pPr>
              <a:r>
                <a:rPr lang="zh-CN" altLang="en-US" sz="2400">
                  <a:latin typeface="楷体" panose="02010609060101010101" pitchFamily="49" charset="-122"/>
                  <a:ea typeface="楷体" panose="02010609060101010101" pitchFamily="49" charset="-122"/>
                </a:rPr>
                <a:t>语音与肢体语言的作用</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4"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问题类型</a:t>
            </a:r>
          </a:p>
        </p:txBody>
      </p:sp>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面谈</a:t>
            </a:r>
          </a:p>
        </p:txBody>
      </p:sp>
      <p:sp>
        <p:nvSpPr>
          <p:cNvPr id="3" name="文本框 2"/>
          <p:cNvSpPr txBox="1"/>
          <p:nvPr/>
        </p:nvSpPr>
        <p:spPr>
          <a:xfrm>
            <a:off x="628650" y="1336040"/>
            <a:ext cx="7240905" cy="1260475"/>
          </a:xfrm>
          <a:prstGeom prst="rect">
            <a:avLst/>
          </a:prstGeom>
          <a:noFill/>
          <a:ln>
            <a:solidFill>
              <a:schemeClr val="accent1"/>
            </a:solidFill>
          </a:ln>
        </p:spPr>
        <p:txBody>
          <a:bodyPr wrap="square" rtlCol="0">
            <a:spAutoFit/>
          </a:bodyPr>
          <a:lstStyle/>
          <a:p>
            <a:pPr marL="342900" indent="-342900">
              <a:buFont typeface="Wingdings" panose="05000000000000000000" charset="0"/>
              <a:buChar char="Ø"/>
            </a:pPr>
            <a:r>
              <a:rPr lang="zh-CN" altLang="en-US" sz="2800" b="1">
                <a:latin typeface="楷体" panose="02010609060101010101" pitchFamily="49" charset="-122"/>
                <a:ea typeface="楷体" panose="02010609060101010101" pitchFamily="49" charset="-122"/>
              </a:rPr>
              <a:t>两种基本的问题类型</a:t>
            </a:r>
            <a:endParaRPr lang="zh-CN" altLang="en-US" sz="2800">
              <a:latin typeface="楷体" panose="02010609060101010101" pitchFamily="49" charset="-122"/>
              <a:ea typeface="楷体" panose="02010609060101010101" pitchFamily="49" charset="-122"/>
            </a:endParaRPr>
          </a:p>
          <a:p>
            <a:pPr marL="800100" lvl="1" indent="-342900">
              <a:buFont typeface="Arial" panose="020B0604020202020204" pitchFamily="34" charset="0"/>
              <a:buChar char="•"/>
            </a:pPr>
            <a:r>
              <a:rPr lang="zh-CN" altLang="en-US" sz="2400">
                <a:latin typeface="楷体" panose="02010609060101010101" pitchFamily="49" charset="-122"/>
                <a:ea typeface="楷体" panose="02010609060101010101" pitchFamily="49" charset="-122"/>
              </a:rPr>
              <a:t>开放式问题</a:t>
            </a:r>
          </a:p>
          <a:p>
            <a:pPr marL="800100" lvl="1" indent="-342900">
              <a:buFont typeface="Arial" panose="020B0604020202020204" pitchFamily="34" charset="0"/>
              <a:buChar char="•"/>
            </a:pPr>
            <a:r>
              <a:rPr lang="zh-CN" altLang="en-US" sz="2400">
                <a:latin typeface="楷体" panose="02010609060101010101" pitchFamily="49" charset="-122"/>
                <a:ea typeface="楷体" panose="02010609060101010101" pitchFamily="49" charset="-122"/>
              </a:rPr>
              <a:t>封闭式问题</a:t>
            </a:r>
          </a:p>
        </p:txBody>
      </p:sp>
      <p:sp>
        <p:nvSpPr>
          <p:cNvPr id="13" name="文本框 12"/>
          <p:cNvSpPr txBox="1"/>
          <p:nvPr/>
        </p:nvSpPr>
        <p:spPr>
          <a:xfrm>
            <a:off x="628015" y="4673600"/>
            <a:ext cx="7240905" cy="1198880"/>
          </a:xfrm>
          <a:prstGeom prst="rect">
            <a:avLst/>
          </a:prstGeom>
          <a:noFill/>
          <a:ln>
            <a:solidFill>
              <a:schemeClr val="accent1"/>
            </a:solidFill>
          </a:ln>
        </p:spPr>
        <p:txBody>
          <a:bodyPr wrap="square" rtlCol="0">
            <a:spAutoFit/>
          </a:bodyPr>
          <a:lstStyle/>
          <a:p>
            <a:r>
              <a:rPr lang="zh-CN" altLang="en-US" sz="2400">
                <a:latin typeface="楷体" panose="02010609060101010101" pitchFamily="49" charset="-122"/>
                <a:ea typeface="楷体" panose="02010609060101010101" pitchFamily="49" charset="-122"/>
              </a:rPr>
              <a:t>常见的开放式问题</a:t>
            </a:r>
            <a:r>
              <a:rPr lang="en-US" altLang="zh-CN" sz="2400">
                <a:latin typeface="楷体" panose="02010609060101010101" pitchFamily="49" charset="-122"/>
                <a:ea typeface="楷体" panose="02010609060101010101" pitchFamily="49" charset="-122"/>
              </a:rPr>
              <a:t>:</a:t>
            </a:r>
          </a:p>
          <a:p>
            <a:pPr marL="800100" lvl="1" indent="-342900">
              <a:buFont typeface="Arial" panose="020B0604020202020204" pitchFamily="34" charset="0"/>
              <a:buChar char="•"/>
            </a:pPr>
            <a:r>
              <a:rPr lang="en-US" altLang="zh-CN" sz="2400">
                <a:latin typeface="楷体" panose="02010609060101010101" pitchFamily="49" charset="-122"/>
                <a:ea typeface="楷体" panose="02010609060101010101" pitchFamily="49" charset="-122"/>
              </a:rPr>
              <a:t>“</a:t>
            </a:r>
            <a:r>
              <a:rPr lang="zh-CN" altLang="en-US" sz="2400">
                <a:latin typeface="楷体" panose="02010609060101010101" pitchFamily="49" charset="-122"/>
                <a:ea typeface="楷体" panose="02010609060101010101" pitchFamily="49" charset="-122"/>
              </a:rPr>
              <a:t>请解释你是如何做进度决策的？</a:t>
            </a:r>
            <a:r>
              <a:rPr lang="en-US" altLang="zh-CN" sz="2400">
                <a:latin typeface="楷体" panose="02010609060101010101" pitchFamily="49" charset="-122"/>
                <a:ea typeface="楷体" panose="02010609060101010101" pitchFamily="49" charset="-122"/>
              </a:rPr>
              <a:t>”</a:t>
            </a:r>
          </a:p>
          <a:p>
            <a:pPr marL="800100" lvl="1" indent="-342900">
              <a:buFont typeface="Arial" panose="020B0604020202020204" pitchFamily="34" charset="0"/>
              <a:buChar char="•"/>
            </a:pPr>
            <a:r>
              <a:rPr lang="en-US" altLang="zh-CN" sz="2400">
                <a:latin typeface="楷体" panose="02010609060101010101" pitchFamily="49" charset="-122"/>
                <a:ea typeface="楷体" panose="02010609060101010101" pitchFamily="49" charset="-122"/>
              </a:rPr>
              <a:t>“</a:t>
            </a:r>
            <a:r>
              <a:rPr lang="zh-CN" altLang="en-US" sz="2400">
                <a:latin typeface="楷体" panose="02010609060101010101" pitchFamily="49" charset="-122"/>
                <a:ea typeface="楷体" panose="02010609060101010101" pitchFamily="49" charset="-122"/>
              </a:rPr>
              <a:t>部门的重要目标是什么？</a:t>
            </a:r>
            <a:r>
              <a:rPr lang="en-US" altLang="zh-CN" sz="2400">
                <a:latin typeface="楷体" panose="02010609060101010101" pitchFamily="49" charset="-122"/>
                <a:ea typeface="楷体" panose="02010609060101010101" pitchFamily="49" charset="-122"/>
              </a:rPr>
              <a:t>”</a:t>
            </a:r>
          </a:p>
        </p:txBody>
      </p:sp>
      <p:sp>
        <p:nvSpPr>
          <p:cNvPr id="16" name="文本框 15"/>
          <p:cNvSpPr txBox="1"/>
          <p:nvPr/>
        </p:nvSpPr>
        <p:spPr>
          <a:xfrm>
            <a:off x="2607310" y="3145790"/>
            <a:ext cx="5261610" cy="829945"/>
          </a:xfrm>
          <a:prstGeom prst="rect">
            <a:avLst/>
          </a:prstGeom>
          <a:noFill/>
          <a:ln>
            <a:solidFill>
              <a:schemeClr val="accent1"/>
            </a:solidFill>
          </a:ln>
        </p:spPr>
        <p:txBody>
          <a:bodyPr wrap="square" rtlCol="0">
            <a:spAutoFit/>
          </a:bodyPr>
          <a:lstStyle/>
          <a:p>
            <a:r>
              <a:rPr lang="zh-CN" altLang="en-US" sz="2400">
                <a:latin typeface="楷体" panose="02010609060101010101" pitchFamily="49" charset="-122"/>
                <a:ea typeface="楷体" panose="02010609060101010101" pitchFamily="49" charset="-122"/>
              </a:rPr>
              <a:t>被会见者对答复的选择可以是开放和不受限制的</a:t>
            </a:r>
          </a:p>
        </p:txBody>
      </p:sp>
      <p:grpSp>
        <p:nvGrpSpPr>
          <p:cNvPr id="19" name="组合 18"/>
          <p:cNvGrpSpPr/>
          <p:nvPr/>
        </p:nvGrpSpPr>
        <p:grpSpPr>
          <a:xfrm>
            <a:off x="742315" y="2927985"/>
            <a:ext cx="1512570" cy="1416050"/>
            <a:chOff x="1248" y="4427"/>
            <a:chExt cx="2382" cy="2230"/>
          </a:xfrm>
        </p:grpSpPr>
        <p:pic>
          <p:nvPicPr>
            <p:cNvPr id="15" name="图片 14" descr="开放式问题"/>
            <p:cNvPicPr>
              <a:picLocks noChangeAspect="1"/>
            </p:cNvPicPr>
            <p:nvPr/>
          </p:nvPicPr>
          <p:blipFill>
            <a:blip r:embed="rId2"/>
            <a:stretch>
              <a:fillRect/>
            </a:stretch>
          </p:blipFill>
          <p:spPr>
            <a:xfrm>
              <a:off x="1327" y="4427"/>
              <a:ext cx="2072" cy="1449"/>
            </a:xfrm>
            <a:prstGeom prst="rect">
              <a:avLst/>
            </a:prstGeom>
          </p:spPr>
        </p:pic>
        <p:sp>
          <p:nvSpPr>
            <p:cNvPr id="18" name="文本框 17"/>
            <p:cNvSpPr txBox="1"/>
            <p:nvPr/>
          </p:nvSpPr>
          <p:spPr>
            <a:xfrm>
              <a:off x="1248" y="6077"/>
              <a:ext cx="2383" cy="580"/>
            </a:xfrm>
            <a:prstGeom prst="rect">
              <a:avLst/>
            </a:prstGeom>
            <a:noFill/>
          </p:spPr>
          <p:txBody>
            <a:bodyPr wrap="square" rtlCol="0">
              <a:spAutoFit/>
            </a:bodyPr>
            <a:lstStyle/>
            <a:p>
              <a:r>
                <a:rPr lang="zh-CN" altLang="en-US">
                  <a:latin typeface="楷体" panose="02010609060101010101" pitchFamily="49" charset="-122"/>
                  <a:ea typeface="楷体" panose="02010609060101010101" pitchFamily="49" charset="-122"/>
                </a:rPr>
                <a:t>开放式问题</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3" grpId="1" animBg="1"/>
      <p:bldP spid="13" grpId="0" bldLvl="0" animBg="1"/>
      <p:bldP spid="13" grpId="1" animBg="1"/>
      <p:bldP spid="16" grpId="0" bldLvl="0" animBg="1"/>
      <p:bldP spid="16"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面谈</a:t>
            </a:r>
          </a:p>
        </p:txBody>
      </p:sp>
      <p:sp>
        <p:nvSpPr>
          <p:cNvPr id="7" name="文本框 6"/>
          <p:cNvSpPr txBox="1"/>
          <p:nvPr/>
        </p:nvSpPr>
        <p:spPr>
          <a:xfrm>
            <a:off x="637540" y="2984500"/>
            <a:ext cx="7240905" cy="1568450"/>
          </a:xfrm>
          <a:prstGeom prst="rect">
            <a:avLst/>
          </a:prstGeom>
          <a:noFill/>
          <a:ln>
            <a:solidFill>
              <a:schemeClr val="accent1"/>
            </a:solidFill>
          </a:ln>
        </p:spPr>
        <p:txBody>
          <a:bodyPr wrap="square" rtlCol="0">
            <a:spAutoFit/>
          </a:bodyPr>
          <a:lstStyle/>
          <a:p>
            <a:r>
              <a:rPr lang="zh-CN" altLang="en-US" sz="2400">
                <a:latin typeface="楷体" panose="02010609060101010101" pitchFamily="49" charset="-122"/>
                <a:ea typeface="楷体" panose="02010609060101010101" pitchFamily="49" charset="-122"/>
              </a:rPr>
              <a:t>开放式问题的缺点：</a:t>
            </a:r>
          </a:p>
          <a:p>
            <a:pPr marL="800100" lvl="1" indent="-342900">
              <a:buFont typeface="Arial" panose="020B0604020202020204" pitchFamily="34" charset="0"/>
              <a:buChar char="•"/>
            </a:pPr>
            <a:r>
              <a:rPr lang="zh-CN" altLang="en-US" sz="2400">
                <a:latin typeface="楷体" panose="02010609060101010101" pitchFamily="49" charset="-122"/>
                <a:ea typeface="楷体" panose="02010609060101010101" pitchFamily="49" charset="-122"/>
              </a:rPr>
              <a:t>产生不相干的细节</a:t>
            </a:r>
          </a:p>
          <a:p>
            <a:pPr marL="800100" lvl="1" indent="-342900">
              <a:buFont typeface="Arial" panose="020B0604020202020204" pitchFamily="34" charset="0"/>
              <a:buChar char="•"/>
            </a:pPr>
            <a:r>
              <a:rPr lang="zh-CN" altLang="en-US" sz="2400">
                <a:latin typeface="楷体" panose="02010609060101010101" pitchFamily="49" charset="-122"/>
                <a:ea typeface="楷体" panose="02010609060101010101" pitchFamily="49" charset="-122"/>
              </a:rPr>
              <a:t>面谈可能失控</a:t>
            </a:r>
          </a:p>
          <a:p>
            <a:pPr marL="800100" lvl="1" indent="-342900">
              <a:buFont typeface="Arial" panose="020B0604020202020204" pitchFamily="34" charset="0"/>
              <a:buChar char="•"/>
            </a:pPr>
            <a:r>
              <a:rPr lang="zh-CN" altLang="en-US" sz="2400">
                <a:latin typeface="楷体" panose="02010609060101010101" pitchFamily="49" charset="-122"/>
                <a:ea typeface="楷体" panose="02010609060101010101" pitchFamily="49" charset="-122"/>
              </a:rPr>
              <a:t>需要花费大量时间才能提取有效信息</a:t>
            </a:r>
          </a:p>
        </p:txBody>
      </p:sp>
      <p:sp>
        <p:nvSpPr>
          <p:cNvPr id="5" name="文本框 4"/>
          <p:cNvSpPr txBox="1"/>
          <p:nvPr/>
        </p:nvSpPr>
        <p:spPr>
          <a:xfrm>
            <a:off x="637540" y="765810"/>
            <a:ext cx="7240905" cy="1938020"/>
          </a:xfrm>
          <a:prstGeom prst="rect">
            <a:avLst/>
          </a:prstGeom>
          <a:noFill/>
          <a:ln>
            <a:solidFill>
              <a:schemeClr val="accent1"/>
            </a:solidFill>
          </a:ln>
        </p:spPr>
        <p:txBody>
          <a:bodyPr wrap="square" rtlCol="0">
            <a:spAutoFit/>
          </a:bodyPr>
          <a:lstStyle/>
          <a:p>
            <a:r>
              <a:rPr lang="zh-CN" altLang="en-US" sz="2400">
                <a:latin typeface="楷体" panose="02010609060101010101" pitchFamily="49" charset="-122"/>
                <a:ea typeface="楷体" panose="02010609060101010101" pitchFamily="49" charset="-122"/>
              </a:rPr>
              <a:t>开放式问题的优点：</a:t>
            </a:r>
          </a:p>
          <a:p>
            <a:pPr marL="800100" lvl="1" indent="-342900">
              <a:buFont typeface="Arial" panose="020B0604020202020204" pitchFamily="34" charset="0"/>
              <a:buChar char="•"/>
            </a:pPr>
            <a:r>
              <a:rPr lang="zh-CN" altLang="en-US" sz="2400">
                <a:latin typeface="楷体" panose="02010609060101010101" pitchFamily="49" charset="-122"/>
                <a:ea typeface="楷体" panose="02010609060101010101" pitchFamily="49" charset="-122"/>
              </a:rPr>
              <a:t>让被会见者感到自在</a:t>
            </a:r>
          </a:p>
          <a:p>
            <a:pPr marL="800100" lvl="1" indent="-342900">
              <a:buFont typeface="Arial" panose="020B0604020202020204" pitchFamily="34" charset="0"/>
              <a:buChar char="•"/>
            </a:pPr>
            <a:r>
              <a:rPr lang="zh-CN" altLang="en-US" sz="2400">
                <a:latin typeface="楷体" panose="02010609060101010101" pitchFamily="49" charset="-122"/>
                <a:ea typeface="楷体" panose="02010609060101010101" pitchFamily="49" charset="-122"/>
              </a:rPr>
              <a:t>会见者可以收集被会见者使用的词汇，这能反应他的教育、价值标准、态度和信念</a:t>
            </a:r>
          </a:p>
          <a:p>
            <a:pPr marL="800100" lvl="1" indent="-342900">
              <a:buFont typeface="Arial" panose="020B0604020202020204" pitchFamily="34" charset="0"/>
              <a:buChar char="•"/>
            </a:pPr>
            <a:r>
              <a:rPr lang="zh-CN" altLang="en-US" sz="2400">
                <a:latin typeface="楷体" panose="02010609060101010101" pitchFamily="49" charset="-122"/>
                <a:ea typeface="楷体" panose="02010609060101010101" pitchFamily="49" charset="-122"/>
              </a:rPr>
              <a:t>提供丰富的细节</a:t>
            </a:r>
          </a:p>
        </p:txBody>
      </p:sp>
      <p:grpSp>
        <p:nvGrpSpPr>
          <p:cNvPr id="15" name="组合 14"/>
          <p:cNvGrpSpPr/>
          <p:nvPr/>
        </p:nvGrpSpPr>
        <p:grpSpPr>
          <a:xfrm>
            <a:off x="637540" y="4860290"/>
            <a:ext cx="7240270" cy="1282700"/>
            <a:chOff x="1004" y="7654"/>
            <a:chExt cx="11402" cy="2020"/>
          </a:xfrm>
        </p:grpSpPr>
        <p:pic>
          <p:nvPicPr>
            <p:cNvPr id="12" name="图片 11" descr="时机"/>
            <p:cNvPicPr>
              <a:picLocks noChangeAspect="1"/>
            </p:cNvPicPr>
            <p:nvPr/>
          </p:nvPicPr>
          <p:blipFill>
            <a:blip r:embed="rId2"/>
            <a:stretch>
              <a:fillRect/>
            </a:stretch>
          </p:blipFill>
          <p:spPr>
            <a:xfrm>
              <a:off x="1004" y="7654"/>
              <a:ext cx="2021" cy="2021"/>
            </a:xfrm>
            <a:prstGeom prst="rect">
              <a:avLst/>
            </a:prstGeom>
          </p:spPr>
        </p:pic>
        <p:sp>
          <p:nvSpPr>
            <p:cNvPr id="14" name="文本框 13"/>
            <p:cNvSpPr txBox="1"/>
            <p:nvPr/>
          </p:nvSpPr>
          <p:spPr>
            <a:xfrm>
              <a:off x="3432" y="7866"/>
              <a:ext cx="8975" cy="1598"/>
            </a:xfrm>
            <a:prstGeom prst="rect">
              <a:avLst/>
            </a:prstGeom>
            <a:noFill/>
            <a:ln>
              <a:solidFill>
                <a:schemeClr val="accent1"/>
              </a:solidFill>
            </a:ln>
          </p:spPr>
          <p:txBody>
            <a:bodyPr wrap="square" rtlCol="0">
              <a:spAutoFit/>
            </a:bodyPr>
            <a:lstStyle/>
            <a:p>
              <a:pPr marL="342900" indent="-342900">
                <a:buFont typeface="Arial" panose="020B0604020202020204" pitchFamily="34" charset="0"/>
                <a:buChar char="•"/>
              </a:pPr>
              <a:r>
                <a:rPr lang="zh-CN" altLang="en-US" sz="2000">
                  <a:latin typeface="楷体" panose="02010609060101010101" pitchFamily="49" charset="-122"/>
                  <a:ea typeface="楷体" panose="02010609060101010101" pitchFamily="49" charset="-122"/>
                </a:rPr>
                <a:t>需求的早期、准备不充分、较为不确定的问题</a:t>
              </a:r>
            </a:p>
            <a:p>
              <a:pPr marL="342900" indent="-342900">
                <a:buFont typeface="Arial" panose="020B0604020202020204" pitchFamily="34" charset="0"/>
                <a:buChar char="•"/>
              </a:pPr>
              <a:r>
                <a:rPr lang="zh-CN" altLang="en-US" sz="2000">
                  <a:latin typeface="楷体" panose="02010609060101010101" pitchFamily="49" charset="-122"/>
                  <a:ea typeface="楷体" panose="02010609060101010101" pitchFamily="49" charset="-122"/>
                </a:rPr>
                <a:t>会见者对事实和问题的掌握比较有限</a:t>
              </a:r>
            </a:p>
            <a:p>
              <a:pPr marL="342900" indent="-342900">
                <a:buFont typeface="Arial" panose="020B0604020202020204" pitchFamily="34" charset="0"/>
                <a:buChar char="•"/>
              </a:pPr>
              <a:r>
                <a:rPr lang="zh-CN" altLang="en-US" sz="2000">
                  <a:latin typeface="楷体" panose="02010609060101010101" pitchFamily="49" charset="-122"/>
                  <a:ea typeface="楷体" panose="02010609060101010101" pitchFamily="49" charset="-122"/>
                </a:rPr>
                <a:t>希望会见者提供丰富的信息</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7" grpId="1" animBg="1"/>
      <p:bldP spid="5" grpId="0" bldLvl="0" animBg="1"/>
      <p:bldP spid="5"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面谈</a:t>
            </a:r>
          </a:p>
        </p:txBody>
      </p:sp>
      <p:sp>
        <p:nvSpPr>
          <p:cNvPr id="7" name="文本框 6"/>
          <p:cNvSpPr txBox="1"/>
          <p:nvPr/>
        </p:nvSpPr>
        <p:spPr>
          <a:xfrm>
            <a:off x="628650" y="2517775"/>
            <a:ext cx="7240905" cy="1198880"/>
          </a:xfrm>
          <a:prstGeom prst="rect">
            <a:avLst/>
          </a:prstGeom>
          <a:noFill/>
          <a:ln>
            <a:solidFill>
              <a:schemeClr val="accent1"/>
            </a:solidFill>
          </a:ln>
        </p:spPr>
        <p:txBody>
          <a:bodyPr wrap="square" rtlCol="0">
            <a:spAutoFit/>
          </a:bodyPr>
          <a:lstStyle/>
          <a:p>
            <a:r>
              <a:rPr lang="zh-CN" altLang="en-US" sz="2400">
                <a:latin typeface="楷体" panose="02010609060101010101" pitchFamily="49" charset="-122"/>
                <a:ea typeface="楷体" panose="02010609060101010101" pitchFamily="49" charset="-122"/>
              </a:rPr>
              <a:t>常见的封闭式问题：</a:t>
            </a:r>
          </a:p>
          <a:p>
            <a:pPr marL="800100" lvl="1" indent="-342900">
              <a:buFont typeface="Arial" panose="020B0604020202020204" pitchFamily="34" charset="0"/>
              <a:buChar char="•"/>
            </a:pPr>
            <a:r>
              <a:rPr lang="en-US" altLang="zh-CN" sz="2400">
                <a:latin typeface="楷体" panose="02010609060101010101" pitchFamily="49" charset="-122"/>
                <a:ea typeface="楷体" panose="02010609060101010101" pitchFamily="49" charset="-122"/>
              </a:rPr>
              <a:t>“</a:t>
            </a:r>
            <a:r>
              <a:rPr lang="zh-CN" altLang="en-US" sz="2400">
                <a:latin typeface="楷体" panose="02010609060101010101" pitchFamily="49" charset="-122"/>
                <a:ea typeface="楷体" panose="02010609060101010101" pitchFamily="49" charset="-122"/>
              </a:rPr>
              <a:t>项目存储库每个星期更新多少次？</a:t>
            </a:r>
            <a:r>
              <a:rPr lang="en-US" altLang="zh-CN" sz="2400">
                <a:latin typeface="楷体" panose="02010609060101010101" pitchFamily="49" charset="-122"/>
                <a:ea typeface="楷体" panose="02010609060101010101" pitchFamily="49" charset="-122"/>
              </a:rPr>
              <a:t>”</a:t>
            </a:r>
          </a:p>
          <a:p>
            <a:pPr marL="800100" lvl="1" indent="-342900">
              <a:buFont typeface="Arial" panose="020B0604020202020204" pitchFamily="34" charset="0"/>
              <a:buChar char="•"/>
            </a:pPr>
            <a:r>
              <a:rPr lang="en-US" altLang="zh-CN" sz="2400">
                <a:latin typeface="楷体" panose="02010609060101010101" pitchFamily="49" charset="-122"/>
                <a:ea typeface="楷体" panose="02010609060101010101" pitchFamily="49" charset="-122"/>
              </a:rPr>
              <a:t>“</a:t>
            </a:r>
            <a:r>
              <a:rPr lang="zh-CN" altLang="en-US" sz="2400">
                <a:latin typeface="楷体" panose="02010609060101010101" pitchFamily="49" charset="-122"/>
                <a:ea typeface="楷体" panose="02010609060101010101" pitchFamily="49" charset="-122"/>
              </a:rPr>
              <a:t>电话中心一个月平均收到多少个电话？</a:t>
            </a:r>
            <a:r>
              <a:rPr lang="en-US" altLang="zh-CN" sz="2400">
                <a:latin typeface="楷体" panose="02010609060101010101" pitchFamily="49" charset="-122"/>
                <a:ea typeface="楷体" panose="02010609060101010101" pitchFamily="49" charset="-122"/>
              </a:rPr>
              <a:t>”</a:t>
            </a:r>
          </a:p>
        </p:txBody>
      </p:sp>
      <p:grpSp>
        <p:nvGrpSpPr>
          <p:cNvPr id="12" name="组合 11"/>
          <p:cNvGrpSpPr/>
          <p:nvPr/>
        </p:nvGrpSpPr>
        <p:grpSpPr>
          <a:xfrm>
            <a:off x="671195" y="679450"/>
            <a:ext cx="7198360" cy="1684020"/>
            <a:chOff x="1071" y="7341"/>
            <a:chExt cx="11336" cy="2652"/>
          </a:xfrm>
        </p:grpSpPr>
        <p:sp>
          <p:nvSpPr>
            <p:cNvPr id="8" name="文本框 7"/>
            <p:cNvSpPr txBox="1"/>
            <p:nvPr/>
          </p:nvSpPr>
          <p:spPr>
            <a:xfrm>
              <a:off x="4382" y="8106"/>
              <a:ext cx="8025" cy="1307"/>
            </a:xfrm>
            <a:prstGeom prst="rect">
              <a:avLst/>
            </a:prstGeom>
            <a:noFill/>
            <a:ln>
              <a:solidFill>
                <a:schemeClr val="accent1"/>
              </a:solidFill>
            </a:ln>
          </p:spPr>
          <p:txBody>
            <a:bodyPr wrap="square" rtlCol="0">
              <a:spAutoFit/>
            </a:bodyPr>
            <a:lstStyle/>
            <a:p>
              <a:r>
                <a:rPr lang="zh-CN" altLang="en-US" sz="2400">
                  <a:latin typeface="楷体" panose="02010609060101010101" pitchFamily="49" charset="-122"/>
                  <a:ea typeface="楷体" panose="02010609060101010101" pitchFamily="49" charset="-122"/>
                </a:rPr>
                <a:t>封闭式问题对答案有基本的形式，被会见者的</a:t>
              </a:r>
              <a:r>
                <a:rPr lang="zh-CN" altLang="en-US" sz="2400" b="1">
                  <a:solidFill>
                    <a:srgbClr val="7030A0"/>
                  </a:solidFill>
                  <a:latin typeface="楷体" panose="02010609060101010101" pitchFamily="49" charset="-122"/>
                  <a:ea typeface="楷体" panose="02010609060101010101" pitchFamily="49" charset="-122"/>
                </a:rPr>
                <a:t>回答是受到限制</a:t>
              </a:r>
              <a:r>
                <a:rPr lang="zh-CN" altLang="en-US" sz="2400">
                  <a:latin typeface="楷体" panose="02010609060101010101" pitchFamily="49" charset="-122"/>
                  <a:ea typeface="楷体" panose="02010609060101010101" pitchFamily="49" charset="-122"/>
                </a:rPr>
                <a:t>的</a:t>
              </a:r>
            </a:p>
          </p:txBody>
        </p:sp>
        <p:grpSp>
          <p:nvGrpSpPr>
            <p:cNvPr id="10" name="组合 9"/>
            <p:cNvGrpSpPr/>
            <p:nvPr/>
          </p:nvGrpSpPr>
          <p:grpSpPr>
            <a:xfrm>
              <a:off x="1071" y="7341"/>
              <a:ext cx="2353" cy="2652"/>
              <a:chOff x="748" y="7341"/>
              <a:chExt cx="2353" cy="2652"/>
            </a:xfrm>
          </p:grpSpPr>
          <p:pic>
            <p:nvPicPr>
              <p:cNvPr id="9" name="图片 8" descr="封闭式问题"/>
              <p:cNvPicPr>
                <a:picLocks noChangeAspect="1"/>
              </p:cNvPicPr>
              <p:nvPr/>
            </p:nvPicPr>
            <p:blipFill>
              <a:blip r:embed="rId2"/>
              <a:stretch>
                <a:fillRect/>
              </a:stretch>
            </p:blipFill>
            <p:spPr>
              <a:xfrm>
                <a:off x="1004" y="7341"/>
                <a:ext cx="1841" cy="1841"/>
              </a:xfrm>
              <a:prstGeom prst="rect">
                <a:avLst/>
              </a:prstGeom>
            </p:spPr>
          </p:pic>
          <p:sp>
            <p:nvSpPr>
              <p:cNvPr id="11" name="文本框 10"/>
              <p:cNvSpPr txBox="1"/>
              <p:nvPr/>
            </p:nvSpPr>
            <p:spPr>
              <a:xfrm>
                <a:off x="748" y="9413"/>
                <a:ext cx="2353" cy="580"/>
              </a:xfrm>
              <a:prstGeom prst="rect">
                <a:avLst/>
              </a:prstGeom>
              <a:noFill/>
            </p:spPr>
            <p:txBody>
              <a:bodyPr wrap="square" rtlCol="0">
                <a:spAutoFit/>
              </a:bodyPr>
              <a:lstStyle/>
              <a:p>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封闭式问题</a:t>
                </a:r>
              </a:p>
            </p:txBody>
          </p:sp>
        </p:grpSp>
      </p:grpSp>
      <p:sp>
        <p:nvSpPr>
          <p:cNvPr id="15" name="文本框 14"/>
          <p:cNvSpPr txBox="1"/>
          <p:nvPr/>
        </p:nvSpPr>
        <p:spPr>
          <a:xfrm>
            <a:off x="628650" y="3994150"/>
            <a:ext cx="7240270" cy="2306955"/>
          </a:xfrm>
          <a:prstGeom prst="rect">
            <a:avLst/>
          </a:prstGeom>
          <a:noFill/>
          <a:ln>
            <a:solidFill>
              <a:schemeClr val="accent1"/>
            </a:solidFill>
          </a:ln>
        </p:spPr>
        <p:txBody>
          <a:bodyPr wrap="square" rtlCol="0">
            <a:spAutoFit/>
          </a:bodyPr>
          <a:lstStyle/>
          <a:p>
            <a:r>
              <a:rPr lang="zh-CN" altLang="en-US" sz="2400">
                <a:latin typeface="楷体" panose="02010609060101010101" pitchFamily="49" charset="-122"/>
                <a:ea typeface="楷体" panose="02010609060101010101" pitchFamily="49" charset="-122"/>
              </a:rPr>
              <a:t>封闭式问题的优点：</a:t>
            </a:r>
          </a:p>
          <a:p>
            <a:pPr marL="800100" lvl="1" indent="-342900">
              <a:buFont typeface="Arial" panose="020B0604020202020204" pitchFamily="34" charset="0"/>
              <a:buChar char="•"/>
            </a:pPr>
            <a:r>
              <a:rPr lang="zh-CN" altLang="en-US" sz="2400">
                <a:latin typeface="楷体" panose="02010609060101010101" pitchFamily="49" charset="-122"/>
                <a:ea typeface="楷体" panose="02010609060101010101" pitchFamily="49" charset="-122"/>
              </a:rPr>
              <a:t>节省时间</a:t>
            </a:r>
          </a:p>
          <a:p>
            <a:pPr marL="800100" lvl="1" indent="-342900">
              <a:buFont typeface="Arial" panose="020B0604020202020204" pitchFamily="34" charset="0"/>
              <a:buChar char="•"/>
            </a:pPr>
            <a:r>
              <a:rPr lang="zh-CN" altLang="en-US" sz="2400">
                <a:latin typeface="楷体" panose="02010609060101010101" pitchFamily="49" charset="-122"/>
                <a:ea typeface="楷体" panose="02010609060101010101" pitchFamily="49" charset="-122"/>
              </a:rPr>
              <a:t>切中要点</a:t>
            </a:r>
          </a:p>
          <a:p>
            <a:pPr marL="800100" lvl="1" indent="-342900">
              <a:buFont typeface="Arial" panose="020B0604020202020204" pitchFamily="34" charset="0"/>
              <a:buChar char="•"/>
            </a:pPr>
            <a:r>
              <a:rPr lang="zh-CN" altLang="en-US" sz="2400">
                <a:latin typeface="楷体" panose="02010609060101010101" pitchFamily="49" charset="-122"/>
                <a:ea typeface="楷体" panose="02010609060101010101" pitchFamily="49" charset="-122"/>
              </a:rPr>
              <a:t>保持对面谈的控制</a:t>
            </a:r>
          </a:p>
          <a:p>
            <a:pPr marL="800100" lvl="1" indent="-342900">
              <a:buFont typeface="Arial" panose="020B0604020202020204" pitchFamily="34" charset="0"/>
              <a:buChar char="•"/>
            </a:pPr>
            <a:r>
              <a:rPr lang="zh-CN" altLang="en-US" sz="2400">
                <a:latin typeface="楷体" panose="02010609060101010101" pitchFamily="49" charset="-122"/>
                <a:ea typeface="楷体" panose="02010609060101010101" pitchFamily="49" charset="-122"/>
              </a:rPr>
              <a:t>快速探讨大范围问题</a:t>
            </a:r>
          </a:p>
          <a:p>
            <a:pPr marL="800100" lvl="1" indent="-342900">
              <a:buFont typeface="Arial" panose="020B0604020202020204" pitchFamily="34" charset="0"/>
              <a:buChar char="•"/>
            </a:pPr>
            <a:r>
              <a:rPr lang="zh-CN" altLang="en-US" sz="2400">
                <a:latin typeface="楷体" panose="02010609060101010101" pitchFamily="49" charset="-122"/>
                <a:ea typeface="楷体" panose="02010609060101010101" pitchFamily="49" charset="-122"/>
              </a:rPr>
              <a:t>得到贴切的数据</a:t>
            </a:r>
          </a:p>
        </p:txBody>
      </p:sp>
      <p:sp>
        <p:nvSpPr>
          <p:cNvPr id="16" name="文本框 15"/>
          <p:cNvSpPr txBox="1"/>
          <p:nvPr/>
        </p:nvSpPr>
        <p:spPr>
          <a:xfrm>
            <a:off x="2506980" y="1818640"/>
            <a:ext cx="3048000" cy="368300"/>
          </a:xfrm>
          <a:prstGeom prst="rect">
            <a:avLst/>
          </a:prstGeom>
          <a:noFill/>
        </p:spPr>
        <p:txBody>
          <a:bodyPr wrap="square" rtlCol="0">
            <a:spAutoFit/>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7" grpId="1" animBg="1"/>
      <p:bldP spid="15" grpId="0" bldLvl="0" animBg="1"/>
      <p:bldP spid="15"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面谈</a:t>
            </a:r>
          </a:p>
        </p:txBody>
      </p:sp>
      <p:sp>
        <p:nvSpPr>
          <p:cNvPr id="5" name="文本框 4"/>
          <p:cNvSpPr txBox="1"/>
          <p:nvPr/>
        </p:nvSpPr>
        <p:spPr>
          <a:xfrm>
            <a:off x="637540" y="1261745"/>
            <a:ext cx="7240905" cy="1938020"/>
          </a:xfrm>
          <a:prstGeom prst="rect">
            <a:avLst/>
          </a:prstGeom>
          <a:noFill/>
          <a:ln>
            <a:solidFill>
              <a:schemeClr val="accent1"/>
            </a:solidFill>
          </a:ln>
        </p:spPr>
        <p:txBody>
          <a:bodyPr wrap="square" rtlCol="0">
            <a:spAutoFit/>
          </a:bodyPr>
          <a:lstStyle/>
          <a:p>
            <a:r>
              <a:rPr lang="zh-CN" altLang="en-US" sz="2400">
                <a:latin typeface="楷体" panose="02010609060101010101" pitchFamily="49" charset="-122"/>
                <a:ea typeface="楷体" panose="02010609060101010101" pitchFamily="49" charset="-122"/>
              </a:rPr>
              <a:t>封闭式问题的缺点：</a:t>
            </a:r>
          </a:p>
          <a:p>
            <a:pPr marL="800100" lvl="1" indent="-342900">
              <a:buFont typeface="Arial" panose="020B0604020202020204" pitchFamily="34" charset="0"/>
              <a:buChar char="•"/>
            </a:pPr>
            <a:r>
              <a:rPr lang="zh-CN" altLang="en-US" sz="2400">
                <a:latin typeface="楷体" panose="02010609060101010101" pitchFamily="49" charset="-122"/>
                <a:ea typeface="楷体" panose="02010609060101010101" pitchFamily="49" charset="-122"/>
              </a:rPr>
              <a:t>使得被会见者厌烦；</a:t>
            </a:r>
          </a:p>
          <a:p>
            <a:pPr marL="800100" lvl="1" indent="-342900">
              <a:buFont typeface="Arial" panose="020B0604020202020204" pitchFamily="34" charset="0"/>
              <a:buChar char="•"/>
            </a:pPr>
            <a:r>
              <a:rPr lang="zh-CN" altLang="en-US" sz="2400">
                <a:latin typeface="楷体" panose="02010609060101010101" pitchFamily="49" charset="-122"/>
                <a:ea typeface="楷体" panose="02010609060101010101" pitchFamily="49" charset="-122"/>
              </a:rPr>
              <a:t>得不到丰富的细节；</a:t>
            </a:r>
          </a:p>
          <a:p>
            <a:pPr marL="800100" lvl="1" indent="-342900">
              <a:buFont typeface="Arial" panose="020B0604020202020204" pitchFamily="34" charset="0"/>
              <a:buChar char="•"/>
            </a:pPr>
            <a:r>
              <a:rPr lang="zh-CN" altLang="en-US" sz="2400">
                <a:latin typeface="楷体" panose="02010609060101010101" pitchFamily="49" charset="-122"/>
                <a:ea typeface="楷体" panose="02010609060101010101" pitchFamily="49" charset="-122"/>
              </a:rPr>
              <a:t>出于上述原因，失去主要思想；</a:t>
            </a:r>
          </a:p>
          <a:p>
            <a:pPr marL="800100" lvl="1" indent="-342900">
              <a:buFont typeface="Arial" panose="020B0604020202020204" pitchFamily="34" charset="0"/>
              <a:buChar char="•"/>
            </a:pPr>
            <a:r>
              <a:rPr lang="zh-CN" altLang="en-US" sz="2400">
                <a:latin typeface="楷体" panose="02010609060101010101" pitchFamily="49" charset="-122"/>
                <a:ea typeface="楷体" panose="02010609060101010101" pitchFamily="49" charset="-122"/>
              </a:rPr>
              <a:t>不能建立和面谈者的友好关系。</a:t>
            </a:r>
          </a:p>
        </p:txBody>
      </p:sp>
      <p:grpSp>
        <p:nvGrpSpPr>
          <p:cNvPr id="15" name="组合 14"/>
          <p:cNvGrpSpPr/>
          <p:nvPr/>
        </p:nvGrpSpPr>
        <p:grpSpPr>
          <a:xfrm>
            <a:off x="637540" y="3993515"/>
            <a:ext cx="7240905" cy="1283335"/>
            <a:chOff x="1004" y="7654"/>
            <a:chExt cx="11403" cy="2021"/>
          </a:xfrm>
        </p:grpSpPr>
        <p:pic>
          <p:nvPicPr>
            <p:cNvPr id="12" name="图片 11" descr="时机"/>
            <p:cNvPicPr>
              <a:picLocks noChangeAspect="1"/>
            </p:cNvPicPr>
            <p:nvPr/>
          </p:nvPicPr>
          <p:blipFill>
            <a:blip r:embed="rId2"/>
            <a:stretch>
              <a:fillRect/>
            </a:stretch>
          </p:blipFill>
          <p:spPr>
            <a:xfrm>
              <a:off x="1004" y="7654"/>
              <a:ext cx="2021" cy="2021"/>
            </a:xfrm>
            <a:prstGeom prst="rect">
              <a:avLst/>
            </a:prstGeom>
          </p:spPr>
        </p:pic>
        <p:sp>
          <p:nvSpPr>
            <p:cNvPr id="14" name="文本框 13"/>
            <p:cNvSpPr txBox="1"/>
            <p:nvPr/>
          </p:nvSpPr>
          <p:spPr>
            <a:xfrm>
              <a:off x="3432" y="7866"/>
              <a:ext cx="8975" cy="1598"/>
            </a:xfrm>
            <a:prstGeom prst="rect">
              <a:avLst/>
            </a:prstGeom>
            <a:noFill/>
            <a:ln>
              <a:solidFill>
                <a:schemeClr val="accent1"/>
              </a:solidFill>
            </a:ln>
          </p:spPr>
          <p:txBody>
            <a:bodyPr wrap="square" rtlCol="0">
              <a:spAutoFit/>
            </a:bodyPr>
            <a:lstStyle/>
            <a:p>
              <a:pPr marL="342900" indent="-342900">
                <a:buFont typeface="Arial" panose="020B0604020202020204" pitchFamily="34" charset="0"/>
                <a:buChar char="•"/>
              </a:pPr>
              <a:r>
                <a:rPr lang="zh-CN" altLang="en-US" sz="2000">
                  <a:latin typeface="楷体" panose="02010609060101010101" pitchFamily="49" charset="-122"/>
                  <a:ea typeface="楷体" panose="02010609060101010101" pitchFamily="49" charset="-122"/>
                </a:rPr>
                <a:t>需求的后期、准备充分、有较大把握的问题</a:t>
              </a:r>
            </a:p>
            <a:p>
              <a:pPr marL="342900" indent="-342900">
                <a:buFont typeface="Arial" panose="020B0604020202020204" pitchFamily="34" charset="0"/>
                <a:buChar char="•"/>
              </a:pPr>
              <a:r>
                <a:rPr lang="zh-CN" altLang="en-US" sz="2000">
                  <a:latin typeface="楷体" panose="02010609060101010101" pitchFamily="49" charset="-122"/>
                  <a:ea typeface="楷体" panose="02010609060101010101" pitchFamily="49" charset="-122"/>
                </a:rPr>
                <a:t>会见者对事实和问题的范围比较确定</a:t>
              </a:r>
            </a:p>
            <a:p>
              <a:pPr marL="342900" indent="-342900">
                <a:buFont typeface="Arial" panose="020B0604020202020204" pitchFamily="34" charset="0"/>
                <a:buChar char="•"/>
              </a:pPr>
              <a:r>
                <a:rPr lang="zh-CN" altLang="en-US" sz="2000">
                  <a:latin typeface="楷体" panose="02010609060101010101" pitchFamily="49" charset="-122"/>
                  <a:ea typeface="楷体" panose="02010609060101010101" pitchFamily="49" charset="-122"/>
                </a:rPr>
                <a:t>只是希望会见者进行选择和确认。</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5"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面谈</a:t>
            </a:r>
          </a:p>
        </p:txBody>
      </p:sp>
      <p:sp>
        <p:nvSpPr>
          <p:cNvPr id="4" name="文本框 3"/>
          <p:cNvSpPr txBox="1"/>
          <p:nvPr/>
        </p:nvSpPr>
        <p:spPr>
          <a:xfrm>
            <a:off x="628650" y="635000"/>
            <a:ext cx="7240270" cy="521970"/>
          </a:xfrm>
          <a:prstGeom prst="rect">
            <a:avLst/>
          </a:prstGeom>
          <a:noFill/>
          <a:ln>
            <a:noFill/>
          </a:ln>
        </p:spPr>
        <p:txBody>
          <a:bodyPr wrap="square" rtlCol="0">
            <a:spAutoFit/>
          </a:bodyPr>
          <a:lstStyle/>
          <a:p>
            <a:pPr marL="342900" indent="-342900">
              <a:buFont typeface="Wingdings" panose="05000000000000000000" charset="0"/>
              <a:buChar char="Ø"/>
            </a:pPr>
            <a:r>
              <a:rPr lang="zh-CN" altLang="en-US" sz="2800" b="1">
                <a:latin typeface="楷体" panose="02010609060101010101" pitchFamily="49" charset="-122"/>
                <a:ea typeface="楷体" panose="02010609060101010101" pitchFamily="49" charset="-122"/>
              </a:rPr>
              <a:t>程序性提示</a:t>
            </a:r>
          </a:p>
        </p:txBody>
      </p:sp>
      <p:graphicFrame>
        <p:nvGraphicFramePr>
          <p:cNvPr id="5" name="表格 4"/>
          <p:cNvGraphicFramePr/>
          <p:nvPr>
            <p:custDataLst>
              <p:tags r:id="rId1"/>
            </p:custDataLst>
          </p:nvPr>
        </p:nvGraphicFramePr>
        <p:xfrm>
          <a:off x="628650" y="1259840"/>
          <a:ext cx="7240270" cy="5019675"/>
        </p:xfrm>
        <a:graphic>
          <a:graphicData uri="http://schemas.openxmlformats.org/drawingml/2006/table">
            <a:tbl>
              <a:tblPr firstRow="1" bandRow="1">
                <a:tableStyleId>{5C22544A-7EE6-4342-B048-85BDC9FD1C3A}</a:tableStyleId>
              </a:tblPr>
              <a:tblGrid>
                <a:gridCol w="1897380">
                  <a:extLst>
                    <a:ext uri="{9D8B030D-6E8A-4147-A177-3AD203B41FA5}">
                      <a16:colId xmlns:a16="http://schemas.microsoft.com/office/drawing/2014/main" val="20000"/>
                    </a:ext>
                  </a:extLst>
                </a:gridCol>
                <a:gridCol w="5342890">
                  <a:extLst>
                    <a:ext uri="{9D8B030D-6E8A-4147-A177-3AD203B41FA5}">
                      <a16:colId xmlns:a16="http://schemas.microsoft.com/office/drawing/2014/main" val="20001"/>
                    </a:ext>
                  </a:extLst>
                </a:gridCol>
              </a:tblGrid>
              <a:tr h="347345">
                <a:tc>
                  <a:txBody>
                    <a:bodyPr/>
                    <a:lstStyle/>
                    <a:p>
                      <a:pPr algn="ctr">
                        <a:buNone/>
                      </a:pPr>
                      <a:r>
                        <a:rPr lang="zh-CN" altLang="en-US" sz="1800">
                          <a:latin typeface="楷体" panose="02010609060101010101" pitchFamily="49" charset="-122"/>
                          <a:ea typeface="楷体" panose="02010609060101010101" pitchFamily="49" charset="-122"/>
                        </a:rPr>
                        <a:t>提示</a:t>
                      </a:r>
                    </a:p>
                  </a:txBody>
                  <a:tcPr anchor="ctr"/>
                </a:tc>
                <a:tc>
                  <a:txBody>
                    <a:bodyPr/>
                    <a:lstStyle/>
                    <a:p>
                      <a:pPr algn="ctr">
                        <a:buNone/>
                      </a:pPr>
                      <a:r>
                        <a:rPr lang="zh-CN" altLang="en-US" sz="1800">
                          <a:latin typeface="楷体" panose="02010609060101010101" pitchFamily="49" charset="-122"/>
                          <a:ea typeface="楷体" panose="02010609060101010101" pitchFamily="49" charset="-122"/>
                        </a:rPr>
                        <a:t>示例</a:t>
                      </a:r>
                    </a:p>
                  </a:txBody>
                  <a:tcPr anchor="ctr"/>
                </a:tc>
                <a:extLst>
                  <a:ext uri="{0D108BD9-81ED-4DB2-BD59-A6C34878D82A}">
                    <a16:rowId xmlns:a16="http://schemas.microsoft.com/office/drawing/2014/main" val="10000"/>
                  </a:ext>
                </a:extLst>
              </a:tr>
              <a:tr h="481965">
                <a:tc rowSpan="3">
                  <a:txBody>
                    <a:bodyPr/>
                    <a:lstStyle/>
                    <a:p>
                      <a:pPr algn="l">
                        <a:buNone/>
                      </a:pPr>
                      <a:r>
                        <a:rPr lang="zh-CN" altLang="en-US" sz="1800">
                          <a:latin typeface="楷体" panose="02010609060101010101" pitchFamily="49" charset="-122"/>
                          <a:ea typeface="楷体" panose="02010609060101010101" pitchFamily="49" charset="-122"/>
                        </a:rPr>
                        <a:t>总结与反馈</a:t>
                      </a:r>
                    </a:p>
                  </a:txBody>
                  <a:tcPr anchor="ctr"/>
                </a:tc>
                <a:tc>
                  <a:txBody>
                    <a:bodyPr/>
                    <a:lstStyle/>
                    <a:p>
                      <a:pPr algn="l">
                        <a:buNone/>
                      </a:pPr>
                      <a:r>
                        <a:rPr lang="zh-CN" altLang="en-US" sz="1800">
                          <a:latin typeface="楷体" panose="02010609060101010101" pitchFamily="49" charset="-122"/>
                          <a:ea typeface="楷体" panose="02010609060101010101" pitchFamily="49" charset="-122"/>
                        </a:rPr>
                        <a:t>你能不能总结一下系统的功能？</a:t>
                      </a:r>
                    </a:p>
                  </a:txBody>
                  <a:tcPr anchor="ctr"/>
                </a:tc>
                <a:extLst>
                  <a:ext uri="{0D108BD9-81ED-4DB2-BD59-A6C34878D82A}">
                    <a16:rowId xmlns:a16="http://schemas.microsoft.com/office/drawing/2014/main" val="10001"/>
                  </a:ext>
                </a:extLst>
              </a:tr>
              <a:tr h="481965">
                <a:tc vMerge="1">
                  <a:txBody>
                    <a:bodyPr/>
                    <a:lstStyle/>
                    <a:p>
                      <a:endParaRPr lang="zh-CN"/>
                    </a:p>
                  </a:txBody>
                  <a:tcPr anchor="ctr"/>
                </a:tc>
                <a:tc>
                  <a:txBody>
                    <a:bodyPr/>
                    <a:lstStyle/>
                    <a:p>
                      <a:pPr algn="l">
                        <a:buNone/>
                      </a:pPr>
                      <a:r>
                        <a:rPr lang="zh-CN" altLang="en-US" sz="1800">
                          <a:latin typeface="楷体" panose="02010609060101010101" pitchFamily="49" charset="-122"/>
                          <a:ea typeface="楷体" panose="02010609060101010101" pitchFamily="49" charset="-122"/>
                        </a:rPr>
                        <a:t>你能不能总结一下一个成功系统的必备特征？</a:t>
                      </a:r>
                    </a:p>
                  </a:txBody>
                  <a:tcPr anchor="ctr"/>
                </a:tc>
                <a:extLst>
                  <a:ext uri="{0D108BD9-81ED-4DB2-BD59-A6C34878D82A}">
                    <a16:rowId xmlns:a16="http://schemas.microsoft.com/office/drawing/2014/main" val="10002"/>
                  </a:ext>
                </a:extLst>
              </a:tr>
              <a:tr h="481965">
                <a:tc vMerge="1">
                  <a:txBody>
                    <a:bodyPr/>
                    <a:lstStyle/>
                    <a:p>
                      <a:endParaRPr lang="zh-CN"/>
                    </a:p>
                  </a:txBody>
                  <a:tcPr anchor="ctr"/>
                </a:tc>
                <a:tc>
                  <a:txBody>
                    <a:bodyPr/>
                    <a:lstStyle/>
                    <a:p>
                      <a:pPr algn="l">
                        <a:buNone/>
                      </a:pPr>
                      <a:r>
                        <a:rPr lang="zh-CN" altLang="en-US" sz="1800">
                          <a:latin typeface="楷体" panose="02010609060101010101" pitchFamily="49" charset="-122"/>
                          <a:ea typeface="楷体" panose="02010609060101010101" pitchFamily="49" charset="-122"/>
                        </a:rPr>
                        <a:t>在使用的时候，你希望能够从系统当中得到什么类型的信息反馈？</a:t>
                      </a:r>
                    </a:p>
                  </a:txBody>
                  <a:tcPr anchor="ctr"/>
                </a:tc>
                <a:extLst>
                  <a:ext uri="{0D108BD9-81ED-4DB2-BD59-A6C34878D82A}">
                    <a16:rowId xmlns:a16="http://schemas.microsoft.com/office/drawing/2014/main" val="10003"/>
                  </a:ext>
                </a:extLst>
              </a:tr>
              <a:tr h="481965">
                <a:tc rowSpan="3">
                  <a:txBody>
                    <a:bodyPr/>
                    <a:lstStyle/>
                    <a:p>
                      <a:pPr algn="l">
                        <a:buNone/>
                      </a:pPr>
                      <a:r>
                        <a:rPr lang="zh-CN" altLang="en-US" sz="1800">
                          <a:latin typeface="楷体" panose="02010609060101010101" pitchFamily="49" charset="-122"/>
                          <a:ea typeface="楷体" panose="02010609060101010101" pitchFamily="49" charset="-122"/>
                        </a:rPr>
                        <a:t>重复与改述</a:t>
                      </a:r>
                    </a:p>
                  </a:txBody>
                  <a:tcPr anchor="ctr"/>
                </a:tc>
                <a:tc>
                  <a:txBody>
                    <a:bodyPr/>
                    <a:lstStyle/>
                    <a:p>
                      <a:pPr algn="l">
                        <a:buNone/>
                      </a:pPr>
                      <a:r>
                        <a:rPr lang="zh-CN" altLang="en-US" sz="1800">
                          <a:latin typeface="楷体" panose="02010609060101010101" pitchFamily="49" charset="-122"/>
                          <a:ea typeface="楷体" panose="02010609060101010101" pitchFamily="49" charset="-122"/>
                        </a:rPr>
                        <a:t>能不能再说一次系统的哪些特征是重要的？</a:t>
                      </a:r>
                    </a:p>
                  </a:txBody>
                  <a:tcPr anchor="ctr"/>
                </a:tc>
                <a:extLst>
                  <a:ext uri="{0D108BD9-81ED-4DB2-BD59-A6C34878D82A}">
                    <a16:rowId xmlns:a16="http://schemas.microsoft.com/office/drawing/2014/main" val="10004"/>
                  </a:ext>
                </a:extLst>
              </a:tr>
              <a:tr h="481965">
                <a:tc vMerge="1">
                  <a:txBody>
                    <a:bodyPr/>
                    <a:lstStyle/>
                    <a:p>
                      <a:endParaRPr lang="zh-CN"/>
                    </a:p>
                  </a:txBody>
                  <a:tcPr anchor="ctr"/>
                </a:tc>
                <a:tc>
                  <a:txBody>
                    <a:bodyPr/>
                    <a:lstStyle/>
                    <a:p>
                      <a:pPr algn="l">
                        <a:buNone/>
                      </a:pPr>
                      <a:r>
                        <a:rPr lang="zh-CN" altLang="en-US" sz="1800">
                          <a:latin typeface="楷体" panose="02010609060101010101" pitchFamily="49" charset="-122"/>
                          <a:ea typeface="楷体" panose="02010609060101010101" pitchFamily="49" charset="-122"/>
                        </a:rPr>
                        <a:t>你能不能详细的重新叙述一下使用系统的步骤？</a:t>
                      </a:r>
                    </a:p>
                  </a:txBody>
                  <a:tcPr anchor="ctr"/>
                </a:tc>
                <a:extLst>
                  <a:ext uri="{0D108BD9-81ED-4DB2-BD59-A6C34878D82A}">
                    <a16:rowId xmlns:a16="http://schemas.microsoft.com/office/drawing/2014/main" val="10005"/>
                  </a:ext>
                </a:extLst>
              </a:tr>
              <a:tr h="481965">
                <a:tc vMerge="1">
                  <a:txBody>
                    <a:bodyPr/>
                    <a:lstStyle/>
                    <a:p>
                      <a:endParaRPr lang="zh-CN"/>
                    </a:p>
                  </a:txBody>
                  <a:tcPr anchor="ctr"/>
                </a:tc>
                <a:tc>
                  <a:txBody>
                    <a:bodyPr/>
                    <a:lstStyle/>
                    <a:p>
                      <a:pPr algn="l">
                        <a:buNone/>
                      </a:pPr>
                      <a:r>
                        <a:rPr lang="zh-CN" altLang="en-US" sz="1800">
                          <a:latin typeface="楷体" panose="02010609060101010101" pitchFamily="49" charset="-122"/>
                          <a:ea typeface="楷体" panose="02010609060101010101" pitchFamily="49" charset="-122"/>
                        </a:rPr>
                        <a:t>在使用系统的时候你会做出什么决定？</a:t>
                      </a:r>
                    </a:p>
                  </a:txBody>
                  <a:tcPr anchor="ctr"/>
                </a:tc>
                <a:extLst>
                  <a:ext uri="{0D108BD9-81ED-4DB2-BD59-A6C34878D82A}">
                    <a16:rowId xmlns:a16="http://schemas.microsoft.com/office/drawing/2014/main" val="10006"/>
                  </a:ext>
                </a:extLst>
              </a:tr>
              <a:tr h="481965">
                <a:tc rowSpan="3">
                  <a:txBody>
                    <a:bodyPr/>
                    <a:lstStyle/>
                    <a:p>
                      <a:pPr algn="l">
                        <a:buNone/>
                      </a:pPr>
                      <a:r>
                        <a:rPr lang="zh-CN" altLang="en-US" sz="1800">
                          <a:latin typeface="楷体" panose="02010609060101010101" pitchFamily="49" charset="-122"/>
                          <a:ea typeface="楷体" panose="02010609060101010101" pitchFamily="49" charset="-122"/>
                        </a:rPr>
                        <a:t>建立场景和细节描述</a:t>
                      </a:r>
                    </a:p>
                  </a:txBody>
                  <a:tcPr anchor="ctr"/>
                </a:tc>
                <a:tc>
                  <a:txBody>
                    <a:bodyPr/>
                    <a:lstStyle/>
                    <a:p>
                      <a:pPr algn="l">
                        <a:buNone/>
                      </a:pPr>
                      <a:r>
                        <a:rPr lang="zh-CN" altLang="en-US" sz="1800">
                          <a:latin typeface="楷体" panose="02010609060101010101" pitchFamily="49" charset="-122"/>
                          <a:ea typeface="楷体" panose="02010609060101010101" pitchFamily="49" charset="-122"/>
                        </a:rPr>
                        <a:t>有什么是你现在能做，却在新系统中不能做的？</a:t>
                      </a:r>
                    </a:p>
                  </a:txBody>
                  <a:tcPr anchor="ctr"/>
                </a:tc>
                <a:extLst>
                  <a:ext uri="{0D108BD9-81ED-4DB2-BD59-A6C34878D82A}">
                    <a16:rowId xmlns:a16="http://schemas.microsoft.com/office/drawing/2014/main" val="10007"/>
                  </a:ext>
                </a:extLst>
              </a:tr>
              <a:tr h="481965">
                <a:tc vMerge="1">
                  <a:txBody>
                    <a:bodyPr/>
                    <a:lstStyle/>
                    <a:p>
                      <a:endParaRPr lang="zh-CN"/>
                    </a:p>
                  </a:txBody>
                  <a:tcPr anchor="ctr"/>
                </a:tc>
                <a:tc>
                  <a:txBody>
                    <a:bodyPr/>
                    <a:lstStyle/>
                    <a:p>
                      <a:pPr algn="l">
                        <a:buNone/>
                      </a:pPr>
                      <a:r>
                        <a:rPr lang="zh-CN" altLang="en-US" sz="1800">
                          <a:latin typeface="楷体" panose="02010609060101010101" pitchFamily="49" charset="-122"/>
                          <a:ea typeface="楷体" panose="02010609060101010101" pitchFamily="49" charset="-122"/>
                        </a:rPr>
                        <a:t>在什么情况下，功能是必需的？</a:t>
                      </a:r>
                    </a:p>
                  </a:txBody>
                  <a:tcPr anchor="ctr"/>
                </a:tc>
                <a:extLst>
                  <a:ext uri="{0D108BD9-81ED-4DB2-BD59-A6C34878D82A}">
                    <a16:rowId xmlns:a16="http://schemas.microsoft.com/office/drawing/2014/main" val="10008"/>
                  </a:ext>
                </a:extLst>
              </a:tr>
              <a:tr h="481965">
                <a:tc vMerge="1">
                  <a:txBody>
                    <a:bodyPr/>
                    <a:lstStyle/>
                    <a:p>
                      <a:endParaRPr lang="zh-CN"/>
                    </a:p>
                  </a:txBody>
                  <a:tcPr anchor="ctr"/>
                </a:tc>
                <a:tc>
                  <a:txBody>
                    <a:bodyPr/>
                    <a:lstStyle/>
                    <a:p>
                      <a:pPr algn="l">
                        <a:buNone/>
                      </a:pPr>
                      <a:r>
                        <a:rPr lang="zh-CN" altLang="en-US" sz="1800">
                          <a:latin typeface="楷体" panose="02010609060101010101" pitchFamily="49" charset="-122"/>
                          <a:ea typeface="楷体" panose="02010609060101010101" pitchFamily="49" charset="-122"/>
                        </a:rPr>
                        <a:t>设想现在是</a:t>
                      </a:r>
                      <a:r>
                        <a:rPr lang="en-US" altLang="zh-CN" sz="1800">
                          <a:latin typeface="楷体" panose="02010609060101010101" pitchFamily="49" charset="-122"/>
                          <a:ea typeface="楷体" panose="02010609060101010101" pitchFamily="49" charset="-122"/>
                        </a:rPr>
                        <a:t>6</a:t>
                      </a:r>
                      <a:r>
                        <a:rPr lang="zh-CN" altLang="en-US" sz="1800">
                          <a:latin typeface="楷体" panose="02010609060101010101" pitchFamily="49" charset="-122"/>
                          <a:ea typeface="楷体" panose="02010609060101010101" pitchFamily="49" charset="-122"/>
                        </a:rPr>
                        <a:t>个月之后，你需要评估系统的成功状况，你会使用哪些标准来做出评价？</a:t>
                      </a:r>
                    </a:p>
                  </a:txBody>
                  <a:tcPr anchor="ctr"/>
                </a:tc>
                <a:extLst>
                  <a:ext uri="{0D108BD9-81ED-4DB2-BD59-A6C34878D82A}">
                    <a16:rowId xmlns:a16="http://schemas.microsoft.com/office/drawing/2014/main" val="10009"/>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面谈</a:t>
            </a:r>
          </a:p>
        </p:txBody>
      </p:sp>
      <p:graphicFrame>
        <p:nvGraphicFramePr>
          <p:cNvPr id="5" name="表格 4"/>
          <p:cNvGraphicFramePr/>
          <p:nvPr/>
        </p:nvGraphicFramePr>
        <p:xfrm>
          <a:off x="628650" y="716915"/>
          <a:ext cx="7240270" cy="5135880"/>
        </p:xfrm>
        <a:graphic>
          <a:graphicData uri="http://schemas.openxmlformats.org/drawingml/2006/table">
            <a:tbl>
              <a:tblPr firstRow="1" bandRow="1">
                <a:tableStyleId>{5C22544A-7EE6-4342-B048-85BDC9FD1C3A}</a:tableStyleId>
              </a:tblPr>
              <a:tblGrid>
                <a:gridCol w="1897380">
                  <a:extLst>
                    <a:ext uri="{9D8B030D-6E8A-4147-A177-3AD203B41FA5}">
                      <a16:colId xmlns:a16="http://schemas.microsoft.com/office/drawing/2014/main" val="20000"/>
                    </a:ext>
                  </a:extLst>
                </a:gridCol>
                <a:gridCol w="5342890">
                  <a:extLst>
                    <a:ext uri="{9D8B030D-6E8A-4147-A177-3AD203B41FA5}">
                      <a16:colId xmlns:a16="http://schemas.microsoft.com/office/drawing/2014/main" val="20001"/>
                    </a:ext>
                  </a:extLst>
                </a:gridCol>
              </a:tblGrid>
              <a:tr h="481965">
                <a:tc>
                  <a:txBody>
                    <a:bodyPr/>
                    <a:lstStyle/>
                    <a:p>
                      <a:pPr algn="l">
                        <a:buNone/>
                      </a:pPr>
                      <a:r>
                        <a:rPr lang="zh-CN" altLang="en-US" sz="1800">
                          <a:latin typeface="楷体" panose="02010609060101010101" pitchFamily="49" charset="-122"/>
                          <a:ea typeface="楷体" panose="02010609060101010101" pitchFamily="49" charset="-122"/>
                        </a:rPr>
                        <a:t>提示</a:t>
                      </a:r>
                    </a:p>
                  </a:txBody>
                  <a:tcPr anchor="ctr"/>
                </a:tc>
                <a:tc>
                  <a:txBody>
                    <a:bodyPr/>
                    <a:lstStyle/>
                    <a:p>
                      <a:pPr algn="l">
                        <a:buNone/>
                      </a:pPr>
                      <a:r>
                        <a:rPr lang="zh-CN" altLang="en-US" sz="1800">
                          <a:latin typeface="楷体" panose="02010609060101010101" pitchFamily="49" charset="-122"/>
                          <a:ea typeface="楷体" panose="02010609060101010101" pitchFamily="49" charset="-122"/>
                        </a:rPr>
                        <a:t>示例</a:t>
                      </a:r>
                    </a:p>
                  </a:txBody>
                  <a:tcPr anchor="ctr"/>
                </a:tc>
                <a:extLst>
                  <a:ext uri="{0D108BD9-81ED-4DB2-BD59-A6C34878D82A}">
                    <a16:rowId xmlns:a16="http://schemas.microsoft.com/office/drawing/2014/main" val="10000"/>
                  </a:ext>
                </a:extLst>
              </a:tr>
              <a:tr h="481965">
                <a:tc rowSpan="3">
                  <a:txBody>
                    <a:bodyPr/>
                    <a:lstStyle/>
                    <a:p>
                      <a:pPr algn="l">
                        <a:buNone/>
                      </a:pPr>
                      <a:r>
                        <a:rPr lang="zh-CN" altLang="en-US" sz="1800">
                          <a:latin typeface="楷体" panose="02010609060101010101" pitchFamily="49" charset="-122"/>
                          <a:ea typeface="楷体" panose="02010609060101010101" pitchFamily="49" charset="-122"/>
                        </a:rPr>
                        <a:t>抗辩</a:t>
                      </a:r>
                      <a:r>
                        <a:rPr lang="en-US" altLang="zh-CN" sz="1800">
                          <a:latin typeface="楷体" panose="02010609060101010101" pitchFamily="49" charset="-122"/>
                          <a:ea typeface="楷体" panose="02010609060101010101" pitchFamily="49" charset="-122"/>
                        </a:rPr>
                        <a:t>Counterargument </a:t>
                      </a:r>
                      <a:endParaRPr lang="zh-CN" altLang="en-US" sz="1800">
                        <a:latin typeface="楷体" panose="02010609060101010101" pitchFamily="49" charset="-122"/>
                        <a:ea typeface="楷体" panose="02010609060101010101" pitchFamily="49" charset="-122"/>
                      </a:endParaRPr>
                    </a:p>
                  </a:txBody>
                  <a:tcPr anchor="ctr"/>
                </a:tc>
                <a:tc>
                  <a:txBody>
                    <a:bodyPr/>
                    <a:lstStyle/>
                    <a:p>
                      <a:pPr algn="l">
                        <a:buNone/>
                      </a:pPr>
                      <a:r>
                        <a:rPr lang="zh-CN" altLang="en-US" sz="1800">
                          <a:latin typeface="楷体" panose="02010609060101010101" pitchFamily="49" charset="-122"/>
                          <a:ea typeface="楷体" panose="02010609060101010101" pitchFamily="49" charset="-122"/>
                        </a:rPr>
                        <a:t>你能不能想出什么不使用系统的理由？</a:t>
                      </a:r>
                    </a:p>
                  </a:txBody>
                  <a:tcPr anchor="ctr"/>
                </a:tc>
                <a:extLst>
                  <a:ext uri="{0D108BD9-81ED-4DB2-BD59-A6C34878D82A}">
                    <a16:rowId xmlns:a16="http://schemas.microsoft.com/office/drawing/2014/main" val="10001"/>
                  </a:ext>
                </a:extLst>
              </a:tr>
              <a:tr h="481965">
                <a:tc vMerge="1">
                  <a:txBody>
                    <a:bodyPr/>
                    <a:lstStyle/>
                    <a:p>
                      <a:endParaRPr lang="zh-CN"/>
                    </a:p>
                  </a:txBody>
                  <a:tcPr anchor="ctr"/>
                </a:tc>
                <a:tc>
                  <a:txBody>
                    <a:bodyPr/>
                    <a:lstStyle/>
                    <a:p>
                      <a:pPr algn="l">
                        <a:buNone/>
                      </a:pPr>
                      <a:r>
                        <a:rPr lang="zh-CN" altLang="en-US" sz="1800">
                          <a:latin typeface="楷体" panose="02010609060101010101" pitchFamily="49" charset="-122"/>
                          <a:ea typeface="楷体" panose="02010609060101010101" pitchFamily="49" charset="-122"/>
                        </a:rPr>
                        <a:t>你为什么会不想使用系统呢？</a:t>
                      </a:r>
                    </a:p>
                  </a:txBody>
                  <a:tcPr anchor="ctr"/>
                </a:tc>
                <a:extLst>
                  <a:ext uri="{0D108BD9-81ED-4DB2-BD59-A6C34878D82A}">
                    <a16:rowId xmlns:a16="http://schemas.microsoft.com/office/drawing/2014/main" val="10002"/>
                  </a:ext>
                </a:extLst>
              </a:tr>
              <a:tr h="481965">
                <a:tc vMerge="1">
                  <a:txBody>
                    <a:bodyPr/>
                    <a:lstStyle/>
                    <a:p>
                      <a:endParaRPr lang="zh-CN"/>
                    </a:p>
                  </a:txBody>
                  <a:tcPr anchor="ctr"/>
                </a:tc>
                <a:tc>
                  <a:txBody>
                    <a:bodyPr/>
                    <a:lstStyle/>
                    <a:p>
                      <a:pPr algn="l">
                        <a:buNone/>
                      </a:pPr>
                      <a:r>
                        <a:rPr lang="zh-CN" altLang="en-US" sz="1800">
                          <a:latin typeface="楷体" panose="02010609060101010101" pitchFamily="49" charset="-122"/>
                          <a:ea typeface="楷体" panose="02010609060101010101" pitchFamily="49" charset="-122"/>
                        </a:rPr>
                        <a:t>你能不能想出将来可能导致系统失败或故障的原因？</a:t>
                      </a:r>
                    </a:p>
                  </a:txBody>
                  <a:tcPr anchor="ctr"/>
                </a:tc>
                <a:extLst>
                  <a:ext uri="{0D108BD9-81ED-4DB2-BD59-A6C34878D82A}">
                    <a16:rowId xmlns:a16="http://schemas.microsoft.com/office/drawing/2014/main" val="10003"/>
                  </a:ext>
                </a:extLst>
              </a:tr>
            </a:tbl>
          </a:graphicData>
        </a:graphic>
      </p:graphicFrame>
      <p:sp>
        <p:nvSpPr>
          <p:cNvPr id="7" name="文本框 6"/>
          <p:cNvSpPr txBox="1"/>
          <p:nvPr/>
        </p:nvSpPr>
        <p:spPr>
          <a:xfrm>
            <a:off x="620395" y="3512185"/>
            <a:ext cx="7259955" cy="1198880"/>
          </a:xfrm>
          <a:prstGeom prst="rect">
            <a:avLst/>
          </a:prstGeom>
          <a:noFill/>
          <a:ln>
            <a:solidFill>
              <a:schemeClr val="accent1"/>
            </a:solidFill>
          </a:ln>
        </p:spPr>
        <p:txBody>
          <a:bodyPr wrap="square" rtlCol="0">
            <a:spAutoFit/>
          </a:bodyPr>
          <a:lstStyle/>
          <a:p>
            <a:r>
              <a:rPr lang="zh-CN" altLang="en-US" sz="2400">
                <a:latin typeface="楷体" panose="02010609060101010101" pitchFamily="49" charset="-122"/>
                <a:ea typeface="楷体" panose="02010609060101010101" pitchFamily="49" charset="-122"/>
              </a:rPr>
              <a:t>程序性提示的作用：</a:t>
            </a:r>
          </a:p>
          <a:p>
            <a:pPr indent="457200"/>
            <a:r>
              <a:rPr lang="zh-CN" altLang="en-US" sz="2400">
                <a:latin typeface="楷体" panose="02010609060101010101" pitchFamily="49" charset="-122"/>
                <a:ea typeface="楷体" panose="02010609060101010101" pitchFamily="49" charset="-122"/>
              </a:rPr>
              <a:t>程序性提示问题有助于</a:t>
            </a:r>
            <a:r>
              <a:rPr lang="zh-CN" altLang="en-US" sz="2400" b="1">
                <a:solidFill>
                  <a:srgbClr val="7030A0"/>
                </a:solidFill>
                <a:latin typeface="楷体" panose="02010609060101010101" pitchFamily="49" charset="-122"/>
                <a:ea typeface="楷体" panose="02010609060101010101" pitchFamily="49" charset="-122"/>
              </a:rPr>
              <a:t>避免</a:t>
            </a:r>
            <a:r>
              <a:rPr lang="zh-CN" altLang="en-US" sz="2400">
                <a:latin typeface="楷体" panose="02010609060101010101" pitchFamily="49" charset="-122"/>
                <a:ea typeface="楷体" panose="02010609060101010101" pitchFamily="49" charset="-122"/>
              </a:rPr>
              <a:t>面谈过程中的</a:t>
            </a:r>
            <a:r>
              <a:rPr lang="zh-CN" altLang="en-US" sz="2400" b="1">
                <a:solidFill>
                  <a:srgbClr val="7030A0"/>
                </a:solidFill>
                <a:latin typeface="楷体" panose="02010609060101010101" pitchFamily="49" charset="-122"/>
                <a:ea typeface="楷体" panose="02010609060101010101" pitchFamily="49" charset="-122"/>
              </a:rPr>
              <a:t>认知性问题</a:t>
            </a:r>
            <a:r>
              <a:rPr lang="zh-CN" altLang="en-US" sz="2400">
                <a:latin typeface="楷体" panose="02010609060101010101" pitchFamily="49" charset="-122"/>
                <a:ea typeface="楷体" panose="02010609060101010101" pitchFamily="49" charset="-122"/>
              </a:rPr>
              <a:t>，</a:t>
            </a:r>
            <a:r>
              <a:rPr lang="zh-CN" altLang="en-US" sz="2400" b="1">
                <a:solidFill>
                  <a:srgbClr val="7030A0"/>
                </a:solidFill>
                <a:latin typeface="楷体" panose="02010609060101010101" pitchFamily="49" charset="-122"/>
                <a:ea typeface="楷体" panose="02010609060101010101" pitchFamily="49" charset="-122"/>
              </a:rPr>
              <a:t>提升</a:t>
            </a:r>
            <a:r>
              <a:rPr lang="zh-CN" altLang="en-US" sz="2400">
                <a:latin typeface="楷体" panose="02010609060101010101" pitchFamily="49" charset="-122"/>
                <a:ea typeface="楷体" panose="02010609060101010101" pitchFamily="49" charset="-122"/>
              </a:rPr>
              <a:t>面谈</a:t>
            </a:r>
            <a:r>
              <a:rPr lang="zh-CN" altLang="en-US" sz="2400" b="1">
                <a:solidFill>
                  <a:srgbClr val="7030A0"/>
                </a:solidFill>
                <a:latin typeface="楷体" panose="02010609060101010101" pitchFamily="49" charset="-122"/>
                <a:ea typeface="楷体" panose="02010609060101010101" pitchFamily="49" charset="-122"/>
              </a:rPr>
              <a:t>效率和质量</a:t>
            </a:r>
            <a:r>
              <a:rPr lang="zh-CN" altLang="en-US" sz="2400">
                <a:latin typeface="楷体" panose="02010609060101010101" pitchFamily="49" charset="-122"/>
                <a:ea typeface="楷体" panose="02010609060101010101" pitchFamily="49" charset="-122"/>
              </a:rPr>
              <a:t>。</a:t>
            </a:r>
          </a:p>
        </p:txBody>
      </p:sp>
      <p:sp>
        <p:nvSpPr>
          <p:cNvPr id="8" name="文本框 7"/>
          <p:cNvSpPr txBox="1"/>
          <p:nvPr/>
        </p:nvSpPr>
        <p:spPr>
          <a:xfrm>
            <a:off x="2127250" y="2784475"/>
            <a:ext cx="4243070" cy="368300"/>
          </a:xfrm>
          <a:prstGeom prst="rect">
            <a:avLst/>
          </a:prstGeom>
          <a:noFill/>
        </p:spPr>
        <p:txBody>
          <a:bodyPr wrap="square" rtlCol="0">
            <a:spAutoFit/>
          </a:bodyPr>
          <a:lstStyle/>
          <a:p>
            <a:r>
              <a:rPr lang="zh-CN" altLang="en-US">
                <a:latin typeface="楷体" panose="02010609060101010101" pitchFamily="49" charset="-122"/>
                <a:ea typeface="楷体" panose="02010609060101010101" pitchFamily="49" charset="-122"/>
                <a:cs typeface="楷体" panose="02010609060101010101" pitchFamily="49" charset="-122"/>
              </a:rPr>
              <a:t>表</a:t>
            </a:r>
            <a:r>
              <a:rPr lang="en-US" altLang="zh-CN">
                <a:latin typeface="楷体" panose="02010609060101010101" pitchFamily="49" charset="-122"/>
                <a:ea typeface="楷体" panose="02010609060101010101" pitchFamily="49" charset="-122"/>
                <a:cs typeface="楷体" panose="02010609060101010101" pitchFamily="49" charset="-122"/>
              </a:rPr>
              <a:t>10-1 </a:t>
            </a:r>
            <a:r>
              <a:rPr lang="zh-CN" altLang="en-US">
                <a:latin typeface="楷体" panose="02010609060101010101" pitchFamily="49" charset="-122"/>
                <a:ea typeface="楷体" panose="02010609060101010101" pitchFamily="49" charset="-122"/>
                <a:cs typeface="楷体" panose="02010609060101010101" pitchFamily="49" charset="-122"/>
              </a:rPr>
              <a:t>程序性提示的问题类型及其示例</a:t>
            </a:r>
          </a:p>
        </p:txBody>
      </p:sp>
      <p:grpSp>
        <p:nvGrpSpPr>
          <p:cNvPr id="13" name="组合 12"/>
          <p:cNvGrpSpPr/>
          <p:nvPr/>
        </p:nvGrpSpPr>
        <p:grpSpPr>
          <a:xfrm>
            <a:off x="629920" y="4918710"/>
            <a:ext cx="7237730" cy="1454150"/>
            <a:chOff x="992" y="7746"/>
            <a:chExt cx="11398" cy="2290"/>
          </a:xfrm>
        </p:grpSpPr>
        <p:grpSp>
          <p:nvGrpSpPr>
            <p:cNvPr id="11" name="组合 10"/>
            <p:cNvGrpSpPr/>
            <p:nvPr/>
          </p:nvGrpSpPr>
          <p:grpSpPr>
            <a:xfrm>
              <a:off x="992" y="7746"/>
              <a:ext cx="2358" cy="2290"/>
              <a:chOff x="992" y="7746"/>
              <a:chExt cx="2358" cy="2290"/>
            </a:xfrm>
          </p:grpSpPr>
          <p:pic>
            <p:nvPicPr>
              <p:cNvPr id="9" name="图片 8" descr="总结"/>
              <p:cNvPicPr>
                <a:picLocks noChangeAspect="1"/>
              </p:cNvPicPr>
              <p:nvPr/>
            </p:nvPicPr>
            <p:blipFill>
              <a:blip r:embed="rId2"/>
              <a:stretch>
                <a:fillRect/>
              </a:stretch>
            </p:blipFill>
            <p:spPr>
              <a:xfrm>
                <a:off x="1327" y="7746"/>
                <a:ext cx="1613" cy="1613"/>
              </a:xfrm>
              <a:prstGeom prst="rect">
                <a:avLst/>
              </a:prstGeom>
            </p:spPr>
          </p:pic>
          <p:sp>
            <p:nvSpPr>
              <p:cNvPr id="10" name="文本框 9"/>
              <p:cNvSpPr txBox="1"/>
              <p:nvPr/>
            </p:nvSpPr>
            <p:spPr>
              <a:xfrm>
                <a:off x="992" y="9456"/>
                <a:ext cx="2358" cy="580"/>
              </a:xfrm>
              <a:prstGeom prst="rect">
                <a:avLst/>
              </a:prstGeom>
              <a:noFill/>
            </p:spPr>
            <p:txBody>
              <a:bodyPr wrap="square" rtlCol="0">
                <a:spAutoFit/>
              </a:bodyPr>
              <a:lstStyle/>
              <a:p>
                <a:r>
                  <a:rPr lang="zh-CN" altLang="en-US">
                    <a:latin typeface="楷体" panose="02010609060101010101" pitchFamily="49" charset="-122"/>
                    <a:ea typeface="楷体" panose="02010609060101010101" pitchFamily="49" charset="-122"/>
                  </a:rPr>
                  <a:t>总结与反馈</a:t>
                </a:r>
              </a:p>
            </p:txBody>
          </p:sp>
        </p:grpSp>
        <p:sp>
          <p:nvSpPr>
            <p:cNvPr id="12" name="文本框 11"/>
            <p:cNvSpPr txBox="1"/>
            <p:nvPr/>
          </p:nvSpPr>
          <p:spPr>
            <a:xfrm>
              <a:off x="3964" y="7975"/>
              <a:ext cx="8427" cy="1888"/>
            </a:xfrm>
            <a:prstGeom prst="rect">
              <a:avLst/>
            </a:prstGeom>
            <a:noFill/>
            <a:ln>
              <a:solidFill>
                <a:schemeClr val="accent1"/>
              </a:solidFill>
            </a:ln>
          </p:spPr>
          <p:txBody>
            <a:bodyPr wrap="square" rtlCol="0">
              <a:spAutoFit/>
            </a:bodyPr>
            <a:lstStyle/>
            <a:p>
              <a:r>
                <a:rPr lang="zh-CN" altLang="en-US" sz="2400">
                  <a:latin typeface="楷体" panose="02010609060101010101" pitchFamily="49" charset="-122"/>
                  <a:ea typeface="楷体" panose="02010609060101010101" pitchFamily="49" charset="-122"/>
                </a:rPr>
                <a:t>由于人类的</a:t>
              </a:r>
              <a:r>
                <a:rPr lang="zh-CN" altLang="en-US" sz="2400" b="1">
                  <a:solidFill>
                    <a:srgbClr val="7030A0"/>
                  </a:solidFill>
                  <a:latin typeface="楷体" panose="02010609060101010101" pitchFamily="49" charset="-122"/>
                  <a:ea typeface="楷体" panose="02010609060101010101" pitchFamily="49" charset="-122"/>
                </a:rPr>
                <a:t>短期记忆有限</a:t>
              </a:r>
              <a:r>
                <a:rPr lang="zh-CN" altLang="en-US" sz="2400">
                  <a:latin typeface="楷体" panose="02010609060101010101" pitchFamily="49" charset="-122"/>
                  <a:ea typeface="楷体" panose="02010609060101010101" pitchFamily="49" charset="-122"/>
                </a:rPr>
                <a:t>，面谈者可以通过</a:t>
              </a:r>
              <a:r>
                <a:rPr lang="zh-CN" altLang="en-US" sz="2400" b="1">
                  <a:solidFill>
                    <a:srgbClr val="7030A0"/>
                  </a:solidFill>
                  <a:latin typeface="楷体" panose="02010609060101010101" pitchFamily="49" charset="-122"/>
                  <a:ea typeface="楷体" panose="02010609060101010101" pitchFamily="49" charset="-122"/>
                </a:rPr>
                <a:t>总结性提问</a:t>
              </a:r>
              <a:r>
                <a:rPr lang="zh-CN" altLang="en-US" sz="2400">
                  <a:latin typeface="楷体" panose="02010609060101010101" pitchFamily="49" charset="-122"/>
                  <a:ea typeface="楷体" panose="02010609060101010101" pitchFamily="49" charset="-122"/>
                </a:rPr>
                <a:t>帮助被面谈者</a:t>
              </a:r>
              <a:r>
                <a:rPr lang="zh-CN" altLang="en-US" sz="2400" b="1">
                  <a:solidFill>
                    <a:srgbClr val="7030A0"/>
                  </a:solidFill>
                  <a:latin typeface="楷体" panose="02010609060101010101" pitchFamily="49" charset="-122"/>
                  <a:ea typeface="楷体" panose="02010609060101010101" pitchFamily="49" charset="-122"/>
                </a:rPr>
                <a:t>集中注意力</a:t>
              </a:r>
              <a:r>
                <a:rPr lang="zh-CN" altLang="en-US" sz="2400">
                  <a:latin typeface="楷体" panose="02010609060101010101" pitchFamily="49" charset="-122"/>
                  <a:ea typeface="楷体" panose="02010609060101010101" pitchFamily="49" charset="-122"/>
                </a:rPr>
                <a:t>，确保话题框架不丢失。</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7" grpId="1" animBg="1"/>
      <p:bldP spid="8" grpId="0"/>
      <p:bldP spid="8"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面谈</a:t>
            </a:r>
          </a:p>
        </p:txBody>
      </p:sp>
      <p:grpSp>
        <p:nvGrpSpPr>
          <p:cNvPr id="5" name="组合 4"/>
          <p:cNvGrpSpPr/>
          <p:nvPr/>
        </p:nvGrpSpPr>
        <p:grpSpPr>
          <a:xfrm>
            <a:off x="630555" y="646430"/>
            <a:ext cx="7239000" cy="1403985"/>
            <a:chOff x="993" y="1018"/>
            <a:chExt cx="11400" cy="2211"/>
          </a:xfrm>
        </p:grpSpPr>
        <p:sp>
          <p:nvSpPr>
            <p:cNvPr id="12" name="文本框 11"/>
            <p:cNvSpPr txBox="1"/>
            <p:nvPr/>
          </p:nvSpPr>
          <p:spPr>
            <a:xfrm>
              <a:off x="3966" y="1349"/>
              <a:ext cx="8427" cy="1598"/>
            </a:xfrm>
            <a:prstGeom prst="rect">
              <a:avLst/>
            </a:prstGeom>
            <a:noFill/>
            <a:ln>
              <a:solidFill>
                <a:schemeClr val="accent1"/>
              </a:solidFill>
            </a:ln>
          </p:spPr>
          <p:txBody>
            <a:bodyPr wrap="square" rtlCol="0">
              <a:spAutoFit/>
            </a:bodyPr>
            <a:lstStyle/>
            <a:p>
              <a:r>
                <a:rPr lang="zh-CN" altLang="en-US" sz="2000">
                  <a:latin typeface="楷体" panose="02010609060101010101" pitchFamily="49" charset="-122"/>
                  <a:ea typeface="楷体" panose="02010609060101010101" pitchFamily="49" charset="-122"/>
                </a:rPr>
                <a:t>为</a:t>
              </a:r>
              <a:r>
                <a:rPr lang="zh-CN" altLang="en-US" sz="2000" b="1">
                  <a:solidFill>
                    <a:srgbClr val="7030A0"/>
                  </a:solidFill>
                  <a:latin typeface="楷体" panose="02010609060101010101" pitchFamily="49" charset="-122"/>
                  <a:ea typeface="楷体" panose="02010609060101010101" pitchFamily="49" charset="-122"/>
                </a:rPr>
                <a:t>防止</a:t>
              </a:r>
              <a:r>
                <a:rPr lang="zh-CN" altLang="en-US" sz="2000">
                  <a:latin typeface="楷体" panose="02010609060101010101" pitchFamily="49" charset="-122"/>
                  <a:ea typeface="楷体" panose="02010609060101010101" pitchFamily="49" charset="-122"/>
                </a:rPr>
                <a:t>被面谈者</a:t>
              </a:r>
              <a:r>
                <a:rPr lang="zh-CN" altLang="en-US" sz="2000" b="1">
                  <a:solidFill>
                    <a:srgbClr val="7030A0"/>
                  </a:solidFill>
                  <a:latin typeface="楷体" panose="02010609060101010101" pitchFamily="49" charset="-122"/>
                  <a:ea typeface="楷体" panose="02010609060101010101" pitchFamily="49" charset="-122"/>
                </a:rPr>
                <a:t>遗忘</a:t>
              </a:r>
              <a:r>
                <a:rPr lang="zh-CN" altLang="en-US" sz="2000">
                  <a:latin typeface="楷体" panose="02010609060101010101" pitchFamily="49" charset="-122"/>
                  <a:ea typeface="楷体" panose="02010609060101010101" pitchFamily="49" charset="-122"/>
                </a:rPr>
                <a:t>先前谈及的内容，面谈者可</a:t>
              </a:r>
              <a:r>
                <a:rPr lang="zh-CN" altLang="en-US" sz="2000" b="1">
                  <a:solidFill>
                    <a:srgbClr val="7030A0"/>
                  </a:solidFill>
                  <a:latin typeface="楷体" panose="02010609060101010101" pitchFamily="49" charset="-122"/>
                  <a:ea typeface="楷体" panose="02010609060101010101" pitchFamily="49" charset="-122"/>
                </a:rPr>
                <a:t>适时重复或改述</a:t>
              </a:r>
              <a:r>
                <a:rPr lang="zh-CN" altLang="en-US" sz="2000">
                  <a:latin typeface="楷体" panose="02010609060101010101" pitchFamily="49" charset="-122"/>
                  <a:ea typeface="楷体" panose="02010609060101010101" pitchFamily="49" charset="-122"/>
                </a:rPr>
                <a:t>已讨论的要点，帮助被面谈者</a:t>
              </a:r>
              <a:r>
                <a:rPr lang="zh-CN" altLang="en-US" sz="2000" b="1">
                  <a:solidFill>
                    <a:srgbClr val="7030A0"/>
                  </a:solidFill>
                  <a:latin typeface="楷体" panose="02010609060101010101" pitchFamily="49" charset="-122"/>
                  <a:ea typeface="楷体" panose="02010609060101010101" pitchFamily="49" charset="-122"/>
                </a:rPr>
                <a:t>回忆</a:t>
              </a:r>
              <a:r>
                <a:rPr lang="zh-CN" altLang="en-US" sz="2000">
                  <a:latin typeface="楷体" panose="02010609060101010101" pitchFamily="49" charset="-122"/>
                  <a:ea typeface="楷体" panose="02010609060101010101" pitchFamily="49" charset="-122"/>
                </a:rPr>
                <a:t>。</a:t>
              </a:r>
            </a:p>
          </p:txBody>
        </p:sp>
        <p:grpSp>
          <p:nvGrpSpPr>
            <p:cNvPr id="4" name="组合 3"/>
            <p:cNvGrpSpPr/>
            <p:nvPr/>
          </p:nvGrpSpPr>
          <p:grpSpPr>
            <a:xfrm>
              <a:off x="993" y="1018"/>
              <a:ext cx="2358" cy="2211"/>
              <a:chOff x="993" y="1018"/>
              <a:chExt cx="2358" cy="2211"/>
            </a:xfrm>
          </p:grpSpPr>
          <p:sp>
            <p:nvSpPr>
              <p:cNvPr id="10" name="文本框 9"/>
              <p:cNvSpPr txBox="1"/>
              <p:nvPr/>
            </p:nvSpPr>
            <p:spPr>
              <a:xfrm>
                <a:off x="993" y="2649"/>
                <a:ext cx="2358" cy="580"/>
              </a:xfrm>
              <a:prstGeom prst="rect">
                <a:avLst/>
              </a:prstGeom>
              <a:noFill/>
            </p:spPr>
            <p:txBody>
              <a:bodyPr wrap="square" rtlCol="0">
                <a:spAutoFit/>
              </a:bodyPr>
              <a:lstStyle/>
              <a:p>
                <a:r>
                  <a:rPr lang="zh-CN" altLang="en-US">
                    <a:latin typeface="楷体" panose="02010609060101010101" pitchFamily="49" charset="-122"/>
                    <a:ea typeface="楷体" panose="02010609060101010101" pitchFamily="49" charset="-122"/>
                  </a:rPr>
                  <a:t>重复与改述</a:t>
                </a:r>
              </a:p>
            </p:txBody>
          </p:sp>
          <p:pic>
            <p:nvPicPr>
              <p:cNvPr id="3" name="图片 2" descr="重复"/>
              <p:cNvPicPr>
                <a:picLocks noChangeAspect="1"/>
              </p:cNvPicPr>
              <p:nvPr/>
            </p:nvPicPr>
            <p:blipFill>
              <a:blip r:embed="rId2"/>
              <a:stretch>
                <a:fillRect/>
              </a:stretch>
            </p:blipFill>
            <p:spPr>
              <a:xfrm>
                <a:off x="1327" y="1018"/>
                <a:ext cx="1538" cy="1538"/>
              </a:xfrm>
              <a:prstGeom prst="rect">
                <a:avLst/>
              </a:prstGeom>
            </p:spPr>
          </p:pic>
        </p:grpSp>
      </p:grpSp>
      <p:grpSp>
        <p:nvGrpSpPr>
          <p:cNvPr id="34" name="组合 33"/>
          <p:cNvGrpSpPr/>
          <p:nvPr/>
        </p:nvGrpSpPr>
        <p:grpSpPr>
          <a:xfrm>
            <a:off x="631190" y="2347595"/>
            <a:ext cx="7238365" cy="1821815"/>
            <a:chOff x="994" y="3697"/>
            <a:chExt cx="11399" cy="2869"/>
          </a:xfrm>
        </p:grpSpPr>
        <p:sp>
          <p:nvSpPr>
            <p:cNvPr id="8" name="文本框 7"/>
            <p:cNvSpPr txBox="1"/>
            <p:nvPr/>
          </p:nvSpPr>
          <p:spPr>
            <a:xfrm>
              <a:off x="3966" y="4265"/>
              <a:ext cx="8427" cy="1598"/>
            </a:xfrm>
            <a:prstGeom prst="rect">
              <a:avLst/>
            </a:prstGeom>
            <a:noFill/>
            <a:ln>
              <a:solidFill>
                <a:schemeClr val="accent1"/>
              </a:solidFill>
            </a:ln>
          </p:spPr>
          <p:txBody>
            <a:bodyPr wrap="square" rtlCol="0">
              <a:spAutoFit/>
            </a:bodyPr>
            <a:lstStyle/>
            <a:p>
              <a:r>
                <a:rPr lang="zh-CN" altLang="en-US" sz="2000">
                  <a:latin typeface="楷体" panose="02010609060101010101" pitchFamily="49" charset="-122"/>
                  <a:ea typeface="楷体" panose="02010609060101010101" pitchFamily="49" charset="-122"/>
                </a:rPr>
                <a:t>由于人容易记住常见或重大事件，面谈者可以</a:t>
              </a:r>
              <a:r>
                <a:rPr lang="zh-CN" altLang="en-US" sz="2000" b="1">
                  <a:solidFill>
                    <a:srgbClr val="7030A0"/>
                  </a:solidFill>
                  <a:latin typeface="楷体" panose="02010609060101010101" pitchFamily="49" charset="-122"/>
                  <a:ea typeface="楷体" panose="02010609060101010101" pitchFamily="49" charset="-122"/>
                </a:rPr>
                <a:t>通过提醒</a:t>
              </a:r>
              <a:r>
                <a:rPr lang="zh-CN" altLang="en-US" sz="2000">
                  <a:latin typeface="楷体" panose="02010609060101010101" pitchFamily="49" charset="-122"/>
                  <a:ea typeface="楷体" panose="02010609060101010101" pitchFamily="49" charset="-122"/>
                </a:rPr>
                <a:t>帮助被面谈者</a:t>
              </a:r>
              <a:r>
                <a:rPr lang="zh-CN" altLang="en-US" sz="2000" b="1">
                  <a:solidFill>
                    <a:srgbClr val="7030A0"/>
                  </a:solidFill>
                  <a:latin typeface="楷体" panose="02010609060101010101" pitchFamily="49" charset="-122"/>
                  <a:ea typeface="楷体" panose="02010609060101010101" pitchFamily="49" charset="-122"/>
                </a:rPr>
                <a:t>提取较难回忆的特殊或细节化信息</a:t>
              </a:r>
              <a:r>
                <a:rPr lang="zh-CN" altLang="en-US" sz="2000">
                  <a:latin typeface="楷体" panose="02010609060101010101" pitchFamily="49" charset="-122"/>
                  <a:ea typeface="楷体" panose="02010609060101010101" pitchFamily="49" charset="-122"/>
                </a:rPr>
                <a:t>。</a:t>
              </a:r>
            </a:p>
          </p:txBody>
        </p:sp>
        <p:grpSp>
          <p:nvGrpSpPr>
            <p:cNvPr id="33" name="组合 32"/>
            <p:cNvGrpSpPr/>
            <p:nvPr/>
          </p:nvGrpSpPr>
          <p:grpSpPr>
            <a:xfrm>
              <a:off x="994" y="3697"/>
              <a:ext cx="2358" cy="2869"/>
              <a:chOff x="994" y="3697"/>
              <a:chExt cx="2358" cy="2869"/>
            </a:xfrm>
          </p:grpSpPr>
          <p:sp>
            <p:nvSpPr>
              <p:cNvPr id="15" name="文本框 14"/>
              <p:cNvSpPr txBox="1"/>
              <p:nvPr/>
            </p:nvSpPr>
            <p:spPr>
              <a:xfrm>
                <a:off x="994" y="5550"/>
                <a:ext cx="2358" cy="1016"/>
              </a:xfrm>
              <a:prstGeom prst="rect">
                <a:avLst/>
              </a:prstGeom>
              <a:noFill/>
            </p:spPr>
            <p:txBody>
              <a:bodyPr wrap="square" rtlCol="0">
                <a:spAutoFit/>
              </a:bodyPr>
              <a:lstStyle/>
              <a:p>
                <a:r>
                  <a:rPr lang="zh-CN" altLang="en-US">
                    <a:latin typeface="楷体" panose="02010609060101010101" pitchFamily="49" charset="-122"/>
                    <a:ea typeface="楷体" panose="02010609060101010101" pitchFamily="49" charset="-122"/>
                  </a:rPr>
                  <a:t>建立场景和细节描述</a:t>
                </a:r>
              </a:p>
            </p:txBody>
          </p:sp>
          <p:pic>
            <p:nvPicPr>
              <p:cNvPr id="32" name="图片 31" descr="场景"/>
              <p:cNvPicPr>
                <a:picLocks noChangeAspect="1"/>
              </p:cNvPicPr>
              <p:nvPr/>
            </p:nvPicPr>
            <p:blipFill>
              <a:blip r:embed="rId3"/>
              <a:stretch>
                <a:fillRect/>
              </a:stretch>
            </p:blipFill>
            <p:spPr>
              <a:xfrm>
                <a:off x="1327" y="3697"/>
                <a:ext cx="1544" cy="1544"/>
              </a:xfrm>
              <a:prstGeom prst="rect">
                <a:avLst/>
              </a:prstGeom>
            </p:spPr>
          </p:pic>
        </p:grpSp>
      </p:grpSp>
      <p:grpSp>
        <p:nvGrpSpPr>
          <p:cNvPr id="37" name="组合 36"/>
          <p:cNvGrpSpPr/>
          <p:nvPr/>
        </p:nvGrpSpPr>
        <p:grpSpPr>
          <a:xfrm>
            <a:off x="630555" y="4535170"/>
            <a:ext cx="7238365" cy="1522095"/>
            <a:chOff x="993" y="7142"/>
            <a:chExt cx="11399" cy="2397"/>
          </a:xfrm>
        </p:grpSpPr>
        <p:sp>
          <p:nvSpPr>
            <p:cNvPr id="28" name="文本框 27"/>
            <p:cNvSpPr txBox="1"/>
            <p:nvPr/>
          </p:nvSpPr>
          <p:spPr>
            <a:xfrm>
              <a:off x="3965" y="7361"/>
              <a:ext cx="8427" cy="1598"/>
            </a:xfrm>
            <a:prstGeom prst="rect">
              <a:avLst/>
            </a:prstGeom>
            <a:noFill/>
            <a:ln>
              <a:solidFill>
                <a:schemeClr val="accent1"/>
              </a:solidFill>
            </a:ln>
          </p:spPr>
          <p:txBody>
            <a:bodyPr wrap="square" rtlCol="0">
              <a:spAutoFit/>
            </a:bodyPr>
            <a:lstStyle/>
            <a:p>
              <a:r>
                <a:rPr lang="zh-CN" altLang="en-US" sz="2000">
                  <a:latin typeface="楷体" panose="02010609060101010101" pitchFamily="49" charset="-122"/>
                  <a:ea typeface="楷体" panose="02010609060101010101" pitchFamily="49" charset="-122"/>
                </a:rPr>
                <a:t>人常基于不充分的信息做决策。面谈者可通过</a:t>
              </a:r>
              <a:r>
                <a:rPr lang="zh-CN" altLang="en-US" sz="2000" b="1">
                  <a:solidFill>
                    <a:srgbClr val="7030A0"/>
                  </a:solidFill>
                  <a:latin typeface="楷体" panose="02010609060101010101" pitchFamily="49" charset="-122"/>
                  <a:ea typeface="楷体" panose="02010609060101010101" pitchFamily="49" charset="-122"/>
                </a:rPr>
                <a:t>引导</a:t>
              </a:r>
              <a:r>
                <a:rPr lang="zh-CN" altLang="en-US" sz="2000">
                  <a:latin typeface="楷体" panose="02010609060101010101" pitchFamily="49" charset="-122"/>
                  <a:ea typeface="楷体" panose="02010609060101010101" pitchFamily="49" charset="-122"/>
                </a:rPr>
                <a:t>被面谈者</a:t>
              </a:r>
              <a:r>
                <a:rPr lang="zh-CN" altLang="en-US" sz="2000" b="1">
                  <a:solidFill>
                    <a:srgbClr val="7030A0"/>
                  </a:solidFill>
                  <a:latin typeface="楷体" panose="02010609060101010101" pitchFamily="49" charset="-122"/>
                  <a:ea typeface="楷体" panose="02010609060101010101" pitchFamily="49" charset="-122"/>
                </a:rPr>
                <a:t>推敲证据</a:t>
              </a:r>
              <a:r>
                <a:rPr lang="zh-CN" altLang="en-US" sz="2000">
                  <a:latin typeface="楷体" panose="02010609060101010101" pitchFamily="49" charset="-122"/>
                  <a:ea typeface="楷体" panose="02010609060101010101" pitchFamily="49" charset="-122"/>
                </a:rPr>
                <a:t>，从而帮助他们</a:t>
              </a:r>
              <a:r>
                <a:rPr lang="zh-CN" altLang="en-US" sz="2000" b="1">
                  <a:solidFill>
                    <a:srgbClr val="7030A0"/>
                  </a:solidFill>
                  <a:latin typeface="楷体" panose="02010609060101010101" pitchFamily="49" charset="-122"/>
                  <a:ea typeface="楷体" panose="02010609060101010101" pitchFamily="49" charset="-122"/>
                </a:rPr>
                <a:t>避免过度相信缺乏证据的观点</a:t>
              </a:r>
              <a:r>
                <a:rPr lang="zh-CN" altLang="en-US" sz="2000">
                  <a:latin typeface="楷体" panose="02010609060101010101" pitchFamily="49" charset="-122"/>
                  <a:ea typeface="楷体" panose="02010609060101010101" pitchFamily="49" charset="-122"/>
                </a:rPr>
                <a:t>。</a:t>
              </a:r>
            </a:p>
          </p:txBody>
        </p:sp>
        <p:grpSp>
          <p:nvGrpSpPr>
            <p:cNvPr id="36" name="组合 35"/>
            <p:cNvGrpSpPr/>
            <p:nvPr/>
          </p:nvGrpSpPr>
          <p:grpSpPr>
            <a:xfrm>
              <a:off x="993" y="7142"/>
              <a:ext cx="2358" cy="2397"/>
              <a:chOff x="993" y="6806"/>
              <a:chExt cx="2358" cy="2397"/>
            </a:xfrm>
          </p:grpSpPr>
          <p:sp>
            <p:nvSpPr>
              <p:cNvPr id="30" name="文本框 29"/>
              <p:cNvSpPr txBox="1"/>
              <p:nvPr/>
            </p:nvSpPr>
            <p:spPr>
              <a:xfrm>
                <a:off x="993" y="8623"/>
                <a:ext cx="2358" cy="580"/>
              </a:xfrm>
              <a:prstGeom prst="rect">
                <a:avLst/>
              </a:prstGeom>
              <a:noFill/>
            </p:spPr>
            <p:txBody>
              <a:bodyPr wrap="square" rtlCol="0">
                <a:spAutoFit/>
              </a:bodyPr>
              <a:lstStyle/>
              <a:p>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抗辩</a:t>
                </a:r>
              </a:p>
            </p:txBody>
          </p:sp>
          <p:pic>
            <p:nvPicPr>
              <p:cNvPr id="35" name="图片 34" descr="抗辩"/>
              <p:cNvPicPr>
                <a:picLocks noChangeAspect="1"/>
              </p:cNvPicPr>
              <p:nvPr/>
            </p:nvPicPr>
            <p:blipFill>
              <a:blip r:embed="rId4"/>
              <a:stretch>
                <a:fillRect/>
              </a:stretch>
            </p:blipFill>
            <p:spPr>
              <a:xfrm>
                <a:off x="1223" y="6806"/>
                <a:ext cx="1745" cy="1745"/>
              </a:xfrm>
              <a:prstGeom prst="rect">
                <a:avLst/>
              </a:prstGeom>
            </p:spPr>
          </p:pic>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anose="05000000000000000000" charset="0"/>
              <a:buChar char="Ø"/>
            </a:pPr>
            <a:r>
              <a:rPr kumimoji="1" lang="zh-CN" altLang="en-US" sz="2800" b="1" dirty="0">
                <a:latin typeface="楷体" panose="02010609060101010101" pitchFamily="49" charset="-122"/>
                <a:ea typeface="楷体" panose="02010609060101010101" pitchFamily="49" charset="-122"/>
              </a:rPr>
              <a:t>其他重要的问题类型</a:t>
            </a:r>
            <a:endParaRPr kumimoji="1" lang="zh-CN" altLang="en-US" sz="1145" b="1" dirty="0">
              <a:latin typeface="楷体" panose="02010609060101010101" pitchFamily="49" charset="-122"/>
              <a:ea typeface="楷体" panose="02010609060101010101" pitchFamily="49" charset="-122"/>
            </a:endParaRPr>
          </a:p>
        </p:txBody>
      </p:sp>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面谈</a:t>
            </a:r>
          </a:p>
        </p:txBody>
      </p:sp>
      <p:sp>
        <p:nvSpPr>
          <p:cNvPr id="3" name="文本框 2"/>
          <p:cNvSpPr txBox="1"/>
          <p:nvPr/>
        </p:nvSpPr>
        <p:spPr>
          <a:xfrm>
            <a:off x="1166495" y="1184275"/>
            <a:ext cx="6035675" cy="1568450"/>
          </a:xfrm>
          <a:prstGeom prst="rect">
            <a:avLst/>
          </a:prstGeom>
          <a:noFill/>
        </p:spPr>
        <p:txBody>
          <a:bodyPr wrap="square" rtlCol="0">
            <a:spAutoFit/>
          </a:bodyPr>
          <a:lstStyle/>
          <a:p>
            <a:pPr marL="285750" indent="-285750">
              <a:buFont typeface="Arial" panose="020B0604020202020204" pitchFamily="34" charset="0"/>
              <a:buChar char="•"/>
            </a:pPr>
            <a:r>
              <a:rPr lang="zh-CN" altLang="en-US" sz="2400">
                <a:latin typeface="楷体" panose="02010609060101010101" pitchFamily="49" charset="-122"/>
                <a:ea typeface="楷体" panose="02010609060101010101" pitchFamily="49" charset="-122"/>
              </a:rPr>
              <a:t>探究式问题</a:t>
            </a:r>
          </a:p>
          <a:p>
            <a:pPr marL="285750" indent="-285750">
              <a:buFont typeface="Arial" panose="020B0604020202020204" pitchFamily="34" charset="0"/>
              <a:buChar char="•"/>
            </a:pPr>
            <a:r>
              <a:rPr lang="zh-CN" altLang="en-US" sz="2400">
                <a:latin typeface="楷体" panose="02010609060101010101" pitchFamily="49" charset="-122"/>
                <a:ea typeface="楷体" panose="02010609060101010101" pitchFamily="49" charset="-122"/>
              </a:rPr>
              <a:t>诱导性问题</a:t>
            </a:r>
          </a:p>
          <a:p>
            <a:pPr marL="285750" indent="-285750">
              <a:buFont typeface="Arial" panose="020B0604020202020204" pitchFamily="34" charset="0"/>
              <a:buChar char="•"/>
            </a:pPr>
            <a:r>
              <a:rPr lang="zh-CN" altLang="en-US" sz="2400">
                <a:latin typeface="楷体" panose="02010609060101010101" pitchFamily="49" charset="-122"/>
                <a:ea typeface="楷体" panose="02010609060101010101" pitchFamily="49" charset="-122"/>
              </a:rPr>
              <a:t>双筒问题</a:t>
            </a:r>
          </a:p>
          <a:p>
            <a:pPr marL="285750" indent="-285750">
              <a:buFont typeface="Arial" panose="020B0604020202020204" pitchFamily="34" charset="0"/>
              <a:buChar char="•"/>
            </a:pPr>
            <a:r>
              <a:rPr lang="zh-CN" altLang="en-US" sz="2400">
                <a:latin typeface="楷体" panose="02010609060101010101" pitchFamily="49" charset="-122"/>
                <a:ea typeface="楷体" panose="02010609060101010101" pitchFamily="49" charset="-122"/>
              </a:rPr>
              <a:t>元问题</a:t>
            </a:r>
          </a:p>
        </p:txBody>
      </p:sp>
      <p:grpSp>
        <p:nvGrpSpPr>
          <p:cNvPr id="9" name="组合 8"/>
          <p:cNvGrpSpPr/>
          <p:nvPr/>
        </p:nvGrpSpPr>
        <p:grpSpPr>
          <a:xfrm>
            <a:off x="842645" y="3261360"/>
            <a:ext cx="7898765" cy="2592070"/>
            <a:chOff x="1327" y="5136"/>
            <a:chExt cx="12439" cy="4082"/>
          </a:xfrm>
        </p:grpSpPr>
        <p:grpSp>
          <p:nvGrpSpPr>
            <p:cNvPr id="7" name="组合 6"/>
            <p:cNvGrpSpPr/>
            <p:nvPr/>
          </p:nvGrpSpPr>
          <p:grpSpPr>
            <a:xfrm>
              <a:off x="1327" y="5136"/>
              <a:ext cx="9712" cy="4082"/>
              <a:chOff x="990" y="4611"/>
              <a:chExt cx="9712" cy="4082"/>
            </a:xfrm>
          </p:grpSpPr>
          <p:sp>
            <p:nvSpPr>
              <p:cNvPr id="4" name="文本框 3"/>
              <p:cNvSpPr txBox="1"/>
              <p:nvPr/>
            </p:nvSpPr>
            <p:spPr>
              <a:xfrm>
                <a:off x="1327" y="5157"/>
                <a:ext cx="9375" cy="3536"/>
              </a:xfrm>
              <a:prstGeom prst="rect">
                <a:avLst/>
              </a:prstGeom>
              <a:noFill/>
              <a:ln>
                <a:solidFill>
                  <a:schemeClr val="accent1"/>
                </a:solidFill>
              </a:ln>
            </p:spPr>
            <p:txBody>
              <a:bodyPr wrap="square" rtlCol="0">
                <a:spAutoFit/>
              </a:bodyPr>
              <a:lstStyle/>
              <a:p>
                <a:pPr marL="342900" indent="-342900">
                  <a:buFont typeface="Arial" panose="020B0604020202020204" pitchFamily="34" charset="0"/>
                  <a:buChar char="•"/>
                </a:pPr>
                <a:endParaRPr lang="zh-CN" altLang="en-US" sz="2000">
                  <a:latin typeface="楷体" panose="02010609060101010101" pitchFamily="49" charset="-122"/>
                  <a:ea typeface="楷体" panose="02010609060101010101" pitchFamily="49" charset="-122"/>
                  <a:cs typeface="楷体" panose="02010609060101010101" pitchFamily="49" charset="-122"/>
                </a:endParaRPr>
              </a:p>
              <a:p>
                <a:pPr marL="342900" indent="-342900">
                  <a:buFont typeface="Arial" panose="020B0604020202020204" pitchFamily="34" charset="0"/>
                  <a:buChar char="•"/>
                </a:pPr>
                <a:r>
                  <a:rPr lang="zh-CN" altLang="en-US" sz="2000">
                    <a:latin typeface="楷体" panose="02010609060101010101" pitchFamily="49" charset="-122"/>
                    <a:ea typeface="楷体" panose="02010609060101010101" pitchFamily="49" charset="-122"/>
                    <a:cs typeface="楷体" panose="02010609060101010101" pitchFamily="49" charset="-122"/>
                  </a:rPr>
                  <a:t>目的是深究答复，澄清被访谈者的要点或让其详细阐述观点。</a:t>
                </a:r>
              </a:p>
              <a:p>
                <a:pPr marL="342900" indent="-342900">
                  <a:buFont typeface="Arial" panose="020B0604020202020204" pitchFamily="34" charset="0"/>
                  <a:buChar char="•"/>
                </a:pPr>
                <a:r>
                  <a:rPr lang="zh-CN" altLang="en-US" sz="2000">
                    <a:latin typeface="楷体" panose="02010609060101010101" pitchFamily="49" charset="-122"/>
                    <a:ea typeface="楷体" panose="02010609060101010101" pitchFamily="49" charset="-122"/>
                    <a:cs typeface="楷体" panose="02010609060101010101" pitchFamily="49" charset="-122"/>
                  </a:rPr>
                  <a:t>常见示例包括</a:t>
                </a:r>
                <a:r>
                  <a:rPr lang="en-US" altLang="zh-CN" sz="2000">
                    <a:latin typeface="楷体" panose="02010609060101010101" pitchFamily="49" charset="-122"/>
                    <a:ea typeface="楷体" panose="02010609060101010101" pitchFamily="49" charset="-122"/>
                    <a:cs typeface="楷体" panose="02010609060101010101" pitchFamily="49" charset="-122"/>
                  </a:rPr>
                  <a:t>“</a:t>
                </a:r>
                <a:r>
                  <a:rPr lang="zh-CN" altLang="en-US" sz="2000">
                    <a:latin typeface="楷体" panose="02010609060101010101" pitchFamily="49" charset="-122"/>
                    <a:ea typeface="楷体" panose="02010609060101010101" pitchFamily="49" charset="-122"/>
                    <a:cs typeface="楷体" panose="02010609060101010101" pitchFamily="49" charset="-122"/>
                  </a:rPr>
                  <a:t>为什么？</a:t>
                </a:r>
                <a:r>
                  <a:rPr lang="en-US" altLang="zh-CN" sz="2000">
                    <a:latin typeface="楷体" panose="02010609060101010101" pitchFamily="49" charset="-122"/>
                    <a:ea typeface="楷体" panose="02010609060101010101" pitchFamily="49" charset="-122"/>
                    <a:cs typeface="楷体" panose="02010609060101010101" pitchFamily="49" charset="-122"/>
                  </a:rPr>
                  <a:t>”</a:t>
                </a:r>
                <a:r>
                  <a:rPr lang="zh-CN" altLang="en-US" sz="2000">
                    <a:latin typeface="楷体" panose="02010609060101010101" pitchFamily="49" charset="-122"/>
                    <a:ea typeface="楷体" panose="02010609060101010101" pitchFamily="49" charset="-122"/>
                    <a:cs typeface="楷体" panose="02010609060101010101" pitchFamily="49" charset="-122"/>
                  </a:rPr>
                  <a:t>，</a:t>
                </a:r>
                <a:r>
                  <a:rPr lang="en-US" altLang="zh-CN" sz="2000">
                    <a:latin typeface="楷体" panose="02010609060101010101" pitchFamily="49" charset="-122"/>
                    <a:ea typeface="楷体" panose="02010609060101010101" pitchFamily="49" charset="-122"/>
                    <a:cs typeface="楷体" panose="02010609060101010101" pitchFamily="49" charset="-122"/>
                  </a:rPr>
                  <a:t>“</a:t>
                </a:r>
                <a:r>
                  <a:rPr lang="zh-CN" altLang="en-US" sz="2000">
                    <a:latin typeface="楷体" panose="02010609060101010101" pitchFamily="49" charset="-122"/>
                    <a:ea typeface="楷体" panose="02010609060101010101" pitchFamily="49" charset="-122"/>
                    <a:cs typeface="楷体" panose="02010609060101010101" pitchFamily="49" charset="-122"/>
                  </a:rPr>
                  <a:t>你能举个例子吗？</a:t>
                </a:r>
                <a:r>
                  <a:rPr lang="en-US" altLang="zh-CN" sz="2000">
                    <a:latin typeface="楷体" panose="02010609060101010101" pitchFamily="49" charset="-122"/>
                    <a:ea typeface="楷体" panose="02010609060101010101" pitchFamily="49" charset="-122"/>
                    <a:cs typeface="楷体" panose="02010609060101010101" pitchFamily="49" charset="-122"/>
                  </a:rPr>
                  <a:t>”</a:t>
                </a:r>
                <a:r>
                  <a:rPr lang="zh-CN" altLang="en-US" sz="2000">
                    <a:latin typeface="楷体" panose="02010609060101010101" pitchFamily="49" charset="-122"/>
                    <a:ea typeface="楷体" panose="02010609060101010101" pitchFamily="49" charset="-122"/>
                    <a:cs typeface="楷体" panose="02010609060101010101" pitchFamily="49" charset="-122"/>
                  </a:rPr>
                  <a:t>或</a:t>
                </a:r>
                <a:r>
                  <a:rPr lang="en-US" altLang="zh-CN" sz="2000">
                    <a:latin typeface="楷体" panose="02010609060101010101" pitchFamily="49" charset="-122"/>
                    <a:ea typeface="楷体" panose="02010609060101010101" pitchFamily="49" charset="-122"/>
                    <a:cs typeface="楷体" panose="02010609060101010101" pitchFamily="49" charset="-122"/>
                  </a:rPr>
                  <a:t>“</a:t>
                </a:r>
                <a:r>
                  <a:rPr lang="zh-CN" altLang="en-US" sz="2000">
                    <a:latin typeface="楷体" panose="02010609060101010101" pitchFamily="49" charset="-122"/>
                    <a:ea typeface="楷体" panose="02010609060101010101" pitchFamily="49" charset="-122"/>
                    <a:cs typeface="楷体" panose="02010609060101010101" pitchFamily="49" charset="-122"/>
                  </a:rPr>
                  <a:t>你能详细描述一下吗？</a:t>
                </a:r>
                <a:r>
                  <a:rPr lang="en-US" altLang="zh-CN" sz="2000">
                    <a:latin typeface="楷体" panose="02010609060101010101" pitchFamily="49" charset="-122"/>
                    <a:ea typeface="楷体" panose="02010609060101010101" pitchFamily="49" charset="-122"/>
                    <a:cs typeface="楷体" panose="02010609060101010101" pitchFamily="49" charset="-122"/>
                  </a:rPr>
                  <a:t>”</a:t>
                </a:r>
                <a:r>
                  <a:rPr lang="zh-CN" altLang="en-US" sz="2000">
                    <a:latin typeface="楷体" panose="02010609060101010101" pitchFamily="49" charset="-122"/>
                    <a:ea typeface="楷体" panose="02010609060101010101" pitchFamily="49" charset="-122"/>
                    <a:cs typeface="楷体" panose="02010609060101010101" pitchFamily="49" charset="-122"/>
                  </a:rPr>
                  <a:t>。</a:t>
                </a:r>
              </a:p>
              <a:p>
                <a:pPr marL="342900" indent="-342900">
                  <a:buFont typeface="Arial" panose="020B0604020202020204" pitchFamily="34" charset="0"/>
                  <a:buChar char="•"/>
                </a:pPr>
                <a:r>
                  <a:rPr lang="zh-CN" altLang="en-US" sz="2000">
                    <a:latin typeface="楷体" panose="02010609060101010101" pitchFamily="49" charset="-122"/>
                    <a:ea typeface="楷体" panose="02010609060101010101" pitchFamily="49" charset="-122"/>
                    <a:cs typeface="楷体" panose="02010609060101010101" pitchFamily="49" charset="-122"/>
                  </a:rPr>
                  <a:t>使用探究式问题有助于理解被访谈者的真实想法，避免接受模糊或误导性的答复</a:t>
                </a:r>
              </a:p>
            </p:txBody>
          </p:sp>
          <p:sp>
            <p:nvSpPr>
              <p:cNvPr id="5" name="圆角矩形 4"/>
              <p:cNvSpPr/>
              <p:nvPr/>
            </p:nvSpPr>
            <p:spPr>
              <a:xfrm>
                <a:off x="990" y="4611"/>
                <a:ext cx="2881" cy="1040"/>
              </a:xfrm>
              <a:prstGeom prst="round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400">
                    <a:solidFill>
                      <a:schemeClr val="tx1"/>
                    </a:solidFill>
                    <a:latin typeface="楷体" panose="02010609060101010101" pitchFamily="49" charset="-122"/>
                    <a:ea typeface="楷体" panose="02010609060101010101" pitchFamily="49" charset="-122"/>
                  </a:rPr>
                  <a:t>探究式问题</a:t>
                </a:r>
              </a:p>
            </p:txBody>
          </p:sp>
        </p:grpSp>
        <p:pic>
          <p:nvPicPr>
            <p:cNvPr id="8" name="图片 7" descr="研究"/>
            <p:cNvPicPr>
              <a:picLocks noChangeAspect="1"/>
            </p:cNvPicPr>
            <p:nvPr/>
          </p:nvPicPr>
          <p:blipFill>
            <a:blip r:embed="rId2"/>
            <a:stretch>
              <a:fillRect/>
            </a:stretch>
          </p:blipFill>
          <p:spPr>
            <a:xfrm>
              <a:off x="11342" y="6238"/>
              <a:ext cx="2424" cy="2424"/>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51596" y="16999"/>
            <a:ext cx="697627" cy="400110"/>
          </a:xfrm>
          <a:prstGeom prst="rect">
            <a:avLst/>
          </a:prstGeom>
          <a:noFill/>
        </p:spPr>
        <p:txBody>
          <a:bodyPr wrap="none" rtlCol="0">
            <a:spAutoFit/>
          </a:bodyPr>
          <a:lstStyle/>
          <a:p>
            <a:r>
              <a:rPr kumimoji="1" lang="zh-CN" altLang="en-US" sz="2000">
                <a:solidFill>
                  <a:schemeClr val="bg1"/>
                </a:solidFill>
                <a:latin typeface="楷体" panose="02010609060101010101" pitchFamily="49" charset="-122"/>
                <a:ea typeface="楷体" panose="02010609060101010101" pitchFamily="49" charset="-122"/>
              </a:rPr>
              <a:t>面谈</a:t>
            </a:r>
            <a:endParaRPr kumimoji="1" lang="en-US" altLang="zh-CN" sz="2000" dirty="0">
              <a:solidFill>
                <a:schemeClr val="bg1"/>
              </a:solidFill>
              <a:latin typeface="楷体" panose="02010609060101010101" pitchFamily="49" charset="-122"/>
              <a:ea typeface="楷体" panose="02010609060101010101" pitchFamily="49" charset="-122"/>
            </a:endParaRPr>
          </a:p>
        </p:txBody>
      </p:sp>
      <p:grpSp>
        <p:nvGrpSpPr>
          <p:cNvPr id="14" name="组合 13"/>
          <p:cNvGrpSpPr/>
          <p:nvPr/>
        </p:nvGrpSpPr>
        <p:grpSpPr>
          <a:xfrm>
            <a:off x="628650" y="3906520"/>
            <a:ext cx="8017510" cy="2075815"/>
            <a:chOff x="990" y="6527"/>
            <a:chExt cx="12626" cy="3269"/>
          </a:xfrm>
        </p:grpSpPr>
        <p:sp>
          <p:nvSpPr>
            <p:cNvPr id="3" name="文本框 2"/>
            <p:cNvSpPr txBox="1"/>
            <p:nvPr/>
          </p:nvSpPr>
          <p:spPr>
            <a:xfrm>
              <a:off x="1349" y="7165"/>
              <a:ext cx="12267" cy="2631"/>
            </a:xfrm>
            <a:prstGeom prst="rect">
              <a:avLst/>
            </a:prstGeom>
            <a:noFill/>
            <a:ln>
              <a:solidFill>
                <a:schemeClr val="accent1"/>
              </a:solidFill>
            </a:ln>
          </p:spPr>
          <p:txBody>
            <a:bodyPr wrap="square" rtlCol="0">
              <a:noAutofit/>
            </a:bodyPr>
            <a:lstStyle/>
            <a:p>
              <a:endParaRPr lang="zh-CN" altLang="en-US" sz="2400">
                <a:latin typeface="楷体" panose="02010609060101010101" pitchFamily="49" charset="-122"/>
                <a:ea typeface="楷体" panose="02010609060101010101" pitchFamily="49" charset="-122"/>
                <a:cs typeface="楷体" panose="02010609060101010101" pitchFamily="49" charset="-122"/>
              </a:endParaRPr>
            </a:p>
            <a:p>
              <a:pPr marL="342900" indent="-342900">
                <a:buFont typeface="Arial" panose="020B0604020202020204" pitchFamily="34" charset="0"/>
                <a:buChar char="•"/>
              </a:pPr>
              <a:r>
                <a:rPr lang="zh-CN" altLang="en-US" sz="2000">
                  <a:latin typeface="楷体" panose="02010609060101010101" pitchFamily="49" charset="-122"/>
                  <a:ea typeface="楷体" panose="02010609060101010101" pitchFamily="49" charset="-122"/>
                  <a:cs typeface="楷体" panose="02010609060101010101" pitchFamily="49" charset="-122"/>
                </a:rPr>
                <a:t>使用</a:t>
              </a:r>
              <a:r>
                <a:rPr lang="en-US" altLang="zh-CN" sz="2000">
                  <a:latin typeface="Times New Roman" panose="02020603050405020304" pitchFamily="18" charset="0"/>
                  <a:ea typeface="楷体" panose="02010609060101010101" pitchFamily="49" charset="-122"/>
                  <a:cs typeface="Times New Roman" panose="02020603050405020304" pitchFamily="18" charset="0"/>
                </a:rPr>
                <a:t>ERP</a:t>
              </a:r>
              <a:r>
                <a:rPr lang="zh-CN" altLang="en-US" sz="2000">
                  <a:latin typeface="Times New Roman" panose="02020603050405020304" pitchFamily="18" charset="0"/>
                  <a:ea typeface="楷体" panose="02010609060101010101" pitchFamily="49" charset="-122"/>
                  <a:cs typeface="Times New Roman" panose="02020603050405020304" pitchFamily="18" charset="0"/>
                </a:rPr>
                <a:t>系统后，所有的管理流程都会更加流畅、更加轻松，对吗？</a:t>
              </a:r>
            </a:p>
            <a:p>
              <a:pPr marL="342900" indent="-342900">
                <a:buFont typeface="Arial" panose="020B0604020202020204" pitchFamily="34" charset="0"/>
                <a:buChar char="•"/>
              </a:pPr>
              <a:r>
                <a:rPr lang="zh-CN" altLang="en-US" sz="2000">
                  <a:latin typeface="Times New Roman" panose="02020603050405020304" pitchFamily="18" charset="0"/>
                  <a:ea typeface="楷体" panose="02010609060101010101" pitchFamily="49" charset="-122"/>
                  <a:cs typeface="Times New Roman" panose="02020603050405020304" pitchFamily="18" charset="0"/>
                </a:rPr>
                <a:t>您认为使用</a:t>
              </a:r>
              <a:r>
                <a:rPr lang="en-US" altLang="zh-CN" sz="2000">
                  <a:latin typeface="Times New Roman" panose="02020603050405020304" pitchFamily="18" charset="0"/>
                  <a:ea typeface="楷体" panose="02010609060101010101" pitchFamily="49" charset="-122"/>
                  <a:cs typeface="Times New Roman" panose="02020603050405020304" pitchFamily="18" charset="0"/>
                </a:rPr>
                <a:t>ERP</a:t>
              </a:r>
              <a:r>
                <a:rPr lang="zh-CN" altLang="en-US" sz="2000">
                  <a:latin typeface="Times New Roman" panose="02020603050405020304" pitchFamily="18" charset="0"/>
                  <a:ea typeface="楷体" panose="02010609060101010101" pitchFamily="49" charset="-122"/>
                  <a:cs typeface="Times New Roman" panose="02020603050405020304" pitchFamily="18" charset="0"/>
                </a:rPr>
                <a:t>系</a:t>
              </a:r>
              <a:r>
                <a:rPr lang="zh-CN" altLang="en-US" sz="2000">
                  <a:latin typeface="楷体" panose="02010609060101010101" pitchFamily="49" charset="-122"/>
                  <a:ea typeface="楷体" panose="02010609060101010101" pitchFamily="49" charset="-122"/>
                  <a:cs typeface="楷体" panose="02010609060101010101" pitchFamily="49" charset="-122"/>
                </a:rPr>
                <a:t>统后，管理流程的变化有哪些？</a:t>
              </a:r>
            </a:p>
          </p:txBody>
        </p:sp>
        <p:sp>
          <p:nvSpPr>
            <p:cNvPr id="13" name="椭圆 12"/>
            <p:cNvSpPr/>
            <p:nvPr/>
          </p:nvSpPr>
          <p:spPr>
            <a:xfrm>
              <a:off x="990" y="6527"/>
              <a:ext cx="848" cy="769"/>
            </a:xfrm>
            <a:prstGeom prst="ellipse">
              <a:avLst/>
            </a:prstGeom>
            <a:solidFill>
              <a:schemeClr val="bg1"/>
            </a:solidFill>
          </p:spPr>
          <p:style>
            <a:lnRef idx="2">
              <a:schemeClr val="accent1"/>
            </a:lnRef>
            <a:fillRef idx="0">
              <a:srgbClr val="FFFFFF"/>
            </a:fillRef>
            <a:effectRef idx="0">
              <a:srgbClr val="FFFFFF"/>
            </a:effectRef>
            <a:fontRef idx="minor">
              <a:schemeClr val="tx1"/>
            </a:fontRef>
          </p:style>
          <p:txBody>
            <a:bodyPr rtlCol="0" anchor="ctr"/>
            <a:lstStyle/>
            <a:p>
              <a:pPr algn="ctr"/>
              <a:r>
                <a:rPr lang="zh-CN" altLang="en-US" sz="2400">
                  <a:latin typeface="楷体" panose="02010609060101010101" pitchFamily="49" charset="-122"/>
                  <a:ea typeface="楷体" panose="02010609060101010101" pitchFamily="49" charset="-122"/>
                </a:rPr>
                <a:t>例</a:t>
              </a:r>
            </a:p>
          </p:txBody>
        </p:sp>
      </p:grpSp>
      <p:grpSp>
        <p:nvGrpSpPr>
          <p:cNvPr id="8" name="组合 7"/>
          <p:cNvGrpSpPr/>
          <p:nvPr/>
        </p:nvGrpSpPr>
        <p:grpSpPr>
          <a:xfrm>
            <a:off x="629285" y="942975"/>
            <a:ext cx="7851775" cy="2961640"/>
            <a:chOff x="991" y="1485"/>
            <a:chExt cx="12365" cy="4664"/>
          </a:xfrm>
        </p:grpSpPr>
        <p:grpSp>
          <p:nvGrpSpPr>
            <p:cNvPr id="7" name="组合 6"/>
            <p:cNvGrpSpPr/>
            <p:nvPr/>
          </p:nvGrpSpPr>
          <p:grpSpPr>
            <a:xfrm>
              <a:off x="991" y="1485"/>
              <a:ext cx="10082" cy="4664"/>
              <a:chOff x="990" y="4611"/>
              <a:chExt cx="9493" cy="4664"/>
            </a:xfrm>
          </p:grpSpPr>
          <p:sp>
            <p:nvSpPr>
              <p:cNvPr id="4" name="文本框 3"/>
              <p:cNvSpPr txBox="1"/>
              <p:nvPr>
                <p:custDataLst>
                  <p:tags r:id="rId1"/>
                </p:custDataLst>
              </p:nvPr>
            </p:nvSpPr>
            <p:spPr>
              <a:xfrm>
                <a:off x="1327" y="5157"/>
                <a:ext cx="9156" cy="4118"/>
              </a:xfrm>
              <a:prstGeom prst="rect">
                <a:avLst/>
              </a:prstGeom>
              <a:noFill/>
              <a:ln>
                <a:solidFill>
                  <a:schemeClr val="accent1"/>
                </a:solidFill>
              </a:ln>
            </p:spPr>
            <p:txBody>
              <a:bodyPr wrap="square" rtlCol="0">
                <a:spAutoFit/>
              </a:bodyPr>
              <a:lstStyle/>
              <a:p>
                <a:pPr marL="342900" indent="-342900">
                  <a:buFont typeface="Arial" panose="020B0604020202020204" pitchFamily="34" charset="0"/>
                  <a:buChar char="•"/>
                </a:pPr>
                <a:endParaRPr lang="zh-CN" altLang="en-US" sz="2400">
                  <a:latin typeface="楷体" panose="02010609060101010101" pitchFamily="49" charset="-122"/>
                  <a:ea typeface="楷体" panose="02010609060101010101" pitchFamily="49" charset="-122"/>
                  <a:cs typeface="楷体" panose="02010609060101010101" pitchFamily="49" charset="-122"/>
                </a:endParaRPr>
              </a:p>
              <a:p>
                <a:pPr marL="342900" indent="-342900">
                  <a:buFont typeface="Arial" panose="020B0604020202020204" pitchFamily="34" charset="0"/>
                  <a:buChar char="•"/>
                </a:pPr>
                <a:r>
                  <a:rPr lang="zh-CN" altLang="en-US" sz="2000">
                    <a:latin typeface="楷体" panose="02010609060101010101" pitchFamily="49" charset="-122"/>
                    <a:ea typeface="楷体" panose="02010609060101010101" pitchFamily="49" charset="-122"/>
                    <a:cs typeface="楷体" panose="02010609060101010101" pitchFamily="49" charset="-122"/>
                  </a:rPr>
                  <a:t>目的是引导被访谈者按照访谈者的预期作答，通常会导致偏向性的答复。</a:t>
                </a:r>
              </a:p>
              <a:p>
                <a:pPr marL="342900" indent="-342900">
                  <a:buFont typeface="Arial" panose="020B0604020202020204" pitchFamily="34" charset="0"/>
                  <a:buChar char="•"/>
                </a:pPr>
                <a:r>
                  <a:rPr lang="zh-CN" altLang="en-US" sz="2000">
                    <a:latin typeface="楷体" panose="02010609060101010101" pitchFamily="49" charset="-122"/>
                    <a:ea typeface="楷体" panose="02010609060101010101" pitchFamily="49" charset="-122"/>
                    <a:cs typeface="楷体" panose="02010609060101010101" pitchFamily="49" charset="-122"/>
                  </a:rPr>
                  <a:t>示例：</a:t>
                </a:r>
                <a:r>
                  <a:rPr lang="en-US" altLang="zh-CN" sz="2000">
                    <a:latin typeface="楷体" panose="02010609060101010101" pitchFamily="49" charset="-122"/>
                    <a:ea typeface="楷体" panose="02010609060101010101" pitchFamily="49" charset="-122"/>
                    <a:cs typeface="楷体" panose="02010609060101010101" pitchFamily="49" charset="-122"/>
                  </a:rPr>
                  <a:t>“</a:t>
                </a:r>
                <a:r>
                  <a:rPr lang="zh-CN" altLang="en-US" sz="2000">
                    <a:latin typeface="楷体" panose="02010609060101010101" pitchFamily="49" charset="-122"/>
                    <a:ea typeface="楷体" panose="02010609060101010101" pitchFamily="49" charset="-122"/>
                    <a:cs typeface="楷体" panose="02010609060101010101" pitchFamily="49" charset="-122"/>
                  </a:rPr>
                  <a:t>你和其他经理一样，都同意把财产管理计算机化，是吗？</a:t>
                </a:r>
                <a:r>
                  <a:rPr lang="en-US" altLang="zh-CN" sz="2000">
                    <a:latin typeface="楷体" panose="02010609060101010101" pitchFamily="49" charset="-122"/>
                    <a:ea typeface="楷体" panose="02010609060101010101" pitchFamily="49" charset="-122"/>
                    <a:cs typeface="楷体" panose="02010609060101010101" pitchFamily="49" charset="-122"/>
                  </a:rPr>
                  <a:t>”</a:t>
                </a:r>
                <a:r>
                  <a:rPr lang="zh-CN" altLang="en-US" sz="2000">
                    <a:latin typeface="楷体" panose="02010609060101010101" pitchFamily="49" charset="-122"/>
                    <a:ea typeface="楷体" panose="02010609060101010101" pitchFamily="49" charset="-122"/>
                    <a:cs typeface="楷体" panose="02010609060101010101" pitchFamily="49" charset="-122"/>
                  </a:rPr>
                  <a:t>。</a:t>
                </a:r>
              </a:p>
              <a:p>
                <a:pPr marL="342900" indent="-342900">
                  <a:buFont typeface="Arial" panose="020B0604020202020204" pitchFamily="34" charset="0"/>
                  <a:buChar char="•"/>
                </a:pPr>
                <a:r>
                  <a:rPr lang="zh-CN" altLang="en-US" sz="2000">
                    <a:latin typeface="楷体" panose="02010609060101010101" pitchFamily="49" charset="-122"/>
                    <a:ea typeface="楷体" panose="02010609060101010101" pitchFamily="49" charset="-122"/>
                    <a:cs typeface="楷体" panose="02010609060101010101" pitchFamily="49" charset="-122"/>
                  </a:rPr>
                  <a:t>更合适的提问方式是：</a:t>
                </a:r>
                <a:r>
                  <a:rPr lang="en-US" altLang="zh-CN" sz="2000">
                    <a:latin typeface="楷体" panose="02010609060101010101" pitchFamily="49" charset="-122"/>
                    <a:ea typeface="楷体" panose="02010609060101010101" pitchFamily="49" charset="-122"/>
                    <a:cs typeface="楷体" panose="02010609060101010101" pitchFamily="49" charset="-122"/>
                  </a:rPr>
                  <a:t>“</a:t>
                </a:r>
                <a:r>
                  <a:rPr lang="zh-CN" altLang="en-US" sz="2000">
                    <a:latin typeface="楷体" panose="02010609060101010101" pitchFamily="49" charset="-122"/>
                    <a:ea typeface="楷体" panose="02010609060101010101" pitchFamily="49" charset="-122"/>
                    <a:cs typeface="楷体" panose="02010609060101010101" pitchFamily="49" charset="-122"/>
                  </a:rPr>
                  <a:t>你对财产管理计算机化有何看法？</a:t>
                </a:r>
                <a:r>
                  <a:rPr lang="en-US" altLang="zh-CN" sz="2000">
                    <a:latin typeface="楷体" panose="02010609060101010101" pitchFamily="49" charset="-122"/>
                    <a:ea typeface="楷体" panose="02010609060101010101" pitchFamily="49" charset="-122"/>
                    <a:cs typeface="楷体" panose="02010609060101010101" pitchFamily="49" charset="-122"/>
                  </a:rPr>
                  <a:t>”</a:t>
                </a:r>
                <a:r>
                  <a:rPr lang="zh-CN" altLang="en-US" sz="2000">
                    <a:latin typeface="楷体" panose="02010609060101010101" pitchFamily="49" charset="-122"/>
                    <a:ea typeface="楷体" panose="02010609060101010101" pitchFamily="49" charset="-122"/>
                    <a:cs typeface="楷体" panose="02010609060101010101" pitchFamily="49" charset="-122"/>
                  </a:rPr>
                  <a:t>。</a:t>
                </a:r>
              </a:p>
              <a:p>
                <a:pPr marL="342900" indent="-342900">
                  <a:buFont typeface="Arial" panose="020B0604020202020204" pitchFamily="34" charset="0"/>
                  <a:buChar char="•"/>
                </a:pPr>
                <a:r>
                  <a:rPr lang="zh-CN" altLang="en-US" sz="2000">
                    <a:latin typeface="楷体" panose="02010609060101010101" pitchFamily="49" charset="-122"/>
                    <a:ea typeface="楷体" panose="02010609060101010101" pitchFamily="49" charset="-122"/>
                    <a:cs typeface="楷体" panose="02010609060101010101" pitchFamily="49" charset="-122"/>
                  </a:rPr>
                  <a:t>使用诱导性问题会降低数据的可信度，因此应避免。</a:t>
                </a:r>
              </a:p>
            </p:txBody>
          </p:sp>
          <p:sp>
            <p:nvSpPr>
              <p:cNvPr id="5" name="圆角矩形 4"/>
              <p:cNvSpPr/>
              <p:nvPr>
                <p:custDataLst>
                  <p:tags r:id="rId2"/>
                </p:custDataLst>
              </p:nvPr>
            </p:nvSpPr>
            <p:spPr>
              <a:xfrm>
                <a:off x="990" y="4611"/>
                <a:ext cx="2881" cy="1040"/>
              </a:xfrm>
              <a:prstGeom prst="round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400">
                    <a:solidFill>
                      <a:schemeClr val="tx1"/>
                    </a:solidFill>
                    <a:latin typeface="楷体" panose="02010609060101010101" pitchFamily="49" charset="-122"/>
                    <a:ea typeface="楷体" panose="02010609060101010101" pitchFamily="49" charset="-122"/>
                  </a:rPr>
                  <a:t>诱导式问题</a:t>
                </a:r>
              </a:p>
            </p:txBody>
          </p:sp>
        </p:grpSp>
        <p:pic>
          <p:nvPicPr>
            <p:cNvPr id="2" name="图片 1" descr="引导"/>
            <p:cNvPicPr>
              <a:picLocks noChangeAspect="1"/>
            </p:cNvPicPr>
            <p:nvPr/>
          </p:nvPicPr>
          <p:blipFill>
            <a:blip r:embed="rId4"/>
            <a:stretch>
              <a:fillRect/>
            </a:stretch>
          </p:blipFill>
          <p:spPr>
            <a:xfrm>
              <a:off x="11380" y="3102"/>
              <a:ext cx="1977" cy="1977"/>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面谈</a:t>
            </a:r>
          </a:p>
        </p:txBody>
      </p:sp>
      <p:grpSp>
        <p:nvGrpSpPr>
          <p:cNvPr id="10" name="组合 9"/>
          <p:cNvGrpSpPr/>
          <p:nvPr/>
        </p:nvGrpSpPr>
        <p:grpSpPr>
          <a:xfrm>
            <a:off x="628650" y="668655"/>
            <a:ext cx="7984490" cy="2653030"/>
            <a:chOff x="990" y="1053"/>
            <a:chExt cx="12574" cy="4178"/>
          </a:xfrm>
        </p:grpSpPr>
        <p:grpSp>
          <p:nvGrpSpPr>
            <p:cNvPr id="7" name="组合 6"/>
            <p:cNvGrpSpPr/>
            <p:nvPr/>
          </p:nvGrpSpPr>
          <p:grpSpPr>
            <a:xfrm>
              <a:off x="990" y="1053"/>
              <a:ext cx="10438" cy="4179"/>
              <a:chOff x="990" y="4611"/>
              <a:chExt cx="10816" cy="4179"/>
            </a:xfrm>
          </p:grpSpPr>
          <p:sp>
            <p:nvSpPr>
              <p:cNvPr id="4" name="文本框 3"/>
              <p:cNvSpPr txBox="1"/>
              <p:nvPr/>
            </p:nvSpPr>
            <p:spPr>
              <a:xfrm>
                <a:off x="1327" y="5157"/>
                <a:ext cx="10479" cy="3633"/>
              </a:xfrm>
              <a:prstGeom prst="rect">
                <a:avLst/>
              </a:prstGeom>
              <a:noFill/>
              <a:ln>
                <a:solidFill>
                  <a:schemeClr val="accent1"/>
                </a:solidFill>
              </a:ln>
            </p:spPr>
            <p:txBody>
              <a:bodyPr wrap="square" rtlCol="0">
                <a:spAutoFit/>
              </a:bodyPr>
              <a:lstStyle/>
              <a:p>
                <a:pPr marL="342900" indent="-342900">
                  <a:buFont typeface="Arial" panose="020B0604020202020204" pitchFamily="34" charset="0"/>
                  <a:buChar char="•"/>
                </a:pPr>
                <a:endParaRPr lang="zh-CN" altLang="en-US" sz="2400">
                  <a:latin typeface="楷体" panose="02010609060101010101" pitchFamily="49" charset="-122"/>
                  <a:ea typeface="楷体" panose="02010609060101010101" pitchFamily="49" charset="-122"/>
                  <a:cs typeface="楷体" panose="02010609060101010101" pitchFamily="49" charset="-122"/>
                </a:endParaRPr>
              </a:p>
              <a:p>
                <a:pPr marL="342900" indent="-342900">
                  <a:buFont typeface="Arial" panose="020B0604020202020204" pitchFamily="34" charset="0"/>
                  <a:buChar char="•"/>
                </a:pPr>
                <a:r>
                  <a:rPr lang="zh-CN" altLang="en-US" sz="2000">
                    <a:latin typeface="楷体" panose="02010609060101010101" pitchFamily="49" charset="-122"/>
                    <a:ea typeface="楷体" panose="02010609060101010101" pitchFamily="49" charset="-122"/>
                    <a:cs typeface="楷体" panose="02010609060101010101" pitchFamily="49" charset="-122"/>
                  </a:rPr>
                  <a:t>一个问题形式中实际包含两个独立的问题，容易导致回答混淆或不完整。</a:t>
                </a:r>
              </a:p>
              <a:p>
                <a:pPr marL="342900" indent="-342900">
                  <a:buFont typeface="Arial" panose="020B0604020202020204" pitchFamily="34" charset="0"/>
                  <a:buChar char="•"/>
                </a:pPr>
                <a:r>
                  <a:rPr lang="zh-CN" altLang="en-US" sz="2000">
                    <a:latin typeface="楷体" panose="02010609060101010101" pitchFamily="49" charset="-122"/>
                    <a:ea typeface="楷体" panose="02010609060101010101" pitchFamily="49" charset="-122"/>
                    <a:cs typeface="楷体" panose="02010609060101010101" pitchFamily="49" charset="-122"/>
                  </a:rPr>
                  <a:t>示例：</a:t>
                </a:r>
                <a:r>
                  <a:rPr lang="en-US" altLang="zh-CN" sz="2000">
                    <a:latin typeface="楷体" panose="02010609060101010101" pitchFamily="49" charset="-122"/>
                    <a:ea typeface="楷体" panose="02010609060101010101" pitchFamily="49" charset="-122"/>
                    <a:cs typeface="楷体" panose="02010609060101010101" pitchFamily="49" charset="-122"/>
                  </a:rPr>
                  <a:t>“</a:t>
                </a:r>
                <a:r>
                  <a:rPr lang="zh-CN" altLang="en-US" sz="2000">
                    <a:latin typeface="楷体" panose="02010609060101010101" pitchFamily="49" charset="-122"/>
                    <a:ea typeface="楷体" panose="02010609060101010101" pitchFamily="49" charset="-122"/>
                    <a:cs typeface="楷体" panose="02010609060101010101" pitchFamily="49" charset="-122"/>
                  </a:rPr>
                  <a:t>每天你通常会做什么决策，你是怎样决定的？</a:t>
                </a:r>
                <a:r>
                  <a:rPr lang="en-US" altLang="zh-CN" sz="2000">
                    <a:latin typeface="楷体" panose="02010609060101010101" pitchFamily="49" charset="-122"/>
                    <a:ea typeface="楷体" panose="02010609060101010101" pitchFamily="49" charset="-122"/>
                    <a:cs typeface="楷体" panose="02010609060101010101" pitchFamily="49" charset="-122"/>
                  </a:rPr>
                  <a:t>”</a:t>
                </a:r>
                <a:endParaRPr lang="zh-CN" altLang="en-US" sz="2000">
                  <a:latin typeface="楷体" panose="02010609060101010101" pitchFamily="49" charset="-122"/>
                  <a:ea typeface="楷体" panose="02010609060101010101" pitchFamily="49" charset="-122"/>
                  <a:cs typeface="楷体" panose="02010609060101010101" pitchFamily="49" charset="-122"/>
                </a:endParaRPr>
              </a:p>
              <a:p>
                <a:pPr marL="342900" indent="-342900">
                  <a:buFont typeface="Arial" panose="020B0604020202020204" pitchFamily="34" charset="0"/>
                  <a:buChar char="•"/>
                </a:pPr>
                <a:r>
                  <a:rPr lang="zh-CN" altLang="en-US" sz="2000">
                    <a:latin typeface="楷体" panose="02010609060101010101" pitchFamily="49" charset="-122"/>
                    <a:ea typeface="楷体" panose="02010609060101010101" pitchFamily="49" charset="-122"/>
                    <a:cs typeface="楷体" panose="02010609060101010101" pitchFamily="49" charset="-122"/>
                  </a:rPr>
                  <a:t>应避免双筒问题，确保每个问题独立清晰，避免混淆回答。</a:t>
                </a:r>
              </a:p>
            </p:txBody>
          </p:sp>
          <p:sp>
            <p:nvSpPr>
              <p:cNvPr id="5" name="圆角矩形 4"/>
              <p:cNvSpPr/>
              <p:nvPr/>
            </p:nvSpPr>
            <p:spPr>
              <a:xfrm>
                <a:off x="990" y="4611"/>
                <a:ext cx="2881" cy="1040"/>
              </a:xfrm>
              <a:prstGeom prst="round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400">
                    <a:solidFill>
                      <a:schemeClr val="tx1"/>
                    </a:solidFill>
                    <a:latin typeface="楷体" panose="02010609060101010101" pitchFamily="49" charset="-122"/>
                    <a:ea typeface="楷体" panose="02010609060101010101" pitchFamily="49" charset="-122"/>
                  </a:rPr>
                  <a:t>双筒问题</a:t>
                </a:r>
              </a:p>
            </p:txBody>
          </p:sp>
        </p:grpSp>
        <p:pic>
          <p:nvPicPr>
            <p:cNvPr id="2" name="图片 1" descr="双筒问题"/>
            <p:cNvPicPr>
              <a:picLocks noChangeAspect="1"/>
            </p:cNvPicPr>
            <p:nvPr/>
          </p:nvPicPr>
          <p:blipFill>
            <a:blip r:embed="rId2"/>
            <a:stretch>
              <a:fillRect/>
            </a:stretch>
          </p:blipFill>
          <p:spPr>
            <a:xfrm>
              <a:off x="11588" y="2427"/>
              <a:ext cx="1977" cy="1977"/>
            </a:xfrm>
            <a:prstGeom prst="rect">
              <a:avLst/>
            </a:prstGeom>
          </p:spPr>
        </p:pic>
      </p:grpSp>
      <p:grpSp>
        <p:nvGrpSpPr>
          <p:cNvPr id="12" name="组合 11"/>
          <p:cNvGrpSpPr/>
          <p:nvPr/>
        </p:nvGrpSpPr>
        <p:grpSpPr>
          <a:xfrm>
            <a:off x="628650" y="3595370"/>
            <a:ext cx="7984490" cy="2284730"/>
            <a:chOff x="990" y="5662"/>
            <a:chExt cx="12574" cy="3598"/>
          </a:xfrm>
        </p:grpSpPr>
        <p:grpSp>
          <p:nvGrpSpPr>
            <p:cNvPr id="3" name="组合 2"/>
            <p:cNvGrpSpPr/>
            <p:nvPr/>
          </p:nvGrpSpPr>
          <p:grpSpPr>
            <a:xfrm>
              <a:off x="990" y="5662"/>
              <a:ext cx="10437" cy="3598"/>
              <a:chOff x="990" y="4611"/>
              <a:chExt cx="10611" cy="3598"/>
            </a:xfrm>
          </p:grpSpPr>
          <p:sp>
            <p:nvSpPr>
              <p:cNvPr id="8" name="文本框 7"/>
              <p:cNvSpPr txBox="1"/>
              <p:nvPr/>
            </p:nvSpPr>
            <p:spPr>
              <a:xfrm>
                <a:off x="1327" y="5157"/>
                <a:ext cx="10274" cy="3052"/>
              </a:xfrm>
              <a:prstGeom prst="rect">
                <a:avLst/>
              </a:prstGeom>
              <a:noFill/>
              <a:ln>
                <a:solidFill>
                  <a:schemeClr val="accent1"/>
                </a:solidFill>
              </a:ln>
            </p:spPr>
            <p:txBody>
              <a:bodyPr wrap="square" rtlCol="0">
                <a:spAutoFit/>
              </a:bodyPr>
              <a:lstStyle/>
              <a:p>
                <a:pPr marL="342900" indent="-342900">
                  <a:buFont typeface="Arial" panose="020B0604020202020204" pitchFamily="34" charset="0"/>
                  <a:buChar char="•"/>
                </a:pPr>
                <a:endParaRPr lang="zh-CN" altLang="en-US" sz="2000">
                  <a:latin typeface="楷体" panose="02010609060101010101" pitchFamily="49" charset="-122"/>
                  <a:ea typeface="楷体" panose="02010609060101010101" pitchFamily="49" charset="-122"/>
                  <a:cs typeface="楷体" panose="02010609060101010101" pitchFamily="49" charset="-122"/>
                </a:endParaRPr>
              </a:p>
              <a:p>
                <a:pPr marL="342900" indent="-342900">
                  <a:buFont typeface="Arial" panose="020B0604020202020204" pitchFamily="34" charset="0"/>
                  <a:buChar char="•"/>
                </a:pPr>
                <a:r>
                  <a:rPr lang="zh-CN" altLang="en-US" sz="2000">
                    <a:latin typeface="楷体" panose="02010609060101010101" pitchFamily="49" charset="-122"/>
                    <a:ea typeface="楷体" panose="02010609060101010101" pitchFamily="49" charset="-122"/>
                    <a:cs typeface="楷体" panose="02010609060101010101" pitchFamily="49" charset="-122"/>
                  </a:rPr>
                  <a:t>关于面谈本身的问题，更好地组织和控制面谈过程。</a:t>
                </a:r>
              </a:p>
              <a:p>
                <a:pPr marL="342900" indent="-342900">
                  <a:buFont typeface="Arial" panose="020B0604020202020204" pitchFamily="34" charset="0"/>
                  <a:buChar char="•"/>
                </a:pPr>
                <a:r>
                  <a:rPr lang="zh-CN" altLang="en-US" sz="2000">
                    <a:latin typeface="楷体" panose="02010609060101010101" pitchFamily="49" charset="-122"/>
                    <a:ea typeface="楷体" panose="02010609060101010101" pitchFamily="49" charset="-122"/>
                    <a:cs typeface="楷体" panose="02010609060101010101" pitchFamily="49" charset="-122"/>
                  </a:rPr>
                  <a:t>示例：</a:t>
                </a:r>
                <a:r>
                  <a:rPr lang="en-US" altLang="zh-CN" sz="2000">
                    <a:latin typeface="楷体" panose="02010609060101010101" pitchFamily="49" charset="-122"/>
                    <a:ea typeface="楷体" panose="02010609060101010101" pitchFamily="49" charset="-122"/>
                    <a:cs typeface="楷体" panose="02010609060101010101" pitchFamily="49" charset="-122"/>
                  </a:rPr>
                  <a:t>“</a:t>
                </a:r>
                <a:r>
                  <a:rPr lang="zh-CN" altLang="en-US" sz="2000">
                    <a:latin typeface="楷体" panose="02010609060101010101" pitchFamily="49" charset="-122"/>
                    <a:ea typeface="楷体" panose="02010609060101010101" pitchFamily="49" charset="-122"/>
                    <a:cs typeface="楷体" panose="02010609060101010101" pitchFamily="49" charset="-122"/>
                  </a:rPr>
                  <a:t>我问的问题看起来相关吗？</a:t>
                </a:r>
                <a:r>
                  <a:rPr lang="en-US" altLang="zh-CN" sz="2000">
                    <a:latin typeface="楷体" panose="02010609060101010101" pitchFamily="49" charset="-122"/>
                    <a:ea typeface="楷体" panose="02010609060101010101" pitchFamily="49" charset="-122"/>
                    <a:cs typeface="楷体" panose="02010609060101010101" pitchFamily="49" charset="-122"/>
                  </a:rPr>
                  <a:t>”</a:t>
                </a:r>
                <a:r>
                  <a:rPr lang="zh-CN" altLang="en-US" sz="2000">
                    <a:latin typeface="楷体" panose="02010609060101010101" pitchFamily="49" charset="-122"/>
                    <a:ea typeface="楷体" panose="02010609060101010101" pitchFamily="49" charset="-122"/>
                    <a:cs typeface="楷体" panose="02010609060101010101" pitchFamily="49" charset="-122"/>
                  </a:rPr>
                  <a:t>、</a:t>
                </a:r>
                <a:r>
                  <a:rPr lang="en-US" altLang="zh-CN" sz="2000">
                    <a:latin typeface="楷体" panose="02010609060101010101" pitchFamily="49" charset="-122"/>
                    <a:ea typeface="楷体" panose="02010609060101010101" pitchFamily="49" charset="-122"/>
                    <a:cs typeface="楷体" panose="02010609060101010101" pitchFamily="49" charset="-122"/>
                  </a:rPr>
                  <a:t>“</a:t>
                </a:r>
                <a:r>
                  <a:rPr lang="zh-CN" altLang="en-US" sz="2000">
                    <a:latin typeface="楷体" panose="02010609060101010101" pitchFamily="49" charset="-122"/>
                    <a:ea typeface="楷体" panose="02010609060101010101" pitchFamily="49" charset="-122"/>
                    <a:cs typeface="楷体" panose="02010609060101010101" pitchFamily="49" charset="-122"/>
                  </a:rPr>
                  <a:t>你的回答正式吗？</a:t>
                </a:r>
                <a:r>
                  <a:rPr lang="en-US" altLang="zh-CN" sz="2000">
                    <a:latin typeface="楷体" panose="02010609060101010101" pitchFamily="49" charset="-122"/>
                    <a:ea typeface="楷体" panose="02010609060101010101" pitchFamily="49" charset="-122"/>
                    <a:cs typeface="楷体" panose="02010609060101010101" pitchFamily="49" charset="-122"/>
                  </a:rPr>
                  <a:t>”</a:t>
                </a:r>
                <a:r>
                  <a:rPr lang="zh-CN" altLang="en-US" sz="2000">
                    <a:latin typeface="楷体" panose="02010609060101010101" pitchFamily="49" charset="-122"/>
                    <a:ea typeface="楷体" panose="02010609060101010101" pitchFamily="49" charset="-122"/>
                    <a:cs typeface="楷体" panose="02010609060101010101" pitchFamily="49" charset="-122"/>
                  </a:rPr>
                  <a:t>、</a:t>
                </a:r>
                <a:r>
                  <a:rPr lang="en-US" altLang="zh-CN" sz="2000">
                    <a:latin typeface="楷体" panose="02010609060101010101" pitchFamily="49" charset="-122"/>
                    <a:ea typeface="楷体" panose="02010609060101010101" pitchFamily="49" charset="-122"/>
                    <a:cs typeface="楷体" panose="02010609060101010101" pitchFamily="49" charset="-122"/>
                  </a:rPr>
                  <a:t>“</a:t>
                </a:r>
                <a:r>
                  <a:rPr lang="zh-CN" altLang="en-US" sz="2000">
                    <a:latin typeface="楷体" panose="02010609060101010101" pitchFamily="49" charset="-122"/>
                    <a:ea typeface="楷体" panose="02010609060101010101" pitchFamily="49" charset="-122"/>
                    <a:cs typeface="楷体" panose="02010609060101010101" pitchFamily="49" charset="-122"/>
                  </a:rPr>
                  <a:t>我问得太多了吗？</a:t>
                </a:r>
                <a:r>
                  <a:rPr lang="en-US" altLang="zh-CN" sz="2000">
                    <a:latin typeface="楷体" panose="02010609060101010101" pitchFamily="49" charset="-122"/>
                    <a:ea typeface="楷体" panose="02010609060101010101" pitchFamily="49" charset="-122"/>
                    <a:cs typeface="楷体" panose="02010609060101010101" pitchFamily="49" charset="-122"/>
                  </a:rPr>
                  <a:t>”</a:t>
                </a:r>
                <a:r>
                  <a:rPr lang="zh-CN" altLang="en-US" sz="2000">
                    <a:latin typeface="楷体" panose="02010609060101010101" pitchFamily="49" charset="-122"/>
                    <a:ea typeface="楷体" panose="02010609060101010101" pitchFamily="49" charset="-122"/>
                    <a:cs typeface="楷体" panose="02010609060101010101" pitchFamily="49" charset="-122"/>
                  </a:rPr>
                  <a:t>。</a:t>
                </a:r>
              </a:p>
              <a:p>
                <a:pPr marL="342900" indent="-342900">
                  <a:buFont typeface="Arial" panose="020B0604020202020204" pitchFamily="34" charset="0"/>
                  <a:buChar char="•"/>
                </a:pPr>
                <a:r>
                  <a:rPr lang="zh-CN" altLang="en-US" sz="2000">
                    <a:latin typeface="楷体" panose="02010609060101010101" pitchFamily="49" charset="-122"/>
                    <a:ea typeface="楷体" panose="02010609060101010101" pitchFamily="49" charset="-122"/>
                    <a:cs typeface="楷体" panose="02010609060101010101" pitchFamily="49" charset="-122"/>
                  </a:rPr>
                  <a:t>适时提出元问题有助于面谈者反思并调整提问方式，提高面谈效率和有效性。</a:t>
                </a:r>
              </a:p>
            </p:txBody>
          </p:sp>
          <p:sp>
            <p:nvSpPr>
              <p:cNvPr id="9" name="圆角矩形 8"/>
              <p:cNvSpPr/>
              <p:nvPr/>
            </p:nvSpPr>
            <p:spPr>
              <a:xfrm>
                <a:off x="990" y="4611"/>
                <a:ext cx="2881" cy="1040"/>
              </a:xfrm>
              <a:prstGeom prst="round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400">
                    <a:solidFill>
                      <a:schemeClr val="tx1"/>
                    </a:solidFill>
                    <a:latin typeface="楷体" panose="02010609060101010101" pitchFamily="49" charset="-122"/>
                    <a:ea typeface="楷体" panose="02010609060101010101" pitchFamily="49" charset="-122"/>
                  </a:rPr>
                  <a:t>元问题</a:t>
                </a:r>
              </a:p>
            </p:txBody>
          </p:sp>
        </p:grpSp>
        <p:pic>
          <p:nvPicPr>
            <p:cNvPr id="11" name="图片 10" descr="放大镜"/>
            <p:cNvPicPr>
              <a:picLocks noChangeAspect="1"/>
            </p:cNvPicPr>
            <p:nvPr/>
          </p:nvPicPr>
          <p:blipFill>
            <a:blip r:embed="rId3"/>
            <a:stretch>
              <a:fillRect/>
            </a:stretch>
          </p:blipFill>
          <p:spPr>
            <a:xfrm>
              <a:off x="11604" y="6702"/>
              <a:ext cx="1961" cy="1961"/>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面谈过程</a:t>
            </a:r>
          </a:p>
        </p:txBody>
      </p:sp>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面谈</a:t>
            </a:r>
          </a:p>
        </p:txBody>
      </p:sp>
      <p:grpSp>
        <p:nvGrpSpPr>
          <p:cNvPr id="5" name="组合 4"/>
          <p:cNvGrpSpPr/>
          <p:nvPr/>
        </p:nvGrpSpPr>
        <p:grpSpPr>
          <a:xfrm>
            <a:off x="1116965" y="1545590"/>
            <a:ext cx="6715760" cy="1398270"/>
            <a:chOff x="1759" y="2434"/>
            <a:chExt cx="10576" cy="2202"/>
          </a:xfrm>
        </p:grpSpPr>
        <p:pic>
          <p:nvPicPr>
            <p:cNvPr id="3" name="图片 2"/>
            <p:cNvPicPr>
              <a:picLocks noChangeAspect="1"/>
            </p:cNvPicPr>
            <p:nvPr/>
          </p:nvPicPr>
          <p:blipFill>
            <a:blip r:embed="rId2"/>
            <a:stretch>
              <a:fillRect/>
            </a:stretch>
          </p:blipFill>
          <p:spPr>
            <a:xfrm>
              <a:off x="1759" y="2434"/>
              <a:ext cx="10577" cy="1517"/>
            </a:xfrm>
            <a:prstGeom prst="rect">
              <a:avLst/>
            </a:prstGeom>
          </p:spPr>
        </p:pic>
        <p:sp>
          <p:nvSpPr>
            <p:cNvPr id="4" name="文本框 3"/>
            <p:cNvSpPr txBox="1"/>
            <p:nvPr/>
          </p:nvSpPr>
          <p:spPr>
            <a:xfrm>
              <a:off x="3827" y="4056"/>
              <a:ext cx="6034" cy="580"/>
            </a:xfrm>
            <a:prstGeom prst="rect">
              <a:avLst/>
            </a:prstGeom>
            <a:noFill/>
          </p:spPr>
          <p:txBody>
            <a:bodyPr wrap="square" rtlCol="0">
              <a:spAutoFit/>
            </a:bodyPr>
            <a:lstStyle/>
            <a:p>
              <a:r>
                <a:rPr lang="en-US" altLang="zh-CN">
                  <a:latin typeface="楷体" panose="02010609060101010101" pitchFamily="49" charset="-122"/>
                  <a:ea typeface="楷体" panose="02010609060101010101" pitchFamily="49" charset="-122"/>
                  <a:cs typeface="楷体" panose="02010609060101010101" pitchFamily="49" charset="-122"/>
                </a:rPr>
                <a:t>    </a:t>
              </a:r>
              <a:r>
                <a:rPr lang="zh-CN" altLang="en-US">
                  <a:latin typeface="楷体" panose="02010609060101010101" pitchFamily="49" charset="-122"/>
                  <a:ea typeface="楷体" panose="02010609060101010101" pitchFamily="49" charset="-122"/>
                  <a:cs typeface="楷体" panose="02010609060101010101" pitchFamily="49" charset="-122"/>
                </a:rPr>
                <a:t>图</a:t>
              </a:r>
              <a:r>
                <a:rPr lang="en-US" altLang="zh-CN">
                  <a:latin typeface="楷体" panose="02010609060101010101" pitchFamily="49" charset="-122"/>
                  <a:ea typeface="楷体" panose="02010609060101010101" pitchFamily="49" charset="-122"/>
                  <a:cs typeface="楷体" panose="02010609060101010101" pitchFamily="49" charset="-122"/>
                </a:rPr>
                <a:t>10-2 </a:t>
              </a:r>
              <a:r>
                <a:rPr lang="zh-CN" altLang="en-US">
                  <a:latin typeface="楷体" panose="02010609060101010101" pitchFamily="49" charset="-122"/>
                  <a:ea typeface="楷体" panose="02010609060101010101" pitchFamily="49" charset="-122"/>
                  <a:cs typeface="楷体" panose="02010609060101010101" pitchFamily="49" charset="-122"/>
                </a:rPr>
                <a:t>面谈的基本过程</a:t>
              </a:r>
            </a:p>
          </p:txBody>
        </p:sp>
      </p:grpSp>
      <p:sp>
        <p:nvSpPr>
          <p:cNvPr id="9" name="文本框 8"/>
          <p:cNvSpPr txBox="1"/>
          <p:nvPr/>
        </p:nvSpPr>
        <p:spPr>
          <a:xfrm>
            <a:off x="706120" y="3010535"/>
            <a:ext cx="6713855" cy="521970"/>
          </a:xfrm>
          <a:prstGeom prst="rect">
            <a:avLst/>
          </a:prstGeom>
          <a:noFill/>
        </p:spPr>
        <p:txBody>
          <a:bodyPr wrap="square" rtlCol="0">
            <a:spAutoFit/>
          </a:bodyPr>
          <a:lstStyle/>
          <a:p>
            <a:pPr marL="457200" indent="-457200">
              <a:buFont typeface="Wingdings" panose="05000000000000000000" charset="0"/>
              <a:buChar char="Ø"/>
            </a:pPr>
            <a:r>
              <a:rPr lang="zh-CN" altLang="en-US" sz="2800" b="1">
                <a:latin typeface="楷体" panose="02010609060101010101" pitchFamily="49" charset="-122"/>
                <a:ea typeface="楷体" panose="02010609060101010101" pitchFamily="49" charset="-122"/>
              </a:rPr>
              <a:t>准备面谈</a:t>
            </a:r>
          </a:p>
        </p:txBody>
      </p:sp>
      <p:grpSp>
        <p:nvGrpSpPr>
          <p:cNvPr id="13" name="组合 12"/>
          <p:cNvGrpSpPr/>
          <p:nvPr/>
        </p:nvGrpSpPr>
        <p:grpSpPr>
          <a:xfrm>
            <a:off x="1271270" y="3599180"/>
            <a:ext cx="6149975" cy="2465070"/>
            <a:chOff x="2002" y="5668"/>
            <a:chExt cx="9685" cy="3882"/>
          </a:xfrm>
        </p:grpSpPr>
        <p:sp>
          <p:nvSpPr>
            <p:cNvPr id="10" name="文本框 9"/>
            <p:cNvSpPr txBox="1"/>
            <p:nvPr/>
          </p:nvSpPr>
          <p:spPr>
            <a:xfrm>
              <a:off x="2002" y="5668"/>
              <a:ext cx="9685" cy="725"/>
            </a:xfrm>
            <a:prstGeom prst="rect">
              <a:avLst/>
            </a:prstGeom>
            <a:noFill/>
            <a:ln>
              <a:solidFill>
                <a:schemeClr val="accent1"/>
              </a:solidFill>
            </a:ln>
          </p:spPr>
          <p:txBody>
            <a:bodyPr wrap="square" rtlCol="0">
              <a:spAutoFit/>
            </a:bodyPr>
            <a:lstStyle/>
            <a:p>
              <a:r>
                <a:rPr lang="zh-CN" altLang="en-US" sz="2400">
                  <a:latin typeface="楷体" panose="02010609060101010101" pitchFamily="49" charset="-122"/>
                  <a:ea typeface="楷体" panose="02010609060101010101" pitchFamily="49" charset="-122"/>
                </a:rPr>
                <a:t>面谈准备的主要工作包括：</a:t>
              </a:r>
            </a:p>
          </p:txBody>
        </p:sp>
        <p:sp>
          <p:nvSpPr>
            <p:cNvPr id="11" name="文本框 10"/>
            <p:cNvSpPr txBox="1"/>
            <p:nvPr/>
          </p:nvSpPr>
          <p:spPr>
            <a:xfrm>
              <a:off x="2003" y="6392"/>
              <a:ext cx="9684" cy="3158"/>
            </a:xfrm>
            <a:prstGeom prst="rect">
              <a:avLst/>
            </a:prstGeom>
            <a:noFill/>
            <a:ln>
              <a:solidFill>
                <a:schemeClr val="accent1"/>
              </a:solidFill>
            </a:ln>
          </p:spPr>
          <p:txBody>
            <a:bodyPr wrap="square" rtlCol="0">
              <a:noAutofit/>
            </a:bodyPr>
            <a:lstStyle/>
            <a:p>
              <a:pPr marL="342900" indent="-342900">
                <a:buFont typeface="Arial" panose="020B0604020202020204" pitchFamily="34" charset="0"/>
                <a:buChar char="•"/>
              </a:pPr>
              <a:r>
                <a:rPr lang="zh-CN" altLang="en-US" sz="2400">
                  <a:latin typeface="楷体" panose="02010609060101010101" pitchFamily="49" charset="-122"/>
                  <a:ea typeface="楷体" panose="02010609060101010101" pitchFamily="49" charset="-122"/>
                </a:rPr>
                <a:t>阅读背景资料</a:t>
              </a:r>
            </a:p>
            <a:p>
              <a:pPr marL="342900" indent="-342900">
                <a:buFont typeface="Arial" panose="020B0604020202020204" pitchFamily="34" charset="0"/>
                <a:buChar char="•"/>
              </a:pPr>
              <a:r>
                <a:rPr lang="zh-CN" altLang="en-US" sz="2400">
                  <a:latin typeface="楷体" panose="02010609060101010101" pitchFamily="49" charset="-122"/>
                  <a:ea typeface="楷体" panose="02010609060101010101" pitchFamily="49" charset="-122"/>
                </a:rPr>
                <a:t>确定面谈的主题和目标</a:t>
              </a:r>
            </a:p>
            <a:p>
              <a:pPr marL="342900" indent="-342900">
                <a:buFont typeface="Arial" panose="020B0604020202020204" pitchFamily="34" charset="0"/>
                <a:buChar char="•"/>
              </a:pPr>
              <a:r>
                <a:rPr lang="zh-CN" altLang="en-US" sz="2400">
                  <a:latin typeface="楷体" panose="02010609060101010101" pitchFamily="49" charset="-122"/>
                  <a:ea typeface="楷体" panose="02010609060101010101" pitchFamily="49" charset="-122"/>
                </a:rPr>
                <a:t>选择被会见者</a:t>
              </a:r>
            </a:p>
            <a:p>
              <a:pPr marL="342900" indent="-342900">
                <a:buFont typeface="Arial" panose="020B0604020202020204" pitchFamily="34" charset="0"/>
                <a:buChar char="•"/>
              </a:pPr>
              <a:r>
                <a:rPr lang="zh-CN" altLang="en-US" sz="2400">
                  <a:latin typeface="楷体" panose="02010609060101010101" pitchFamily="49" charset="-122"/>
                  <a:ea typeface="楷体" panose="02010609060101010101" pitchFamily="49" charset="-122"/>
                </a:rPr>
                <a:t>准备被会见者</a:t>
              </a:r>
            </a:p>
            <a:p>
              <a:pPr marL="342900" indent="-342900">
                <a:buFont typeface="Arial" panose="020B0604020202020204" pitchFamily="34" charset="0"/>
                <a:buChar char="•"/>
              </a:pPr>
              <a:r>
                <a:rPr lang="zh-CN" altLang="en-US" sz="2400">
                  <a:latin typeface="楷体" panose="02010609060101010101" pitchFamily="49" charset="-122"/>
                  <a:ea typeface="楷体" panose="02010609060101010101" pitchFamily="49" charset="-122"/>
                </a:rPr>
                <a:t>确定任务和类型</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面谈</a:t>
            </a:r>
          </a:p>
        </p:txBody>
      </p:sp>
      <p:pic>
        <p:nvPicPr>
          <p:cNvPr id="4" name="图片 3"/>
          <p:cNvPicPr/>
          <p:nvPr/>
        </p:nvPicPr>
        <p:blipFill>
          <a:blip r:embed="rId3"/>
          <a:stretch>
            <a:fillRect/>
          </a:stretch>
        </p:blipFill>
        <p:spPr>
          <a:xfrm>
            <a:off x="8515350" y="6026150"/>
            <a:ext cx="628650" cy="407035"/>
          </a:xfrm>
          <a:prstGeom prst="rect">
            <a:avLst/>
          </a:prstGeom>
        </p:spPr>
      </p:pic>
      <p:sp>
        <p:nvSpPr>
          <p:cNvPr id="5" name="文本框 4"/>
          <p:cNvSpPr txBox="1"/>
          <p:nvPr/>
        </p:nvSpPr>
        <p:spPr>
          <a:xfrm>
            <a:off x="629920" y="689610"/>
            <a:ext cx="7886700" cy="1014730"/>
          </a:xfrm>
          <a:prstGeom prst="rect">
            <a:avLst/>
          </a:prstGeom>
          <a:noFill/>
          <a:ln>
            <a:solidFill>
              <a:schemeClr val="accent1"/>
            </a:solidFill>
          </a:ln>
        </p:spPr>
        <p:txBody>
          <a:bodyPr wrap="square" rtlCol="0">
            <a:spAutoFit/>
          </a:bodyPr>
          <a:lstStyle/>
          <a:p>
            <a:pPr indent="457200"/>
            <a:r>
              <a:rPr kumimoji="1" lang="zh-CN" altLang="en-US" sz="2000" dirty="0">
                <a:latin typeface="楷体" panose="02010609060101010101" pitchFamily="49" charset="-122"/>
                <a:ea typeface="楷体" panose="02010609060101010101" pitchFamily="49" charset="-122"/>
                <a:sym typeface="+mn-ea"/>
              </a:rPr>
              <a:t>在需求工程的后期阶段，获取的主题通常是非常细节的，所以问题的准备也应该比较细节，以封闭式问题为主。以用友为千金药业进行数字化转型销售场景为例：</a:t>
            </a:r>
          </a:p>
        </p:txBody>
      </p:sp>
      <p:graphicFrame>
        <p:nvGraphicFramePr>
          <p:cNvPr id="8" name="表格 7"/>
          <p:cNvGraphicFramePr/>
          <p:nvPr>
            <p:custDataLst>
              <p:tags r:id="rId1"/>
            </p:custDataLst>
          </p:nvPr>
        </p:nvGraphicFramePr>
        <p:xfrm>
          <a:off x="628650" y="1859280"/>
          <a:ext cx="7887970" cy="4422775"/>
        </p:xfrm>
        <a:graphic>
          <a:graphicData uri="http://schemas.openxmlformats.org/drawingml/2006/table">
            <a:tbl>
              <a:tblPr firstRow="1" bandRow="1">
                <a:tableStyleId>{5C22544A-7EE6-4342-B048-85BDC9FD1C3A}</a:tableStyleId>
              </a:tblPr>
              <a:tblGrid>
                <a:gridCol w="3820160">
                  <a:extLst>
                    <a:ext uri="{9D8B030D-6E8A-4147-A177-3AD203B41FA5}">
                      <a16:colId xmlns:a16="http://schemas.microsoft.com/office/drawing/2014/main" val="20000"/>
                    </a:ext>
                  </a:extLst>
                </a:gridCol>
                <a:gridCol w="4067810">
                  <a:extLst>
                    <a:ext uri="{9D8B030D-6E8A-4147-A177-3AD203B41FA5}">
                      <a16:colId xmlns:a16="http://schemas.microsoft.com/office/drawing/2014/main" val="20001"/>
                    </a:ext>
                  </a:extLst>
                </a:gridCol>
              </a:tblGrid>
              <a:tr h="368935">
                <a:tc>
                  <a:txBody>
                    <a:bodyPr/>
                    <a:lstStyle/>
                    <a:p>
                      <a:pPr algn="ctr">
                        <a:buNone/>
                      </a:pPr>
                      <a:r>
                        <a:rPr lang="zh-CN" altLang="en-US" sz="1600">
                          <a:latin typeface="楷体" panose="02010609060101010101" pitchFamily="49" charset="-122"/>
                          <a:ea typeface="楷体" panose="02010609060101010101" pitchFamily="49" charset="-122"/>
                          <a:cs typeface="楷体" panose="02010609060101010101" pitchFamily="49" charset="-122"/>
                        </a:rPr>
                        <a:t>场景</a:t>
                      </a:r>
                      <a:r>
                        <a:rPr lang="en-US" altLang="zh-CN" sz="1600">
                          <a:latin typeface="楷体" panose="02010609060101010101" pitchFamily="49" charset="-122"/>
                          <a:ea typeface="楷体" panose="02010609060101010101" pitchFamily="49" charset="-122"/>
                          <a:cs typeface="楷体" panose="02010609060101010101" pitchFamily="49" charset="-122"/>
                        </a:rPr>
                        <a:t>/</a:t>
                      </a:r>
                      <a:r>
                        <a:rPr lang="zh-CN" altLang="en-US" sz="1600">
                          <a:latin typeface="楷体" panose="02010609060101010101" pitchFamily="49" charset="-122"/>
                          <a:ea typeface="楷体" panose="02010609060101010101" pitchFamily="49" charset="-122"/>
                          <a:cs typeface="楷体" panose="02010609060101010101" pitchFamily="49" charset="-122"/>
                        </a:rPr>
                        <a:t>用例描述</a:t>
                      </a:r>
                    </a:p>
                  </a:txBody>
                  <a:tcPr/>
                </a:tc>
                <a:tc>
                  <a:txBody>
                    <a:bodyPr/>
                    <a:lstStyle/>
                    <a:p>
                      <a:pPr algn="ctr">
                        <a:buNone/>
                      </a:pPr>
                      <a:r>
                        <a:rPr lang="zh-CN" altLang="en-US" sz="1600">
                          <a:latin typeface="楷体" panose="02010609060101010101" pitchFamily="49" charset="-122"/>
                          <a:ea typeface="楷体" panose="02010609060101010101" pitchFamily="49" charset="-122"/>
                        </a:rPr>
                        <a:t>问题</a:t>
                      </a:r>
                    </a:p>
                  </a:txBody>
                  <a:tcPr/>
                </a:tc>
                <a:extLst>
                  <a:ext uri="{0D108BD9-81ED-4DB2-BD59-A6C34878D82A}">
                    <a16:rowId xmlns:a16="http://schemas.microsoft.com/office/drawing/2014/main" val="10000"/>
                  </a:ext>
                </a:extLst>
              </a:tr>
              <a:tr h="483870">
                <a:tc>
                  <a:txBody>
                    <a:bodyPr/>
                    <a:lstStyle/>
                    <a:p>
                      <a:pPr algn="l">
                        <a:buNone/>
                      </a:pPr>
                      <a:r>
                        <a:rPr lang="en-US" altLang="zh-CN" sz="1600">
                          <a:latin typeface="楷体" panose="02010609060101010101" pitchFamily="49" charset="-122"/>
                          <a:ea typeface="楷体" panose="02010609060101010101" pitchFamily="49" charset="-122"/>
                        </a:rPr>
                        <a:t>1.</a:t>
                      </a:r>
                      <a:r>
                        <a:rPr lang="zh-CN" altLang="en-US" sz="1600">
                          <a:latin typeface="楷体" panose="02010609060101010101" pitchFamily="49" charset="-122"/>
                          <a:ea typeface="楷体" panose="02010609060101010101" pitchFamily="49" charset="-122"/>
                        </a:rPr>
                        <a:t>销售人员登录系统，选择</a:t>
                      </a:r>
                      <a:r>
                        <a:rPr lang="en-US" altLang="zh-CN" sz="1600">
                          <a:latin typeface="楷体" panose="02010609060101010101" pitchFamily="49" charset="-122"/>
                          <a:ea typeface="楷体" panose="02010609060101010101" pitchFamily="49" charset="-122"/>
                        </a:rPr>
                        <a:t>“</a:t>
                      </a:r>
                      <a:r>
                        <a:rPr lang="zh-CN" altLang="en-US" sz="1600">
                          <a:latin typeface="楷体" panose="02010609060101010101" pitchFamily="49" charset="-122"/>
                          <a:ea typeface="楷体" panose="02010609060101010101" pitchFamily="49" charset="-122"/>
                        </a:rPr>
                        <a:t>创建订单</a:t>
                      </a:r>
                      <a:r>
                        <a:rPr lang="en-US" altLang="zh-CN" sz="1600">
                          <a:latin typeface="楷体" panose="02010609060101010101" pitchFamily="49" charset="-122"/>
                          <a:ea typeface="楷体" panose="02010609060101010101" pitchFamily="49" charset="-122"/>
                        </a:rPr>
                        <a:t>”</a:t>
                      </a:r>
                      <a:r>
                        <a:rPr lang="zh-CN" altLang="en-US" sz="1600">
                          <a:latin typeface="楷体" panose="02010609060101010101" pitchFamily="49" charset="-122"/>
                          <a:ea typeface="楷体" panose="02010609060101010101" pitchFamily="49" charset="-122"/>
                        </a:rPr>
                        <a:t>功能。</a:t>
                      </a:r>
                    </a:p>
                  </a:txBody>
                  <a:tcPr/>
                </a:tc>
                <a:tc>
                  <a:txBody>
                    <a:bodyPr/>
                    <a:lstStyle/>
                    <a:p>
                      <a:pPr algn="l">
                        <a:buNone/>
                      </a:pPr>
                      <a:r>
                        <a:rPr lang="en-US" altLang="zh-CN" sz="1600">
                          <a:latin typeface="楷体" panose="02010609060101010101" pitchFamily="49" charset="-122"/>
                          <a:ea typeface="楷体" panose="02010609060101010101" pitchFamily="49" charset="-122"/>
                        </a:rPr>
                        <a:t>1.</a:t>
                      </a:r>
                      <a:r>
                        <a:rPr lang="zh-CN" altLang="en-US" sz="1600">
                          <a:latin typeface="楷体" panose="02010609060101010101" pitchFamily="49" charset="-122"/>
                          <a:ea typeface="楷体" panose="02010609060101010101" pitchFamily="49" charset="-122"/>
                        </a:rPr>
                        <a:t>系统生成的订单编号是否具有特定格式？</a:t>
                      </a:r>
                    </a:p>
                  </a:txBody>
                  <a:tcPr/>
                </a:tc>
                <a:extLst>
                  <a:ext uri="{0D108BD9-81ED-4DB2-BD59-A6C34878D82A}">
                    <a16:rowId xmlns:a16="http://schemas.microsoft.com/office/drawing/2014/main" val="10001"/>
                  </a:ext>
                </a:extLst>
              </a:tr>
              <a:tr h="483870">
                <a:tc>
                  <a:txBody>
                    <a:bodyPr/>
                    <a:lstStyle/>
                    <a:p>
                      <a:pPr algn="l">
                        <a:buNone/>
                      </a:pPr>
                      <a:r>
                        <a:rPr lang="en-US" altLang="zh-CN" sz="1600">
                          <a:latin typeface="楷体" panose="02010609060101010101" pitchFamily="49" charset="-122"/>
                          <a:ea typeface="楷体" panose="02010609060101010101" pitchFamily="49" charset="-122"/>
                        </a:rPr>
                        <a:t>2.</a:t>
                      </a:r>
                      <a:r>
                        <a:rPr lang="zh-CN" altLang="en-US" sz="1600">
                          <a:latin typeface="楷体" panose="02010609060101010101" pitchFamily="49" charset="-122"/>
                          <a:ea typeface="楷体" panose="02010609060101010101" pitchFamily="49" charset="-122"/>
                        </a:rPr>
                        <a:t>销售人员输入客户编号，系统自动显示客户信息。</a:t>
                      </a:r>
                    </a:p>
                  </a:txBody>
                  <a:tcPr/>
                </a:tc>
                <a:tc>
                  <a:txBody>
                    <a:bodyPr/>
                    <a:lstStyle/>
                    <a:p>
                      <a:pPr algn="l">
                        <a:buNone/>
                      </a:pPr>
                      <a:r>
                        <a:rPr lang="en-US" altLang="zh-CN" sz="1600">
                          <a:latin typeface="楷体" panose="02010609060101010101" pitchFamily="49" charset="-122"/>
                          <a:ea typeface="楷体" panose="02010609060101010101" pitchFamily="49" charset="-122"/>
                        </a:rPr>
                        <a:t>2.</a:t>
                      </a:r>
                      <a:r>
                        <a:rPr lang="zh-CN" altLang="en-US" sz="1600">
                          <a:latin typeface="楷体" panose="02010609060101010101" pitchFamily="49" charset="-122"/>
                          <a:ea typeface="楷体" panose="02010609060101010101" pitchFamily="49" charset="-122"/>
                        </a:rPr>
                        <a:t>客户编号的格式和规则是什么？</a:t>
                      </a:r>
                    </a:p>
                  </a:txBody>
                  <a:tcPr/>
                </a:tc>
                <a:extLst>
                  <a:ext uri="{0D108BD9-81ED-4DB2-BD59-A6C34878D82A}">
                    <a16:rowId xmlns:a16="http://schemas.microsoft.com/office/drawing/2014/main" val="10002"/>
                  </a:ext>
                </a:extLst>
              </a:tr>
              <a:tr h="483870">
                <a:tc>
                  <a:txBody>
                    <a:bodyPr/>
                    <a:lstStyle/>
                    <a:p>
                      <a:pPr algn="l">
                        <a:buNone/>
                      </a:pPr>
                      <a:r>
                        <a:rPr lang="en-US" altLang="zh-CN" sz="1600">
                          <a:latin typeface="楷体" panose="02010609060101010101" pitchFamily="49" charset="-122"/>
                          <a:ea typeface="楷体" panose="02010609060101010101" pitchFamily="49" charset="-122"/>
                        </a:rPr>
                        <a:t>3.</a:t>
                      </a:r>
                      <a:r>
                        <a:rPr lang="zh-CN" altLang="en-US" sz="1600">
                          <a:latin typeface="楷体" panose="02010609060101010101" pitchFamily="49" charset="-122"/>
                          <a:ea typeface="楷体" panose="02010609060101010101" pitchFamily="49" charset="-122"/>
                        </a:rPr>
                        <a:t>销售人员添加订单商品，系统显示商品库存数量及详细信息。</a:t>
                      </a:r>
                    </a:p>
                  </a:txBody>
                  <a:tcPr/>
                </a:tc>
                <a:tc>
                  <a:txBody>
                    <a:bodyPr/>
                    <a:lstStyle/>
                    <a:p>
                      <a:pPr algn="l">
                        <a:buNone/>
                      </a:pPr>
                      <a:r>
                        <a:rPr lang="en-US" altLang="zh-CN" sz="1600">
                          <a:latin typeface="楷体" panose="02010609060101010101" pitchFamily="49" charset="-122"/>
                          <a:ea typeface="楷体" panose="02010609060101010101" pitchFamily="49" charset="-122"/>
                        </a:rPr>
                        <a:t>3.</a:t>
                      </a:r>
                      <a:r>
                        <a:rPr lang="zh-CN" altLang="en-US" sz="1600">
                          <a:latin typeface="楷体" panose="02010609060101010101" pitchFamily="49" charset="-122"/>
                          <a:ea typeface="楷体" panose="02010609060101010101" pitchFamily="49" charset="-122"/>
                        </a:rPr>
                        <a:t>系统显示的商品信息包括哪些内容？</a:t>
                      </a:r>
                    </a:p>
                  </a:txBody>
                  <a:tcPr/>
                </a:tc>
                <a:extLst>
                  <a:ext uri="{0D108BD9-81ED-4DB2-BD59-A6C34878D82A}">
                    <a16:rowId xmlns:a16="http://schemas.microsoft.com/office/drawing/2014/main" val="10003"/>
                  </a:ext>
                </a:extLst>
              </a:tr>
              <a:tr h="483870">
                <a:tc>
                  <a:txBody>
                    <a:bodyPr/>
                    <a:lstStyle/>
                    <a:p>
                      <a:pPr algn="l">
                        <a:buNone/>
                      </a:pPr>
                      <a:r>
                        <a:rPr lang="en-US" altLang="zh-CN" sz="1600">
                          <a:latin typeface="楷体" panose="02010609060101010101" pitchFamily="49" charset="-122"/>
                          <a:ea typeface="楷体" panose="02010609060101010101" pitchFamily="49" charset="-122"/>
                        </a:rPr>
                        <a:t>4.</a:t>
                      </a:r>
                      <a:r>
                        <a:rPr lang="zh-CN" altLang="en-US" sz="1600">
                          <a:latin typeface="楷体" panose="02010609060101010101" pitchFamily="49" charset="-122"/>
                          <a:ea typeface="楷体" panose="02010609060101010101" pitchFamily="49" charset="-122"/>
                        </a:rPr>
                        <a:t>系统自动计算订单总价（包含折扣）和预计发货日期。</a:t>
                      </a:r>
                    </a:p>
                  </a:txBody>
                  <a:tcPr/>
                </a:tc>
                <a:tc>
                  <a:txBody>
                    <a:bodyPr/>
                    <a:lstStyle/>
                    <a:p>
                      <a:pPr algn="l">
                        <a:buNone/>
                      </a:pPr>
                      <a:r>
                        <a:rPr lang="en-US" altLang="zh-CN" sz="1600">
                          <a:latin typeface="楷体" panose="02010609060101010101" pitchFamily="49" charset="-122"/>
                          <a:ea typeface="楷体" panose="02010609060101010101" pitchFamily="49" charset="-122"/>
                        </a:rPr>
                        <a:t>4.</a:t>
                      </a:r>
                      <a:r>
                        <a:rPr lang="zh-CN" altLang="en-US" sz="1600">
                          <a:latin typeface="楷体" panose="02010609060101010101" pitchFamily="49" charset="-122"/>
                          <a:ea typeface="楷体" panose="02010609060101010101" pitchFamily="49" charset="-122"/>
                        </a:rPr>
                        <a:t>折扣规则是否根据客户类型（如普通客户、</a:t>
                      </a:r>
                      <a:r>
                        <a:rPr lang="en-US" altLang="zh-CN" sz="1600">
                          <a:latin typeface="Times New Roman" panose="02020603050405020304" pitchFamily="18" charset="0"/>
                          <a:ea typeface="楷体" panose="02010609060101010101" pitchFamily="49" charset="-122"/>
                          <a:cs typeface="Times New Roman" panose="02020603050405020304" pitchFamily="18" charset="0"/>
                        </a:rPr>
                        <a:t>VIP</a:t>
                      </a:r>
                      <a:r>
                        <a:rPr lang="zh-CN" altLang="en-US" sz="1600">
                          <a:latin typeface="楷体" panose="02010609060101010101" pitchFamily="49" charset="-122"/>
                          <a:ea typeface="楷体" panose="02010609060101010101" pitchFamily="49" charset="-122"/>
                        </a:rPr>
                        <a:t>客户）动态调整？</a:t>
                      </a:r>
                    </a:p>
                  </a:txBody>
                  <a:tcPr/>
                </a:tc>
                <a:extLst>
                  <a:ext uri="{0D108BD9-81ED-4DB2-BD59-A6C34878D82A}">
                    <a16:rowId xmlns:a16="http://schemas.microsoft.com/office/drawing/2014/main" val="10004"/>
                  </a:ext>
                </a:extLst>
              </a:tr>
              <a:tr h="483870">
                <a:tc>
                  <a:txBody>
                    <a:bodyPr/>
                    <a:lstStyle/>
                    <a:p>
                      <a:pPr algn="l">
                        <a:buNone/>
                      </a:pPr>
                      <a:r>
                        <a:rPr lang="en-US" altLang="zh-CN" sz="1600">
                          <a:latin typeface="楷体" panose="02010609060101010101" pitchFamily="49" charset="-122"/>
                          <a:ea typeface="楷体" panose="02010609060101010101" pitchFamily="49" charset="-122"/>
                        </a:rPr>
                        <a:t>5.</a:t>
                      </a:r>
                      <a:r>
                        <a:rPr lang="zh-CN" altLang="en-US" sz="1600">
                          <a:latin typeface="楷体" panose="02010609060101010101" pitchFamily="49" charset="-122"/>
                          <a:ea typeface="楷体" panose="02010609060101010101" pitchFamily="49" charset="-122"/>
                        </a:rPr>
                        <a:t>销售人员确认订单并提交，系统生成唯一订单编号。</a:t>
                      </a:r>
                    </a:p>
                  </a:txBody>
                  <a:tcPr/>
                </a:tc>
                <a:tc>
                  <a:txBody>
                    <a:bodyPr/>
                    <a:lstStyle/>
                    <a:p>
                      <a:pPr algn="l">
                        <a:buNone/>
                      </a:pPr>
                      <a:r>
                        <a:rPr lang="en-US" altLang="zh-CN" sz="1600">
                          <a:latin typeface="楷体" panose="02010609060101010101" pitchFamily="49" charset="-122"/>
                          <a:ea typeface="楷体" panose="02010609060101010101" pitchFamily="49" charset="-122"/>
                        </a:rPr>
                        <a:t>5.</a:t>
                      </a:r>
                      <a:r>
                        <a:rPr lang="zh-CN" altLang="en-US" sz="1600">
                          <a:latin typeface="楷体" panose="02010609060101010101" pitchFamily="49" charset="-122"/>
                          <a:ea typeface="楷体" panose="02010609060101010101" pitchFamily="49" charset="-122"/>
                        </a:rPr>
                        <a:t>系统生成的订单编号是否具有特定格式？</a:t>
                      </a:r>
                    </a:p>
                  </a:txBody>
                  <a:tcPr/>
                </a:tc>
                <a:extLst>
                  <a:ext uri="{0D108BD9-81ED-4DB2-BD59-A6C34878D82A}">
                    <a16:rowId xmlns:a16="http://schemas.microsoft.com/office/drawing/2014/main" val="10005"/>
                  </a:ext>
                </a:extLst>
              </a:tr>
              <a:tr h="483870">
                <a:tc>
                  <a:txBody>
                    <a:bodyPr/>
                    <a:lstStyle/>
                    <a:p>
                      <a:pPr algn="l">
                        <a:buNone/>
                      </a:pPr>
                      <a:r>
                        <a:rPr lang="en-US" altLang="zh-CN" sz="1600">
                          <a:latin typeface="楷体" panose="02010609060101010101" pitchFamily="49" charset="-122"/>
                          <a:ea typeface="楷体" panose="02010609060101010101" pitchFamily="49" charset="-122"/>
                        </a:rPr>
                        <a:t>6.</a:t>
                      </a:r>
                      <a:r>
                        <a:rPr lang="zh-CN" altLang="en-US" sz="1600">
                          <a:latin typeface="楷体" panose="02010609060101010101" pitchFamily="49" charset="-122"/>
                          <a:ea typeface="楷体" panose="02010609060101010101" pitchFamily="49" charset="-122"/>
                        </a:rPr>
                        <a:t>系统自动通知仓储部门进行备货，并生成发货单。</a:t>
                      </a:r>
                    </a:p>
                  </a:txBody>
                  <a:tcPr/>
                </a:tc>
                <a:tc>
                  <a:txBody>
                    <a:bodyPr/>
                    <a:lstStyle/>
                    <a:p>
                      <a:pPr algn="l">
                        <a:buNone/>
                      </a:pPr>
                      <a:r>
                        <a:rPr lang="en-US" altLang="zh-CN" sz="1600">
                          <a:latin typeface="楷体" panose="02010609060101010101" pitchFamily="49" charset="-122"/>
                          <a:ea typeface="楷体" panose="02010609060101010101" pitchFamily="49" charset="-122"/>
                        </a:rPr>
                        <a:t>6.</a:t>
                      </a:r>
                      <a:r>
                        <a:rPr lang="zh-CN" altLang="en-US" sz="1600">
                          <a:latin typeface="楷体" panose="02010609060101010101" pitchFamily="49" charset="-122"/>
                          <a:ea typeface="楷体" panose="02010609060101010101" pitchFamily="49" charset="-122"/>
                        </a:rPr>
                        <a:t>发货单的内容格式是怎样的？需要包含哪些关键信息？</a:t>
                      </a:r>
                    </a:p>
                  </a:txBody>
                  <a:tcPr/>
                </a:tc>
                <a:extLst>
                  <a:ext uri="{0D108BD9-81ED-4DB2-BD59-A6C34878D82A}">
                    <a16:rowId xmlns:a16="http://schemas.microsoft.com/office/drawing/2014/main" val="10006"/>
                  </a:ext>
                </a:extLst>
              </a:tr>
              <a:tr h="483870">
                <a:tc>
                  <a:txBody>
                    <a:bodyPr/>
                    <a:lstStyle/>
                    <a:p>
                      <a:pPr algn="l">
                        <a:buNone/>
                      </a:pPr>
                      <a:r>
                        <a:rPr lang="en-US" altLang="zh-CN" sz="1600">
                          <a:latin typeface="楷体" panose="02010609060101010101" pitchFamily="49" charset="-122"/>
                          <a:ea typeface="楷体" panose="02010609060101010101" pitchFamily="49" charset="-122"/>
                        </a:rPr>
                        <a:t>7.</a:t>
                      </a:r>
                      <a:r>
                        <a:rPr lang="zh-CN" altLang="en-US" sz="1600">
                          <a:latin typeface="楷体" panose="02010609060101010101" pitchFamily="49" charset="-122"/>
                          <a:ea typeface="楷体" panose="02010609060101010101" pitchFamily="49" charset="-122"/>
                        </a:rPr>
                        <a:t>系统记录订单状态（如已提交、待发货）并显示在销售记录中。</a:t>
                      </a:r>
                    </a:p>
                  </a:txBody>
                  <a:tcPr/>
                </a:tc>
                <a:tc>
                  <a:txBody>
                    <a:bodyPr/>
                    <a:lstStyle/>
                    <a:p>
                      <a:pPr algn="l">
                        <a:buNone/>
                      </a:pPr>
                      <a:r>
                        <a:rPr lang="en-US" altLang="zh-CN" sz="1600">
                          <a:latin typeface="楷体" panose="02010609060101010101" pitchFamily="49" charset="-122"/>
                          <a:ea typeface="楷体" panose="02010609060101010101" pitchFamily="49" charset="-122"/>
                        </a:rPr>
                        <a:t>7.</a:t>
                      </a:r>
                      <a:r>
                        <a:rPr lang="zh-CN" altLang="en-US" sz="1600">
                          <a:latin typeface="楷体" panose="02010609060101010101" pitchFamily="49" charset="-122"/>
                          <a:ea typeface="楷体" panose="02010609060101010101" pitchFamily="49" charset="-122"/>
                        </a:rPr>
                        <a:t>销售人员是否可以查询历史订单？查询条件有哪些？（如按客户、日期、商品等）</a:t>
                      </a:r>
                    </a:p>
                  </a:txBody>
                  <a:tcPr/>
                </a:tc>
                <a:extLst>
                  <a:ext uri="{0D108BD9-81ED-4DB2-BD59-A6C34878D82A}">
                    <a16:rowId xmlns:a16="http://schemas.microsoft.com/office/drawing/2014/main" val="10007"/>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5"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583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anose="05000000000000000000" charset="0"/>
              <a:buChar char="Ø"/>
            </a:pPr>
            <a:r>
              <a:rPr kumimoji="1" lang="zh-CN" altLang="en-US" sz="2800" b="1" dirty="0">
                <a:latin typeface="楷体" panose="02010609060101010101" pitchFamily="49" charset="-122"/>
                <a:ea typeface="楷体" panose="02010609060101010101" pitchFamily="49" charset="-122"/>
              </a:rPr>
              <a:t>准备面谈</a:t>
            </a:r>
          </a:p>
        </p:txBody>
      </p:sp>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面谈</a:t>
            </a:r>
          </a:p>
        </p:txBody>
      </p:sp>
      <p:sp>
        <p:nvSpPr>
          <p:cNvPr id="3" name="文本框 2"/>
          <p:cNvSpPr txBox="1"/>
          <p:nvPr/>
        </p:nvSpPr>
        <p:spPr>
          <a:xfrm>
            <a:off x="744855" y="1183640"/>
            <a:ext cx="7386955" cy="2245360"/>
          </a:xfrm>
          <a:prstGeom prst="rect">
            <a:avLst/>
          </a:prstGeom>
          <a:noFill/>
          <a:ln>
            <a:solidFill>
              <a:schemeClr val="accent1"/>
            </a:solidFill>
          </a:ln>
        </p:spPr>
        <p:txBody>
          <a:bodyPr wrap="square" rtlCol="0">
            <a:spAutoFit/>
          </a:bodyPr>
          <a:lstStyle/>
          <a:p>
            <a:r>
              <a:rPr lang="zh-CN" altLang="en-US" sz="2000">
                <a:latin typeface="楷体" panose="02010609060101010101" pitchFamily="49" charset="-122"/>
                <a:ea typeface="楷体" panose="02010609060101010101" pitchFamily="49" charset="-122"/>
              </a:rPr>
              <a:t>目标：建立理想的氛围和环境，促进交流。</a:t>
            </a:r>
          </a:p>
          <a:p>
            <a:pPr marL="800100" lvl="1" indent="-342900">
              <a:buFont typeface="Arial" panose="020B0604020202020204" pitchFamily="34" charset="0"/>
              <a:buChar char="•"/>
            </a:pPr>
            <a:r>
              <a:rPr lang="zh-CN" altLang="en-US" sz="2000">
                <a:latin typeface="楷体" panose="02010609060101010101" pitchFamily="49" charset="-122"/>
                <a:ea typeface="楷体" panose="02010609060101010101" pitchFamily="49" charset="-122"/>
              </a:rPr>
              <a:t>握手建立信任。</a:t>
            </a:r>
          </a:p>
          <a:p>
            <a:pPr marL="800100" lvl="1" indent="-342900">
              <a:buFont typeface="Arial" panose="020B0604020202020204" pitchFamily="34" charset="0"/>
              <a:buChar char="•"/>
            </a:pPr>
            <a:r>
              <a:rPr lang="zh-CN" altLang="en-US" sz="2000">
                <a:latin typeface="楷体" panose="02010609060101010101" pitchFamily="49" charset="-122"/>
                <a:ea typeface="楷体" panose="02010609060101010101" pitchFamily="49" charset="-122"/>
              </a:rPr>
              <a:t>简短介绍面谈的原因、内容、目的以及为何选择被会见者。</a:t>
            </a:r>
          </a:p>
          <a:p>
            <a:pPr marL="800100" lvl="1" indent="-342900">
              <a:buFont typeface="Arial" panose="020B0604020202020204" pitchFamily="34" charset="0"/>
              <a:buChar char="•"/>
            </a:pPr>
            <a:r>
              <a:rPr lang="zh-CN" altLang="en-US" sz="2000">
                <a:latin typeface="楷体" panose="02010609060101010101" pitchFamily="49" charset="-122"/>
                <a:ea typeface="楷体" panose="02010609060101010101" pitchFamily="49" charset="-122"/>
              </a:rPr>
              <a:t>准备记录工具（笔记本、录音机等），告知数据处理方式并保证机密性。</a:t>
            </a:r>
          </a:p>
          <a:p>
            <a:pPr marL="800100" lvl="1" indent="-342900">
              <a:buFont typeface="Arial" panose="020B0604020202020204" pitchFamily="34" charset="0"/>
              <a:buChar char="•"/>
            </a:pPr>
            <a:r>
              <a:rPr lang="zh-CN" altLang="en-US" sz="2000">
                <a:latin typeface="楷体" panose="02010609060101010101" pitchFamily="49" charset="-122"/>
                <a:ea typeface="楷体" panose="02010609060101010101" pitchFamily="49" charset="-122"/>
              </a:rPr>
              <a:t>提问开放式问题，放松气氛，并揭示被会见者的态度、信仰等。</a:t>
            </a:r>
          </a:p>
        </p:txBody>
      </p:sp>
      <p:sp>
        <p:nvSpPr>
          <p:cNvPr id="4" name="文本框 3"/>
          <p:cNvSpPr txBox="1"/>
          <p:nvPr/>
        </p:nvSpPr>
        <p:spPr>
          <a:xfrm>
            <a:off x="754380" y="3665855"/>
            <a:ext cx="7377430" cy="1938020"/>
          </a:xfrm>
          <a:prstGeom prst="rect">
            <a:avLst/>
          </a:prstGeom>
          <a:noFill/>
          <a:ln>
            <a:solidFill>
              <a:schemeClr val="accent1"/>
            </a:solidFill>
          </a:ln>
        </p:spPr>
        <p:txBody>
          <a:bodyPr wrap="square" rtlCol="0">
            <a:spAutoFit/>
          </a:bodyPr>
          <a:lstStyle/>
          <a:p>
            <a:r>
              <a:rPr lang="zh-CN" altLang="en-US" sz="2000">
                <a:latin typeface="楷体" panose="02010609060101010101" pitchFamily="49" charset="-122"/>
                <a:ea typeface="楷体" panose="02010609060101010101" pitchFamily="49" charset="-122"/>
              </a:rPr>
              <a:t>目标</a:t>
            </a:r>
            <a:r>
              <a:rPr lang="en-US" altLang="zh-CN" sz="2000">
                <a:latin typeface="楷体" panose="02010609060101010101" pitchFamily="49" charset="-122"/>
                <a:ea typeface="楷体" panose="02010609060101010101" pitchFamily="49" charset="-122"/>
              </a:rPr>
              <a:t>:</a:t>
            </a:r>
            <a:r>
              <a:rPr lang="zh-CN" altLang="en-US" sz="2000">
                <a:latin typeface="楷体" panose="02010609060101010101" pitchFamily="49" charset="-122"/>
                <a:ea typeface="楷体" panose="02010609060101010101" pitchFamily="49" charset="-122"/>
              </a:rPr>
              <a:t>通过提问和倾听获取信息，是面谈中最耗时的部分。</a:t>
            </a:r>
          </a:p>
          <a:p>
            <a:pPr marL="800100" lvl="1" indent="-342900">
              <a:buFont typeface="Arial" panose="020B0604020202020204" pitchFamily="34" charset="0"/>
              <a:buChar char="•"/>
            </a:pPr>
            <a:r>
              <a:rPr lang="zh-CN" altLang="en-US" sz="2000">
                <a:latin typeface="楷体" panose="02010609060101010101" pitchFamily="49" charset="-122"/>
                <a:ea typeface="楷体" panose="02010609060101010101" pitchFamily="49" charset="-122"/>
              </a:rPr>
              <a:t>礼貌倾听</a:t>
            </a:r>
          </a:p>
          <a:p>
            <a:pPr marL="800100" lvl="1" indent="-342900">
              <a:buFont typeface="Arial" panose="020B0604020202020204" pitchFamily="34" charset="0"/>
              <a:buChar char="•"/>
            </a:pPr>
            <a:r>
              <a:rPr lang="zh-CN" altLang="en-US" sz="2000">
                <a:latin typeface="楷体" panose="02010609060101010101" pitchFamily="49" charset="-122"/>
                <a:ea typeface="楷体" panose="02010609060101010101" pitchFamily="49" charset="-122"/>
              </a:rPr>
              <a:t>控制面谈过程</a:t>
            </a:r>
          </a:p>
          <a:p>
            <a:pPr marL="800100" lvl="1" indent="-342900">
              <a:buFont typeface="Arial" panose="020B0604020202020204" pitchFamily="34" charset="0"/>
              <a:buChar char="•"/>
            </a:pPr>
            <a:r>
              <a:rPr lang="zh-CN" altLang="en-US" sz="2000">
                <a:latin typeface="楷体" panose="02010609060101010101" pitchFamily="49" charset="-122"/>
                <a:ea typeface="楷体" panose="02010609060101010101" pitchFamily="49" charset="-122"/>
              </a:rPr>
              <a:t>及时追问与探究</a:t>
            </a:r>
          </a:p>
          <a:p>
            <a:pPr marL="800100" lvl="1" indent="-342900">
              <a:buFont typeface="Arial" panose="020B0604020202020204" pitchFamily="34" charset="0"/>
              <a:buChar char="•"/>
            </a:pPr>
            <a:r>
              <a:rPr lang="zh-CN" altLang="en-US" sz="2000">
                <a:latin typeface="楷体" panose="02010609060101010101" pitchFamily="49" charset="-122"/>
                <a:ea typeface="楷体" panose="02010609060101010101" pitchFamily="49" charset="-122"/>
              </a:rPr>
              <a:t>观察被会见者</a:t>
            </a:r>
          </a:p>
          <a:p>
            <a:pPr marL="800100" lvl="1" indent="-342900">
              <a:buFont typeface="Arial" panose="020B0604020202020204" pitchFamily="34" charset="0"/>
              <a:buChar char="•"/>
            </a:pPr>
            <a:r>
              <a:rPr lang="zh-CN" altLang="en-US" sz="2000">
                <a:latin typeface="楷体" panose="02010609060101010101" pitchFamily="49" charset="-122"/>
                <a:ea typeface="楷体" panose="02010609060101010101" pitchFamily="49" charset="-122"/>
              </a:rPr>
              <a:t>使用道具支持</a:t>
            </a:r>
          </a:p>
        </p:txBody>
      </p:sp>
      <p:sp>
        <p:nvSpPr>
          <p:cNvPr id="7" name="文本框 6"/>
          <p:cNvSpPr txBox="1"/>
          <p:nvPr/>
        </p:nvSpPr>
        <p:spPr>
          <a:xfrm>
            <a:off x="744220" y="5801360"/>
            <a:ext cx="7388225" cy="398780"/>
          </a:xfrm>
          <a:prstGeom prst="rect">
            <a:avLst/>
          </a:prstGeom>
          <a:noFill/>
          <a:ln>
            <a:solidFill>
              <a:schemeClr val="accent1"/>
            </a:solidFill>
          </a:ln>
        </p:spPr>
        <p:txBody>
          <a:bodyPr wrap="square" rtlCol="0">
            <a:spAutoFit/>
          </a:bodyPr>
          <a:lstStyle/>
          <a:p>
            <a:r>
              <a:rPr lang="zh-CN" altLang="en-US" sz="2000">
                <a:latin typeface="楷体" panose="02010609060101010101" pitchFamily="49" charset="-122"/>
                <a:ea typeface="楷体" panose="02010609060101010101" pitchFamily="49" charset="-122"/>
              </a:rPr>
              <a:t>目标：感谢被会见者并回答其问题，确保结束时信息收集完整。</a:t>
            </a:r>
          </a:p>
        </p:txBody>
      </p:sp>
      <p:sp>
        <p:nvSpPr>
          <p:cNvPr id="8" name="文本框 7"/>
          <p:cNvSpPr txBox="1"/>
          <p:nvPr/>
        </p:nvSpPr>
        <p:spPr>
          <a:xfrm>
            <a:off x="8445500" y="1443355"/>
            <a:ext cx="472440" cy="829945"/>
          </a:xfrm>
          <a:prstGeom prst="rect">
            <a:avLst/>
          </a:prstGeom>
          <a:noFill/>
          <a:ln>
            <a:solidFill>
              <a:schemeClr val="accent1"/>
            </a:solidFill>
          </a:ln>
        </p:spPr>
        <p:txBody>
          <a:bodyPr wrap="square" rtlCol="0">
            <a:spAutoFit/>
          </a:bodyPr>
          <a:lstStyle/>
          <a:p>
            <a:r>
              <a:rPr lang="zh-CN" altLang="en-US" sz="2400" b="1">
                <a:latin typeface="楷体" panose="02010609060101010101" pitchFamily="49" charset="-122"/>
                <a:ea typeface="楷体" panose="02010609060101010101" pitchFamily="49" charset="-122"/>
              </a:rPr>
              <a:t>开始</a:t>
            </a:r>
          </a:p>
        </p:txBody>
      </p:sp>
      <p:sp>
        <p:nvSpPr>
          <p:cNvPr id="9" name="文本框 8"/>
          <p:cNvSpPr txBox="1"/>
          <p:nvPr/>
        </p:nvSpPr>
        <p:spPr>
          <a:xfrm>
            <a:off x="8445500" y="3378835"/>
            <a:ext cx="472440" cy="838835"/>
          </a:xfrm>
          <a:prstGeom prst="rect">
            <a:avLst/>
          </a:prstGeom>
          <a:noFill/>
          <a:ln>
            <a:solidFill>
              <a:schemeClr val="accent1"/>
            </a:solidFill>
          </a:ln>
        </p:spPr>
        <p:txBody>
          <a:bodyPr wrap="square" rtlCol="0">
            <a:noAutofit/>
          </a:bodyPr>
          <a:lstStyle/>
          <a:p>
            <a:r>
              <a:rPr lang="zh-CN" altLang="en-US" sz="2400" b="1">
                <a:latin typeface="楷体" panose="02010609060101010101" pitchFamily="49" charset="-122"/>
                <a:ea typeface="楷体" panose="02010609060101010101" pitchFamily="49" charset="-122"/>
              </a:rPr>
              <a:t>主体</a:t>
            </a:r>
          </a:p>
        </p:txBody>
      </p:sp>
      <p:sp>
        <p:nvSpPr>
          <p:cNvPr id="10" name="文本框 9"/>
          <p:cNvSpPr txBox="1"/>
          <p:nvPr/>
        </p:nvSpPr>
        <p:spPr>
          <a:xfrm>
            <a:off x="8445500" y="5175250"/>
            <a:ext cx="472440" cy="829945"/>
          </a:xfrm>
          <a:prstGeom prst="rect">
            <a:avLst/>
          </a:prstGeom>
          <a:noFill/>
          <a:ln>
            <a:solidFill>
              <a:schemeClr val="accent1"/>
            </a:solidFill>
          </a:ln>
        </p:spPr>
        <p:txBody>
          <a:bodyPr wrap="square" rtlCol="0">
            <a:spAutoFit/>
          </a:bodyPr>
          <a:lstStyle/>
          <a:p>
            <a:r>
              <a:rPr lang="zh-CN" altLang="en-US" sz="2400" b="1">
                <a:latin typeface="楷体" panose="02010609060101010101" pitchFamily="49" charset="-122"/>
                <a:ea typeface="楷体" panose="02010609060101010101" pitchFamily="49" charset="-122"/>
              </a:rPr>
              <a:t>结束</a:t>
            </a:r>
          </a:p>
        </p:txBody>
      </p:sp>
      <p:sp>
        <p:nvSpPr>
          <p:cNvPr id="11" name="下箭头 10"/>
          <p:cNvSpPr/>
          <p:nvPr/>
        </p:nvSpPr>
        <p:spPr>
          <a:xfrm>
            <a:off x="8547735" y="2538730"/>
            <a:ext cx="268605" cy="57467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2" name="下箭头 11"/>
          <p:cNvSpPr/>
          <p:nvPr/>
        </p:nvSpPr>
        <p:spPr>
          <a:xfrm>
            <a:off x="8547735" y="4356100"/>
            <a:ext cx="268605" cy="57467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3" grpId="1" animBg="1"/>
      <p:bldP spid="4" grpId="0" bldLvl="0" animBg="1"/>
      <p:bldP spid="4" grpId="1" animBg="1"/>
      <p:bldP spid="7" grpId="0" bldLvl="0" animBg="1"/>
      <p:bldP spid="7" grpId="1" animBg="1"/>
      <p:bldP spid="8" grpId="0" bldLvl="0" animBg="1"/>
      <p:bldP spid="8" grpId="1" animBg="1"/>
      <p:bldP spid="9" grpId="0" bldLvl="0" animBg="1"/>
      <p:bldP spid="9" grpId="1" animBg="1"/>
      <p:bldP spid="10" grpId="0" bldLvl="0" animBg="1"/>
      <p:bldP spid="10" grpId="1" animBg="1"/>
      <p:bldP spid="11" grpId="0" bldLvl="0" animBg="1"/>
      <p:bldP spid="11" grpId="1" animBg="1"/>
      <p:bldP spid="12" grpId="0" bldLvl="0" animBg="1"/>
      <p:bldP spid="12"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anose="05000000000000000000" charset="0"/>
              <a:buChar char="Ø"/>
            </a:pPr>
            <a:r>
              <a:rPr kumimoji="1" lang="zh-CN" altLang="en-US" sz="2800" b="1" dirty="0">
                <a:latin typeface="楷体" panose="02010609060101010101" pitchFamily="49" charset="-122"/>
                <a:ea typeface="楷体" panose="02010609060101010101" pitchFamily="49" charset="-122"/>
              </a:rPr>
              <a:t>整理面谈报告</a:t>
            </a:r>
          </a:p>
        </p:txBody>
      </p:sp>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面谈</a:t>
            </a:r>
          </a:p>
        </p:txBody>
      </p:sp>
      <p:sp>
        <p:nvSpPr>
          <p:cNvPr id="3" name="文本框 2"/>
          <p:cNvSpPr txBox="1"/>
          <p:nvPr/>
        </p:nvSpPr>
        <p:spPr>
          <a:xfrm>
            <a:off x="1144270" y="1102360"/>
            <a:ext cx="2664460" cy="1198880"/>
          </a:xfrm>
          <a:prstGeom prst="rect">
            <a:avLst/>
          </a:prstGeom>
          <a:noFill/>
        </p:spPr>
        <p:txBody>
          <a:bodyPr wrap="square" rtlCol="0">
            <a:spAutoFit/>
          </a:bodyPr>
          <a:lstStyle/>
          <a:p>
            <a:pPr marL="342900" indent="-342900">
              <a:buFont typeface="Arial" panose="020B0604020202020204" pitchFamily="34" charset="0"/>
              <a:buChar char="•"/>
            </a:pPr>
            <a:r>
              <a:rPr lang="zh-CN" altLang="en-US" sz="2400">
                <a:latin typeface="楷体" panose="02010609060101010101" pitchFamily="49" charset="-122"/>
                <a:ea typeface="楷体" panose="02010609060101010101" pitchFamily="49" charset="-122"/>
              </a:rPr>
              <a:t>复查面谈记录</a:t>
            </a:r>
          </a:p>
          <a:p>
            <a:pPr marL="342900" indent="-342900">
              <a:buFont typeface="Arial" panose="020B0604020202020204" pitchFamily="34" charset="0"/>
              <a:buChar char="•"/>
            </a:pPr>
            <a:r>
              <a:rPr lang="zh-CN" altLang="en-US" sz="2400">
                <a:latin typeface="楷体" panose="02010609060101010101" pitchFamily="49" charset="-122"/>
                <a:ea typeface="楷体" panose="02010609060101010101" pitchFamily="49" charset="-122"/>
              </a:rPr>
              <a:t>总结面谈信息</a:t>
            </a:r>
          </a:p>
          <a:p>
            <a:pPr marL="342900" indent="-342900">
              <a:buFont typeface="Arial" panose="020B0604020202020204" pitchFamily="34" charset="0"/>
              <a:buChar char="•"/>
            </a:pPr>
            <a:r>
              <a:rPr lang="zh-CN" altLang="en-US" sz="2400">
                <a:latin typeface="楷体" panose="02010609060101010101" pitchFamily="49" charset="-122"/>
                <a:ea typeface="楷体" panose="02010609060101010101" pitchFamily="49" charset="-122"/>
              </a:rPr>
              <a:t>完成面谈报告</a:t>
            </a:r>
          </a:p>
        </p:txBody>
      </p:sp>
      <p:grpSp>
        <p:nvGrpSpPr>
          <p:cNvPr id="27" name="组合 26"/>
          <p:cNvGrpSpPr/>
          <p:nvPr/>
        </p:nvGrpSpPr>
        <p:grpSpPr>
          <a:xfrm>
            <a:off x="1221740" y="2308860"/>
            <a:ext cx="7021830" cy="3959225"/>
            <a:chOff x="1924" y="3831"/>
            <a:chExt cx="11058" cy="6235"/>
          </a:xfrm>
        </p:grpSpPr>
        <p:grpSp>
          <p:nvGrpSpPr>
            <p:cNvPr id="25" name="组合 24"/>
            <p:cNvGrpSpPr/>
            <p:nvPr/>
          </p:nvGrpSpPr>
          <p:grpSpPr>
            <a:xfrm>
              <a:off x="1924" y="3831"/>
              <a:ext cx="11059" cy="5655"/>
              <a:chOff x="1924" y="3831"/>
              <a:chExt cx="11059" cy="5655"/>
            </a:xfrm>
          </p:grpSpPr>
          <p:grpSp>
            <p:nvGrpSpPr>
              <p:cNvPr id="20" name="组合 19"/>
              <p:cNvGrpSpPr/>
              <p:nvPr/>
            </p:nvGrpSpPr>
            <p:grpSpPr>
              <a:xfrm>
                <a:off x="1924" y="3831"/>
                <a:ext cx="11055" cy="4664"/>
                <a:chOff x="1924" y="3831"/>
                <a:chExt cx="11055" cy="4664"/>
              </a:xfrm>
            </p:grpSpPr>
            <p:grpSp>
              <p:nvGrpSpPr>
                <p:cNvPr id="13" name="组合 12"/>
                <p:cNvGrpSpPr/>
                <p:nvPr/>
              </p:nvGrpSpPr>
              <p:grpSpPr>
                <a:xfrm>
                  <a:off x="1924" y="3831"/>
                  <a:ext cx="11054" cy="2504"/>
                  <a:chOff x="1924" y="3831"/>
                  <a:chExt cx="11054" cy="2504"/>
                </a:xfrm>
              </p:grpSpPr>
              <p:sp>
                <p:nvSpPr>
                  <p:cNvPr id="9" name="矩形 8"/>
                  <p:cNvSpPr/>
                  <p:nvPr/>
                </p:nvSpPr>
                <p:spPr>
                  <a:xfrm>
                    <a:off x="1924" y="3831"/>
                    <a:ext cx="11055" cy="2504"/>
                  </a:xfrm>
                  <a:prstGeom prst="rect">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10" name="文本框 9"/>
                  <p:cNvSpPr txBox="1"/>
                  <p:nvPr/>
                </p:nvSpPr>
                <p:spPr>
                  <a:xfrm>
                    <a:off x="2278" y="3891"/>
                    <a:ext cx="3244" cy="919"/>
                  </a:xfrm>
                  <a:prstGeom prst="rect">
                    <a:avLst/>
                  </a:prstGeom>
                  <a:noFill/>
                </p:spPr>
                <p:txBody>
                  <a:bodyPr wrap="square" rtlCol="0">
                    <a:spAutoFit/>
                  </a:bodyPr>
                  <a:lstStyle/>
                  <a:p>
                    <a:r>
                      <a:rPr lang="zh-CN" altLang="en-US" sz="1600">
                        <a:latin typeface="楷体" panose="02010609060101010101" pitchFamily="49" charset="-122"/>
                        <a:ea typeface="楷体" panose="02010609060101010101" pitchFamily="49" charset="-122"/>
                      </a:rPr>
                      <a:t>会见者：用友顾问</a:t>
                    </a:r>
                  </a:p>
                  <a:p>
                    <a:r>
                      <a:rPr lang="zh-CN" altLang="en-US" sz="1600">
                        <a:latin typeface="楷体" panose="02010609060101010101" pitchFamily="49" charset="-122"/>
                        <a:ea typeface="楷体" panose="02010609060101010101" pitchFamily="49" charset="-122"/>
                      </a:rPr>
                      <a:t>被会见者：销售经理</a:t>
                    </a:r>
                  </a:p>
                </p:txBody>
              </p:sp>
              <p:sp>
                <p:nvSpPr>
                  <p:cNvPr id="11" name="文本框 10"/>
                  <p:cNvSpPr txBox="1"/>
                  <p:nvPr/>
                </p:nvSpPr>
                <p:spPr>
                  <a:xfrm>
                    <a:off x="2278" y="4640"/>
                    <a:ext cx="5822" cy="1695"/>
                  </a:xfrm>
                  <a:prstGeom prst="rect">
                    <a:avLst/>
                  </a:prstGeom>
                  <a:noFill/>
                </p:spPr>
                <p:txBody>
                  <a:bodyPr wrap="square" rtlCol="0">
                    <a:spAutoFit/>
                  </a:bodyPr>
                  <a:lstStyle/>
                  <a:p>
                    <a:r>
                      <a:rPr lang="zh-CN" altLang="en-US" sz="1600">
                        <a:latin typeface="楷体" panose="02010609060101010101" pitchFamily="49" charset="-122"/>
                        <a:ea typeface="楷体" panose="02010609060101010101" pitchFamily="49" charset="-122"/>
                      </a:rPr>
                      <a:t>会见目标：</a:t>
                    </a:r>
                  </a:p>
                  <a:p>
                    <a:pPr indent="457200"/>
                    <a:r>
                      <a:rPr lang="zh-CN" altLang="en-US" sz="1600">
                        <a:latin typeface="楷体" panose="02010609060101010101" pitchFamily="49" charset="-122"/>
                        <a:ea typeface="楷体" panose="02010609060101010101" pitchFamily="49" charset="-122"/>
                      </a:rPr>
                      <a:t>了解对销售系统数字化转型的态度；</a:t>
                    </a:r>
                  </a:p>
                  <a:p>
                    <a:pPr indent="457200"/>
                    <a:r>
                      <a:rPr lang="zh-CN" altLang="en-US" sz="1600">
                        <a:latin typeface="楷体" panose="02010609060101010101" pitchFamily="49" charset="-122"/>
                        <a:ea typeface="楷体" panose="02010609060101010101" pitchFamily="49" charset="-122"/>
                      </a:rPr>
                      <a:t>获得用户的使用估计；</a:t>
                    </a:r>
                  </a:p>
                  <a:p>
                    <a:pPr indent="457200"/>
                    <a:r>
                      <a:rPr lang="zh-CN" altLang="en-US" sz="1600">
                        <a:latin typeface="楷体" panose="02010609060101010101" pitchFamily="49" charset="-122"/>
                        <a:ea typeface="楷体" panose="02010609060101010101" pitchFamily="49" charset="-122"/>
                      </a:rPr>
                      <a:t>完善用户对系统的细节需求</a:t>
                    </a:r>
                  </a:p>
                </p:txBody>
              </p:sp>
              <p:sp>
                <p:nvSpPr>
                  <p:cNvPr id="12" name="文本框 11"/>
                  <p:cNvSpPr txBox="1"/>
                  <p:nvPr/>
                </p:nvSpPr>
                <p:spPr>
                  <a:xfrm>
                    <a:off x="9153" y="3950"/>
                    <a:ext cx="3470" cy="919"/>
                  </a:xfrm>
                  <a:prstGeom prst="rect">
                    <a:avLst/>
                  </a:prstGeom>
                  <a:noFill/>
                </p:spPr>
                <p:txBody>
                  <a:bodyPr wrap="square" rtlCol="0">
                    <a:spAutoFit/>
                  </a:bodyPr>
                  <a:lstStyle/>
                  <a:p>
                    <a:r>
                      <a:rPr lang="zh-CN" altLang="en-US" sz="1600">
                        <a:latin typeface="楷体" panose="02010609060101010101" pitchFamily="49" charset="-122"/>
                        <a:ea typeface="楷体" panose="02010609060101010101" pitchFamily="49" charset="-122"/>
                        <a:cs typeface="楷体" panose="02010609060101010101" pitchFamily="49" charset="-122"/>
                      </a:rPr>
                      <a:t>日期：</a:t>
                    </a:r>
                    <a:r>
                      <a:rPr lang="en-US" altLang="zh-CN" sz="1600">
                        <a:latin typeface="楷体" panose="02010609060101010101" pitchFamily="49" charset="-122"/>
                        <a:ea typeface="楷体" panose="02010609060101010101" pitchFamily="49" charset="-122"/>
                        <a:cs typeface="楷体" panose="02010609060101010101" pitchFamily="49" charset="-122"/>
                      </a:rPr>
                      <a:t>2024</a:t>
                    </a:r>
                    <a:r>
                      <a:rPr lang="zh-CN" altLang="en-US" sz="1600">
                        <a:latin typeface="楷体" panose="02010609060101010101" pitchFamily="49" charset="-122"/>
                        <a:ea typeface="楷体" panose="02010609060101010101" pitchFamily="49" charset="-122"/>
                        <a:cs typeface="楷体" panose="02010609060101010101" pitchFamily="49" charset="-122"/>
                      </a:rPr>
                      <a:t>年</a:t>
                    </a:r>
                    <a:r>
                      <a:rPr lang="en-US" altLang="zh-CN" sz="1600">
                        <a:latin typeface="楷体" panose="02010609060101010101" pitchFamily="49" charset="-122"/>
                        <a:ea typeface="楷体" panose="02010609060101010101" pitchFamily="49" charset="-122"/>
                        <a:cs typeface="楷体" panose="02010609060101010101" pitchFamily="49" charset="-122"/>
                      </a:rPr>
                      <a:t>12</a:t>
                    </a:r>
                    <a:r>
                      <a:rPr lang="zh-CN" altLang="en-US" sz="1600">
                        <a:latin typeface="楷体" panose="02010609060101010101" pitchFamily="49" charset="-122"/>
                        <a:ea typeface="楷体" panose="02010609060101010101" pitchFamily="49" charset="-122"/>
                        <a:cs typeface="楷体" panose="02010609060101010101" pitchFamily="49" charset="-122"/>
                      </a:rPr>
                      <a:t>月</a:t>
                    </a:r>
                    <a:r>
                      <a:rPr lang="en-US" altLang="zh-CN" sz="1600">
                        <a:latin typeface="楷体" panose="02010609060101010101" pitchFamily="49" charset="-122"/>
                        <a:ea typeface="楷体" panose="02010609060101010101" pitchFamily="49" charset="-122"/>
                        <a:cs typeface="楷体" panose="02010609060101010101" pitchFamily="49" charset="-122"/>
                      </a:rPr>
                      <a:t>4</a:t>
                    </a:r>
                    <a:r>
                      <a:rPr lang="zh-CN" altLang="en-US" sz="1600">
                        <a:latin typeface="楷体" panose="02010609060101010101" pitchFamily="49" charset="-122"/>
                        <a:ea typeface="楷体" panose="02010609060101010101" pitchFamily="49" charset="-122"/>
                        <a:cs typeface="楷体" panose="02010609060101010101" pitchFamily="49" charset="-122"/>
                      </a:rPr>
                      <a:t>日</a:t>
                    </a:r>
                  </a:p>
                  <a:p>
                    <a:r>
                      <a:rPr lang="zh-CN" altLang="en-US" sz="1600">
                        <a:latin typeface="楷体" panose="02010609060101010101" pitchFamily="49" charset="-122"/>
                        <a:ea typeface="楷体" panose="02010609060101010101" pitchFamily="49" charset="-122"/>
                        <a:cs typeface="楷体" panose="02010609060101010101" pitchFamily="49" charset="-122"/>
                      </a:rPr>
                      <a:t>主题：销售系统使用</a:t>
                    </a:r>
                  </a:p>
                </p:txBody>
              </p:sp>
            </p:grpSp>
            <p:grpSp>
              <p:nvGrpSpPr>
                <p:cNvPr id="19" name="组合 18"/>
                <p:cNvGrpSpPr/>
                <p:nvPr/>
              </p:nvGrpSpPr>
              <p:grpSpPr>
                <a:xfrm>
                  <a:off x="1925" y="6335"/>
                  <a:ext cx="11054" cy="2160"/>
                  <a:chOff x="1925" y="6335"/>
                  <a:chExt cx="11054" cy="2160"/>
                </a:xfrm>
              </p:grpSpPr>
              <p:sp>
                <p:nvSpPr>
                  <p:cNvPr id="14" name="矩形 13"/>
                  <p:cNvSpPr/>
                  <p:nvPr/>
                </p:nvSpPr>
                <p:spPr>
                  <a:xfrm>
                    <a:off x="1925" y="6335"/>
                    <a:ext cx="5533" cy="2157"/>
                  </a:xfrm>
                  <a:prstGeom prst="rect">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15" name="矩形 14"/>
                  <p:cNvSpPr/>
                  <p:nvPr/>
                </p:nvSpPr>
                <p:spPr>
                  <a:xfrm>
                    <a:off x="7458" y="6338"/>
                    <a:ext cx="5521" cy="2157"/>
                  </a:xfrm>
                  <a:prstGeom prst="rect">
                    <a:avLst/>
                  </a:prstGeom>
                  <a:ln w="3175"/>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17" name="文本框 16"/>
                  <p:cNvSpPr txBox="1"/>
                  <p:nvPr/>
                </p:nvSpPr>
                <p:spPr>
                  <a:xfrm>
                    <a:off x="2078" y="6410"/>
                    <a:ext cx="5234" cy="1695"/>
                  </a:xfrm>
                  <a:prstGeom prst="rect">
                    <a:avLst/>
                  </a:prstGeom>
                  <a:noFill/>
                </p:spPr>
                <p:txBody>
                  <a:bodyPr wrap="square" rtlCol="0">
                    <a:spAutoFit/>
                  </a:bodyPr>
                  <a:lstStyle/>
                  <a:p>
                    <a:r>
                      <a:rPr lang="zh-CN" altLang="en-US" sz="1600">
                        <a:latin typeface="楷体" panose="02010609060101010101" pitchFamily="49" charset="-122"/>
                        <a:ea typeface="楷体" panose="02010609060101010101" pitchFamily="49" charset="-122"/>
                      </a:rPr>
                      <a:t>谈话要点：</a:t>
                    </a:r>
                  </a:p>
                  <a:p>
                    <a:pPr indent="457200"/>
                    <a:r>
                      <a:rPr lang="en-US" altLang="zh-CN" sz="1600">
                        <a:latin typeface="楷体" panose="02010609060101010101" pitchFamily="49" charset="-122"/>
                        <a:ea typeface="楷体" panose="02010609060101010101" pitchFamily="49" charset="-122"/>
                      </a:rPr>
                      <a:t>“</a:t>
                    </a:r>
                    <a:r>
                      <a:rPr lang="zh-CN" altLang="en-US" sz="1600">
                        <a:latin typeface="楷体" panose="02010609060101010101" pitchFamily="49" charset="-122"/>
                        <a:ea typeface="楷体" panose="02010609060101010101" pitchFamily="49" charset="-122"/>
                      </a:rPr>
                      <a:t>期待新系统的出现</a:t>
                    </a:r>
                    <a:r>
                      <a:rPr lang="en-US" altLang="zh-CN" sz="1600">
                        <a:latin typeface="楷体" panose="02010609060101010101" pitchFamily="49" charset="-122"/>
                        <a:ea typeface="楷体" panose="02010609060101010101" pitchFamily="49" charset="-122"/>
                      </a:rPr>
                      <a:t>”</a:t>
                    </a:r>
                  </a:p>
                  <a:p>
                    <a:pPr indent="457200"/>
                    <a:r>
                      <a:rPr lang="en-US" altLang="zh-CN" sz="1600">
                        <a:latin typeface="楷体" panose="02010609060101010101" pitchFamily="49" charset="-122"/>
                        <a:ea typeface="楷体" panose="02010609060101010101" pitchFamily="49" charset="-122"/>
                      </a:rPr>
                      <a:t>“</a:t>
                    </a:r>
                    <a:r>
                      <a:rPr lang="zh-CN" altLang="en-US" sz="1600">
                        <a:latin typeface="楷体" panose="02010609060101010101" pitchFamily="49" charset="-122"/>
                        <a:ea typeface="楷体" panose="02010609060101010101" pitchFamily="49" charset="-122"/>
                      </a:rPr>
                      <a:t>当前的销售流程依赖人工</a:t>
                    </a:r>
                    <a:r>
                      <a:rPr lang="en-US" altLang="zh-CN" sz="1600">
                        <a:latin typeface="楷体" panose="02010609060101010101" pitchFamily="49" charset="-122"/>
                        <a:ea typeface="楷体" panose="02010609060101010101" pitchFamily="49" charset="-122"/>
                      </a:rPr>
                      <a:t>”</a:t>
                    </a:r>
                    <a:endParaRPr lang="zh-CN" altLang="en-US" sz="1600">
                      <a:latin typeface="楷体" panose="02010609060101010101" pitchFamily="49" charset="-122"/>
                      <a:ea typeface="楷体" panose="02010609060101010101" pitchFamily="49" charset="-122"/>
                    </a:endParaRPr>
                  </a:p>
                  <a:p>
                    <a:pPr indent="457200"/>
                    <a:r>
                      <a:rPr lang="en-US" altLang="zh-CN" sz="1600">
                        <a:latin typeface="楷体" panose="02010609060101010101" pitchFamily="49" charset="-122"/>
                        <a:ea typeface="楷体" panose="02010609060101010101" pitchFamily="49" charset="-122"/>
                      </a:rPr>
                      <a:t>“</a:t>
                    </a:r>
                    <a:r>
                      <a:rPr lang="zh-CN" altLang="en-US" sz="1600">
                        <a:latin typeface="楷体" panose="02010609060101010101" pitchFamily="49" charset="-122"/>
                        <a:ea typeface="楷体" panose="02010609060101010101" pitchFamily="49" charset="-122"/>
                      </a:rPr>
                      <a:t>销售经理应具有查询权限</a:t>
                    </a:r>
                    <a:r>
                      <a:rPr lang="en-US" altLang="zh-CN" sz="1600">
                        <a:latin typeface="楷体" panose="02010609060101010101" pitchFamily="49" charset="-122"/>
                        <a:ea typeface="楷体" panose="02010609060101010101" pitchFamily="49" charset="-122"/>
                      </a:rPr>
                      <a:t>”</a:t>
                    </a:r>
                  </a:p>
                </p:txBody>
              </p:sp>
              <p:sp>
                <p:nvSpPr>
                  <p:cNvPr id="18" name="文本框 17"/>
                  <p:cNvSpPr txBox="1"/>
                  <p:nvPr/>
                </p:nvSpPr>
                <p:spPr>
                  <a:xfrm>
                    <a:off x="7646" y="6410"/>
                    <a:ext cx="4977" cy="2082"/>
                  </a:xfrm>
                  <a:prstGeom prst="rect">
                    <a:avLst/>
                  </a:prstGeom>
                  <a:noFill/>
                </p:spPr>
                <p:txBody>
                  <a:bodyPr wrap="square" rtlCol="0">
                    <a:spAutoFit/>
                  </a:bodyPr>
                  <a:lstStyle/>
                  <a:p>
                    <a:r>
                      <a:rPr lang="zh-CN" altLang="en-US" sz="1600">
                        <a:latin typeface="楷体" panose="02010609060101010101" pitchFamily="49" charset="-122"/>
                        <a:ea typeface="楷体" panose="02010609060101010101" pitchFamily="49" charset="-122"/>
                      </a:rPr>
                      <a:t>被会见者观点：</a:t>
                    </a:r>
                  </a:p>
                  <a:p>
                    <a:pPr indent="457200"/>
                    <a:r>
                      <a:rPr lang="zh-CN" altLang="en-US" sz="1600">
                        <a:latin typeface="楷体" panose="02010609060101010101" pitchFamily="49" charset="-122"/>
                        <a:ea typeface="楷体" panose="02010609060101010101" pitchFamily="49" charset="-122"/>
                      </a:rPr>
                      <a:t>目前的库存管理和订单处理依赖手动查询，库存信息更新不及时，导致订单确认和交货过程存在滞后。</a:t>
                    </a:r>
                  </a:p>
                </p:txBody>
              </p:sp>
            </p:grpSp>
          </p:grpSp>
          <p:grpSp>
            <p:nvGrpSpPr>
              <p:cNvPr id="24" name="组合 23"/>
              <p:cNvGrpSpPr/>
              <p:nvPr/>
            </p:nvGrpSpPr>
            <p:grpSpPr>
              <a:xfrm>
                <a:off x="1927" y="8492"/>
                <a:ext cx="11056" cy="994"/>
                <a:chOff x="1927" y="8492"/>
                <a:chExt cx="11056" cy="994"/>
              </a:xfrm>
            </p:grpSpPr>
            <p:sp>
              <p:nvSpPr>
                <p:cNvPr id="22" name="矩形 21"/>
                <p:cNvSpPr/>
                <p:nvPr/>
              </p:nvSpPr>
              <p:spPr>
                <a:xfrm>
                  <a:off x="1927" y="8492"/>
                  <a:ext cx="11056" cy="994"/>
                </a:xfrm>
                <a:prstGeom prst="rect">
                  <a:avLst/>
                </a:prstGeom>
                <a:ln w="0"/>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23" name="文本框 22"/>
                <p:cNvSpPr txBox="1"/>
                <p:nvPr/>
              </p:nvSpPr>
              <p:spPr>
                <a:xfrm>
                  <a:off x="2078" y="8492"/>
                  <a:ext cx="10498" cy="874"/>
                </a:xfrm>
                <a:prstGeom prst="rect">
                  <a:avLst/>
                </a:prstGeom>
                <a:noFill/>
              </p:spPr>
              <p:txBody>
                <a:bodyPr wrap="square" rtlCol="0">
                  <a:noAutofit/>
                </a:bodyPr>
                <a:lstStyle/>
                <a:p>
                  <a:r>
                    <a:rPr lang="zh-CN" altLang="en-US" sz="1600">
                      <a:latin typeface="楷体" panose="02010609060101010101" pitchFamily="49" charset="-122"/>
                      <a:ea typeface="楷体" panose="02010609060101010101" pitchFamily="49" charset="-122"/>
                    </a:rPr>
                    <a:t>下次面谈目标：</a:t>
                  </a:r>
                </a:p>
                <a:p>
                  <a:pPr indent="457200"/>
                  <a:r>
                    <a:rPr lang="zh-CN" altLang="en-US" sz="1600">
                      <a:latin typeface="楷体" panose="02010609060101010101" pitchFamily="49" charset="-122"/>
                      <a:ea typeface="楷体" panose="02010609060101010101" pitchFamily="49" charset="-122"/>
                    </a:rPr>
                    <a:t>找出下一个被会见者观点。</a:t>
                  </a:r>
                </a:p>
              </p:txBody>
            </p:sp>
          </p:grpSp>
        </p:grpSp>
        <p:sp>
          <p:nvSpPr>
            <p:cNvPr id="26" name="文本框 25"/>
            <p:cNvSpPr txBox="1"/>
            <p:nvPr/>
          </p:nvSpPr>
          <p:spPr>
            <a:xfrm>
              <a:off x="5215" y="9486"/>
              <a:ext cx="4480" cy="580"/>
            </a:xfrm>
            <a:prstGeom prst="rect">
              <a:avLst/>
            </a:prstGeom>
            <a:noFill/>
          </p:spPr>
          <p:txBody>
            <a:bodyPr wrap="square" rtlCol="0">
              <a:spAutoFit/>
            </a:bodyPr>
            <a:lstStyle/>
            <a:p>
              <a:r>
                <a:rPr lang="zh-CN" altLang="en-US">
                  <a:latin typeface="楷体" panose="02010609060101010101" pitchFamily="49" charset="-122"/>
                  <a:ea typeface="楷体" panose="02010609060101010101" pitchFamily="49" charset="-122"/>
                </a:rPr>
                <a:t>千金药业销售部面谈报告</a:t>
              </a:r>
            </a:p>
          </p:txBody>
        </p:sp>
      </p:grpSp>
      <p:pic>
        <p:nvPicPr>
          <p:cNvPr id="5" name="图片 4"/>
          <p:cNvPicPr/>
          <p:nvPr/>
        </p:nvPicPr>
        <p:blipFill>
          <a:blip r:embed="rId3"/>
          <a:stretch>
            <a:fillRect/>
          </a:stretch>
        </p:blipFill>
        <p:spPr>
          <a:xfrm>
            <a:off x="8515350" y="6026150"/>
            <a:ext cx="628650" cy="40703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anose="05000000000000000000" charset="0"/>
              <a:buChar char="Ø"/>
            </a:pPr>
            <a:r>
              <a:rPr kumimoji="1" lang="zh-CN" altLang="en-US" sz="2800" b="1" dirty="0">
                <a:latin typeface="楷体" panose="02010609060101010101" pitchFamily="49" charset="-122"/>
                <a:ea typeface="楷体" panose="02010609060101010101" pitchFamily="49" charset="-122"/>
              </a:rPr>
              <a:t>面谈的类型</a:t>
            </a:r>
          </a:p>
        </p:txBody>
      </p:sp>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面谈</a:t>
            </a:r>
          </a:p>
        </p:txBody>
      </p:sp>
      <p:sp>
        <p:nvSpPr>
          <p:cNvPr id="3" name="文本框 2"/>
          <p:cNvSpPr txBox="1"/>
          <p:nvPr/>
        </p:nvSpPr>
        <p:spPr>
          <a:xfrm>
            <a:off x="628650" y="1263015"/>
            <a:ext cx="7671435" cy="460375"/>
          </a:xfrm>
          <a:prstGeom prst="rect">
            <a:avLst/>
          </a:prstGeom>
          <a:noFill/>
          <a:ln>
            <a:solidFill>
              <a:schemeClr val="accent1"/>
            </a:solidFill>
          </a:ln>
        </p:spPr>
        <p:txBody>
          <a:bodyPr wrap="square" rtlCol="0">
            <a:spAutoFit/>
          </a:bodyPr>
          <a:lstStyle/>
          <a:p>
            <a:r>
              <a:rPr lang="zh-CN" altLang="en-US" sz="2400">
                <a:latin typeface="楷体" panose="02010609060101010101" pitchFamily="49" charset="-122"/>
                <a:ea typeface="楷体" panose="02010609060101010101" pitchFamily="49" charset="-122"/>
              </a:rPr>
              <a:t>面谈可分为结构化面谈、半结构化面谈和非结构化面谈。</a:t>
            </a:r>
          </a:p>
        </p:txBody>
      </p:sp>
      <p:grpSp>
        <p:nvGrpSpPr>
          <p:cNvPr id="7" name="组合 6"/>
          <p:cNvGrpSpPr/>
          <p:nvPr>
            <p:custDataLst>
              <p:tags r:id="rId1"/>
            </p:custDataLst>
          </p:nvPr>
        </p:nvGrpSpPr>
        <p:grpSpPr>
          <a:xfrm>
            <a:off x="628702" y="2104390"/>
            <a:ext cx="7671967" cy="1782421"/>
            <a:chOff x="990" y="3321"/>
            <a:chExt cx="12082" cy="2807"/>
          </a:xfrm>
        </p:grpSpPr>
        <p:sp>
          <p:nvSpPr>
            <p:cNvPr id="4" name="文本框 3"/>
            <p:cNvSpPr txBox="1"/>
            <p:nvPr>
              <p:custDataLst>
                <p:tags r:id="rId5"/>
              </p:custDataLst>
            </p:nvPr>
          </p:nvSpPr>
          <p:spPr>
            <a:xfrm>
              <a:off x="990" y="4046"/>
              <a:ext cx="12082" cy="2082"/>
            </a:xfrm>
            <a:prstGeom prst="rect">
              <a:avLst/>
            </a:prstGeom>
            <a:noFill/>
            <a:ln>
              <a:solidFill>
                <a:schemeClr val="accent1"/>
              </a:solidFill>
            </a:ln>
          </p:spPr>
          <p:txBody>
            <a:bodyPr wrap="square" rtlCol="0">
              <a:spAutoFit/>
            </a:bodyPr>
            <a:lstStyle/>
            <a:p>
              <a:r>
                <a:rPr lang="zh-CN" altLang="en-US" sz="2000">
                  <a:latin typeface="楷体" panose="02010609060101010101" pitchFamily="49" charset="-122"/>
                  <a:ea typeface="楷体" panose="02010609060101010101" pitchFamily="49" charset="-122"/>
                </a:rPr>
                <a:t>特点：严格按照</a:t>
              </a:r>
              <a:r>
                <a:rPr lang="zh-CN" altLang="en-US" sz="2000" b="1">
                  <a:solidFill>
                    <a:srgbClr val="7030A0"/>
                  </a:solidFill>
                  <a:latin typeface="楷体" panose="02010609060101010101" pitchFamily="49" charset="-122"/>
                  <a:ea typeface="楷体" panose="02010609060101010101" pitchFamily="49" charset="-122"/>
                </a:rPr>
                <a:t>事先准备好的问题</a:t>
              </a:r>
              <a:r>
                <a:rPr lang="zh-CN" altLang="en-US" sz="2000">
                  <a:latin typeface="楷体" panose="02010609060101010101" pitchFamily="49" charset="-122"/>
                  <a:ea typeface="楷体" panose="02010609060101010101" pitchFamily="49" charset="-122"/>
                </a:rPr>
                <a:t>和结构进行，通常用于获取确定或选择空间有限的信息。</a:t>
              </a:r>
            </a:p>
            <a:p>
              <a:r>
                <a:rPr lang="zh-CN" altLang="en-US" sz="2000">
                  <a:latin typeface="楷体" panose="02010609060101010101" pitchFamily="49" charset="-122"/>
                  <a:ea typeface="楷体" panose="02010609060101010101" pitchFamily="49" charset="-122"/>
                </a:rPr>
                <a:t>应用：适用于需要统计性、定量数据的获取或对某些</a:t>
              </a:r>
              <a:r>
                <a:rPr lang="zh-CN" altLang="en-US" sz="2000" b="1">
                  <a:solidFill>
                    <a:srgbClr val="7030A0"/>
                  </a:solidFill>
                  <a:latin typeface="楷体" panose="02010609060101010101" pitchFamily="49" charset="-122"/>
                  <a:ea typeface="楷体" panose="02010609060101010101" pitchFamily="49" charset="-122"/>
                </a:rPr>
                <a:t>信息有明确要求</a:t>
              </a:r>
              <a:r>
                <a:rPr lang="zh-CN" altLang="en-US" sz="2000">
                  <a:latin typeface="楷体" panose="02010609060101010101" pitchFamily="49" charset="-122"/>
                  <a:ea typeface="楷体" panose="02010609060101010101" pitchFamily="49" charset="-122"/>
                </a:rPr>
                <a:t>的场合。</a:t>
              </a:r>
            </a:p>
          </p:txBody>
        </p:sp>
        <p:sp>
          <p:nvSpPr>
            <p:cNvPr id="5" name="文本框 4"/>
            <p:cNvSpPr txBox="1"/>
            <p:nvPr>
              <p:custDataLst>
                <p:tags r:id="rId6"/>
              </p:custDataLst>
            </p:nvPr>
          </p:nvSpPr>
          <p:spPr>
            <a:xfrm>
              <a:off x="990" y="3321"/>
              <a:ext cx="2805" cy="725"/>
            </a:xfrm>
            <a:prstGeom prst="rect">
              <a:avLst/>
            </a:prstGeom>
            <a:noFill/>
            <a:ln>
              <a:solidFill>
                <a:schemeClr val="accent1"/>
              </a:solidFill>
            </a:ln>
          </p:spPr>
          <p:txBody>
            <a:bodyPr wrap="square" rtlCol="0">
              <a:spAutoFit/>
            </a:bodyPr>
            <a:lstStyle/>
            <a:p>
              <a:r>
                <a:rPr lang="zh-CN" altLang="en-US" sz="2400">
                  <a:latin typeface="楷体" panose="02010609060101010101" pitchFamily="49" charset="-122"/>
                  <a:ea typeface="楷体" panose="02010609060101010101" pitchFamily="49" charset="-122"/>
                </a:rPr>
                <a:t>结构化面谈</a:t>
              </a:r>
            </a:p>
          </p:txBody>
        </p:sp>
      </p:grpSp>
      <p:grpSp>
        <p:nvGrpSpPr>
          <p:cNvPr id="10" name="组合 9"/>
          <p:cNvGrpSpPr/>
          <p:nvPr>
            <p:custDataLst>
              <p:tags r:id="rId2"/>
            </p:custDataLst>
          </p:nvPr>
        </p:nvGrpSpPr>
        <p:grpSpPr>
          <a:xfrm>
            <a:off x="628702" y="4295744"/>
            <a:ext cx="7671967" cy="1782421"/>
            <a:chOff x="990" y="3321"/>
            <a:chExt cx="12082" cy="2807"/>
          </a:xfrm>
        </p:grpSpPr>
        <p:sp>
          <p:nvSpPr>
            <p:cNvPr id="11" name="文本框 10"/>
            <p:cNvSpPr txBox="1"/>
            <p:nvPr>
              <p:custDataLst>
                <p:tags r:id="rId3"/>
              </p:custDataLst>
            </p:nvPr>
          </p:nvSpPr>
          <p:spPr>
            <a:xfrm>
              <a:off x="990" y="4046"/>
              <a:ext cx="12082" cy="2082"/>
            </a:xfrm>
            <a:prstGeom prst="rect">
              <a:avLst/>
            </a:prstGeom>
            <a:noFill/>
            <a:ln>
              <a:solidFill>
                <a:schemeClr val="accent1"/>
              </a:solidFill>
            </a:ln>
          </p:spPr>
          <p:txBody>
            <a:bodyPr wrap="square" rtlCol="0">
              <a:spAutoFit/>
            </a:bodyPr>
            <a:lstStyle/>
            <a:p>
              <a:r>
                <a:rPr lang="zh-CN" altLang="en-US" sz="2000">
                  <a:latin typeface="楷体" panose="02010609060101010101" pitchFamily="49" charset="-122"/>
                  <a:ea typeface="楷体" panose="02010609060101010101" pitchFamily="49" charset="-122"/>
                </a:rPr>
                <a:t>特点：事先准备问题和结构，但面谈过程中会</a:t>
              </a:r>
              <a:r>
                <a:rPr lang="zh-CN" altLang="en-US" sz="2000" b="1">
                  <a:solidFill>
                    <a:srgbClr val="7030A0"/>
                  </a:solidFill>
                  <a:latin typeface="楷体" panose="02010609060101010101" pitchFamily="49" charset="-122"/>
                  <a:ea typeface="楷体" panose="02010609060101010101" pitchFamily="49" charset="-122"/>
                </a:rPr>
                <a:t>根据实际情况灵活调整问题</a:t>
              </a:r>
              <a:r>
                <a:rPr lang="zh-CN" altLang="en-US" sz="2000">
                  <a:latin typeface="楷体" panose="02010609060101010101" pitchFamily="49" charset="-122"/>
                  <a:ea typeface="楷体" panose="02010609060101010101" pitchFamily="49" charset="-122"/>
                </a:rPr>
                <a:t>的叙述方式和结构。</a:t>
              </a:r>
            </a:p>
            <a:p>
              <a:r>
                <a:rPr lang="zh-CN" altLang="en-US" sz="2000">
                  <a:latin typeface="楷体" panose="02010609060101010101" pitchFamily="49" charset="-122"/>
                  <a:ea typeface="楷体" panose="02010609060101010101" pitchFamily="49" charset="-122"/>
                </a:rPr>
                <a:t>应用：适合在一定框架下</a:t>
              </a:r>
              <a:r>
                <a:rPr lang="zh-CN" altLang="en-US" sz="2000" b="1">
                  <a:solidFill>
                    <a:srgbClr val="7030A0"/>
                  </a:solidFill>
                  <a:latin typeface="楷体" panose="02010609060101010101" pitchFamily="49" charset="-122"/>
                  <a:ea typeface="楷体" panose="02010609060101010101" pitchFamily="49" charset="-122"/>
                </a:rPr>
                <a:t>探索性</a:t>
              </a:r>
              <a:r>
                <a:rPr lang="zh-CN" altLang="en-US" sz="2000">
                  <a:latin typeface="楷体" panose="02010609060101010101" pitchFamily="49" charset="-122"/>
                  <a:ea typeface="楷体" panose="02010609060101010101" pitchFamily="49" charset="-122"/>
                </a:rPr>
                <a:t>地处理问题。会见者有对主题一定了解，并根据探索需要进行</a:t>
              </a:r>
              <a:r>
                <a:rPr lang="zh-CN" altLang="en-US" sz="2000" b="1">
                  <a:solidFill>
                    <a:srgbClr val="7030A0"/>
                  </a:solidFill>
                  <a:latin typeface="楷体" panose="02010609060101010101" pitchFamily="49" charset="-122"/>
                  <a:ea typeface="楷体" panose="02010609060101010101" pitchFamily="49" charset="-122"/>
                </a:rPr>
                <a:t>调整</a:t>
              </a:r>
              <a:r>
                <a:rPr lang="zh-CN" altLang="en-US" sz="2000">
                  <a:latin typeface="楷体" panose="02010609060101010101" pitchFamily="49" charset="-122"/>
                  <a:ea typeface="楷体" panose="02010609060101010101" pitchFamily="49" charset="-122"/>
                </a:rPr>
                <a:t>。</a:t>
              </a:r>
            </a:p>
          </p:txBody>
        </p:sp>
        <p:sp>
          <p:nvSpPr>
            <p:cNvPr id="12" name="文本框 11"/>
            <p:cNvSpPr txBox="1"/>
            <p:nvPr>
              <p:custDataLst>
                <p:tags r:id="rId4"/>
              </p:custDataLst>
            </p:nvPr>
          </p:nvSpPr>
          <p:spPr>
            <a:xfrm>
              <a:off x="990" y="3321"/>
              <a:ext cx="3303" cy="725"/>
            </a:xfrm>
            <a:prstGeom prst="rect">
              <a:avLst/>
            </a:prstGeom>
            <a:noFill/>
            <a:ln>
              <a:solidFill>
                <a:schemeClr val="accent1"/>
              </a:solidFill>
            </a:ln>
          </p:spPr>
          <p:txBody>
            <a:bodyPr wrap="square" rtlCol="0">
              <a:spAutoFit/>
            </a:bodyPr>
            <a:lstStyle/>
            <a:p>
              <a:r>
                <a:rPr lang="zh-CN" altLang="en-US" sz="2400">
                  <a:latin typeface="楷体" panose="02010609060101010101" pitchFamily="49" charset="-122"/>
                  <a:ea typeface="楷体" panose="02010609060101010101" pitchFamily="49" charset="-122"/>
                </a:rPr>
                <a:t>半结构化面谈</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3"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面谈</a:t>
            </a:r>
          </a:p>
        </p:txBody>
      </p:sp>
      <p:grpSp>
        <p:nvGrpSpPr>
          <p:cNvPr id="7" name="组合 6"/>
          <p:cNvGrpSpPr/>
          <p:nvPr>
            <p:custDataLst>
              <p:tags r:id="rId1"/>
            </p:custDataLst>
          </p:nvPr>
        </p:nvGrpSpPr>
        <p:grpSpPr>
          <a:xfrm>
            <a:off x="628754" y="755194"/>
            <a:ext cx="6773977" cy="2398116"/>
            <a:chOff x="988" y="3416"/>
            <a:chExt cx="11624" cy="3283"/>
          </a:xfrm>
        </p:grpSpPr>
        <p:sp>
          <p:nvSpPr>
            <p:cNvPr id="4" name="文本框 3"/>
            <p:cNvSpPr txBox="1"/>
            <p:nvPr>
              <p:custDataLst>
                <p:tags r:id="rId3"/>
              </p:custDataLst>
            </p:nvPr>
          </p:nvSpPr>
          <p:spPr>
            <a:xfrm>
              <a:off x="990" y="4046"/>
              <a:ext cx="11622" cy="2653"/>
            </a:xfrm>
            <a:prstGeom prst="rect">
              <a:avLst/>
            </a:prstGeom>
            <a:noFill/>
            <a:ln>
              <a:solidFill>
                <a:schemeClr val="accent1"/>
              </a:solidFill>
            </a:ln>
          </p:spPr>
          <p:txBody>
            <a:bodyPr wrap="square" rtlCol="0">
              <a:spAutoFit/>
            </a:bodyPr>
            <a:lstStyle/>
            <a:p>
              <a:r>
                <a:rPr lang="zh-CN" altLang="en-US" sz="2000">
                  <a:latin typeface="楷体" panose="02010609060101010101" pitchFamily="49" charset="-122"/>
                  <a:ea typeface="楷体" panose="02010609060101010101" pitchFamily="49" charset="-122"/>
                </a:rPr>
                <a:t>特点：</a:t>
              </a:r>
              <a:r>
                <a:rPr lang="zh-CN" altLang="en-US" sz="2000" b="1">
                  <a:solidFill>
                    <a:srgbClr val="7030A0"/>
                  </a:solidFill>
                  <a:latin typeface="楷体" panose="02010609060101010101" pitchFamily="49" charset="-122"/>
                  <a:ea typeface="楷体" panose="02010609060101010101" pitchFamily="49" charset="-122"/>
                </a:rPr>
                <a:t>没有预定的议程或结构</a:t>
              </a:r>
              <a:r>
                <a:rPr lang="zh-CN" altLang="en-US" sz="2000">
                  <a:latin typeface="楷体" panose="02010609060101010101" pitchFamily="49" charset="-122"/>
                  <a:ea typeface="楷体" panose="02010609060101010101" pitchFamily="49" charset="-122"/>
                </a:rPr>
                <a:t>，主题可以广泛且不深入。可能没有太多事前准备，甚至直接到被会见者的工作地进行会谈。</a:t>
              </a:r>
            </a:p>
            <a:p>
              <a:r>
                <a:rPr lang="zh-CN" altLang="en-US" sz="2000">
                  <a:latin typeface="楷体" panose="02010609060101010101" pitchFamily="49" charset="-122"/>
                  <a:ea typeface="楷体" panose="02010609060101010101" pitchFamily="49" charset="-122"/>
                </a:rPr>
                <a:t>应用：用于获取</a:t>
              </a:r>
              <a:r>
                <a:rPr lang="zh-CN" altLang="en-US" sz="2000" b="1">
                  <a:solidFill>
                    <a:srgbClr val="7030A0"/>
                  </a:solidFill>
                  <a:latin typeface="楷体" panose="02010609060101010101" pitchFamily="49" charset="-122"/>
                  <a:ea typeface="楷体" panose="02010609060101010101" pitchFamily="49" charset="-122"/>
                </a:rPr>
                <a:t>概要性和全局性</a:t>
              </a:r>
              <a:r>
                <a:rPr lang="zh-CN" altLang="en-US" sz="2000">
                  <a:latin typeface="楷体" panose="02010609060101010101" pitchFamily="49" charset="-122"/>
                  <a:ea typeface="楷体" panose="02010609060101010101" pitchFamily="49" charset="-122"/>
                </a:rPr>
                <a:t>信息，特别在需求获取的初期阶段有帮助。如果某个主题信息不足，也可通过非结构化面谈深入讨论。</a:t>
              </a:r>
            </a:p>
          </p:txBody>
        </p:sp>
        <p:sp>
          <p:nvSpPr>
            <p:cNvPr id="5" name="文本框 4"/>
            <p:cNvSpPr txBox="1"/>
            <p:nvPr>
              <p:custDataLst>
                <p:tags r:id="rId4"/>
              </p:custDataLst>
            </p:nvPr>
          </p:nvSpPr>
          <p:spPr>
            <a:xfrm>
              <a:off x="988" y="3416"/>
              <a:ext cx="3632" cy="630"/>
            </a:xfrm>
            <a:prstGeom prst="rect">
              <a:avLst/>
            </a:prstGeom>
            <a:noFill/>
            <a:ln>
              <a:solidFill>
                <a:schemeClr val="accent1"/>
              </a:solidFill>
            </a:ln>
          </p:spPr>
          <p:txBody>
            <a:bodyPr wrap="square" rtlCol="0">
              <a:spAutoFit/>
            </a:bodyPr>
            <a:lstStyle/>
            <a:p>
              <a:r>
                <a:rPr lang="zh-CN" altLang="en-US" sz="2400">
                  <a:latin typeface="楷体" panose="02010609060101010101" pitchFamily="49" charset="-122"/>
                  <a:ea typeface="楷体" panose="02010609060101010101" pitchFamily="49" charset="-122"/>
                </a:rPr>
                <a:t>非结构化面谈</a:t>
              </a:r>
            </a:p>
          </p:txBody>
        </p:sp>
      </p:grpSp>
      <p:graphicFrame>
        <p:nvGraphicFramePr>
          <p:cNvPr id="8" name="表格 7"/>
          <p:cNvGraphicFramePr/>
          <p:nvPr>
            <p:custDataLst>
              <p:tags r:id="rId2"/>
            </p:custDataLst>
          </p:nvPr>
        </p:nvGraphicFramePr>
        <p:xfrm>
          <a:off x="628650" y="3406140"/>
          <a:ext cx="7673340" cy="2519680"/>
        </p:xfrm>
        <a:graphic>
          <a:graphicData uri="http://schemas.openxmlformats.org/drawingml/2006/table">
            <a:tbl>
              <a:tblPr firstRow="1" bandRow="1">
                <a:tableStyleId>{5C22544A-7EE6-4342-B048-85BDC9FD1C3A}</a:tableStyleId>
              </a:tblPr>
              <a:tblGrid>
                <a:gridCol w="692150">
                  <a:extLst>
                    <a:ext uri="{9D8B030D-6E8A-4147-A177-3AD203B41FA5}">
                      <a16:colId xmlns:a16="http://schemas.microsoft.com/office/drawing/2014/main" val="20000"/>
                    </a:ext>
                  </a:extLst>
                </a:gridCol>
                <a:gridCol w="2148205">
                  <a:extLst>
                    <a:ext uri="{9D8B030D-6E8A-4147-A177-3AD203B41FA5}">
                      <a16:colId xmlns:a16="http://schemas.microsoft.com/office/drawing/2014/main" val="20001"/>
                    </a:ext>
                  </a:extLst>
                </a:gridCol>
                <a:gridCol w="2886075">
                  <a:extLst>
                    <a:ext uri="{9D8B030D-6E8A-4147-A177-3AD203B41FA5}">
                      <a16:colId xmlns:a16="http://schemas.microsoft.com/office/drawing/2014/main" val="20002"/>
                    </a:ext>
                  </a:extLst>
                </a:gridCol>
                <a:gridCol w="1946910">
                  <a:extLst>
                    <a:ext uri="{9D8B030D-6E8A-4147-A177-3AD203B41FA5}">
                      <a16:colId xmlns:a16="http://schemas.microsoft.com/office/drawing/2014/main" val="20003"/>
                    </a:ext>
                  </a:extLst>
                </a:gridCol>
              </a:tblGrid>
              <a:tr h="416560">
                <a:tc>
                  <a:txBody>
                    <a:bodyPr/>
                    <a:lstStyle/>
                    <a:p>
                      <a:pPr algn="ctr">
                        <a:buNone/>
                      </a:pPr>
                      <a:endParaRPr lang="zh-CN" altLang="en-US" sz="1800">
                        <a:latin typeface="楷体" panose="02010609060101010101" pitchFamily="49" charset="-122"/>
                        <a:ea typeface="楷体" panose="02010609060101010101" pitchFamily="49" charset="-122"/>
                      </a:endParaRPr>
                    </a:p>
                  </a:txBody>
                  <a:tcPr/>
                </a:tc>
                <a:tc>
                  <a:txBody>
                    <a:bodyPr/>
                    <a:lstStyle/>
                    <a:p>
                      <a:pPr algn="ctr">
                        <a:buNone/>
                      </a:pPr>
                      <a:r>
                        <a:rPr lang="zh-CN" altLang="en-US" sz="1800">
                          <a:latin typeface="楷体" panose="02010609060101010101" pitchFamily="49" charset="-122"/>
                          <a:ea typeface="楷体" panose="02010609060101010101" pitchFamily="49" charset="-122"/>
                        </a:rPr>
                        <a:t>结构化面谈</a:t>
                      </a:r>
                    </a:p>
                  </a:txBody>
                  <a:tcPr/>
                </a:tc>
                <a:tc>
                  <a:txBody>
                    <a:bodyPr/>
                    <a:lstStyle/>
                    <a:p>
                      <a:pPr algn="ctr">
                        <a:buNone/>
                      </a:pPr>
                      <a:r>
                        <a:rPr lang="zh-CN" altLang="en-US" sz="1800">
                          <a:latin typeface="楷体" panose="02010609060101010101" pitchFamily="49" charset="-122"/>
                          <a:ea typeface="楷体" panose="02010609060101010101" pitchFamily="49" charset="-122"/>
                        </a:rPr>
                        <a:t>半结构化面谈</a:t>
                      </a:r>
                    </a:p>
                  </a:txBody>
                  <a:tcPr/>
                </a:tc>
                <a:tc>
                  <a:txBody>
                    <a:bodyPr/>
                    <a:lstStyle/>
                    <a:p>
                      <a:pPr algn="ctr">
                        <a:buNone/>
                      </a:pPr>
                      <a:r>
                        <a:rPr lang="zh-CN" altLang="en-US" sz="1800">
                          <a:latin typeface="楷体" panose="02010609060101010101" pitchFamily="49" charset="-122"/>
                          <a:ea typeface="楷体" panose="02010609060101010101" pitchFamily="49" charset="-122"/>
                        </a:rPr>
                        <a:t>非结构化面谈</a:t>
                      </a:r>
                    </a:p>
                  </a:txBody>
                  <a:tcPr/>
                </a:tc>
                <a:extLst>
                  <a:ext uri="{0D108BD9-81ED-4DB2-BD59-A6C34878D82A}">
                    <a16:rowId xmlns:a16="http://schemas.microsoft.com/office/drawing/2014/main" val="10000"/>
                  </a:ext>
                </a:extLst>
              </a:tr>
              <a:tr h="799465">
                <a:tc>
                  <a:txBody>
                    <a:bodyPr/>
                    <a:lstStyle/>
                    <a:p>
                      <a:pPr algn="ctr">
                        <a:buNone/>
                      </a:pPr>
                      <a:r>
                        <a:rPr lang="zh-CN" altLang="en-US" sz="1800">
                          <a:latin typeface="楷体" panose="02010609060101010101" pitchFamily="49" charset="-122"/>
                          <a:ea typeface="楷体" panose="02010609060101010101" pitchFamily="49" charset="-122"/>
                        </a:rPr>
                        <a:t>优点</a:t>
                      </a:r>
                    </a:p>
                  </a:txBody>
                  <a:tcPr anchor="ctr"/>
                </a:tc>
                <a:tc>
                  <a:txBody>
                    <a:bodyPr/>
                    <a:lstStyle/>
                    <a:p>
                      <a:pPr algn="l">
                        <a:buNone/>
                      </a:pPr>
                      <a:r>
                        <a:rPr lang="zh-CN" altLang="en-US" sz="1800">
                          <a:latin typeface="楷体" panose="02010609060101010101" pitchFamily="49" charset="-122"/>
                          <a:ea typeface="楷体" panose="02010609060101010101" pitchFamily="49" charset="-122"/>
                        </a:rPr>
                        <a:t>易于控制、答复准确、</a:t>
                      </a:r>
                      <a:r>
                        <a:rPr lang="zh-CN" altLang="en-US" sz="1800" b="1">
                          <a:solidFill>
                            <a:srgbClr val="7030A0"/>
                          </a:solidFill>
                          <a:latin typeface="楷体" panose="02010609060101010101" pitchFamily="49" charset="-122"/>
                          <a:ea typeface="楷体" panose="02010609060101010101" pitchFamily="49" charset="-122"/>
                        </a:rPr>
                        <a:t>节省时间</a:t>
                      </a:r>
                      <a:r>
                        <a:rPr lang="zh-CN" altLang="en-US" sz="1800">
                          <a:latin typeface="楷体" panose="02010609060101010101" pitchFamily="49" charset="-122"/>
                          <a:ea typeface="楷体" panose="02010609060101010101" pitchFamily="49" charset="-122"/>
                        </a:rPr>
                        <a:t>。</a:t>
                      </a:r>
                    </a:p>
                  </a:txBody>
                  <a:tcPr anchor="ctr"/>
                </a:tc>
                <a:tc>
                  <a:txBody>
                    <a:bodyPr/>
                    <a:lstStyle/>
                    <a:p>
                      <a:pPr algn="l">
                        <a:buNone/>
                      </a:pPr>
                      <a:r>
                        <a:rPr lang="zh-CN" altLang="en-US" sz="1800">
                          <a:latin typeface="楷体" panose="02010609060101010101" pitchFamily="49" charset="-122"/>
                          <a:ea typeface="楷体" panose="02010609060101010101" pitchFamily="49" charset="-122"/>
                        </a:rPr>
                        <a:t>结合了封闭式和开放式问题，</a:t>
                      </a:r>
                      <a:r>
                        <a:rPr lang="zh-CN" altLang="en-US" sz="1800" b="1">
                          <a:solidFill>
                            <a:srgbClr val="7030A0"/>
                          </a:solidFill>
                          <a:latin typeface="楷体" panose="02010609060101010101" pitchFamily="49" charset="-122"/>
                          <a:ea typeface="楷体" panose="02010609060101010101" pitchFamily="49" charset="-122"/>
                        </a:rPr>
                        <a:t>灵活性较高</a:t>
                      </a:r>
                      <a:r>
                        <a:rPr lang="zh-CN" altLang="en-US" sz="1800">
                          <a:latin typeface="楷体" panose="02010609060101010101" pitchFamily="49" charset="-122"/>
                          <a:ea typeface="楷体" panose="02010609060101010101" pitchFamily="49" charset="-122"/>
                        </a:rPr>
                        <a:t>，适用于大多数需求获取任务。</a:t>
                      </a:r>
                    </a:p>
                  </a:txBody>
                  <a:tcPr anchor="ctr"/>
                </a:tc>
                <a:tc>
                  <a:txBody>
                    <a:bodyPr/>
                    <a:lstStyle/>
                    <a:p>
                      <a:pPr algn="l">
                        <a:buNone/>
                      </a:pPr>
                      <a:r>
                        <a:rPr lang="zh-CN" altLang="en-US" sz="1800">
                          <a:latin typeface="楷体" panose="02010609060101010101" pitchFamily="49" charset="-122"/>
                          <a:ea typeface="楷体" panose="02010609060101010101" pitchFamily="49" charset="-122"/>
                        </a:rPr>
                        <a:t>能够获取</a:t>
                      </a:r>
                      <a:r>
                        <a:rPr lang="zh-CN" altLang="en-US" sz="1800" b="1">
                          <a:solidFill>
                            <a:srgbClr val="7030A0"/>
                          </a:solidFill>
                          <a:latin typeface="楷体" panose="02010609060101010101" pitchFamily="49" charset="-122"/>
                          <a:ea typeface="楷体" panose="02010609060101010101" pitchFamily="49" charset="-122"/>
                        </a:rPr>
                        <a:t>更丰富</a:t>
                      </a:r>
                      <a:r>
                        <a:rPr lang="zh-CN" altLang="en-US" sz="1800">
                          <a:latin typeface="楷体" panose="02010609060101010101" pitchFamily="49" charset="-122"/>
                          <a:ea typeface="楷体" panose="02010609060101010101" pitchFamily="49" charset="-122"/>
                        </a:rPr>
                        <a:t>、</a:t>
                      </a:r>
                      <a:r>
                        <a:rPr lang="zh-CN" altLang="en-US" sz="1800" b="1">
                          <a:solidFill>
                            <a:srgbClr val="7030A0"/>
                          </a:solidFill>
                          <a:latin typeface="楷体" panose="02010609060101010101" pitchFamily="49" charset="-122"/>
                          <a:ea typeface="楷体" panose="02010609060101010101" pitchFamily="49" charset="-122"/>
                        </a:rPr>
                        <a:t>深入的内容</a:t>
                      </a:r>
                      <a:r>
                        <a:rPr lang="zh-CN" altLang="en-US" sz="1800">
                          <a:latin typeface="楷体" panose="02010609060101010101" pitchFamily="49" charset="-122"/>
                          <a:ea typeface="楷体" panose="02010609060101010101" pitchFamily="49" charset="-122"/>
                        </a:rPr>
                        <a:t>。</a:t>
                      </a:r>
                    </a:p>
                  </a:txBody>
                  <a:tcPr anchor="ctr"/>
                </a:tc>
                <a:extLst>
                  <a:ext uri="{0D108BD9-81ED-4DB2-BD59-A6C34878D82A}">
                    <a16:rowId xmlns:a16="http://schemas.microsoft.com/office/drawing/2014/main" val="10001"/>
                  </a:ext>
                </a:extLst>
              </a:tr>
              <a:tr h="799465">
                <a:tc>
                  <a:txBody>
                    <a:bodyPr/>
                    <a:lstStyle/>
                    <a:p>
                      <a:pPr algn="ctr">
                        <a:buNone/>
                      </a:pPr>
                      <a:r>
                        <a:rPr lang="zh-CN" altLang="en-US" sz="1800">
                          <a:latin typeface="楷体" panose="02010609060101010101" pitchFamily="49" charset="-122"/>
                          <a:ea typeface="楷体" panose="02010609060101010101" pitchFamily="49" charset="-122"/>
                        </a:rPr>
                        <a:t>缺点</a:t>
                      </a:r>
                    </a:p>
                  </a:txBody>
                  <a:tcPr anchor="ctr"/>
                </a:tc>
                <a:tc>
                  <a:txBody>
                    <a:bodyPr/>
                    <a:lstStyle/>
                    <a:p>
                      <a:pPr algn="l">
                        <a:buNone/>
                      </a:pPr>
                      <a:r>
                        <a:rPr lang="zh-CN" altLang="en-US" sz="1800">
                          <a:latin typeface="楷体" panose="02010609060101010101" pitchFamily="49" charset="-122"/>
                          <a:ea typeface="楷体" panose="02010609060101010101" pitchFamily="49" charset="-122"/>
                        </a:rPr>
                        <a:t>可能让被会见者感到烦躁，</a:t>
                      </a:r>
                      <a:r>
                        <a:rPr lang="zh-CN" altLang="en-US" sz="1800" b="1">
                          <a:solidFill>
                            <a:srgbClr val="7030A0"/>
                          </a:solidFill>
                          <a:latin typeface="楷体" panose="02010609060101010101" pitchFamily="49" charset="-122"/>
                          <a:ea typeface="楷体" panose="02010609060101010101" pitchFamily="49" charset="-122"/>
                        </a:rPr>
                        <a:t>不能获取丰富的内容</a:t>
                      </a:r>
                      <a:r>
                        <a:rPr lang="zh-CN" altLang="en-US" sz="1800">
                          <a:latin typeface="楷体" panose="02010609060101010101" pitchFamily="49" charset="-122"/>
                          <a:ea typeface="楷体" panose="02010609060101010101" pitchFamily="49" charset="-122"/>
                        </a:rPr>
                        <a:t>。</a:t>
                      </a:r>
                    </a:p>
                  </a:txBody>
                  <a:tcPr anchor="ctr"/>
                </a:tc>
                <a:tc>
                  <a:txBody>
                    <a:bodyPr/>
                    <a:lstStyle/>
                    <a:p>
                      <a:pPr algn="l">
                        <a:buNone/>
                      </a:pPr>
                      <a:r>
                        <a:rPr lang="zh-CN" altLang="en-US" sz="1800">
                          <a:latin typeface="楷体" panose="02010609060101010101" pitchFamily="49" charset="-122"/>
                          <a:ea typeface="楷体" panose="02010609060101010101" pitchFamily="49" charset="-122"/>
                        </a:rPr>
                        <a:t>优缺点取决于封闭式问题和开放式问题的比例，灵活性高，但也可能</a:t>
                      </a:r>
                      <a:r>
                        <a:rPr lang="zh-CN" altLang="en-US" sz="1800" b="1">
                          <a:solidFill>
                            <a:srgbClr val="7030A0"/>
                          </a:solidFill>
                          <a:latin typeface="楷体" panose="02010609060101010101" pitchFamily="49" charset="-122"/>
                          <a:ea typeface="楷体" panose="02010609060101010101" pitchFamily="49" charset="-122"/>
                        </a:rPr>
                        <a:t>导致波动</a:t>
                      </a:r>
                      <a:r>
                        <a:rPr lang="zh-CN" altLang="en-US" sz="1800">
                          <a:latin typeface="楷体" panose="02010609060101010101" pitchFamily="49" charset="-122"/>
                          <a:ea typeface="楷体" panose="02010609060101010101" pitchFamily="49" charset="-122"/>
                        </a:rPr>
                        <a:t>。</a:t>
                      </a:r>
                    </a:p>
                  </a:txBody>
                  <a:tcPr anchor="ctr"/>
                </a:tc>
                <a:tc>
                  <a:txBody>
                    <a:bodyPr/>
                    <a:lstStyle/>
                    <a:p>
                      <a:pPr algn="l">
                        <a:buNone/>
                      </a:pPr>
                      <a:r>
                        <a:rPr lang="zh-CN" altLang="en-US" sz="1800">
                          <a:latin typeface="楷体" panose="02010609060101010101" pitchFamily="49" charset="-122"/>
                          <a:ea typeface="楷体" panose="02010609060101010101" pitchFamily="49" charset="-122"/>
                        </a:rPr>
                        <a:t>较难控制，容易导致话题</a:t>
                      </a:r>
                      <a:r>
                        <a:rPr lang="zh-CN" altLang="en-US" sz="1800" b="1">
                          <a:solidFill>
                            <a:srgbClr val="7030A0"/>
                          </a:solidFill>
                          <a:latin typeface="楷体" panose="02010609060101010101" pitchFamily="49" charset="-122"/>
                          <a:ea typeface="楷体" panose="02010609060101010101" pitchFamily="49" charset="-122"/>
                        </a:rPr>
                        <a:t>过于广泛</a:t>
                      </a:r>
                      <a:r>
                        <a:rPr lang="zh-CN" altLang="en-US" sz="1800">
                          <a:latin typeface="楷体" panose="02010609060101010101" pitchFamily="49" charset="-122"/>
                          <a:ea typeface="楷体" panose="02010609060101010101" pitchFamily="49" charset="-122"/>
                        </a:rPr>
                        <a:t>，信息收集可能不系统。</a:t>
                      </a:r>
                    </a:p>
                  </a:txBody>
                  <a:tcPr anchor="ctr"/>
                </a:tc>
                <a:extLst>
                  <a:ext uri="{0D108BD9-81ED-4DB2-BD59-A6C34878D82A}">
                    <a16:rowId xmlns:a16="http://schemas.microsoft.com/office/drawing/2014/main" val="10002"/>
                  </a:ext>
                </a:extLst>
              </a:tr>
            </a:tbl>
          </a:graphicData>
        </a:graphic>
      </p:graphicFrame>
      <p:sp>
        <p:nvSpPr>
          <p:cNvPr id="2" name="文本框 1"/>
          <p:cNvSpPr txBox="1"/>
          <p:nvPr/>
        </p:nvSpPr>
        <p:spPr>
          <a:xfrm>
            <a:off x="2923540" y="6014720"/>
            <a:ext cx="3084195" cy="368300"/>
          </a:xfrm>
          <a:prstGeom prst="rect">
            <a:avLst/>
          </a:prstGeom>
          <a:noFill/>
        </p:spPr>
        <p:txBody>
          <a:bodyPr wrap="square" rtlCol="0">
            <a:spAutoFit/>
          </a:bodyPr>
          <a:lstStyle/>
          <a:p>
            <a:r>
              <a:rPr lang="zh-CN" altLang="en-US">
                <a:latin typeface="楷体" panose="02010609060101010101" pitchFamily="49" charset="-122"/>
                <a:ea typeface="楷体" panose="02010609060101010101" pitchFamily="49" charset="-122"/>
                <a:cs typeface="楷体" panose="02010609060101010101" pitchFamily="49" charset="-122"/>
              </a:rPr>
              <a:t>表</a:t>
            </a:r>
            <a:r>
              <a:rPr lang="en-US" altLang="zh-CN">
                <a:latin typeface="楷体" panose="02010609060101010101" pitchFamily="49" charset="-122"/>
                <a:ea typeface="楷体" panose="02010609060101010101" pitchFamily="49" charset="-122"/>
                <a:cs typeface="楷体" panose="02010609060101010101" pitchFamily="49" charset="-122"/>
              </a:rPr>
              <a:t>10-3 </a:t>
            </a:r>
            <a:r>
              <a:rPr lang="zh-CN" altLang="en-US">
                <a:latin typeface="楷体" panose="02010609060101010101" pitchFamily="49" charset="-122"/>
                <a:ea typeface="楷体" panose="02010609060101010101" pitchFamily="49" charset="-122"/>
                <a:cs typeface="楷体" panose="02010609060101010101" pitchFamily="49" charset="-122"/>
              </a:rPr>
              <a:t>三种面谈方式的对比</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目录</a:t>
            </a:r>
          </a:p>
        </p:txBody>
      </p:sp>
      <p:sp>
        <p:nvSpPr>
          <p:cNvPr id="7" name="内容占位符 2"/>
          <p:cNvSpPr txBox="1"/>
          <p:nvPr/>
        </p:nvSpPr>
        <p:spPr>
          <a:xfrm>
            <a:off x="628650" y="1413672"/>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dirty="0">
                <a:latin typeface="楷体" panose="02010609060101010101" pitchFamily="49" charset="-122"/>
                <a:ea typeface="楷体" panose="02010609060101010101" pitchFamily="49" charset="-122"/>
              </a:rPr>
              <a:t>概述</a:t>
            </a:r>
          </a:p>
          <a:p>
            <a:r>
              <a:rPr kumimoji="1" lang="zh-CN" altLang="en-US" dirty="0">
                <a:latin typeface="楷体" panose="02010609060101010101" pitchFamily="49" charset="-122"/>
                <a:ea typeface="楷体" panose="02010609060101010101" pitchFamily="49" charset="-122"/>
              </a:rPr>
              <a:t>面谈</a:t>
            </a:r>
          </a:p>
          <a:p>
            <a:r>
              <a:rPr kumimoji="1" lang="zh-CN" altLang="en-US" dirty="0">
                <a:solidFill>
                  <a:srgbClr val="FF0000"/>
                </a:solidFill>
                <a:latin typeface="楷体" panose="02010609060101010101" pitchFamily="49" charset="-122"/>
                <a:ea typeface="楷体" panose="02010609060101010101" pitchFamily="49" charset="-122"/>
              </a:rPr>
              <a:t>原型</a:t>
            </a:r>
          </a:p>
          <a:p>
            <a:pPr lvl="1"/>
            <a:r>
              <a:rPr kumimoji="1" lang="zh-CN" altLang="en-US" dirty="0">
                <a:solidFill>
                  <a:srgbClr val="FF0000"/>
                </a:solidFill>
                <a:latin typeface="楷体" panose="02010609060101010101" pitchFamily="49" charset="-122"/>
                <a:ea typeface="楷体" panose="02010609060101010101" pitchFamily="49" charset="-122"/>
              </a:rPr>
              <a:t>不确定性与原型法</a:t>
            </a:r>
          </a:p>
          <a:p>
            <a:pPr lvl="1"/>
            <a:r>
              <a:rPr kumimoji="1" lang="zh-CN" altLang="en-US" dirty="0">
                <a:solidFill>
                  <a:srgbClr val="FF0000"/>
                </a:solidFill>
                <a:latin typeface="楷体" panose="02010609060101010101" pitchFamily="49" charset="-122"/>
                <a:ea typeface="楷体" panose="02010609060101010101" pitchFamily="49" charset="-122"/>
              </a:rPr>
              <a:t>原型法应用过程</a:t>
            </a:r>
          </a:p>
          <a:p>
            <a:pPr lvl="1"/>
            <a:r>
              <a:rPr kumimoji="1" lang="zh-CN" altLang="en-US" dirty="0">
                <a:solidFill>
                  <a:srgbClr val="FF0000"/>
                </a:solidFill>
                <a:latin typeface="楷体" panose="02010609060101010101" pitchFamily="49" charset="-122"/>
                <a:ea typeface="楷体" panose="02010609060101010101" pitchFamily="49" charset="-122"/>
              </a:rPr>
              <a:t>坚持抛弃需求获取原型</a:t>
            </a:r>
          </a:p>
          <a:p>
            <a:pPr lvl="1"/>
            <a:r>
              <a:rPr kumimoji="1" lang="zh-CN" altLang="en-US" dirty="0">
                <a:solidFill>
                  <a:srgbClr val="FF0000"/>
                </a:solidFill>
                <a:latin typeface="楷体" panose="02010609060101010101" pitchFamily="49" charset="-122"/>
                <a:ea typeface="楷体" panose="02010609060101010101" pitchFamily="49" charset="-122"/>
              </a:rPr>
              <a:t>控制原型成本</a:t>
            </a:r>
          </a:p>
          <a:p>
            <a:pPr lvl="1"/>
            <a:r>
              <a:rPr kumimoji="1" lang="zh-CN" altLang="en-US" dirty="0">
                <a:solidFill>
                  <a:srgbClr val="FF0000"/>
                </a:solidFill>
                <a:latin typeface="楷体" panose="02010609060101010101" pitchFamily="49" charset="-122"/>
                <a:ea typeface="楷体" panose="02010609060101010101" pitchFamily="49" charset="-122"/>
              </a:rPr>
              <a:t>善用故事板原型</a:t>
            </a:r>
          </a:p>
          <a:p>
            <a:pPr lvl="1"/>
            <a:r>
              <a:rPr kumimoji="1" lang="zh-CN" altLang="en-US" dirty="0">
                <a:solidFill>
                  <a:srgbClr val="FF0000"/>
                </a:solidFill>
                <a:latin typeface="楷体" panose="02010609060101010101" pitchFamily="49" charset="-122"/>
                <a:ea typeface="楷体" panose="02010609060101010101" pitchFamily="49" charset="-122"/>
              </a:rPr>
              <a:t>原型方法的风险</a:t>
            </a:r>
          </a:p>
          <a:p>
            <a:r>
              <a:rPr kumimoji="1" lang="zh-CN" altLang="en-US" dirty="0">
                <a:latin typeface="楷体" panose="02010609060101010101" pitchFamily="49" charset="-122"/>
                <a:ea typeface="楷体" panose="02010609060101010101" pitchFamily="49" charset="-122"/>
              </a:rPr>
              <a:t>观察</a:t>
            </a:r>
          </a:p>
          <a:p>
            <a:r>
              <a:rPr kumimoji="1" lang="zh-CN" altLang="en-US" dirty="0">
                <a:latin typeface="楷体" panose="02010609060101010101" pitchFamily="49" charset="-122"/>
                <a:ea typeface="楷体" panose="02010609060101010101" pitchFamily="49" charset="-122"/>
              </a:rPr>
              <a:t>文档审查</a:t>
            </a:r>
            <a:endParaRPr kumimoji="1" lang="en-US" altLang="zh-CN" dirty="0">
              <a:latin typeface="楷体" panose="02010609060101010101" pitchFamily="49" charset="-122"/>
              <a:ea typeface="楷体" panose="02010609060101010101" pitchFamily="49" charset="-122"/>
            </a:endParaRPr>
          </a:p>
          <a:p>
            <a:endParaRPr kumimoji="1" lang="en-US" altLang="zh-CN" dirty="0">
              <a:latin typeface="楷体" panose="02010609060101010101" pitchFamily="49" charset="-122"/>
              <a:ea typeface="楷体" panose="02010609060101010101" pitchFamily="49" charset="-122"/>
            </a:endParaRPr>
          </a:p>
          <a:p>
            <a:endParaRPr kumimoji="1" lang="en-US" altLang="zh-CN" dirty="0">
              <a:latin typeface="楷体" panose="02010609060101010101" pitchFamily="49" charset="-122"/>
              <a:ea typeface="楷体" panose="02010609060101010101" pitchFamily="49" charset="-122"/>
            </a:endParaRPr>
          </a:p>
        </p:txBody>
      </p:sp>
      <p:sp>
        <p:nvSpPr>
          <p:cNvPr id="8" name="文本框 7"/>
          <p:cNvSpPr txBox="1"/>
          <p:nvPr/>
        </p:nvSpPr>
        <p:spPr>
          <a:xfrm>
            <a:off x="151596" y="16999"/>
            <a:ext cx="697627" cy="40011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目录</a:t>
            </a:r>
            <a:endParaRPr kumimoji="1" lang="en-US" altLang="zh-CN" sz="2000" dirty="0">
              <a:solidFill>
                <a:schemeClr val="bg1"/>
              </a:solidFill>
              <a:latin typeface="楷体" panose="02010609060101010101" pitchFamily="49" charset="-122"/>
              <a:ea typeface="楷体" panose="02010609060101010101" pitchFamily="49"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txBox="1"/>
          <p:nvPr/>
        </p:nvSpPr>
        <p:spPr>
          <a:xfrm>
            <a:off x="628650" y="1227617"/>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charset="0"/>
              <a:buNone/>
            </a:pPr>
            <a:endParaRPr lang="en-US" altLang="zh-CN" sz="2800" dirty="0">
              <a:latin typeface="楷体" panose="02010609060101010101" pitchFamily="49" charset="-122"/>
              <a:ea typeface="楷体" panose="02010609060101010101" pitchFamily="49" charset="-122"/>
            </a:endParaRPr>
          </a:p>
          <a:p>
            <a:pPr>
              <a:buFont typeface="Wingdings" panose="05000000000000000000" charset="0"/>
              <a:buChar char=""/>
            </a:pPr>
            <a:endParaRPr lang="zh-CN" altLang="en-US" sz="2800" dirty="0">
              <a:latin typeface="楷体" panose="02010609060101010101" pitchFamily="49" charset="-122"/>
              <a:ea typeface="楷体" panose="02010609060101010101" pitchFamily="49" charset="-122"/>
              <a:sym typeface="+mn-ea"/>
            </a:endParaRPr>
          </a:p>
          <a:p>
            <a:pPr>
              <a:lnSpc>
                <a:spcPct val="110000"/>
              </a:lnSpc>
              <a:buFont typeface="Wingdings" panose="05000000000000000000" charset="0"/>
              <a:buChar char=""/>
            </a:pPr>
            <a:r>
              <a:rPr lang="zh-CN" altLang="en-US" sz="2800" dirty="0">
                <a:latin typeface="楷体" panose="02010609060101010101" pitchFamily="49" charset="-122"/>
                <a:ea typeface="楷体" panose="02010609060101010101" pitchFamily="49" charset="-122"/>
                <a:sym typeface="+mn-ea"/>
              </a:rPr>
              <a:t>不确定性是</a:t>
            </a:r>
            <a:r>
              <a:rPr lang="zh-CN" altLang="en-US" sz="2800" b="1" dirty="0">
                <a:solidFill>
                  <a:srgbClr val="88057A"/>
                </a:solidFill>
                <a:latin typeface="楷体" panose="02010609060101010101" pitchFamily="49" charset="-122"/>
                <a:ea typeface="楷体" panose="02010609060101010101" pitchFamily="49" charset="-122"/>
                <a:sym typeface="+mn-ea"/>
              </a:rPr>
              <a:t>广泛存在</a:t>
            </a:r>
            <a:r>
              <a:rPr lang="zh-CN" altLang="en-US" sz="2800" dirty="0">
                <a:latin typeface="楷体" panose="02010609060101010101" pitchFamily="49" charset="-122"/>
                <a:ea typeface="楷体" panose="02010609060101010101" pitchFamily="49" charset="-122"/>
                <a:sym typeface="+mn-ea"/>
              </a:rPr>
              <a:t>的</a:t>
            </a:r>
            <a:endParaRPr lang="en-US" altLang="zh-CN" sz="2800" dirty="0">
              <a:latin typeface="楷体" panose="02010609060101010101" pitchFamily="49" charset="-122"/>
              <a:ea typeface="楷体" panose="02010609060101010101" pitchFamily="49" charset="-122"/>
            </a:endParaRPr>
          </a:p>
          <a:p>
            <a:pPr lvl="1">
              <a:lnSpc>
                <a:spcPct val="110000"/>
              </a:lnSpc>
            </a:pPr>
            <a:r>
              <a:rPr lang="zh-CN" altLang="en-US" dirty="0">
                <a:latin typeface="楷体" panose="02010609060101010101" pitchFamily="49" charset="-122"/>
                <a:ea typeface="楷体" panose="02010609060101010101" pitchFamily="49" charset="-122"/>
                <a:sym typeface="+mn-ea"/>
              </a:rPr>
              <a:t>科学的目的是限定、解释不确定性，不是将不确定性转换为确定性</a:t>
            </a:r>
            <a:endParaRPr lang="en-US" altLang="zh-CN" dirty="0">
              <a:latin typeface="楷体" panose="02010609060101010101" pitchFamily="49" charset="-122"/>
              <a:ea typeface="楷体" panose="02010609060101010101" pitchFamily="49" charset="-122"/>
            </a:endParaRPr>
          </a:p>
          <a:p>
            <a:pPr lvl="1">
              <a:lnSpc>
                <a:spcPct val="110000"/>
              </a:lnSpc>
            </a:pPr>
            <a:r>
              <a:rPr lang="zh-CN" altLang="en-US" dirty="0">
                <a:latin typeface="楷体" panose="02010609060101010101" pitchFamily="49" charset="-122"/>
                <a:ea typeface="楷体" panose="02010609060101010101" pitchFamily="49" charset="-122"/>
                <a:sym typeface="+mn-ea"/>
              </a:rPr>
              <a:t>人们厌恶不确定性：不确定性意味着不完全可控</a:t>
            </a:r>
          </a:p>
          <a:p>
            <a:pPr lvl="1">
              <a:lnSpc>
                <a:spcPct val="110000"/>
              </a:lnSpc>
            </a:pPr>
            <a:endParaRPr lang="en-US" altLang="zh-CN" dirty="0">
              <a:latin typeface="楷体" panose="02010609060101010101" pitchFamily="49" charset="-122"/>
              <a:ea typeface="楷体" panose="02010609060101010101" pitchFamily="49" charset="-122"/>
            </a:endParaRPr>
          </a:p>
          <a:p>
            <a:pPr>
              <a:lnSpc>
                <a:spcPct val="110000"/>
              </a:lnSpc>
              <a:buFont typeface="Wingdings" panose="05000000000000000000" charset="0"/>
              <a:buChar char=""/>
            </a:pPr>
            <a:r>
              <a:rPr lang="zh-CN" altLang="en-US" sz="2800" dirty="0">
                <a:latin typeface="楷体" panose="02010609060101010101" pitchFamily="49" charset="-122"/>
                <a:ea typeface="楷体" panose="02010609060101010101" pitchFamily="49" charset="-122"/>
                <a:sym typeface="+mn-ea"/>
              </a:rPr>
              <a:t>软件工程中存在着大量的不确定性，</a:t>
            </a:r>
            <a:r>
              <a:rPr lang="zh-CN" altLang="en-US" sz="2800" b="1" dirty="0">
                <a:solidFill>
                  <a:srgbClr val="88057A"/>
                </a:solidFill>
                <a:latin typeface="楷体" panose="02010609060101010101" pitchFamily="49" charset="-122"/>
                <a:ea typeface="楷体" panose="02010609060101010101" pitchFamily="49" charset="-122"/>
                <a:sym typeface="+mn-ea"/>
              </a:rPr>
              <a:t>原型</a:t>
            </a:r>
            <a:r>
              <a:rPr lang="zh-CN" altLang="en-US" sz="2800" dirty="0">
                <a:latin typeface="楷体" panose="02010609060101010101" pitchFamily="49" charset="-122"/>
                <a:ea typeface="楷体" panose="02010609060101010101" pitchFamily="49" charset="-122"/>
                <a:sym typeface="+mn-ea"/>
              </a:rPr>
              <a:t>是人们解决不确定性的主要手段</a:t>
            </a:r>
            <a:endParaRPr lang="zh-CN" altLang="en-US" sz="2800" dirty="0">
              <a:latin typeface="楷体" panose="02010609060101010101" pitchFamily="49" charset="-122"/>
              <a:ea typeface="楷体" panose="02010609060101010101" pitchFamily="49" charset="-122"/>
            </a:endParaRPr>
          </a:p>
          <a:p>
            <a:endParaRPr kumimoji="1" lang="en-US" altLang="zh-CN" dirty="0">
              <a:latin typeface="楷体" panose="02010609060101010101" pitchFamily="49" charset="-122"/>
              <a:ea typeface="楷体" panose="02010609060101010101" pitchFamily="49" charset="-122"/>
            </a:endParaRPr>
          </a:p>
        </p:txBody>
      </p:sp>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原型</a:t>
            </a:r>
          </a:p>
        </p:txBody>
      </p:sp>
      <p:sp>
        <p:nvSpPr>
          <p:cNvPr id="4" name="标题 1"/>
          <p:cNvSpPr txBox="1"/>
          <p:nvPr>
            <p:custDataLst>
              <p:tags r:id="rId1"/>
            </p:custDataLst>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不确定性</a:t>
            </a:r>
          </a:p>
        </p:txBody>
      </p:sp>
      <p:sp>
        <p:nvSpPr>
          <p:cNvPr id="23" name="文本框 22"/>
          <p:cNvSpPr txBox="1"/>
          <p:nvPr>
            <p:custDataLst>
              <p:tags r:id="rId2"/>
            </p:custDataLst>
          </p:nvPr>
        </p:nvSpPr>
        <p:spPr>
          <a:xfrm>
            <a:off x="702945" y="1251585"/>
            <a:ext cx="7734300" cy="654685"/>
          </a:xfrm>
          <a:prstGeom prst="rect">
            <a:avLst/>
          </a:prstGeom>
          <a:noFill/>
          <a:ln w="19050" cap="rnd" cmpd="sng">
            <a:solidFill>
              <a:srgbClr val="870078"/>
            </a:solidFill>
            <a:prstDash val="dashDot"/>
          </a:ln>
        </p:spPr>
        <p:txBody>
          <a:bodyPr wrap="square" rtlCol="0" anchor="ctr" anchorCtr="1">
            <a:noAutofit/>
          </a:bodyPr>
          <a:lstStyle/>
          <a:p>
            <a:pPr marL="0" lvl="1"/>
            <a:r>
              <a:rPr lang="zh-CN" altLang="en-US" sz="2400" dirty="0">
                <a:latin typeface="楷体" panose="02010609060101010101" pitchFamily="49" charset="-122"/>
                <a:ea typeface="楷体" panose="02010609060101010101" pitchFamily="49" charset="-122"/>
                <a:sym typeface="+mn-ea"/>
              </a:rPr>
              <a:t>因为对未来知识有限，而无法确定某种决策的结果</a:t>
            </a:r>
            <a:endParaRPr lang="zh-CN" altLang="en-US" sz="2400" dirty="0">
              <a:latin typeface="楷体" panose="02010609060101010101" pitchFamily="49" charset="-122"/>
              <a:ea typeface="楷体" panose="02010609060101010101" pitchFamily="49" charset="-122"/>
              <a:cs typeface="楷体" panose="02010609060101010101" pitchFamily="49" charset="-122"/>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什么是原型</a:t>
            </a:r>
          </a:p>
        </p:txBody>
      </p:sp>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原型</a:t>
            </a:r>
          </a:p>
        </p:txBody>
      </p:sp>
      <p:pic>
        <p:nvPicPr>
          <p:cNvPr id="5" name="图片 4" descr="设计师"/>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28650" y="3507105"/>
            <a:ext cx="914400" cy="914400"/>
          </a:xfrm>
          <a:prstGeom prst="rect">
            <a:avLst/>
          </a:prstGeom>
        </p:spPr>
      </p:pic>
      <p:pic>
        <p:nvPicPr>
          <p:cNvPr id="7" name="图片 6" descr="教授"/>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356475" y="4753610"/>
            <a:ext cx="843280" cy="843280"/>
          </a:xfrm>
          <a:prstGeom prst="rect">
            <a:avLst/>
          </a:prstGeom>
        </p:spPr>
      </p:pic>
      <p:pic>
        <p:nvPicPr>
          <p:cNvPr id="10" name="图片 9" descr="程序员"/>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64540" y="1504315"/>
            <a:ext cx="914400" cy="914400"/>
          </a:xfrm>
          <a:prstGeom prst="rect">
            <a:avLst/>
          </a:prstGeom>
        </p:spPr>
      </p:pic>
      <p:pic>
        <p:nvPicPr>
          <p:cNvPr id="14" name="图片 13" descr="程序员"/>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7356475" y="2226945"/>
            <a:ext cx="843280" cy="843280"/>
          </a:xfrm>
          <a:prstGeom prst="rect">
            <a:avLst/>
          </a:prstGeom>
        </p:spPr>
      </p:pic>
      <p:sp>
        <p:nvSpPr>
          <p:cNvPr id="15" name="文本框 14"/>
          <p:cNvSpPr txBox="1"/>
          <p:nvPr/>
        </p:nvSpPr>
        <p:spPr>
          <a:xfrm>
            <a:off x="1850390" y="1731645"/>
            <a:ext cx="4399915" cy="460375"/>
          </a:xfrm>
          <a:prstGeom prst="rect">
            <a:avLst/>
          </a:prstGeom>
          <a:noFill/>
          <a:ln>
            <a:noFill/>
          </a:ln>
        </p:spPr>
        <p:txBody>
          <a:bodyPr wrap="square" rtlCol="0">
            <a:spAutoFit/>
          </a:bodyPr>
          <a:lstStyle/>
          <a:p>
            <a:r>
              <a:rPr kumimoji="1" lang="zh-CN" altLang="en-US" sz="2400" dirty="0">
                <a:latin typeface="楷体" panose="02010609060101010101" pitchFamily="49" charset="-122"/>
                <a:ea typeface="楷体" panose="02010609060101010101" pitchFamily="49" charset="-122"/>
                <a:sym typeface="+mn-ea"/>
              </a:rPr>
              <a:t>原型是</a:t>
            </a:r>
            <a:r>
              <a:rPr kumimoji="1" lang="en-US" altLang="zh-CN" sz="2400" dirty="0">
                <a:latin typeface="楷体" panose="02010609060101010101" pitchFamily="49" charset="-122"/>
                <a:ea typeface="楷体" panose="02010609060101010101" pitchFamily="49" charset="-122"/>
                <a:sym typeface="+mn-ea"/>
              </a:rPr>
              <a:t>一个粗略的设计模型</a:t>
            </a:r>
            <a:endParaRPr kumimoji="1" lang="zh-CN" altLang="en-US" sz="2400" dirty="0">
              <a:latin typeface="楷体" panose="02010609060101010101" pitchFamily="49" charset="-122"/>
              <a:ea typeface="楷体" panose="02010609060101010101" pitchFamily="49" charset="-122"/>
              <a:sym typeface="+mn-ea"/>
            </a:endParaRPr>
          </a:p>
        </p:txBody>
      </p:sp>
      <p:sp>
        <p:nvSpPr>
          <p:cNvPr id="17" name="文本框 16"/>
          <p:cNvSpPr txBox="1"/>
          <p:nvPr/>
        </p:nvSpPr>
        <p:spPr>
          <a:xfrm>
            <a:off x="501015" y="2418715"/>
            <a:ext cx="1442085" cy="368300"/>
          </a:xfrm>
          <a:prstGeom prst="rect">
            <a:avLst/>
          </a:prstGeom>
          <a:noFill/>
        </p:spPr>
        <p:txBody>
          <a:bodyPr wrap="square" rtlCol="0">
            <a:spAutoFit/>
          </a:bodyPr>
          <a:lstStyle/>
          <a:p>
            <a:r>
              <a:rPr kumimoji="1" lang="en-US" altLang="zh-CN" dirty="0">
                <a:latin typeface="楷体" panose="02010609060101010101" pitchFamily="49" charset="-122"/>
                <a:ea typeface="楷体" panose="02010609060101010101" pitchFamily="49" charset="-122"/>
                <a:sym typeface="+mn-ea"/>
              </a:rPr>
              <a:t>软件设计者</a:t>
            </a:r>
            <a:endParaRPr lang="zh-CN" altLang="en-US"/>
          </a:p>
        </p:txBody>
      </p:sp>
      <p:sp>
        <p:nvSpPr>
          <p:cNvPr id="19" name="文本框 18"/>
          <p:cNvSpPr txBox="1"/>
          <p:nvPr>
            <p:custDataLst>
              <p:tags r:id="rId1"/>
            </p:custDataLst>
          </p:nvPr>
        </p:nvSpPr>
        <p:spPr>
          <a:xfrm>
            <a:off x="7402830" y="3295650"/>
            <a:ext cx="1046480" cy="368300"/>
          </a:xfrm>
          <a:prstGeom prst="rect">
            <a:avLst/>
          </a:prstGeom>
          <a:noFill/>
        </p:spPr>
        <p:txBody>
          <a:bodyPr wrap="square" rtlCol="0">
            <a:spAutoFit/>
          </a:bodyPr>
          <a:lstStyle/>
          <a:p>
            <a:r>
              <a:rPr kumimoji="1" lang="zh-CN" altLang="en-US" dirty="0">
                <a:latin typeface="楷体" panose="02010609060101010101" pitchFamily="49" charset="-122"/>
                <a:ea typeface="楷体" panose="02010609060101010101" pitchFamily="49" charset="-122"/>
                <a:sym typeface="+mn-ea"/>
              </a:rPr>
              <a:t>程序员</a:t>
            </a:r>
          </a:p>
        </p:txBody>
      </p:sp>
      <p:sp>
        <p:nvSpPr>
          <p:cNvPr id="20" name="文本框 19"/>
          <p:cNvSpPr txBox="1"/>
          <p:nvPr>
            <p:custDataLst>
              <p:tags r:id="rId2"/>
            </p:custDataLst>
          </p:nvPr>
        </p:nvSpPr>
        <p:spPr>
          <a:xfrm>
            <a:off x="349885" y="4538980"/>
            <a:ext cx="1911350" cy="368300"/>
          </a:xfrm>
          <a:prstGeom prst="rect">
            <a:avLst/>
          </a:prstGeom>
          <a:noFill/>
        </p:spPr>
        <p:txBody>
          <a:bodyPr wrap="square" rtlCol="0">
            <a:spAutoFit/>
          </a:bodyPr>
          <a:lstStyle/>
          <a:p>
            <a:r>
              <a:rPr kumimoji="1" lang="zh-CN" altLang="en-US" dirty="0">
                <a:latin typeface="楷体" panose="02010609060101010101" pitchFamily="49" charset="-122"/>
                <a:ea typeface="楷体" panose="02010609060101010101" pitchFamily="49" charset="-122"/>
                <a:sym typeface="+mn-ea"/>
              </a:rPr>
              <a:t>软件交互工程师</a:t>
            </a:r>
          </a:p>
        </p:txBody>
      </p:sp>
      <p:sp>
        <p:nvSpPr>
          <p:cNvPr id="21" name="文本框 20"/>
          <p:cNvSpPr txBox="1"/>
          <p:nvPr>
            <p:custDataLst>
              <p:tags r:id="rId3"/>
            </p:custDataLst>
          </p:nvPr>
        </p:nvSpPr>
        <p:spPr>
          <a:xfrm>
            <a:off x="6842125" y="5732145"/>
            <a:ext cx="1872615" cy="368300"/>
          </a:xfrm>
          <a:prstGeom prst="rect">
            <a:avLst/>
          </a:prstGeom>
          <a:noFill/>
        </p:spPr>
        <p:txBody>
          <a:bodyPr wrap="square" rtlCol="0">
            <a:spAutoFit/>
          </a:bodyPr>
          <a:lstStyle/>
          <a:p>
            <a:r>
              <a:rPr kumimoji="1" lang="zh-CN" altLang="en-US" dirty="0">
                <a:latin typeface="楷体" panose="02010609060101010101" pitchFamily="49" charset="-122"/>
                <a:ea typeface="楷体" panose="02010609060101010101" pitchFamily="49" charset="-122"/>
                <a:sym typeface="+mn-ea"/>
              </a:rPr>
              <a:t>用户行为研究者</a:t>
            </a:r>
          </a:p>
        </p:txBody>
      </p:sp>
      <p:sp>
        <p:nvSpPr>
          <p:cNvPr id="22" name="文本框 21"/>
          <p:cNvSpPr txBox="1"/>
          <p:nvPr>
            <p:custDataLst>
              <p:tags r:id="rId4"/>
            </p:custDataLst>
          </p:nvPr>
        </p:nvSpPr>
        <p:spPr>
          <a:xfrm>
            <a:off x="4341495" y="2714625"/>
            <a:ext cx="3014980" cy="460375"/>
          </a:xfrm>
          <a:prstGeom prst="rect">
            <a:avLst/>
          </a:prstGeom>
          <a:noFill/>
          <a:ln>
            <a:noFill/>
          </a:ln>
        </p:spPr>
        <p:txBody>
          <a:bodyPr wrap="square" rtlCol="0">
            <a:spAutoFit/>
          </a:bodyPr>
          <a:lstStyle/>
          <a:p>
            <a:pPr algn="r"/>
            <a:r>
              <a:rPr kumimoji="1" lang="en-US" altLang="zh-CN" sz="2400" dirty="0">
                <a:latin typeface="楷体" panose="02010609060101010101" pitchFamily="49" charset="-122"/>
                <a:ea typeface="楷体" panose="02010609060101010101" pitchFamily="49" charset="-122"/>
                <a:sym typeface="+mn-ea"/>
              </a:rPr>
              <a:t>原型是一个测试程序</a:t>
            </a:r>
            <a:endParaRPr lang="zh-CN" altLang="en-US"/>
          </a:p>
        </p:txBody>
      </p:sp>
      <p:sp>
        <p:nvSpPr>
          <p:cNvPr id="23" name="文本框 22"/>
          <p:cNvSpPr txBox="1"/>
          <p:nvPr>
            <p:custDataLst>
              <p:tags r:id="rId5"/>
            </p:custDataLst>
          </p:nvPr>
        </p:nvSpPr>
        <p:spPr>
          <a:xfrm>
            <a:off x="1943100" y="3756025"/>
            <a:ext cx="3208655" cy="913765"/>
          </a:xfrm>
          <a:prstGeom prst="rect">
            <a:avLst/>
          </a:prstGeom>
          <a:noFill/>
        </p:spPr>
        <p:txBody>
          <a:bodyPr wrap="square" rtlCol="0">
            <a:noAutofit/>
          </a:bodyPr>
          <a:lstStyle/>
          <a:p>
            <a:r>
              <a:rPr kumimoji="1" lang="en-US" altLang="zh-CN" sz="2400" dirty="0">
                <a:latin typeface="楷体" panose="02010609060101010101" pitchFamily="49" charset="-122"/>
                <a:ea typeface="楷体" panose="02010609060101010101" pitchFamily="49" charset="-122"/>
                <a:sym typeface="+mn-ea"/>
              </a:rPr>
              <a:t>原型是一个视频外观或交互行为的模拟</a:t>
            </a:r>
            <a:endParaRPr kumimoji="1" lang="en-US" altLang="zh-CN" sz="2400" dirty="0">
              <a:latin typeface="楷体" panose="02010609060101010101" pitchFamily="49" charset="-122"/>
              <a:ea typeface="楷体" panose="02010609060101010101" pitchFamily="49" charset="-122"/>
            </a:endParaRPr>
          </a:p>
        </p:txBody>
      </p:sp>
      <p:sp>
        <p:nvSpPr>
          <p:cNvPr id="24" name="文本框 23"/>
          <p:cNvSpPr txBox="1"/>
          <p:nvPr>
            <p:custDataLst>
              <p:tags r:id="rId6"/>
            </p:custDataLst>
          </p:nvPr>
        </p:nvSpPr>
        <p:spPr>
          <a:xfrm>
            <a:off x="3087370" y="4907280"/>
            <a:ext cx="4151630" cy="843280"/>
          </a:xfrm>
          <a:prstGeom prst="rect">
            <a:avLst/>
          </a:prstGeom>
          <a:noFill/>
        </p:spPr>
        <p:txBody>
          <a:bodyPr wrap="square" rtlCol="0">
            <a:noAutofit/>
          </a:bodyPr>
          <a:lstStyle/>
          <a:p>
            <a:pPr algn="l">
              <a:buClrTx/>
              <a:buSzTx/>
              <a:buFontTx/>
            </a:pPr>
            <a:r>
              <a:rPr kumimoji="1" lang="en-US" altLang="zh-CN" sz="2400" dirty="0">
                <a:latin typeface="楷体" panose="02010609060101010101" pitchFamily="49" charset="-122"/>
                <a:ea typeface="楷体" panose="02010609060101010101" pitchFamily="49" charset="-122"/>
                <a:sym typeface="+mn-ea"/>
              </a:rPr>
              <a:t>原型是场景的叙述或者包含场景叙述的故事板（Storyboard）</a:t>
            </a:r>
            <a:endParaRPr kumimoji="1" lang="en-US" altLang="zh-CN" sz="2400" dirty="0">
              <a:latin typeface="楷体" panose="02010609060101010101" pitchFamily="49" charset="-122"/>
              <a:ea typeface="楷体" panose="02010609060101010101" pitchFamily="49" charset="-122"/>
            </a:endParaRPr>
          </a:p>
        </p:txBody>
      </p:sp>
      <p:pic>
        <p:nvPicPr>
          <p:cNvPr id="26" name="图片 25" descr="对话聊天框"/>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6743700" y="2208530"/>
            <a:ext cx="495300" cy="495300"/>
          </a:xfrm>
          <a:prstGeom prst="rect">
            <a:avLst/>
          </a:prstGeom>
        </p:spPr>
      </p:pic>
      <p:pic>
        <p:nvPicPr>
          <p:cNvPr id="27" name="图片 26" descr="对话聊天框"/>
          <p:cNvPicPr>
            <a:picLocks noChangeAspect="1"/>
          </p:cNvPicPr>
          <p:nvPr>
            <p:custDataLst>
              <p:tags r:id="rId7"/>
            </p:custDataLst>
          </p:nvPr>
        </p:nvPicPr>
        <p:blipFill>
          <a:blip r:embed="rId18">
            <a:extLst>
              <a:ext uri="{96DAC541-7B7A-43D3-8B79-37D633B846F1}">
                <asvg:svgBlip xmlns:asvg="http://schemas.microsoft.com/office/drawing/2016/SVG/main" r:embed="rId20"/>
              </a:ext>
            </a:extLst>
          </a:blip>
          <a:stretch>
            <a:fillRect/>
          </a:stretch>
        </p:blipFill>
        <p:spPr>
          <a:xfrm>
            <a:off x="6842125" y="4411980"/>
            <a:ext cx="495300" cy="495300"/>
          </a:xfrm>
          <a:prstGeom prst="rect">
            <a:avLst/>
          </a:prstGeom>
        </p:spPr>
      </p:pic>
      <p:pic>
        <p:nvPicPr>
          <p:cNvPr id="30" name="图片 29" descr="聊天泡"/>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678940" y="1260475"/>
            <a:ext cx="472440" cy="472440"/>
          </a:xfrm>
          <a:prstGeom prst="rect">
            <a:avLst/>
          </a:prstGeom>
        </p:spPr>
      </p:pic>
      <p:pic>
        <p:nvPicPr>
          <p:cNvPr id="31" name="图片 30" descr="聊天泡"/>
          <p:cNvPicPr>
            <a:picLocks noChangeAspect="1"/>
          </p:cNvPicPr>
          <p:nvPr>
            <p:custDataLst>
              <p:tags r:id="rId8"/>
            </p:custDataLst>
          </p:nvPr>
        </p:nvPicPr>
        <p:blipFill>
          <a:blip r:embed="rId21">
            <a:extLst>
              <a:ext uri="{96DAC541-7B7A-43D3-8B79-37D633B846F1}">
                <asvg:svgBlip xmlns:asvg="http://schemas.microsoft.com/office/drawing/2016/SVG/main" r:embed="rId22"/>
              </a:ext>
            </a:extLst>
          </a:blip>
          <a:stretch>
            <a:fillRect/>
          </a:stretch>
        </p:blipFill>
        <p:spPr>
          <a:xfrm>
            <a:off x="1543050" y="3295650"/>
            <a:ext cx="472440" cy="47244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什么是原型</a:t>
            </a:r>
          </a:p>
        </p:txBody>
      </p:sp>
      <p:sp>
        <p:nvSpPr>
          <p:cNvPr id="3" name="内容占位符 2"/>
          <p:cNvSpPr txBox="1"/>
          <p:nvPr/>
        </p:nvSpPr>
        <p:spPr>
          <a:xfrm>
            <a:off x="628650" y="1413672"/>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en-US" altLang="zh-CN" dirty="0">
                <a:latin typeface="楷体" panose="02010609060101010101" pitchFamily="49" charset="-122"/>
                <a:ea typeface="楷体" panose="02010609060101010101" pitchFamily="49" charset="-122"/>
              </a:rPr>
              <a:t>原型（</a:t>
            </a:r>
            <a:r>
              <a:rPr kumimoji="1" lang="en-US" altLang="zh-CN" dirty="0">
                <a:latin typeface="Times New Roman" panose="02020603050405020304" pitchFamily="18" charset="0"/>
                <a:ea typeface="楷体" panose="02010609060101010101" pitchFamily="49" charset="-122"/>
                <a:cs typeface="Times New Roman" panose="02020603050405020304" pitchFamily="18" charset="0"/>
              </a:rPr>
              <a:t>Prototype</a:t>
            </a:r>
            <a:r>
              <a:rPr kumimoji="1" lang="en-US" altLang="zh-CN" dirty="0">
                <a:latin typeface="楷体" panose="02010609060101010101" pitchFamily="49" charset="-122"/>
                <a:ea typeface="楷体" panose="02010609060101010101" pitchFamily="49" charset="-122"/>
              </a:rPr>
              <a:t>）是在软件开发当中被广泛使用的一种</a:t>
            </a:r>
            <a:r>
              <a:rPr kumimoji="1" lang="en-US" altLang="zh-CN" b="1" dirty="0">
                <a:solidFill>
                  <a:srgbClr val="88057A"/>
                </a:solidFill>
                <a:latin typeface="楷体" panose="02010609060101010101" pitchFamily="49" charset="-122"/>
                <a:ea typeface="楷体" panose="02010609060101010101" pitchFamily="49" charset="-122"/>
              </a:rPr>
              <a:t>工具</a:t>
            </a:r>
            <a:endParaRPr kumimoji="1" lang="en-US" altLang="zh-CN" dirty="0">
              <a:latin typeface="楷体" panose="02010609060101010101" pitchFamily="49" charset="-122"/>
              <a:ea typeface="楷体" panose="02010609060101010101" pitchFamily="49" charset="-122"/>
            </a:endParaRPr>
          </a:p>
          <a:p>
            <a:endParaRPr kumimoji="1" lang="en-US" altLang="zh-CN" dirty="0">
              <a:latin typeface="楷体" panose="02010609060101010101" pitchFamily="49" charset="-122"/>
              <a:ea typeface="楷体" panose="02010609060101010101" pitchFamily="49" charset="-122"/>
            </a:endParaRPr>
          </a:p>
          <a:p>
            <a:r>
              <a:rPr kumimoji="1" lang="en-US" altLang="zh-CN" dirty="0">
                <a:latin typeface="楷体" panose="02010609060101010101" pitchFamily="49" charset="-122"/>
                <a:ea typeface="楷体" panose="02010609060101010101" pitchFamily="49" charset="-122"/>
                <a:sym typeface="+mn-ea"/>
              </a:rPr>
              <a:t>原型是一个</a:t>
            </a:r>
            <a:r>
              <a:rPr kumimoji="1" lang="en-US" altLang="zh-CN" b="1" dirty="0">
                <a:solidFill>
                  <a:srgbClr val="88057A"/>
                </a:solidFill>
                <a:latin typeface="楷体" panose="02010609060101010101" pitchFamily="49" charset="-122"/>
                <a:ea typeface="楷体" panose="02010609060101010101" pitchFamily="49" charset="-122"/>
                <a:sym typeface="+mn-ea"/>
              </a:rPr>
              <a:t>系统</a:t>
            </a:r>
            <a:r>
              <a:rPr kumimoji="1" lang="en-US" altLang="zh-CN" dirty="0">
                <a:latin typeface="楷体" panose="02010609060101010101" pitchFamily="49" charset="-122"/>
                <a:ea typeface="楷体" panose="02010609060101010101" pitchFamily="49" charset="-122"/>
                <a:sym typeface="+mn-ea"/>
              </a:rPr>
              <a:t>，它内化了</a:t>
            </a:r>
            <a:r>
              <a:rPr kumimoji="1" lang="en-US" altLang="zh-CN" dirty="0">
                <a:latin typeface="Times New Roman" panose="02020603050405020304" pitchFamily="18" charset="0"/>
                <a:ea typeface="楷体" panose="02010609060101010101" pitchFamily="49" charset="-122"/>
                <a:cs typeface="Times New Roman" panose="02020603050405020304" pitchFamily="18" charset="0"/>
                <a:sym typeface="+mn-ea"/>
              </a:rPr>
              <a:t>（capture）一个</a:t>
            </a:r>
            <a:r>
              <a:rPr kumimoji="1" lang="en-US" altLang="zh-CN" b="1" dirty="0">
                <a:solidFill>
                  <a:srgbClr val="88057A"/>
                </a:solidFill>
                <a:latin typeface="Times New Roman" panose="02020603050405020304" pitchFamily="18" charset="0"/>
                <a:ea typeface="楷体" panose="02010609060101010101" pitchFamily="49" charset="-122"/>
                <a:cs typeface="Times New Roman" panose="02020603050405020304" pitchFamily="18" charset="0"/>
                <a:sym typeface="+mn-ea"/>
              </a:rPr>
              <a:t>更迟系统</a:t>
            </a:r>
            <a:r>
              <a:rPr kumimoji="1" lang="en-US" altLang="zh-CN" dirty="0">
                <a:latin typeface="Times New Roman" panose="02020603050405020304" pitchFamily="18" charset="0"/>
                <a:ea typeface="楷体" panose="02010609060101010101" pitchFamily="49" charset="-122"/>
                <a:cs typeface="Times New Roman" panose="02020603050405020304" pitchFamily="18" charset="0"/>
                <a:sym typeface="+mn-ea"/>
              </a:rPr>
              <a:t>（later system）的本质特征</a:t>
            </a:r>
            <a:endParaRPr kumimoji="1" lang="en-US" altLang="zh-CN" dirty="0">
              <a:latin typeface="楷体" panose="02010609060101010101" pitchFamily="49" charset="-122"/>
              <a:ea typeface="楷体" panose="02010609060101010101" pitchFamily="49" charset="-122"/>
              <a:sym typeface="+mn-ea"/>
            </a:endParaRPr>
          </a:p>
          <a:p>
            <a:endParaRPr kumimoji="1" lang="en-US" altLang="zh-CN" dirty="0">
              <a:latin typeface="楷体" panose="02010609060101010101" pitchFamily="49" charset="-122"/>
              <a:ea typeface="楷体" panose="02010609060101010101" pitchFamily="49" charset="-122"/>
              <a:sym typeface="+mn-ea"/>
            </a:endParaRPr>
          </a:p>
          <a:p>
            <a:r>
              <a:rPr kumimoji="1" lang="en-US" altLang="zh-CN" dirty="0">
                <a:latin typeface="楷体" panose="02010609060101010101" pitchFamily="49" charset="-122"/>
                <a:ea typeface="楷体" panose="02010609060101010101" pitchFamily="49" charset="-122"/>
                <a:sym typeface="+mn-ea"/>
              </a:rPr>
              <a:t>原型系统通常被构造为</a:t>
            </a:r>
            <a:r>
              <a:rPr kumimoji="1" lang="en-US" altLang="zh-CN" b="1" dirty="0">
                <a:solidFill>
                  <a:srgbClr val="88057A"/>
                </a:solidFill>
                <a:latin typeface="楷体" panose="02010609060101010101" pitchFamily="49" charset="-122"/>
                <a:ea typeface="楷体" panose="02010609060101010101" pitchFamily="49" charset="-122"/>
                <a:sym typeface="+mn-ea"/>
              </a:rPr>
              <a:t>不完整</a:t>
            </a:r>
            <a:r>
              <a:rPr kumimoji="1" lang="en-US" altLang="zh-CN" dirty="0">
                <a:latin typeface="楷体" panose="02010609060101010101" pitchFamily="49" charset="-122"/>
                <a:ea typeface="楷体" panose="02010609060101010101" pitchFamily="49" charset="-122"/>
                <a:sym typeface="+mn-ea"/>
              </a:rPr>
              <a:t>的系统，以在将来进行改进、补充或者替代</a:t>
            </a:r>
          </a:p>
          <a:p>
            <a:endParaRPr kumimoji="1" lang="en-US" altLang="zh-CN" dirty="0">
              <a:latin typeface="楷体" panose="02010609060101010101" pitchFamily="49" charset="-122"/>
              <a:ea typeface="楷体" panose="02010609060101010101" pitchFamily="49" charset="-122"/>
            </a:endParaRPr>
          </a:p>
        </p:txBody>
      </p:sp>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原型</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从原型使用的角度来理解原型概念</a:t>
            </a:r>
          </a:p>
        </p:txBody>
      </p:sp>
      <p:sp>
        <p:nvSpPr>
          <p:cNvPr id="3" name="内容占位符 2"/>
          <p:cNvSpPr txBox="1"/>
          <p:nvPr/>
        </p:nvSpPr>
        <p:spPr>
          <a:xfrm>
            <a:off x="628650" y="1413672"/>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kumimoji="1" lang="en-US" altLang="zh-CN" sz="2400" dirty="0">
                <a:latin typeface="楷体" panose="02010609060101010101" pitchFamily="49" charset="-122"/>
                <a:ea typeface="楷体" panose="02010609060101010101" pitchFamily="49" charset="-122"/>
              </a:rPr>
              <a:t>如果在最终的制品（</a:t>
            </a:r>
            <a:r>
              <a:rPr kumimoji="1" lang="en-US" altLang="zh-CN" sz="2400" dirty="0">
                <a:latin typeface="Times New Roman" panose="02020603050405020304" pitchFamily="18" charset="0"/>
                <a:ea typeface="楷体" panose="02010609060101010101" pitchFamily="49" charset="-122"/>
                <a:cs typeface="Times New Roman" panose="02020603050405020304" pitchFamily="18" charset="0"/>
              </a:rPr>
              <a:t>final artifact）产生之前，一个中间制品（mediate artifact）</a:t>
            </a:r>
            <a:r>
              <a:rPr kumimoji="1" lang="en-US" altLang="zh-CN" sz="2400" dirty="0">
                <a:latin typeface="楷体" panose="02010609060101010101" pitchFamily="49" charset="-122"/>
                <a:ea typeface="楷体" panose="02010609060101010101" pitchFamily="49" charset="-122"/>
              </a:rPr>
              <a:t>被用来在一定广度和深度范围内表现这个最终制品，那么这个</a:t>
            </a:r>
            <a:r>
              <a:rPr kumimoji="1" lang="en-US" altLang="zh-CN" sz="2400" b="1" dirty="0">
                <a:solidFill>
                  <a:srgbClr val="88057A"/>
                </a:solidFill>
                <a:latin typeface="楷体" panose="02010609060101010101" pitchFamily="49" charset="-122"/>
                <a:ea typeface="楷体" panose="02010609060101010101" pitchFamily="49" charset="-122"/>
              </a:rPr>
              <a:t>中间制品</a:t>
            </a:r>
            <a:r>
              <a:rPr kumimoji="1" lang="en-US" altLang="zh-CN" sz="2400" dirty="0">
                <a:latin typeface="楷体" panose="02010609060101010101" pitchFamily="49" charset="-122"/>
                <a:ea typeface="楷体" panose="02010609060101010101" pitchFamily="49" charset="-122"/>
              </a:rPr>
              <a:t>就被认为是最终物件在该广度和深度上的原型。</a:t>
            </a:r>
          </a:p>
          <a:p>
            <a:endParaRPr kumimoji="1" lang="en-US" altLang="zh-CN" dirty="0">
              <a:latin typeface="楷体" panose="02010609060101010101" pitchFamily="49" charset="-122"/>
              <a:ea typeface="楷体" panose="02010609060101010101" pitchFamily="49" charset="-122"/>
            </a:endParaRPr>
          </a:p>
          <a:p>
            <a:pPr>
              <a:lnSpc>
                <a:spcPct val="120000"/>
              </a:lnSpc>
            </a:pPr>
            <a:r>
              <a:rPr kumimoji="1" lang="en-US" altLang="zh-CN" sz="2400" dirty="0">
                <a:latin typeface="楷体" panose="02010609060101010101" pitchFamily="49" charset="-122"/>
                <a:ea typeface="楷体" panose="02010609060101010101" pitchFamily="49" charset="-122"/>
              </a:rPr>
              <a:t>原型通常仅仅是真实系统的</a:t>
            </a:r>
            <a:r>
              <a:rPr kumimoji="1" lang="en-US" altLang="zh-CN" sz="2400" b="1" dirty="0">
                <a:solidFill>
                  <a:srgbClr val="88057A"/>
                </a:solidFill>
                <a:latin typeface="楷体" panose="02010609060101010101" pitchFamily="49" charset="-122"/>
                <a:ea typeface="楷体" panose="02010609060101010101" pitchFamily="49" charset="-122"/>
              </a:rPr>
              <a:t>一个部分</a:t>
            </a:r>
            <a:r>
              <a:rPr kumimoji="1" lang="en-US" altLang="zh-CN" sz="2400" dirty="0">
                <a:latin typeface="楷体" panose="02010609060101010101" pitchFamily="49" charset="-122"/>
                <a:ea typeface="楷体" panose="02010609060101010101" pitchFamily="49" charset="-122"/>
              </a:rPr>
              <a:t>或者</a:t>
            </a:r>
            <a:r>
              <a:rPr kumimoji="1" lang="en-US" altLang="zh-CN" sz="2400" b="1" dirty="0">
                <a:solidFill>
                  <a:srgbClr val="88057A"/>
                </a:solidFill>
                <a:latin typeface="楷体" panose="02010609060101010101" pitchFamily="49" charset="-122"/>
                <a:ea typeface="楷体" panose="02010609060101010101" pitchFamily="49" charset="-122"/>
              </a:rPr>
              <a:t>一个模型</a:t>
            </a:r>
            <a:r>
              <a:rPr kumimoji="1" lang="en-US" altLang="zh-CN" sz="2400" dirty="0">
                <a:latin typeface="楷体" panose="02010609060101010101" pitchFamily="49" charset="-122"/>
                <a:ea typeface="楷体" panose="02010609060101010101" pitchFamily="49" charset="-122"/>
              </a:rPr>
              <a:t>，重要</a:t>
            </a:r>
            <a:r>
              <a:rPr kumimoji="1" lang="zh-CN" altLang="en-US" sz="2400" dirty="0">
                <a:latin typeface="楷体" panose="02010609060101010101" pitchFamily="49" charset="-122"/>
                <a:ea typeface="楷体" panose="02010609060101010101" pitchFamily="49" charset="-122"/>
              </a:rPr>
              <a:t>的</a:t>
            </a:r>
            <a:r>
              <a:rPr kumimoji="1" lang="en-US" altLang="zh-CN" sz="2400" dirty="0">
                <a:latin typeface="楷体" panose="02010609060101010101" pitchFamily="49" charset="-122"/>
                <a:ea typeface="楷体" panose="02010609060101010101" pitchFamily="49" charset="-122"/>
              </a:rPr>
              <a:t>是人们怎么利用它们来探索和论证未来物件的某个方面。</a:t>
            </a:r>
          </a:p>
        </p:txBody>
      </p:sp>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原型</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原型案例—千金药业</a:t>
            </a:r>
          </a:p>
        </p:txBody>
      </p:sp>
      <p:sp>
        <p:nvSpPr>
          <p:cNvPr id="3" name="内容占位符 2"/>
          <p:cNvSpPr txBox="1"/>
          <p:nvPr/>
        </p:nvSpPr>
        <p:spPr>
          <a:xfrm>
            <a:off x="628650" y="1313815"/>
            <a:ext cx="7886700" cy="494157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endParaRPr kumimoji="1" lang="en-US" altLang="zh-CN" sz="2400" dirty="0">
              <a:latin typeface="楷体" panose="02010609060101010101" pitchFamily="49" charset="-122"/>
              <a:ea typeface="楷体" panose="02010609060101010101" pitchFamily="49" charset="-122"/>
            </a:endParaRPr>
          </a:p>
        </p:txBody>
      </p:sp>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原型</a:t>
            </a:r>
          </a:p>
        </p:txBody>
      </p:sp>
      <p:pic>
        <p:nvPicPr>
          <p:cNvPr id="4" name="图片 3" descr="截屏2024-12-04 14.59.46"/>
          <p:cNvPicPr>
            <a:picLocks noChangeAspect="1"/>
          </p:cNvPicPr>
          <p:nvPr/>
        </p:nvPicPr>
        <p:blipFill>
          <a:blip r:embed="rId3"/>
          <a:stretch>
            <a:fillRect/>
          </a:stretch>
        </p:blipFill>
        <p:spPr>
          <a:xfrm>
            <a:off x="628650" y="1760855"/>
            <a:ext cx="7753350" cy="3614420"/>
          </a:xfrm>
          <a:prstGeom prst="rect">
            <a:avLst/>
          </a:prstGeom>
        </p:spPr>
      </p:pic>
      <p:pic>
        <p:nvPicPr>
          <p:cNvPr id="5" name="图片 4" descr="截屏2024-12-04 14.53.28"/>
          <p:cNvPicPr>
            <a:picLocks noChangeAspect="1"/>
          </p:cNvPicPr>
          <p:nvPr/>
        </p:nvPicPr>
        <p:blipFill>
          <a:blip r:embed="rId4"/>
          <a:stretch>
            <a:fillRect/>
          </a:stretch>
        </p:blipFill>
        <p:spPr>
          <a:xfrm>
            <a:off x="7436485" y="461010"/>
            <a:ext cx="1354455" cy="852805"/>
          </a:xfrm>
          <a:prstGeom prst="rect">
            <a:avLst/>
          </a:prstGeom>
        </p:spPr>
      </p:pic>
      <p:sp>
        <p:nvSpPr>
          <p:cNvPr id="7" name="文本框 6"/>
          <p:cNvSpPr txBox="1"/>
          <p:nvPr/>
        </p:nvSpPr>
        <p:spPr>
          <a:xfrm>
            <a:off x="904875" y="5452110"/>
            <a:ext cx="7886065" cy="796925"/>
          </a:xfrm>
          <a:prstGeom prst="rect">
            <a:avLst/>
          </a:prstGeom>
          <a:noFill/>
        </p:spPr>
        <p:txBody>
          <a:bodyPr wrap="square" rtlCol="0">
            <a:noAutofit/>
          </a:bodyPr>
          <a:lstStyle/>
          <a:p>
            <a:r>
              <a:rPr lang="zh-CN" altLang="en-US" sz="1600">
                <a:latin typeface="楷体" panose="02010609060101010101" pitchFamily="49" charset="-122"/>
                <a:ea typeface="楷体" panose="02010609060101010101" pitchFamily="49" charset="-122"/>
                <a:cs typeface="楷体" panose="02010609060101010101" pitchFamily="49" charset="-122"/>
              </a:rPr>
              <a:t>通过整合千金养生坊、千金大药房、千金卫生用品等公司电子商务资源，构建统一的电子商务平台，由专业的电子商务运营团队管理，达到流量入口统一、产品展示统一、销售和结算统一的目的。</a:t>
            </a:r>
          </a:p>
        </p:txBody>
      </p:sp>
      <p:sp>
        <p:nvSpPr>
          <p:cNvPr id="8" name="文本框 7"/>
          <p:cNvSpPr txBox="1"/>
          <p:nvPr>
            <p:custDataLst>
              <p:tags r:id="rId1"/>
            </p:custDataLst>
          </p:nvPr>
        </p:nvSpPr>
        <p:spPr>
          <a:xfrm>
            <a:off x="771525" y="1251585"/>
            <a:ext cx="4561840" cy="398780"/>
          </a:xfrm>
          <a:prstGeom prst="rect">
            <a:avLst/>
          </a:prstGeom>
          <a:gradFill>
            <a:gsLst>
              <a:gs pos="100000">
                <a:srgbClr val="E06A6D"/>
              </a:gs>
              <a:gs pos="0">
                <a:srgbClr val="FDB0BA"/>
              </a:gs>
            </a:gsLst>
            <a:lin scaled="1"/>
          </a:gradFill>
        </p:spPr>
        <p:txBody>
          <a:bodyPr wrap="square" rtlCol="0">
            <a:noAutofit/>
          </a:bodyPr>
          <a:lstStyle/>
          <a:p>
            <a:r>
              <a:rPr lang="zh-CN" altLang="en-US">
                <a:latin typeface="楷体" panose="02010609060101010101" pitchFamily="49" charset="-122"/>
                <a:ea typeface="楷体" panose="02010609060101010101" pitchFamily="49" charset="-122"/>
              </a:rPr>
              <a:t>用友为千金药业打造电子商务信息管理平台</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原型及原型法</a:t>
            </a:r>
          </a:p>
        </p:txBody>
      </p:sp>
      <p:sp>
        <p:nvSpPr>
          <p:cNvPr id="3" name="内容占位符 2"/>
          <p:cNvSpPr txBox="1"/>
          <p:nvPr/>
        </p:nvSpPr>
        <p:spPr>
          <a:xfrm>
            <a:off x="628650" y="1313815"/>
            <a:ext cx="7886700" cy="494157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buFont typeface="Wingdings" panose="05000000000000000000" charset="0"/>
              <a:buChar char=""/>
            </a:pPr>
            <a:r>
              <a:rPr kumimoji="1" lang="en-US" altLang="zh-CN" sz="2400" dirty="0">
                <a:latin typeface="楷体" panose="02010609060101010101" pitchFamily="49" charset="-122"/>
                <a:ea typeface="楷体" panose="02010609060101010101" pitchFamily="49" charset="-122"/>
                <a:sym typeface="+mn-ea"/>
              </a:rPr>
              <a:t>各种被用来探索和论证</a:t>
            </a:r>
            <a:r>
              <a:rPr kumimoji="1" lang="en-US" altLang="zh-CN" sz="2400" b="1" dirty="0">
                <a:solidFill>
                  <a:srgbClr val="88057A"/>
                </a:solidFill>
                <a:latin typeface="楷体" panose="02010609060101010101" pitchFamily="49" charset="-122"/>
                <a:ea typeface="楷体" panose="02010609060101010101" pitchFamily="49" charset="-122"/>
                <a:sym typeface="+mn-ea"/>
              </a:rPr>
              <a:t>软件系统功能</a:t>
            </a:r>
            <a:r>
              <a:rPr kumimoji="1" lang="en-US" altLang="zh-CN" sz="2400" dirty="0">
                <a:latin typeface="楷体" panose="02010609060101010101" pitchFamily="49" charset="-122"/>
                <a:ea typeface="楷体" panose="02010609060101010101" pitchFamily="49" charset="-122"/>
                <a:sym typeface="+mn-ea"/>
              </a:rPr>
              <a:t>的物件都是软件的原型。</a:t>
            </a:r>
          </a:p>
          <a:p>
            <a:pPr lvl="1">
              <a:lnSpc>
                <a:spcPct val="110000"/>
              </a:lnSpc>
            </a:pPr>
            <a:r>
              <a:rPr kumimoji="1" lang="zh-CN" altLang="en-US" sz="2000" dirty="0">
                <a:latin typeface="楷体" panose="02010609060101010101" pitchFamily="49" charset="-122"/>
                <a:ea typeface="楷体" panose="02010609060101010101" pitchFamily="49" charset="-122"/>
                <a:sym typeface="+mn-ea"/>
              </a:rPr>
              <a:t>如：</a:t>
            </a:r>
            <a:r>
              <a:rPr kumimoji="1" lang="en-US" altLang="zh-CN" sz="2000" dirty="0">
                <a:latin typeface="楷体" panose="02010609060101010101" pitchFamily="49" charset="-122"/>
                <a:ea typeface="楷体" panose="02010609060101010101" pitchFamily="49" charset="-122"/>
                <a:sym typeface="+mn-ea"/>
              </a:rPr>
              <a:t>书面描绘、场景叙述、故事板、幻灯演示、动画模拟、屏幕快照和程序代码等</a:t>
            </a:r>
            <a:r>
              <a:rPr kumimoji="1" lang="zh-CN" altLang="en-US" sz="2000" dirty="0">
                <a:latin typeface="楷体" panose="02010609060101010101" pitchFamily="49" charset="-122"/>
                <a:ea typeface="楷体" panose="02010609060101010101" pitchFamily="49" charset="-122"/>
                <a:sym typeface="+mn-ea"/>
              </a:rPr>
              <a:t>。</a:t>
            </a:r>
          </a:p>
          <a:p>
            <a:pPr lvl="1">
              <a:lnSpc>
                <a:spcPct val="110000"/>
              </a:lnSpc>
            </a:pPr>
            <a:endParaRPr kumimoji="1" lang="en-US" altLang="zh-CN" sz="2000" dirty="0">
              <a:latin typeface="楷体" panose="02010609060101010101" pitchFamily="49" charset="-122"/>
              <a:ea typeface="楷体" panose="02010609060101010101" pitchFamily="49" charset="-122"/>
              <a:sym typeface="+mn-ea"/>
            </a:endParaRPr>
          </a:p>
          <a:p>
            <a:pPr marL="228600" lvl="1" indent="-457200">
              <a:lnSpc>
                <a:spcPct val="110000"/>
              </a:lnSpc>
              <a:buFont typeface="Wingdings" panose="05000000000000000000" charset="0"/>
              <a:buChar char=""/>
            </a:pPr>
            <a:r>
              <a:rPr kumimoji="1" lang="en-US" altLang="zh-CN" dirty="0">
                <a:latin typeface="楷体" panose="02010609060101010101" pitchFamily="49" charset="-122"/>
                <a:ea typeface="楷体" panose="02010609060101010101" pitchFamily="49" charset="-122"/>
                <a:sym typeface="+mn-ea"/>
              </a:rPr>
              <a:t>在系统开发当中利用原型的行为都属于</a:t>
            </a:r>
            <a:r>
              <a:rPr kumimoji="1" lang="en-US" altLang="zh-CN" b="1" dirty="0">
                <a:solidFill>
                  <a:srgbClr val="88057A"/>
                </a:solidFill>
                <a:latin typeface="楷体" panose="02010609060101010101" pitchFamily="49" charset="-122"/>
                <a:ea typeface="楷体" panose="02010609060101010101" pitchFamily="49" charset="-122"/>
                <a:sym typeface="+mn-ea"/>
              </a:rPr>
              <a:t>原型方法</a:t>
            </a:r>
            <a:r>
              <a:rPr kumimoji="1" lang="en-US" altLang="zh-CN" dirty="0">
                <a:latin typeface="Times New Roman" panose="02020603050405020304" pitchFamily="18" charset="0"/>
                <a:ea typeface="楷体" panose="02010609060101010101" pitchFamily="49" charset="-122"/>
                <a:cs typeface="Times New Roman" panose="02020603050405020304" pitchFamily="18" charset="0"/>
                <a:sym typeface="+mn-ea"/>
              </a:rPr>
              <a:t>（Prototyping）。</a:t>
            </a:r>
          </a:p>
          <a:p>
            <a:pPr lvl="2" indent="-457200">
              <a:lnSpc>
                <a:spcPct val="110000"/>
              </a:lnSpc>
              <a:buFont typeface="Wingdings" panose="05000000000000000000" charset="0"/>
              <a:buChar char=""/>
            </a:pPr>
            <a:endParaRPr kumimoji="1" lang="en-US" altLang="zh-CN" sz="1800" dirty="0">
              <a:latin typeface="楷体" panose="02010609060101010101" pitchFamily="49" charset="-122"/>
              <a:ea typeface="楷体" panose="02010609060101010101" pitchFamily="49" charset="-122"/>
            </a:endParaRPr>
          </a:p>
          <a:p>
            <a:pPr>
              <a:lnSpc>
                <a:spcPct val="110000"/>
              </a:lnSpc>
              <a:buFont typeface="Wingdings" panose="05000000000000000000" charset="0"/>
              <a:buChar char=""/>
            </a:pPr>
            <a:r>
              <a:rPr kumimoji="1" lang="en-US" altLang="zh-CN" sz="2400" dirty="0">
                <a:latin typeface="楷体" panose="02010609060101010101" pitchFamily="49" charset="-122"/>
                <a:ea typeface="楷体" panose="02010609060101010101" pitchFamily="49" charset="-122"/>
              </a:rPr>
              <a:t>原型及原型方法的</a:t>
            </a:r>
            <a:r>
              <a:rPr kumimoji="1" lang="en-US" altLang="zh-CN" sz="2400" b="1" dirty="0">
                <a:solidFill>
                  <a:srgbClr val="88057A"/>
                </a:solidFill>
                <a:latin typeface="楷体" panose="02010609060101010101" pitchFamily="49" charset="-122"/>
                <a:ea typeface="楷体" panose="02010609060101010101" pitchFamily="49" charset="-122"/>
              </a:rPr>
              <a:t>关键</a:t>
            </a:r>
            <a:r>
              <a:rPr kumimoji="1" lang="en-US" altLang="zh-CN" sz="2400" dirty="0">
                <a:latin typeface="楷体" panose="02010609060101010101" pitchFamily="49" charset="-122"/>
                <a:ea typeface="楷体" panose="02010609060101010101" pitchFamily="49" charset="-122"/>
              </a:rPr>
              <a:t>是将未来事物（最终制品或更迟系统）所含的知识带回到现在（中间制品、不完整系统）进行展示，所以</a:t>
            </a:r>
            <a:r>
              <a:rPr kumimoji="1" lang="en-US" altLang="zh-CN" sz="2400" b="1" dirty="0">
                <a:solidFill>
                  <a:srgbClr val="88057A"/>
                </a:solidFill>
                <a:latin typeface="楷体" panose="02010609060101010101" pitchFamily="49" charset="-122"/>
                <a:ea typeface="楷体" panose="02010609060101010101" pitchFamily="49" charset="-122"/>
              </a:rPr>
              <a:t>原型及原型法可以用来解决不确定性</a:t>
            </a:r>
            <a:r>
              <a:rPr kumimoji="1" lang="en-US" altLang="zh-CN" sz="2400" dirty="0">
                <a:latin typeface="楷体" panose="02010609060101010101" pitchFamily="49" charset="-122"/>
                <a:ea typeface="楷体" panose="02010609060101010101" pitchFamily="49" charset="-122"/>
              </a:rPr>
              <a:t>。</a:t>
            </a:r>
          </a:p>
          <a:p>
            <a:pPr>
              <a:lnSpc>
                <a:spcPct val="110000"/>
              </a:lnSpc>
            </a:pPr>
            <a:endParaRPr kumimoji="1" lang="en-US" altLang="zh-CN" sz="2400" dirty="0">
              <a:latin typeface="楷体" panose="02010609060101010101" pitchFamily="49" charset="-122"/>
              <a:ea typeface="楷体" panose="02010609060101010101" pitchFamily="49" charset="-122"/>
            </a:endParaRPr>
          </a:p>
        </p:txBody>
      </p:sp>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原型</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原型的应用</a:t>
            </a:r>
          </a:p>
        </p:txBody>
      </p:sp>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原型</a:t>
            </a:r>
          </a:p>
        </p:txBody>
      </p:sp>
      <p:grpSp>
        <p:nvGrpSpPr>
          <p:cNvPr id="23" name="组合 22"/>
          <p:cNvGrpSpPr/>
          <p:nvPr/>
        </p:nvGrpSpPr>
        <p:grpSpPr>
          <a:xfrm>
            <a:off x="911860" y="1384300"/>
            <a:ext cx="6692900" cy="4616450"/>
            <a:chOff x="1436" y="2180"/>
            <a:chExt cx="10540" cy="7270"/>
          </a:xfrm>
        </p:grpSpPr>
        <p:sp>
          <p:nvSpPr>
            <p:cNvPr id="10" name="圆角矩形 9"/>
            <p:cNvSpPr/>
            <p:nvPr>
              <p:custDataLst>
                <p:tags r:id="rId1"/>
              </p:custDataLst>
            </p:nvPr>
          </p:nvSpPr>
          <p:spPr>
            <a:xfrm>
              <a:off x="1436" y="5218"/>
              <a:ext cx="2877" cy="1326"/>
            </a:xfrm>
            <a:prstGeom prst="roundRect">
              <a:avLst/>
            </a:prstGeom>
            <a:solidFill>
              <a:schemeClr val="accent1">
                <a:lumMod val="5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400">
                  <a:latin typeface="楷体" panose="02010609060101010101" pitchFamily="49" charset="-122"/>
                  <a:ea typeface="楷体" panose="02010609060101010101" pitchFamily="49" charset="-122"/>
                </a:rPr>
                <a:t>原型</a:t>
              </a:r>
            </a:p>
          </p:txBody>
        </p:sp>
        <p:sp>
          <p:nvSpPr>
            <p:cNvPr id="18" name="左大括号 17"/>
            <p:cNvSpPr/>
            <p:nvPr>
              <p:custDataLst>
                <p:tags r:id="rId2"/>
              </p:custDataLst>
            </p:nvPr>
          </p:nvSpPr>
          <p:spPr>
            <a:xfrm>
              <a:off x="4725" y="2725"/>
              <a:ext cx="1141" cy="6422"/>
            </a:xfrm>
            <a:prstGeom prst="leftBrace">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grpSp>
          <p:nvGrpSpPr>
            <p:cNvPr id="21" name="组合 20"/>
            <p:cNvGrpSpPr/>
            <p:nvPr/>
          </p:nvGrpSpPr>
          <p:grpSpPr>
            <a:xfrm>
              <a:off x="6680" y="2180"/>
              <a:ext cx="5296" cy="7270"/>
              <a:chOff x="5543" y="2265"/>
              <a:chExt cx="5296" cy="7489"/>
            </a:xfrm>
          </p:grpSpPr>
          <p:sp>
            <p:nvSpPr>
              <p:cNvPr id="11" name="圆角矩形 10"/>
              <p:cNvSpPr/>
              <p:nvPr>
                <p:custDataLst>
                  <p:tags r:id="rId3"/>
                </p:custDataLst>
              </p:nvPr>
            </p:nvSpPr>
            <p:spPr>
              <a:xfrm>
                <a:off x="5543" y="2265"/>
                <a:ext cx="5296" cy="1580"/>
              </a:xfrm>
              <a:prstGeom prst="roundRect">
                <a:avLst/>
              </a:prstGeom>
              <a:solidFill>
                <a:schemeClr val="accent6">
                  <a:lumMod val="5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000">
                    <a:latin typeface="楷体" panose="02010609060101010101" pitchFamily="49" charset="-122"/>
                    <a:ea typeface="楷体" panose="02010609060101010101" pitchFamily="49" charset="-122"/>
                  </a:rPr>
                  <a:t>演示原型</a:t>
                </a:r>
              </a:p>
              <a:p>
                <a:pPr algn="ctr"/>
                <a:r>
                  <a:rPr lang="zh-CN" altLang="en-US" sz="2000">
                    <a:latin typeface="楷体" panose="02010609060101010101" pitchFamily="49" charset="-122"/>
                    <a:ea typeface="楷体" panose="02010609060101010101" pitchFamily="49" charset="-122"/>
                  </a:rPr>
                  <a:t>（</a:t>
                </a:r>
                <a:r>
                  <a:rPr lang="zh-CN" altLang="en-US" sz="2000">
                    <a:latin typeface="Times New Roman" panose="02020603050405020304" pitchFamily="18" charset="0"/>
                    <a:ea typeface="楷体" panose="02010609060101010101" pitchFamily="49" charset="-122"/>
                    <a:cs typeface="Times New Roman" panose="02020603050405020304" pitchFamily="18" charset="0"/>
                  </a:rPr>
                  <a:t>presentation prototype</a:t>
                </a:r>
                <a:r>
                  <a:rPr lang="zh-CN" altLang="en-US" sz="2000">
                    <a:latin typeface="楷体" panose="02010609060101010101" pitchFamily="49" charset="-122"/>
                    <a:ea typeface="楷体" panose="02010609060101010101" pitchFamily="49" charset="-122"/>
                  </a:rPr>
                  <a:t>）</a:t>
                </a:r>
              </a:p>
            </p:txBody>
          </p:sp>
          <p:sp>
            <p:nvSpPr>
              <p:cNvPr id="12" name="圆角矩形 11"/>
              <p:cNvSpPr/>
              <p:nvPr>
                <p:custDataLst>
                  <p:tags r:id="rId4"/>
                </p:custDataLst>
              </p:nvPr>
            </p:nvSpPr>
            <p:spPr>
              <a:xfrm>
                <a:off x="5543" y="4235"/>
                <a:ext cx="5296" cy="1579"/>
              </a:xfrm>
              <a:prstGeom prst="roundRect">
                <a:avLst/>
              </a:prstGeom>
              <a:solidFill>
                <a:schemeClr val="accent6">
                  <a:lumMod val="5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000">
                    <a:latin typeface="楷体" panose="02010609060101010101" pitchFamily="49" charset="-122"/>
                    <a:ea typeface="楷体" panose="02010609060101010101" pitchFamily="49" charset="-122"/>
                  </a:rPr>
                  <a:t>严格意义上的原型（</a:t>
                </a:r>
                <a:r>
                  <a:rPr lang="zh-CN" altLang="en-US" sz="2000">
                    <a:latin typeface="Times New Roman" panose="02020603050405020304" pitchFamily="18" charset="0"/>
                    <a:ea typeface="楷体" panose="02010609060101010101" pitchFamily="49" charset="-122"/>
                    <a:cs typeface="Times New Roman" panose="02020603050405020304" pitchFamily="18" charset="0"/>
                  </a:rPr>
                  <a:t>prototype proper</a:t>
                </a:r>
                <a:r>
                  <a:rPr lang="zh-CN" altLang="en-US" sz="2000">
                    <a:latin typeface="楷体" panose="02010609060101010101" pitchFamily="49" charset="-122"/>
                    <a:ea typeface="楷体" panose="02010609060101010101" pitchFamily="49" charset="-122"/>
                  </a:rPr>
                  <a:t>）</a:t>
                </a:r>
              </a:p>
            </p:txBody>
          </p:sp>
          <p:sp>
            <p:nvSpPr>
              <p:cNvPr id="19" name="圆角矩形 18"/>
              <p:cNvSpPr/>
              <p:nvPr>
                <p:custDataLst>
                  <p:tags r:id="rId5"/>
                </p:custDataLst>
              </p:nvPr>
            </p:nvSpPr>
            <p:spPr>
              <a:xfrm>
                <a:off x="5543" y="6205"/>
                <a:ext cx="5296" cy="1579"/>
              </a:xfrm>
              <a:prstGeom prst="roundRect">
                <a:avLst/>
              </a:prstGeom>
              <a:solidFill>
                <a:schemeClr val="accent6">
                  <a:lumMod val="5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000">
                    <a:latin typeface="楷体" panose="02010609060101010101" pitchFamily="49" charset="-122"/>
                    <a:ea typeface="楷体" panose="02010609060101010101" pitchFamily="49" charset="-122"/>
                  </a:rPr>
                  <a:t>试验原型 </a:t>
                </a:r>
              </a:p>
              <a:p>
                <a:pPr algn="ctr"/>
                <a:r>
                  <a:rPr lang="zh-CN" altLang="en-US" sz="2000">
                    <a:latin typeface="楷体" panose="02010609060101010101" pitchFamily="49" charset="-122"/>
                    <a:ea typeface="楷体" panose="02010609060101010101" pitchFamily="49" charset="-122"/>
                  </a:rPr>
                  <a:t>（</a:t>
                </a:r>
                <a:r>
                  <a:rPr lang="zh-CN" altLang="en-US" sz="2000">
                    <a:latin typeface="Times New Roman" panose="02020603050405020304" pitchFamily="18" charset="0"/>
                    <a:ea typeface="楷体" panose="02010609060101010101" pitchFamily="49" charset="-122"/>
                    <a:cs typeface="Times New Roman" panose="02020603050405020304" pitchFamily="18" charset="0"/>
                  </a:rPr>
                  <a:t>breadboard prototype</a:t>
                </a:r>
                <a:r>
                  <a:rPr lang="zh-CN" altLang="en-US" sz="2000">
                    <a:latin typeface="楷体" panose="02010609060101010101" pitchFamily="49" charset="-122"/>
                    <a:ea typeface="楷体" panose="02010609060101010101" pitchFamily="49" charset="-122"/>
                  </a:rPr>
                  <a:t>）</a:t>
                </a:r>
              </a:p>
            </p:txBody>
          </p:sp>
          <p:sp>
            <p:nvSpPr>
              <p:cNvPr id="20" name="圆角矩形 19"/>
              <p:cNvSpPr/>
              <p:nvPr>
                <p:custDataLst>
                  <p:tags r:id="rId6"/>
                </p:custDataLst>
              </p:nvPr>
            </p:nvSpPr>
            <p:spPr>
              <a:xfrm>
                <a:off x="5543" y="8175"/>
                <a:ext cx="5296" cy="1579"/>
              </a:xfrm>
              <a:prstGeom prst="roundRect">
                <a:avLst/>
              </a:prstGeom>
              <a:solidFill>
                <a:schemeClr val="accent6">
                  <a:lumMod val="5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000">
                    <a:latin typeface="楷体" panose="02010609060101010101" pitchFamily="49" charset="-122"/>
                    <a:ea typeface="楷体" panose="02010609060101010101" pitchFamily="49" charset="-122"/>
                  </a:rPr>
                  <a:t>引示系统原型</a:t>
                </a:r>
              </a:p>
              <a:p>
                <a:pPr algn="ctr"/>
                <a:r>
                  <a:rPr lang="zh-CN" altLang="en-US" sz="2000">
                    <a:latin typeface="楷体" panose="02010609060101010101" pitchFamily="49" charset="-122"/>
                    <a:ea typeface="楷体" panose="02010609060101010101" pitchFamily="49" charset="-122"/>
                  </a:rPr>
                  <a:t>（</a:t>
                </a:r>
                <a:r>
                  <a:rPr lang="zh-CN" altLang="en-US" sz="2000">
                    <a:latin typeface="Times New Roman" panose="02020603050405020304" pitchFamily="18" charset="0"/>
                    <a:ea typeface="楷体" panose="02010609060101010101" pitchFamily="49" charset="-122"/>
                    <a:cs typeface="Times New Roman" panose="02020603050405020304" pitchFamily="18" charset="0"/>
                  </a:rPr>
                  <a:t>pilot system prototype</a:t>
                </a:r>
                <a:r>
                  <a:rPr lang="zh-CN" altLang="en-US" sz="2000">
                    <a:latin typeface="楷体" panose="02010609060101010101" pitchFamily="49" charset="-122"/>
                    <a:ea typeface="楷体" panose="02010609060101010101" pitchFamily="49" charset="-122"/>
                  </a:rPr>
                  <a:t>）</a:t>
                </a:r>
              </a:p>
            </p:txBody>
          </p:sp>
        </p:gr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演示原型</a:t>
            </a:r>
          </a:p>
        </p:txBody>
      </p:sp>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原型</a:t>
            </a:r>
          </a:p>
        </p:txBody>
      </p:sp>
      <p:sp>
        <p:nvSpPr>
          <p:cNvPr id="13" name="矩形: 圆角 10"/>
          <p:cNvSpPr/>
          <p:nvPr>
            <p:custDataLst>
              <p:tags r:id="rId1"/>
            </p:custDataLst>
          </p:nvPr>
        </p:nvSpPr>
        <p:spPr>
          <a:xfrm>
            <a:off x="6238875" y="1903730"/>
            <a:ext cx="2179320" cy="3157220"/>
          </a:xfrm>
          <a:prstGeom prst="roundRect">
            <a:avLst>
              <a:gd name="adj" fmla="val 9199"/>
            </a:avLst>
          </a:prstGeom>
          <a:gradFill>
            <a:gsLst>
              <a:gs pos="100000">
                <a:srgbClr val="026CD4">
                  <a:lumMod val="20000"/>
                  <a:lumOff val="80000"/>
                  <a:alpha val="20000"/>
                </a:srgbClr>
              </a:gs>
              <a:gs pos="0">
                <a:srgbClr val="008BFF">
                  <a:lumMod val="20000"/>
                  <a:lumOff val="80000"/>
                </a:srgbClr>
              </a:gs>
            </a:gsLst>
            <a:lin ang="5400000" scaled="0"/>
          </a:gradFill>
          <a:ln w="19050">
            <a:gradFill flip="none" rotWithShape="1">
              <a:gsLst>
                <a:gs pos="19000">
                  <a:srgbClr val="026CD4">
                    <a:lumMod val="20000"/>
                    <a:lumOff val="80000"/>
                    <a:alpha val="20000"/>
                  </a:srgbClr>
                </a:gs>
                <a:gs pos="100000">
                  <a:srgbClr val="026CD4"/>
                </a:gs>
              </a:gsLst>
              <a:lin ang="15960000" scaled="1"/>
              <a:tileRect/>
            </a:gradFill>
          </a:ln>
        </p:spPr>
        <p:style>
          <a:lnRef idx="2">
            <a:srgbClr val="026CD4">
              <a:shade val="50000"/>
            </a:srgbClr>
          </a:lnRef>
          <a:fillRef idx="1">
            <a:srgbClr val="026CD4"/>
          </a:fillRef>
          <a:effectRef idx="0">
            <a:srgbClr val="026CD4"/>
          </a:effectRef>
          <a:fontRef idx="minor">
            <a:srgbClr val="FFFFFF"/>
          </a:fontRef>
        </p:style>
        <p:txBody>
          <a:bodyPr rtlCol="0" anchor="ctr"/>
          <a:lstStyle/>
          <a:p>
            <a:endParaRPr lang="zh-CN" altLang="en-US" sz="1050" dirty="0">
              <a:solidFill>
                <a:srgbClr val="FFFFFF"/>
              </a:solidFill>
              <a:latin typeface="微软雅黑" panose="020B0503020204020204" pitchFamily="34" charset="-122"/>
              <a:ea typeface="微软雅黑" panose="020B0503020204020204" pitchFamily="34" charset="-122"/>
              <a:cs typeface="思源黑体 CN Bold" panose="020B0800000000000000" charset="-122"/>
            </a:endParaRPr>
          </a:p>
        </p:txBody>
      </p:sp>
      <p:sp>
        <p:nvSpPr>
          <p:cNvPr id="16" name="文本框 15"/>
          <p:cNvSpPr txBox="1"/>
          <p:nvPr>
            <p:custDataLst>
              <p:tags r:id="rId2"/>
            </p:custDataLst>
          </p:nvPr>
        </p:nvSpPr>
        <p:spPr>
          <a:xfrm>
            <a:off x="6250305" y="2101215"/>
            <a:ext cx="2078990" cy="2829560"/>
          </a:xfrm>
          <a:prstGeom prst="rect">
            <a:avLst/>
          </a:prstGeom>
          <a:noFill/>
        </p:spPr>
        <p:txBody>
          <a:bodyPr wrap="square" lIns="108108" tIns="108108" rIns="108108" bIns="35242" rtlCol="0" anchor="ctr" anchorCtr="0">
            <a:noAutofit/>
          </a:bodyPr>
          <a:lstStyle/>
          <a:p>
            <a:pPr lvl="0" algn="l" fontAlgn="auto">
              <a:lnSpc>
                <a:spcPct val="130000"/>
              </a:lnSpc>
              <a:spcAft>
                <a:spcPts val="1000"/>
              </a:spcAft>
              <a:buClrTx/>
              <a:buSzTx/>
              <a:buFontTx/>
            </a:pPr>
            <a:r>
              <a:rPr lang="zh-CN" altLang="en-US" sz="1800">
                <a:latin typeface="楷体" panose="02010609060101010101" pitchFamily="49" charset="-122"/>
                <a:ea typeface="楷体" panose="02010609060101010101" pitchFamily="49" charset="-122"/>
                <a:sym typeface="+mn-ea"/>
              </a:rPr>
              <a:t>开发者可以通过演示之前的产品向新客户表明自己的技术实力，</a:t>
            </a:r>
            <a:r>
              <a:rPr lang="zh-CN" altLang="en-US" sz="1800" b="1">
                <a:solidFill>
                  <a:srgbClr val="88057A"/>
                </a:solidFill>
                <a:latin typeface="楷体" panose="02010609060101010101" pitchFamily="49" charset="-122"/>
                <a:ea typeface="楷体" panose="02010609060101010101" pitchFamily="49" charset="-122"/>
                <a:sym typeface="+mn-ea"/>
              </a:rPr>
              <a:t>之前的产品</a:t>
            </a:r>
            <a:r>
              <a:rPr lang="zh-CN" altLang="en-US" sz="1800">
                <a:latin typeface="楷体" panose="02010609060101010101" pitchFamily="49" charset="-122"/>
                <a:ea typeface="楷体" panose="02010609060101010101" pitchFamily="49" charset="-122"/>
                <a:sym typeface="+mn-ea"/>
              </a:rPr>
              <a:t>就充当了演示原型的作用。</a:t>
            </a:r>
            <a:endParaRPr lang="zh-CN" altLang="en-US" sz="1800">
              <a:latin typeface="楷体" panose="02010609060101010101" pitchFamily="49" charset="-122"/>
              <a:ea typeface="楷体" panose="02010609060101010101" pitchFamily="49" charset="-122"/>
              <a:sym typeface="微软雅黑" panose="020B0503020204020204" pitchFamily="34" charset="-122"/>
            </a:endParaRPr>
          </a:p>
        </p:txBody>
      </p:sp>
      <p:sp>
        <p:nvSpPr>
          <p:cNvPr id="17" name="矩形: 圆角 10"/>
          <p:cNvSpPr/>
          <p:nvPr>
            <p:custDataLst>
              <p:tags r:id="rId3"/>
            </p:custDataLst>
          </p:nvPr>
        </p:nvSpPr>
        <p:spPr>
          <a:xfrm>
            <a:off x="815975" y="1903730"/>
            <a:ext cx="2299335" cy="3157855"/>
          </a:xfrm>
          <a:prstGeom prst="roundRect">
            <a:avLst>
              <a:gd name="adj" fmla="val 9199"/>
            </a:avLst>
          </a:prstGeom>
          <a:gradFill>
            <a:gsLst>
              <a:gs pos="100000">
                <a:srgbClr val="026CD4">
                  <a:lumMod val="20000"/>
                  <a:lumOff val="80000"/>
                  <a:alpha val="20000"/>
                </a:srgbClr>
              </a:gs>
              <a:gs pos="0">
                <a:srgbClr val="008BFF">
                  <a:lumMod val="20000"/>
                  <a:lumOff val="80000"/>
                </a:srgbClr>
              </a:gs>
            </a:gsLst>
            <a:lin ang="5400000" scaled="0"/>
          </a:gradFill>
          <a:ln w="19050">
            <a:gradFill flip="none" rotWithShape="1">
              <a:gsLst>
                <a:gs pos="19000">
                  <a:srgbClr val="026CD4">
                    <a:lumMod val="20000"/>
                    <a:lumOff val="80000"/>
                    <a:alpha val="20000"/>
                  </a:srgbClr>
                </a:gs>
                <a:gs pos="100000">
                  <a:srgbClr val="026CD4"/>
                </a:gs>
              </a:gsLst>
              <a:lin ang="15960000" scaled="1"/>
              <a:tileRect/>
            </a:gradFill>
          </a:ln>
        </p:spPr>
        <p:style>
          <a:lnRef idx="2">
            <a:srgbClr val="026CD4">
              <a:shade val="50000"/>
            </a:srgbClr>
          </a:lnRef>
          <a:fillRef idx="1">
            <a:srgbClr val="026CD4"/>
          </a:fillRef>
          <a:effectRef idx="0">
            <a:srgbClr val="026CD4"/>
          </a:effectRef>
          <a:fontRef idx="minor">
            <a:srgbClr val="FFFFFF"/>
          </a:fontRef>
        </p:style>
        <p:txBody>
          <a:bodyPr rtlCol="0" anchor="ctr"/>
          <a:lstStyle/>
          <a:p>
            <a:endParaRPr lang="zh-CN" altLang="en-US" sz="1050" dirty="0">
              <a:solidFill>
                <a:srgbClr val="FFFFFF"/>
              </a:solidFill>
              <a:latin typeface="微软雅黑" panose="020B0503020204020204" pitchFamily="34" charset="-122"/>
              <a:ea typeface="微软雅黑" panose="020B0503020204020204" pitchFamily="34" charset="-122"/>
              <a:cs typeface="思源黑体 CN Bold" panose="020B0800000000000000" charset="-122"/>
            </a:endParaRPr>
          </a:p>
        </p:txBody>
      </p:sp>
      <p:sp>
        <p:nvSpPr>
          <p:cNvPr id="22" name="圆角矩形 21"/>
          <p:cNvSpPr/>
          <p:nvPr>
            <p:custDataLst>
              <p:tags r:id="rId4"/>
            </p:custDataLst>
          </p:nvPr>
        </p:nvSpPr>
        <p:spPr>
          <a:xfrm>
            <a:off x="2105660" y="1636395"/>
            <a:ext cx="960120" cy="531495"/>
          </a:xfrm>
          <a:prstGeom prst="roundRect">
            <a:avLst/>
          </a:prstGeom>
          <a:gradFill>
            <a:gsLst>
              <a:gs pos="21000">
                <a:srgbClr val="026CD4"/>
              </a:gs>
              <a:gs pos="100000">
                <a:srgbClr val="026CD4">
                  <a:lumMod val="40000"/>
                  <a:lumOff val="60000"/>
                </a:srgbClr>
              </a:gs>
            </a:gsLst>
            <a:lin ang="10800000" scaled="1"/>
          </a:gradFill>
          <a:ln w="22225">
            <a:solidFill>
              <a:srgbClr val="FFFFFF"/>
            </a:solidFill>
          </a:ln>
        </p:spPr>
        <p:style>
          <a:lnRef idx="2">
            <a:srgbClr val="FFFFFF">
              <a:hueOff val="0"/>
              <a:satOff val="0"/>
              <a:lumOff val="0"/>
              <a:alphaOff val="0"/>
            </a:srgbClr>
          </a:lnRef>
          <a:fillRef idx="1">
            <a:srgbClr val="026CD4">
              <a:tint val="50000"/>
              <a:hueOff val="0"/>
              <a:satOff val="0"/>
              <a:lumOff val="0"/>
              <a:alphaOff val="0"/>
            </a:srgbClr>
          </a:fillRef>
          <a:effectRef idx="0">
            <a:srgbClr val="026CD4">
              <a:tint val="50000"/>
              <a:hueOff val="0"/>
              <a:satOff val="0"/>
              <a:lumOff val="0"/>
              <a:alphaOff val="0"/>
            </a:srgbClr>
          </a:effectRef>
          <a:fontRef idx="minor">
            <a:srgbClr val="FFFFFF">
              <a:hueOff val="0"/>
              <a:satOff val="0"/>
              <a:lumOff val="0"/>
              <a:alphaOff val="0"/>
            </a:srgbClr>
          </a:fontRef>
        </p:style>
      </p:sp>
      <p:sp>
        <p:nvSpPr>
          <p:cNvPr id="23" name="文本框 22"/>
          <p:cNvSpPr txBox="1"/>
          <p:nvPr>
            <p:custDataLst>
              <p:tags r:id="rId5"/>
            </p:custDataLst>
          </p:nvPr>
        </p:nvSpPr>
        <p:spPr>
          <a:xfrm>
            <a:off x="2105660" y="1637665"/>
            <a:ext cx="960120" cy="530225"/>
          </a:xfrm>
          <a:prstGeom prst="rect">
            <a:avLst/>
          </a:prstGeom>
          <a:noFill/>
        </p:spPr>
        <p:txBody>
          <a:bodyPr wrap="square" bIns="0" anchor="ctr" anchorCtr="0">
            <a:noAutofit/>
          </a:bodyPr>
          <a:lstStyle/>
          <a:p>
            <a:pPr algn="ctr"/>
            <a:r>
              <a:rPr lang="zh-CN" altLang="en-US" sz="2000" spc="300" dirty="0">
                <a:ln w="12700">
                  <a:noFill/>
                </a:ln>
                <a:solidFill>
                  <a:srgbClr val="FFFFFF"/>
                </a:solidFill>
                <a:uFillTx/>
                <a:latin typeface="楷体" panose="02010609060101010101" pitchFamily="49" charset="-122"/>
                <a:ea typeface="楷体" panose="02010609060101010101" pitchFamily="49" charset="-122"/>
                <a:cs typeface="思源黑体 CN Bold" panose="020B0800000000000000" charset="-122"/>
              </a:rPr>
              <a:t>用途</a:t>
            </a:r>
          </a:p>
        </p:txBody>
      </p:sp>
      <p:sp>
        <p:nvSpPr>
          <p:cNvPr id="24" name="文本框 23"/>
          <p:cNvSpPr txBox="1"/>
          <p:nvPr>
            <p:custDataLst>
              <p:tags r:id="rId6"/>
            </p:custDataLst>
          </p:nvPr>
        </p:nvSpPr>
        <p:spPr>
          <a:xfrm>
            <a:off x="931545" y="2252980"/>
            <a:ext cx="2184400" cy="2677795"/>
          </a:xfrm>
          <a:prstGeom prst="rect">
            <a:avLst/>
          </a:prstGeom>
          <a:noFill/>
        </p:spPr>
        <p:txBody>
          <a:bodyPr wrap="square" lIns="108108" tIns="108108" rIns="108108" bIns="35242" rtlCol="0" anchor="ctr" anchorCtr="0">
            <a:noAutofit/>
          </a:bodyPr>
          <a:lstStyle/>
          <a:p>
            <a:pPr lvl="0" algn="l" fontAlgn="auto">
              <a:lnSpc>
                <a:spcPct val="130000"/>
              </a:lnSpc>
              <a:spcAft>
                <a:spcPts val="1000"/>
              </a:spcAft>
              <a:buClrTx/>
              <a:buSzTx/>
              <a:buFontTx/>
            </a:pPr>
            <a:r>
              <a:rPr lang="zh-CN" altLang="en-US">
                <a:latin typeface="楷体" panose="02010609060101010101" pitchFamily="49" charset="-122"/>
                <a:ea typeface="楷体" panose="02010609060101010101" pitchFamily="49" charset="-122"/>
                <a:sym typeface="+mn-ea"/>
              </a:rPr>
              <a:t>通过演示相应的内容展示开发者的技术能力或特定问题解决的可能性，主要被用在</a:t>
            </a:r>
            <a:r>
              <a:rPr lang="zh-CN" altLang="en-US" b="1">
                <a:solidFill>
                  <a:srgbClr val="88057A"/>
                </a:solidFill>
                <a:latin typeface="楷体" panose="02010609060101010101" pitchFamily="49" charset="-122"/>
                <a:ea typeface="楷体" panose="02010609060101010101" pitchFamily="49" charset="-122"/>
                <a:sym typeface="+mn-ea"/>
              </a:rPr>
              <a:t>项目启动</a:t>
            </a:r>
            <a:r>
              <a:rPr lang="zh-CN" altLang="en-US">
                <a:latin typeface="楷体" panose="02010609060101010101" pitchFamily="49" charset="-122"/>
                <a:ea typeface="楷体" panose="02010609060101010101" pitchFamily="49" charset="-122"/>
                <a:sym typeface="+mn-ea"/>
              </a:rPr>
              <a:t>阶段。</a:t>
            </a:r>
            <a:endParaRPr lang="zh-CN" altLang="en-US" kern="0" spc="150" dirty="0">
              <a:solidFill>
                <a:srgbClr val="000000">
                  <a:lumMod val="50000"/>
                  <a:lumOff val="50000"/>
                </a:srgbClr>
              </a:solidFill>
              <a:uFillTx/>
              <a:latin typeface="楷体" panose="02010609060101010101" pitchFamily="49" charset="-122"/>
              <a:ea typeface="楷体" panose="02010609060101010101" pitchFamily="49" charset="-122"/>
              <a:cs typeface="思源黑体 CN Regular" panose="020B0500000000000000" charset="-122"/>
              <a:sym typeface="+mn-ea"/>
            </a:endParaRPr>
          </a:p>
        </p:txBody>
      </p:sp>
      <p:sp>
        <p:nvSpPr>
          <p:cNvPr id="26" name="矩形: 圆角 12"/>
          <p:cNvSpPr/>
          <p:nvPr>
            <p:custDataLst>
              <p:tags r:id="rId7"/>
            </p:custDataLst>
          </p:nvPr>
        </p:nvSpPr>
        <p:spPr>
          <a:xfrm rot="10800000">
            <a:off x="3481070" y="1903730"/>
            <a:ext cx="2342515" cy="3157220"/>
          </a:xfrm>
          <a:prstGeom prst="roundRect">
            <a:avLst>
              <a:gd name="adj" fmla="val 8577"/>
            </a:avLst>
          </a:prstGeom>
          <a:gradFill>
            <a:gsLst>
              <a:gs pos="100000">
                <a:srgbClr val="FFFFFF">
                  <a:alpha val="20000"/>
                </a:srgbClr>
              </a:gs>
              <a:gs pos="5000">
                <a:srgbClr val="007ADD">
                  <a:lumMod val="20000"/>
                  <a:lumOff val="80000"/>
                </a:srgbClr>
              </a:gs>
            </a:gsLst>
            <a:lin ang="5400000" scaled="0"/>
          </a:gradFill>
          <a:ln w="19050">
            <a:gradFill flip="none" rotWithShape="1">
              <a:gsLst>
                <a:gs pos="22000">
                  <a:srgbClr val="007ADD">
                    <a:alpha val="20000"/>
                  </a:srgbClr>
                </a:gs>
                <a:gs pos="100000">
                  <a:srgbClr val="007ADD"/>
                </a:gs>
              </a:gsLst>
              <a:lin ang="16200000" scaled="1"/>
              <a:tileRect/>
            </a:gradFill>
          </a:ln>
        </p:spPr>
        <p:style>
          <a:lnRef idx="2">
            <a:srgbClr val="026CD4">
              <a:shade val="50000"/>
            </a:srgbClr>
          </a:lnRef>
          <a:fillRef idx="1">
            <a:srgbClr val="026CD4"/>
          </a:fillRef>
          <a:effectRef idx="0">
            <a:srgbClr val="026CD4"/>
          </a:effectRef>
          <a:fontRef idx="minor">
            <a:srgbClr val="FFFFFF"/>
          </a:fontRef>
        </p:style>
        <p:txBody>
          <a:bodyPr rtlCol="0" anchor="ctr"/>
          <a:lstStyle/>
          <a:p>
            <a:endParaRPr lang="zh-CN" altLang="en-US" sz="1050" dirty="0">
              <a:solidFill>
                <a:srgbClr val="FFFFFF"/>
              </a:solidFill>
              <a:latin typeface="微软雅黑" panose="020B0503020204020204" pitchFamily="34" charset="-122"/>
              <a:ea typeface="微软雅黑" panose="020B0503020204020204" pitchFamily="34" charset="-122"/>
              <a:cs typeface="思源黑体 CN Bold" panose="020B0800000000000000" charset="-122"/>
            </a:endParaRPr>
          </a:p>
        </p:txBody>
      </p:sp>
      <p:sp>
        <p:nvSpPr>
          <p:cNvPr id="27" name="圆角矩形 26"/>
          <p:cNvSpPr/>
          <p:nvPr>
            <p:custDataLst>
              <p:tags r:id="rId8"/>
            </p:custDataLst>
          </p:nvPr>
        </p:nvSpPr>
        <p:spPr>
          <a:xfrm>
            <a:off x="4663440" y="1637665"/>
            <a:ext cx="1078230" cy="531495"/>
          </a:xfrm>
          <a:prstGeom prst="roundRect">
            <a:avLst/>
          </a:prstGeom>
          <a:gradFill>
            <a:gsLst>
              <a:gs pos="36000">
                <a:srgbClr val="007ADD"/>
              </a:gs>
              <a:gs pos="100000">
                <a:srgbClr val="007ADD">
                  <a:lumMod val="60000"/>
                  <a:lumOff val="40000"/>
                </a:srgbClr>
              </a:gs>
            </a:gsLst>
            <a:lin ang="10800000" scaled="1"/>
          </a:gradFill>
          <a:ln w="22225">
            <a:solidFill>
              <a:srgbClr val="FFFFFF"/>
            </a:solidFill>
          </a:ln>
        </p:spPr>
        <p:style>
          <a:lnRef idx="2">
            <a:srgbClr val="FFFFFF">
              <a:hueOff val="0"/>
              <a:satOff val="0"/>
              <a:lumOff val="0"/>
              <a:alphaOff val="0"/>
            </a:srgbClr>
          </a:lnRef>
          <a:fillRef idx="1">
            <a:srgbClr val="026CD4">
              <a:tint val="50000"/>
              <a:hueOff val="0"/>
              <a:satOff val="0"/>
              <a:lumOff val="0"/>
              <a:alphaOff val="0"/>
            </a:srgbClr>
          </a:fillRef>
          <a:effectRef idx="0">
            <a:srgbClr val="026CD4">
              <a:tint val="50000"/>
              <a:hueOff val="0"/>
              <a:satOff val="0"/>
              <a:lumOff val="0"/>
              <a:alphaOff val="0"/>
            </a:srgbClr>
          </a:effectRef>
          <a:fontRef idx="minor">
            <a:srgbClr val="FFFFFF">
              <a:hueOff val="0"/>
              <a:satOff val="0"/>
              <a:lumOff val="0"/>
              <a:alphaOff val="0"/>
            </a:srgbClr>
          </a:fontRef>
        </p:style>
        <p:txBody>
          <a:bodyPr anchor="ctr" anchorCtr="0"/>
          <a:lstStyle/>
          <a:p>
            <a:pPr algn="ctr"/>
            <a:r>
              <a:rPr lang="zh-CN" altLang="en-US" sz="2000">
                <a:latin typeface="楷体" panose="02010609060101010101" pitchFamily="49" charset="-122"/>
                <a:ea typeface="楷体" panose="02010609060101010101" pitchFamily="49" charset="-122"/>
                <a:cs typeface="楷体" panose="02010609060101010101" pitchFamily="49" charset="-122"/>
              </a:rPr>
              <a:t>例子</a:t>
            </a:r>
            <a:r>
              <a:rPr lang="en-US" altLang="zh-CN" sz="2000">
                <a:latin typeface="楷体" panose="02010609060101010101" pitchFamily="49" charset="-122"/>
                <a:ea typeface="楷体" panose="02010609060101010101" pitchFamily="49" charset="-122"/>
                <a:cs typeface="楷体" panose="02010609060101010101" pitchFamily="49" charset="-122"/>
              </a:rPr>
              <a:t>1</a:t>
            </a:r>
          </a:p>
        </p:txBody>
      </p:sp>
      <p:sp>
        <p:nvSpPr>
          <p:cNvPr id="28" name="文本框 27"/>
          <p:cNvSpPr txBox="1"/>
          <p:nvPr>
            <p:custDataLst>
              <p:tags r:id="rId9"/>
            </p:custDataLst>
          </p:nvPr>
        </p:nvSpPr>
        <p:spPr>
          <a:xfrm>
            <a:off x="4572000" y="2741295"/>
            <a:ext cx="1078230" cy="331470"/>
          </a:xfrm>
          <a:prstGeom prst="rect">
            <a:avLst/>
          </a:prstGeom>
          <a:noFill/>
        </p:spPr>
        <p:txBody>
          <a:bodyPr wrap="square" bIns="0" anchor="ctr" anchorCtr="0">
            <a:noAutofit/>
          </a:bodyPr>
          <a:lstStyle/>
          <a:p>
            <a:pPr algn="ctr"/>
            <a:r>
              <a:rPr lang="zh-CN" altLang="en-US" sz="1900" spc="300" dirty="0">
                <a:ln w="12700">
                  <a:noFill/>
                </a:ln>
                <a:solidFill>
                  <a:srgbClr val="FFFFFF"/>
                </a:solidFill>
                <a:uFillTx/>
                <a:latin typeface="楷体" panose="02010609060101010101" pitchFamily="49" charset="-122"/>
                <a:ea typeface="楷体" panose="02010609060101010101" pitchFamily="49" charset="-122"/>
                <a:cs typeface="楷体" panose="02010609060101010101" pitchFamily="49" charset="-122"/>
              </a:rPr>
              <a:t>例子</a:t>
            </a:r>
            <a:r>
              <a:rPr lang="en-US" altLang="zh-CN" sz="1900" spc="300" dirty="0">
                <a:ln w="12700">
                  <a:noFill/>
                </a:ln>
                <a:solidFill>
                  <a:srgbClr val="FFFFFF"/>
                </a:solidFill>
                <a:uFillTx/>
                <a:latin typeface="楷体" panose="02010609060101010101" pitchFamily="49" charset="-122"/>
                <a:ea typeface="楷体" panose="02010609060101010101" pitchFamily="49" charset="-122"/>
                <a:cs typeface="楷体" panose="02010609060101010101" pitchFamily="49" charset="-122"/>
              </a:rPr>
              <a:t>1</a:t>
            </a:r>
          </a:p>
        </p:txBody>
      </p:sp>
      <p:sp>
        <p:nvSpPr>
          <p:cNvPr id="31" name="文本框 30"/>
          <p:cNvSpPr txBox="1"/>
          <p:nvPr>
            <p:custDataLst>
              <p:tags r:id="rId10"/>
            </p:custDataLst>
          </p:nvPr>
        </p:nvSpPr>
        <p:spPr>
          <a:xfrm>
            <a:off x="3525520" y="2252345"/>
            <a:ext cx="2178685" cy="2330450"/>
          </a:xfrm>
          <a:prstGeom prst="rect">
            <a:avLst/>
          </a:prstGeom>
          <a:noFill/>
        </p:spPr>
        <p:txBody>
          <a:bodyPr wrap="square" lIns="108108" tIns="108108" rIns="108108" bIns="35242" rtlCol="0" anchor="ctr" anchorCtr="0">
            <a:noAutofit/>
          </a:bodyPr>
          <a:lstStyle/>
          <a:p>
            <a:pPr lvl="0" algn="l" fontAlgn="auto">
              <a:lnSpc>
                <a:spcPct val="130000"/>
              </a:lnSpc>
              <a:spcAft>
                <a:spcPts val="1000"/>
              </a:spcAft>
              <a:buClrTx/>
              <a:buSzTx/>
              <a:buFontTx/>
            </a:pPr>
            <a:r>
              <a:rPr lang="zh-CN" altLang="en-US" sz="1800">
                <a:latin typeface="Times Regular" panose="00000500000000020000" charset="0"/>
                <a:ea typeface="楷体" panose="02010609060101010101" pitchFamily="49" charset="-122"/>
                <a:cs typeface="Times Regular" panose="00000500000000020000" charset="0"/>
                <a:sym typeface="+mn-ea"/>
              </a:rPr>
              <a:t>研究者通常会演示</a:t>
            </a:r>
            <a:r>
              <a:rPr lang="zh-CN" altLang="en-US" sz="1800">
                <a:latin typeface="Times New Roman" panose="02020603050405020304" pitchFamily="18" charset="0"/>
                <a:ea typeface="楷体" panose="02010609060101010101" pitchFamily="49" charset="-122"/>
                <a:cs typeface="Times New Roman" panose="02020603050405020304" pitchFamily="18" charset="0"/>
                <a:sym typeface="+mn-ea"/>
              </a:rPr>
              <a:t>Demo以表明技术上的可行性，</a:t>
            </a:r>
            <a:r>
              <a:rPr lang="zh-CN" altLang="en-US" sz="1800">
                <a:solidFill>
                  <a:srgbClr val="88057A"/>
                </a:solidFill>
                <a:latin typeface="Times New Roman" panose="02020603050405020304" pitchFamily="18" charset="0"/>
                <a:ea typeface="楷体" panose="02010609060101010101" pitchFamily="49" charset="-122"/>
                <a:cs typeface="Times New Roman" panose="02020603050405020304" pitchFamily="18" charset="0"/>
                <a:sym typeface="+mn-ea"/>
              </a:rPr>
              <a:t>Demo</a:t>
            </a:r>
            <a:r>
              <a:rPr lang="zh-CN" altLang="en-US" sz="1800">
                <a:latin typeface="Times New Roman" panose="02020603050405020304" pitchFamily="18" charset="0"/>
                <a:ea typeface="楷体" panose="02010609060101010101" pitchFamily="49" charset="-122"/>
                <a:cs typeface="Times New Roman" panose="02020603050405020304" pitchFamily="18" charset="0"/>
                <a:sym typeface="+mn-ea"/>
              </a:rPr>
              <a:t>就</a:t>
            </a:r>
            <a:r>
              <a:rPr lang="zh-CN" altLang="en-US" sz="1800">
                <a:latin typeface="Times Regular" panose="00000500000000020000" charset="0"/>
                <a:ea typeface="楷体" panose="02010609060101010101" pitchFamily="49" charset="-122"/>
                <a:cs typeface="Times Regular" panose="00000500000000020000" charset="0"/>
                <a:sym typeface="+mn-ea"/>
              </a:rPr>
              <a:t>是演示原型。</a:t>
            </a:r>
            <a:endParaRPr lang="zh-CN" altLang="en-US" sz="1800">
              <a:latin typeface="Times Regular" panose="00000500000000020000" charset="0"/>
              <a:ea typeface="楷体" panose="02010609060101010101" pitchFamily="49" charset="-122"/>
              <a:cs typeface="Times Regular" panose="00000500000000020000" charset="0"/>
            </a:endParaRPr>
          </a:p>
          <a:p>
            <a:pPr lvl="0" algn="l" fontAlgn="auto">
              <a:lnSpc>
                <a:spcPct val="130000"/>
              </a:lnSpc>
              <a:spcAft>
                <a:spcPts val="1000"/>
              </a:spcAft>
              <a:buClrTx/>
              <a:buSzTx/>
              <a:buFontTx/>
            </a:pPr>
            <a:endParaRPr lang="zh-CN" altLang="zh-CN" sz="1050" kern="0" spc="150" dirty="0">
              <a:solidFill>
                <a:srgbClr val="000000">
                  <a:lumMod val="50000"/>
                  <a:lumOff val="50000"/>
                </a:srgbClr>
              </a:solidFill>
              <a:uFillTx/>
              <a:latin typeface="Times Regular" panose="00000500000000020000" charset="0"/>
              <a:ea typeface="思源黑体 CN Regular" panose="020B0500000000000000" charset="-122"/>
              <a:cs typeface="Times Regular" panose="00000500000000020000" charset="0"/>
              <a:sym typeface="微软雅黑" panose="020B0503020204020204" pitchFamily="34" charset="-122"/>
            </a:endParaRPr>
          </a:p>
        </p:txBody>
      </p:sp>
      <p:sp>
        <p:nvSpPr>
          <p:cNvPr id="33" name="文本框 32"/>
          <p:cNvSpPr txBox="1"/>
          <p:nvPr>
            <p:custDataLst>
              <p:tags r:id="rId11"/>
            </p:custDataLst>
          </p:nvPr>
        </p:nvSpPr>
        <p:spPr>
          <a:xfrm>
            <a:off x="3535786" y="5381359"/>
            <a:ext cx="2455722" cy="322580"/>
          </a:xfrm>
          <a:prstGeom prst="rect">
            <a:avLst/>
          </a:prstGeom>
          <a:noFill/>
        </p:spPr>
        <p:txBody>
          <a:bodyPr wrap="square" bIns="0">
            <a:spAutoFit/>
          </a:bodyPr>
          <a:lstStyle/>
          <a:p>
            <a:pPr algn="ctr"/>
            <a:r>
              <a:rPr lang="zh-CN" altLang="en-US" spc="300">
                <a:solidFill>
                  <a:srgbClr val="FFFFFF"/>
                </a:solidFill>
                <a:uFillTx/>
                <a:latin typeface="思源黑体 CN Bold" panose="020B0800000000000000" charset="-122"/>
                <a:ea typeface="思源黑体 CN Bold" panose="020B0800000000000000" charset="-122"/>
                <a:sym typeface="微软雅黑" panose="020B0503020204020204" pitchFamily="34" charset="-122"/>
              </a:rPr>
              <a:t>单机此处添加标题</a:t>
            </a:r>
          </a:p>
        </p:txBody>
      </p:sp>
      <p:sp>
        <p:nvSpPr>
          <p:cNvPr id="35" name="圆角矩形 34"/>
          <p:cNvSpPr/>
          <p:nvPr>
            <p:custDataLst>
              <p:tags r:id="rId12"/>
            </p:custDataLst>
          </p:nvPr>
        </p:nvSpPr>
        <p:spPr>
          <a:xfrm>
            <a:off x="7243445" y="1637665"/>
            <a:ext cx="1078230" cy="531495"/>
          </a:xfrm>
          <a:prstGeom prst="roundRect">
            <a:avLst/>
          </a:prstGeom>
          <a:gradFill>
            <a:gsLst>
              <a:gs pos="36000">
                <a:srgbClr val="007ADD"/>
              </a:gs>
              <a:gs pos="100000">
                <a:srgbClr val="007ADD">
                  <a:lumMod val="60000"/>
                  <a:lumOff val="40000"/>
                </a:srgbClr>
              </a:gs>
            </a:gsLst>
            <a:lin ang="10800000" scaled="1"/>
          </a:gradFill>
          <a:ln w="22225">
            <a:solidFill>
              <a:srgbClr val="FFFFFF"/>
            </a:solidFill>
          </a:ln>
        </p:spPr>
        <p:style>
          <a:lnRef idx="2">
            <a:srgbClr val="FFFFFF">
              <a:hueOff val="0"/>
              <a:satOff val="0"/>
              <a:lumOff val="0"/>
              <a:alphaOff val="0"/>
            </a:srgbClr>
          </a:lnRef>
          <a:fillRef idx="1">
            <a:srgbClr val="026CD4">
              <a:tint val="50000"/>
              <a:hueOff val="0"/>
              <a:satOff val="0"/>
              <a:lumOff val="0"/>
              <a:alphaOff val="0"/>
            </a:srgbClr>
          </a:fillRef>
          <a:effectRef idx="0">
            <a:srgbClr val="026CD4">
              <a:tint val="50000"/>
              <a:hueOff val="0"/>
              <a:satOff val="0"/>
              <a:lumOff val="0"/>
              <a:alphaOff val="0"/>
            </a:srgbClr>
          </a:effectRef>
          <a:fontRef idx="minor">
            <a:srgbClr val="FFFFFF">
              <a:hueOff val="0"/>
              <a:satOff val="0"/>
              <a:lumOff val="0"/>
              <a:alphaOff val="0"/>
            </a:srgbClr>
          </a:fontRef>
        </p:style>
        <p:txBody>
          <a:bodyPr anchor="ctr" anchorCtr="0"/>
          <a:lstStyle/>
          <a:p>
            <a:pPr algn="ctr"/>
            <a:r>
              <a:rPr lang="zh-CN" altLang="en-US" sz="2000">
                <a:latin typeface="楷体" panose="02010609060101010101" pitchFamily="49" charset="-122"/>
                <a:ea typeface="楷体" panose="02010609060101010101" pitchFamily="49" charset="-122"/>
                <a:cs typeface="楷体" panose="02010609060101010101" pitchFamily="49" charset="-122"/>
              </a:rPr>
              <a:t>例子</a:t>
            </a:r>
            <a:r>
              <a:rPr lang="en-US" altLang="zh-CN" sz="2000">
                <a:latin typeface="楷体" panose="02010609060101010101" pitchFamily="49" charset="-122"/>
                <a:ea typeface="楷体" panose="02010609060101010101" pitchFamily="49" charset="-122"/>
                <a:cs typeface="楷体" panose="02010609060101010101" pitchFamily="49" charset="-122"/>
              </a:rPr>
              <a:t>2</a:t>
            </a:r>
          </a:p>
        </p:txBody>
      </p:sp>
      <p:sp>
        <p:nvSpPr>
          <p:cNvPr id="36" name="文本框 35"/>
          <p:cNvSpPr txBox="1"/>
          <p:nvPr/>
        </p:nvSpPr>
        <p:spPr>
          <a:xfrm>
            <a:off x="1083945" y="5393055"/>
            <a:ext cx="7233285" cy="645160"/>
          </a:xfrm>
          <a:prstGeom prst="rect">
            <a:avLst/>
          </a:prstGeom>
          <a:noFill/>
          <a:ln w="19050">
            <a:solidFill>
              <a:schemeClr val="accent1">
                <a:lumMod val="60000"/>
                <a:lumOff val="40000"/>
              </a:schemeClr>
            </a:solidFill>
          </a:ln>
        </p:spPr>
        <p:txBody>
          <a:bodyPr wrap="square" rtlCol="0">
            <a:spAutoFit/>
          </a:bodyPr>
          <a:lstStyle/>
          <a:p>
            <a:r>
              <a:rPr lang="zh-CN" altLang="en-US">
                <a:latin typeface="楷体" panose="02010609060101010101" pitchFamily="49" charset="-122"/>
                <a:ea typeface="楷体" panose="02010609060101010101" pitchFamily="49" charset="-122"/>
                <a:sym typeface="+mn-ea"/>
              </a:rPr>
              <a:t>演示原型真正想要展示的是一种能力或技术可行性，是将能力或技术可行性带入现在的演示制品进行展现。</a:t>
            </a:r>
            <a:endParaRPr lang="zh-CN" altLang="en-US">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med" p14:dur="699"/>
    </mc:Choice>
    <mc:Fallback xmlns="">
      <p:transition spd="med"/>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严格意义上的原型</a:t>
            </a:r>
          </a:p>
        </p:txBody>
      </p:sp>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原型</a:t>
            </a:r>
          </a:p>
        </p:txBody>
      </p:sp>
      <p:graphicFrame>
        <p:nvGraphicFramePr>
          <p:cNvPr id="52" name="图示 51"/>
          <p:cNvGraphicFramePr/>
          <p:nvPr/>
        </p:nvGraphicFramePr>
        <p:xfrm>
          <a:off x="508000" y="719455"/>
          <a:ext cx="8128000" cy="5418455"/>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pSp>
        <p:nvGrpSpPr>
          <p:cNvPr id="57" name="组合 56"/>
          <p:cNvGrpSpPr/>
          <p:nvPr/>
        </p:nvGrpSpPr>
        <p:grpSpPr>
          <a:xfrm>
            <a:off x="628650" y="1575435"/>
            <a:ext cx="7963535" cy="980440"/>
            <a:chOff x="926" y="3472"/>
            <a:chExt cx="12541" cy="1544"/>
          </a:xfrm>
        </p:grpSpPr>
        <p:sp>
          <p:nvSpPr>
            <p:cNvPr id="55" name="文本框 54"/>
            <p:cNvSpPr txBox="1"/>
            <p:nvPr>
              <p:custDataLst>
                <p:tags r:id="rId5"/>
              </p:custDataLst>
            </p:nvPr>
          </p:nvSpPr>
          <p:spPr>
            <a:xfrm>
              <a:off x="1135" y="3794"/>
              <a:ext cx="12332" cy="1222"/>
            </a:xfrm>
            <a:prstGeom prst="rect">
              <a:avLst/>
            </a:prstGeom>
            <a:noFill/>
            <a:ln w="15875" cmpd="sng">
              <a:solidFill>
                <a:srgbClr val="472680"/>
              </a:solidFill>
              <a:prstDash val="lgDashDot"/>
            </a:ln>
          </p:spPr>
          <p:txBody>
            <a:bodyPr wrap="square" rtlCol="0" anchor="t">
              <a:noAutofit/>
            </a:bodyPr>
            <a:lstStyle/>
            <a:p>
              <a:endParaRPr lang="zh-CN" altLang="en-US" sz="2000" dirty="0">
                <a:latin typeface="楷体" panose="02010609060101010101" pitchFamily="49" charset="-122"/>
                <a:ea typeface="楷体" panose="02010609060101010101" pitchFamily="49" charset="-122"/>
                <a:cs typeface="楷体" panose="02010609060101010101" pitchFamily="49" charset="-122"/>
              </a:endParaRPr>
            </a:p>
            <a:p>
              <a:r>
                <a:rPr lang="zh-CN" altLang="en-US" sz="2000" dirty="0">
                  <a:latin typeface="楷体" panose="02010609060101010101" pitchFamily="49" charset="-122"/>
                  <a:ea typeface="楷体" panose="02010609060101010101" pitchFamily="49" charset="-122"/>
                  <a:cs typeface="楷体" panose="02010609060101010101" pitchFamily="49" charset="-122"/>
                </a:rPr>
                <a:t>探索和解决</a:t>
              </a:r>
              <a:r>
                <a:rPr lang="zh-CN" altLang="en-US" sz="2000" b="1" dirty="0">
                  <a:solidFill>
                    <a:srgbClr val="88057A"/>
                  </a:solidFill>
                  <a:latin typeface="楷体" panose="02010609060101010101" pitchFamily="49" charset="-122"/>
                  <a:ea typeface="楷体" panose="02010609060101010101" pitchFamily="49" charset="-122"/>
                  <a:cs typeface="楷体" panose="02010609060101010101" pitchFamily="49" charset="-122"/>
                </a:rPr>
                <a:t>需求</a:t>
              </a:r>
              <a:r>
                <a:rPr lang="zh-CN" altLang="en-US" sz="2000" dirty="0">
                  <a:latin typeface="楷体" panose="02010609060101010101" pitchFamily="49" charset="-122"/>
                  <a:ea typeface="楷体" panose="02010609060101010101" pitchFamily="49" charset="-122"/>
                  <a:cs typeface="楷体" panose="02010609060101010101" pitchFamily="49" charset="-122"/>
                </a:rPr>
                <a:t>的不确定内容。</a:t>
              </a:r>
            </a:p>
          </p:txBody>
        </p:sp>
        <p:sp>
          <p:nvSpPr>
            <p:cNvPr id="56" name="对角圆角矩形 55"/>
            <p:cNvSpPr/>
            <p:nvPr>
              <p:custDataLst>
                <p:tags r:id="rId6"/>
              </p:custDataLst>
            </p:nvPr>
          </p:nvSpPr>
          <p:spPr>
            <a:xfrm>
              <a:off x="926" y="3472"/>
              <a:ext cx="2002" cy="609"/>
            </a:xfrm>
            <a:prstGeom prst="round2DiagRect">
              <a:avLst/>
            </a:prstGeom>
            <a:solidFill>
              <a:srgbClr val="47268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000">
                  <a:latin typeface="楷体" panose="02010609060101010101" pitchFamily="49" charset="-122"/>
                  <a:ea typeface="楷体" panose="02010609060101010101" pitchFamily="49" charset="-122"/>
                </a:rPr>
                <a:t>用途</a:t>
              </a:r>
            </a:p>
          </p:txBody>
        </p:sp>
      </p:grpSp>
      <p:grpSp>
        <p:nvGrpSpPr>
          <p:cNvPr id="62" name="组合 61"/>
          <p:cNvGrpSpPr/>
          <p:nvPr/>
        </p:nvGrpSpPr>
        <p:grpSpPr>
          <a:xfrm>
            <a:off x="628650" y="2992120"/>
            <a:ext cx="7963535" cy="1224280"/>
            <a:chOff x="926" y="3472"/>
            <a:chExt cx="12541" cy="1928"/>
          </a:xfrm>
        </p:grpSpPr>
        <p:sp>
          <p:nvSpPr>
            <p:cNvPr id="63" name="文本框 62"/>
            <p:cNvSpPr txBox="1"/>
            <p:nvPr>
              <p:custDataLst>
                <p:tags r:id="rId3"/>
              </p:custDataLst>
            </p:nvPr>
          </p:nvSpPr>
          <p:spPr>
            <a:xfrm>
              <a:off x="1135" y="3794"/>
              <a:ext cx="12332" cy="1606"/>
            </a:xfrm>
            <a:prstGeom prst="rect">
              <a:avLst/>
            </a:prstGeom>
            <a:noFill/>
            <a:ln w="15875" cmpd="sng">
              <a:solidFill>
                <a:srgbClr val="472680"/>
              </a:solidFill>
              <a:prstDash val="lgDashDot"/>
            </a:ln>
          </p:spPr>
          <p:txBody>
            <a:bodyPr wrap="square" rtlCol="0" anchor="t">
              <a:noAutofit/>
            </a:bodyPr>
            <a:lstStyle/>
            <a:p>
              <a:endParaRPr lang="zh-CN" altLang="en-US" sz="2000" dirty="0">
                <a:latin typeface="楷体" panose="02010609060101010101" pitchFamily="49" charset="-122"/>
                <a:ea typeface="楷体" panose="02010609060101010101" pitchFamily="49" charset="-122"/>
                <a:cs typeface="楷体" panose="02010609060101010101" pitchFamily="49" charset="-122"/>
              </a:endParaRPr>
            </a:p>
            <a:p>
              <a:r>
                <a:rPr lang="zh-CN" altLang="en-US" sz="2000" dirty="0">
                  <a:latin typeface="楷体" panose="02010609060101010101" pitchFamily="49" charset="-122"/>
                  <a:ea typeface="楷体" panose="02010609060101010101" pitchFamily="49" charset="-122"/>
                  <a:cs typeface="楷体" panose="02010609060101010101" pitchFamily="49" charset="-122"/>
                </a:rPr>
                <a:t>主要被用在</a:t>
              </a:r>
              <a:r>
                <a:rPr lang="zh-CN" altLang="en-US" sz="2000" b="1" dirty="0">
                  <a:solidFill>
                    <a:srgbClr val="88057A"/>
                  </a:solidFill>
                  <a:latin typeface="楷体" panose="02010609060101010101" pitchFamily="49" charset="-122"/>
                  <a:ea typeface="楷体" panose="02010609060101010101" pitchFamily="49" charset="-122"/>
                  <a:cs typeface="楷体" panose="02010609060101010101" pitchFamily="49" charset="-122"/>
                </a:rPr>
                <a:t>需求分析阶段</a:t>
              </a:r>
              <a:r>
                <a:rPr lang="zh-CN" altLang="en-US" sz="2000" dirty="0">
                  <a:latin typeface="楷体" panose="02010609060101010101" pitchFamily="49" charset="-122"/>
                  <a:ea typeface="楷体" panose="02010609060101010101" pitchFamily="49" charset="-122"/>
                  <a:cs typeface="楷体" panose="02010609060101010101" pitchFamily="49" charset="-122"/>
                </a:rPr>
                <a:t>，</a:t>
              </a:r>
              <a:r>
                <a:rPr lang="zh-CN" altLang="en-US" sz="2000" dirty="0">
                  <a:latin typeface="楷体" panose="02010609060101010101" pitchFamily="49" charset="-122"/>
                  <a:ea typeface="楷体" panose="02010609060101010101" pitchFamily="49" charset="-122"/>
                  <a:cs typeface="楷体" panose="02010609060101010101" pitchFamily="49" charset="-122"/>
                  <a:sym typeface="+mn-ea"/>
                </a:rPr>
                <a:t>用来阐明用户界面或者系统功能的某些特定方面，帮助人们及时的澄清问题。</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p:txBody>
        </p:sp>
        <p:sp>
          <p:nvSpPr>
            <p:cNvPr id="64" name="对角圆角矩形 63"/>
            <p:cNvSpPr/>
            <p:nvPr>
              <p:custDataLst>
                <p:tags r:id="rId4"/>
              </p:custDataLst>
            </p:nvPr>
          </p:nvSpPr>
          <p:spPr>
            <a:xfrm>
              <a:off x="926" y="3472"/>
              <a:ext cx="2002" cy="609"/>
            </a:xfrm>
            <a:prstGeom prst="round2DiagRect">
              <a:avLst/>
            </a:prstGeom>
            <a:solidFill>
              <a:srgbClr val="47268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000">
                  <a:latin typeface="楷体" panose="02010609060101010101" pitchFamily="49" charset="-122"/>
                  <a:ea typeface="楷体" panose="02010609060101010101" pitchFamily="49" charset="-122"/>
                </a:rPr>
                <a:t>应用阶段</a:t>
              </a:r>
            </a:p>
          </p:txBody>
        </p:sp>
      </p:grpSp>
      <p:grpSp>
        <p:nvGrpSpPr>
          <p:cNvPr id="65" name="组合 64"/>
          <p:cNvGrpSpPr/>
          <p:nvPr/>
        </p:nvGrpSpPr>
        <p:grpSpPr>
          <a:xfrm>
            <a:off x="628650" y="4652645"/>
            <a:ext cx="7963535" cy="1224280"/>
            <a:chOff x="926" y="3472"/>
            <a:chExt cx="12541" cy="1928"/>
          </a:xfrm>
        </p:grpSpPr>
        <p:sp>
          <p:nvSpPr>
            <p:cNvPr id="66" name="文本框 65"/>
            <p:cNvSpPr txBox="1"/>
            <p:nvPr>
              <p:custDataLst>
                <p:tags r:id="rId1"/>
              </p:custDataLst>
            </p:nvPr>
          </p:nvSpPr>
          <p:spPr>
            <a:xfrm>
              <a:off x="1135" y="3794"/>
              <a:ext cx="12332" cy="1606"/>
            </a:xfrm>
            <a:prstGeom prst="rect">
              <a:avLst/>
            </a:prstGeom>
            <a:noFill/>
            <a:ln w="15875" cmpd="sng">
              <a:solidFill>
                <a:srgbClr val="472680"/>
              </a:solidFill>
              <a:prstDash val="lgDashDot"/>
            </a:ln>
          </p:spPr>
          <p:txBody>
            <a:bodyPr wrap="square" rtlCol="0" anchor="t">
              <a:noAutofit/>
            </a:bodyPr>
            <a:lstStyle/>
            <a:p>
              <a:endParaRPr lang="zh-CN" altLang="en-US" sz="2000" dirty="0">
                <a:latin typeface="楷体" panose="02010609060101010101" pitchFamily="49" charset="-122"/>
                <a:ea typeface="楷体" panose="02010609060101010101" pitchFamily="49" charset="-122"/>
                <a:cs typeface="楷体" panose="02010609060101010101" pitchFamily="49" charset="-122"/>
              </a:endParaRPr>
            </a:p>
            <a:p>
              <a:r>
                <a:rPr lang="zh-CN" altLang="en-US" sz="2000" dirty="0">
                  <a:latin typeface="楷体" panose="02010609060101010101" pitchFamily="49" charset="-122"/>
                  <a:ea typeface="楷体" panose="02010609060101010101" pitchFamily="49" charset="-122"/>
                  <a:cs typeface="楷体" panose="02010609060101010101" pitchFamily="49" charset="-122"/>
                </a:rPr>
                <a:t>严格意义上的原型是典型的将未来的不确定知识带回到现在的制品中进行展示和评价，并在评价、反馈与修正中</a:t>
              </a:r>
              <a:r>
                <a:rPr lang="zh-CN" altLang="en-US" sz="2000" b="1" dirty="0">
                  <a:solidFill>
                    <a:srgbClr val="88057A"/>
                  </a:solidFill>
                  <a:latin typeface="楷体" panose="02010609060101010101" pitchFamily="49" charset="-122"/>
                  <a:ea typeface="楷体" panose="02010609060101010101" pitchFamily="49" charset="-122"/>
                  <a:cs typeface="楷体" panose="02010609060101010101" pitchFamily="49" charset="-122"/>
                </a:rPr>
                <a:t>解决不确定性</a:t>
              </a:r>
              <a:r>
                <a:rPr lang="zh-CN" altLang="en-US" sz="2000" dirty="0">
                  <a:latin typeface="楷体" panose="02010609060101010101" pitchFamily="49" charset="-122"/>
                  <a:ea typeface="楷体" panose="02010609060101010101" pitchFamily="49" charset="-122"/>
                  <a:cs typeface="楷体" panose="02010609060101010101" pitchFamily="49" charset="-122"/>
                </a:rPr>
                <a:t>。 </a:t>
              </a:r>
            </a:p>
          </p:txBody>
        </p:sp>
        <p:sp>
          <p:nvSpPr>
            <p:cNvPr id="67" name="对角圆角矩形 66"/>
            <p:cNvSpPr/>
            <p:nvPr>
              <p:custDataLst>
                <p:tags r:id="rId2"/>
              </p:custDataLst>
            </p:nvPr>
          </p:nvSpPr>
          <p:spPr>
            <a:xfrm>
              <a:off x="926" y="3472"/>
              <a:ext cx="2002" cy="609"/>
            </a:xfrm>
            <a:prstGeom prst="round2DiagRect">
              <a:avLst/>
            </a:prstGeom>
            <a:solidFill>
              <a:srgbClr val="47268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000">
                  <a:latin typeface="楷体" panose="02010609060101010101" pitchFamily="49" charset="-122"/>
                  <a:ea typeface="楷体" panose="02010609060101010101" pitchFamily="49" charset="-122"/>
                </a:rPr>
                <a:t>特点</a:t>
              </a: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试验原型</a:t>
            </a:r>
          </a:p>
        </p:txBody>
      </p:sp>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原型</a:t>
            </a:r>
          </a:p>
        </p:txBody>
      </p:sp>
      <p:graphicFrame>
        <p:nvGraphicFramePr>
          <p:cNvPr id="52" name="图示 51"/>
          <p:cNvGraphicFramePr/>
          <p:nvPr/>
        </p:nvGraphicFramePr>
        <p:xfrm>
          <a:off x="508000" y="719455"/>
          <a:ext cx="8128000" cy="5418455"/>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pSp>
        <p:nvGrpSpPr>
          <p:cNvPr id="57" name="组合 56"/>
          <p:cNvGrpSpPr/>
          <p:nvPr/>
        </p:nvGrpSpPr>
        <p:grpSpPr>
          <a:xfrm>
            <a:off x="628650" y="1511300"/>
            <a:ext cx="7963535" cy="980440"/>
            <a:chOff x="926" y="3472"/>
            <a:chExt cx="12541" cy="1544"/>
          </a:xfrm>
        </p:grpSpPr>
        <p:sp>
          <p:nvSpPr>
            <p:cNvPr id="55" name="文本框 54"/>
            <p:cNvSpPr txBox="1"/>
            <p:nvPr>
              <p:custDataLst>
                <p:tags r:id="rId5"/>
              </p:custDataLst>
            </p:nvPr>
          </p:nvSpPr>
          <p:spPr>
            <a:xfrm>
              <a:off x="1135" y="3794"/>
              <a:ext cx="12332" cy="1222"/>
            </a:xfrm>
            <a:prstGeom prst="rect">
              <a:avLst/>
            </a:prstGeom>
            <a:noFill/>
            <a:ln w="15875" cmpd="sng">
              <a:solidFill>
                <a:srgbClr val="472680"/>
              </a:solidFill>
              <a:prstDash val="lgDashDot"/>
            </a:ln>
          </p:spPr>
          <p:txBody>
            <a:bodyPr wrap="square" rtlCol="0" anchor="t">
              <a:noAutofit/>
            </a:bodyPr>
            <a:lstStyle/>
            <a:p>
              <a:endParaRPr lang="zh-CN" altLang="en-US" sz="2000" dirty="0">
                <a:latin typeface="楷体" panose="02010609060101010101" pitchFamily="49" charset="-122"/>
                <a:ea typeface="楷体" panose="02010609060101010101" pitchFamily="49" charset="-122"/>
                <a:cs typeface="楷体" panose="02010609060101010101" pitchFamily="49" charset="-122"/>
              </a:endParaRPr>
            </a:p>
            <a:p>
              <a:r>
                <a:rPr lang="zh-CN" altLang="en-US" sz="2000" dirty="0">
                  <a:latin typeface="楷体" panose="02010609060101010101" pitchFamily="49" charset="-122"/>
                  <a:ea typeface="楷体" panose="02010609060101010101" pitchFamily="49" charset="-122"/>
                  <a:cs typeface="楷体" panose="02010609060101010101" pitchFamily="49" charset="-122"/>
                </a:rPr>
                <a:t>试验和解决</a:t>
              </a:r>
              <a:r>
                <a:rPr lang="zh-CN" altLang="en-US" sz="2000" b="1" dirty="0">
                  <a:solidFill>
                    <a:srgbClr val="88057A"/>
                  </a:solidFill>
                  <a:latin typeface="楷体" panose="02010609060101010101" pitchFamily="49" charset="-122"/>
                  <a:ea typeface="楷体" panose="02010609060101010101" pitchFamily="49" charset="-122"/>
                  <a:cs typeface="楷体" panose="02010609060101010101" pitchFamily="49" charset="-122"/>
                </a:rPr>
                <a:t>技术方面</a:t>
              </a:r>
              <a:r>
                <a:rPr lang="zh-CN" altLang="en-US" sz="2000" dirty="0">
                  <a:latin typeface="楷体" panose="02010609060101010101" pitchFamily="49" charset="-122"/>
                  <a:ea typeface="楷体" panose="02010609060101010101" pitchFamily="49" charset="-122"/>
                  <a:cs typeface="楷体" panose="02010609060101010101" pitchFamily="49" charset="-122"/>
                </a:rPr>
                <a:t>的不确定性。</a:t>
              </a:r>
            </a:p>
          </p:txBody>
        </p:sp>
        <p:sp>
          <p:nvSpPr>
            <p:cNvPr id="56" name="对角圆角矩形 55"/>
            <p:cNvSpPr/>
            <p:nvPr>
              <p:custDataLst>
                <p:tags r:id="rId6"/>
              </p:custDataLst>
            </p:nvPr>
          </p:nvSpPr>
          <p:spPr>
            <a:xfrm>
              <a:off x="926" y="3472"/>
              <a:ext cx="2002" cy="609"/>
            </a:xfrm>
            <a:prstGeom prst="round2DiagRect">
              <a:avLst/>
            </a:prstGeom>
            <a:solidFill>
              <a:srgbClr val="47268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000">
                  <a:latin typeface="楷体" panose="02010609060101010101" pitchFamily="49" charset="-122"/>
                  <a:ea typeface="楷体" panose="02010609060101010101" pitchFamily="49" charset="-122"/>
                </a:rPr>
                <a:t>用途</a:t>
              </a:r>
            </a:p>
          </p:txBody>
        </p:sp>
      </p:grpSp>
      <p:grpSp>
        <p:nvGrpSpPr>
          <p:cNvPr id="62" name="组合 61"/>
          <p:cNvGrpSpPr/>
          <p:nvPr/>
        </p:nvGrpSpPr>
        <p:grpSpPr>
          <a:xfrm>
            <a:off x="628650" y="2809240"/>
            <a:ext cx="7963535" cy="1525905"/>
            <a:chOff x="926" y="3472"/>
            <a:chExt cx="12541" cy="2282"/>
          </a:xfrm>
        </p:grpSpPr>
        <p:sp>
          <p:nvSpPr>
            <p:cNvPr id="63" name="文本框 62"/>
            <p:cNvSpPr txBox="1"/>
            <p:nvPr>
              <p:custDataLst>
                <p:tags r:id="rId3"/>
              </p:custDataLst>
            </p:nvPr>
          </p:nvSpPr>
          <p:spPr>
            <a:xfrm>
              <a:off x="1135" y="3794"/>
              <a:ext cx="12332" cy="1960"/>
            </a:xfrm>
            <a:prstGeom prst="rect">
              <a:avLst/>
            </a:prstGeom>
            <a:noFill/>
            <a:ln w="15875" cmpd="sng">
              <a:solidFill>
                <a:srgbClr val="472680"/>
              </a:solidFill>
              <a:prstDash val="lgDashDot"/>
            </a:ln>
          </p:spPr>
          <p:txBody>
            <a:bodyPr wrap="square" rtlCol="0" anchor="t">
              <a:noAutofit/>
            </a:bodyPr>
            <a:lstStyle/>
            <a:p>
              <a:endParaRPr lang="zh-CN" altLang="en-US" sz="2000" dirty="0">
                <a:latin typeface="楷体" panose="02010609060101010101" pitchFamily="49" charset="-122"/>
                <a:ea typeface="楷体" panose="02010609060101010101" pitchFamily="49" charset="-122"/>
                <a:cs typeface="楷体" panose="02010609060101010101" pitchFamily="49" charset="-122"/>
              </a:endParaRPr>
            </a:p>
            <a:p>
              <a:r>
                <a:rPr lang="zh-CN" altLang="en-US" sz="2000" dirty="0">
                  <a:latin typeface="楷体" panose="02010609060101010101" pitchFamily="49" charset="-122"/>
                  <a:ea typeface="楷体" panose="02010609060101010101" pitchFamily="49" charset="-122"/>
                  <a:cs typeface="楷体" panose="02010609060101010101" pitchFamily="49" charset="-122"/>
                </a:rPr>
                <a:t>主要被用在</a:t>
              </a:r>
              <a:r>
                <a:rPr lang="zh-CN" altLang="en-US" sz="2000" b="1" dirty="0">
                  <a:solidFill>
                    <a:srgbClr val="88057A"/>
                  </a:solidFill>
                  <a:latin typeface="楷体" panose="02010609060101010101" pitchFamily="49" charset="-122"/>
                  <a:ea typeface="楷体" panose="02010609060101010101" pitchFamily="49" charset="-122"/>
                  <a:cs typeface="楷体" panose="02010609060101010101" pitchFamily="49" charset="-122"/>
                </a:rPr>
                <a:t>构建系统阶段</a:t>
              </a:r>
              <a:r>
                <a:rPr lang="zh-CN" altLang="en-US" sz="2000" dirty="0">
                  <a:latin typeface="楷体" panose="02010609060101010101" pitchFamily="49" charset="-122"/>
                  <a:ea typeface="楷体" panose="02010609060101010101" pitchFamily="49" charset="-122"/>
                  <a:cs typeface="楷体" panose="02010609060101010101" pitchFamily="49" charset="-122"/>
                </a:rPr>
                <a:t>，用来帮助开发者澄清他们所面对的一些和系统构建相关的技术问题，或者被用来确定系统某些功能实现的技术可行性。</a:t>
              </a:r>
            </a:p>
          </p:txBody>
        </p:sp>
        <p:sp>
          <p:nvSpPr>
            <p:cNvPr id="64" name="对角圆角矩形 63"/>
            <p:cNvSpPr/>
            <p:nvPr>
              <p:custDataLst>
                <p:tags r:id="rId4"/>
              </p:custDataLst>
            </p:nvPr>
          </p:nvSpPr>
          <p:spPr>
            <a:xfrm>
              <a:off x="926" y="3472"/>
              <a:ext cx="2002" cy="609"/>
            </a:xfrm>
            <a:prstGeom prst="round2DiagRect">
              <a:avLst/>
            </a:prstGeom>
            <a:solidFill>
              <a:srgbClr val="47268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000">
                  <a:latin typeface="楷体" panose="02010609060101010101" pitchFamily="49" charset="-122"/>
                  <a:ea typeface="楷体" panose="02010609060101010101" pitchFamily="49" charset="-122"/>
                </a:rPr>
                <a:t>应用阶段</a:t>
              </a:r>
            </a:p>
          </p:txBody>
        </p:sp>
      </p:grpSp>
      <p:grpSp>
        <p:nvGrpSpPr>
          <p:cNvPr id="65" name="组合 64"/>
          <p:cNvGrpSpPr/>
          <p:nvPr/>
        </p:nvGrpSpPr>
        <p:grpSpPr>
          <a:xfrm>
            <a:off x="628650" y="4652645"/>
            <a:ext cx="7963535" cy="1224280"/>
            <a:chOff x="926" y="3472"/>
            <a:chExt cx="12541" cy="1928"/>
          </a:xfrm>
        </p:grpSpPr>
        <p:sp>
          <p:nvSpPr>
            <p:cNvPr id="66" name="文本框 65"/>
            <p:cNvSpPr txBox="1"/>
            <p:nvPr>
              <p:custDataLst>
                <p:tags r:id="rId1"/>
              </p:custDataLst>
            </p:nvPr>
          </p:nvSpPr>
          <p:spPr>
            <a:xfrm>
              <a:off x="1135" y="3794"/>
              <a:ext cx="12332" cy="1606"/>
            </a:xfrm>
            <a:prstGeom prst="rect">
              <a:avLst/>
            </a:prstGeom>
            <a:noFill/>
            <a:ln w="15875" cmpd="sng">
              <a:solidFill>
                <a:srgbClr val="472680"/>
              </a:solidFill>
              <a:prstDash val="lgDashDot"/>
            </a:ln>
          </p:spPr>
          <p:txBody>
            <a:bodyPr wrap="square" rtlCol="0" anchor="t">
              <a:noAutofit/>
            </a:bodyPr>
            <a:lstStyle/>
            <a:p>
              <a:endParaRPr lang="zh-CN" altLang="en-US" sz="2000" dirty="0">
                <a:latin typeface="楷体" panose="02010609060101010101" pitchFamily="49" charset="-122"/>
                <a:ea typeface="楷体" panose="02010609060101010101" pitchFamily="49" charset="-122"/>
                <a:cs typeface="楷体" panose="02010609060101010101" pitchFamily="49" charset="-122"/>
              </a:endParaRPr>
            </a:p>
            <a:p>
              <a:r>
                <a:rPr lang="zh-CN" altLang="en-US" sz="2000" dirty="0">
                  <a:latin typeface="楷体" panose="02010609060101010101" pitchFamily="49" charset="-122"/>
                  <a:ea typeface="楷体" panose="02010609060101010101" pitchFamily="49" charset="-122"/>
                  <a:cs typeface="楷体" panose="02010609060101010101" pitchFamily="49" charset="-122"/>
                </a:rPr>
                <a:t>试验原型通过试验，尽早发现一个</a:t>
              </a:r>
              <a:r>
                <a:rPr lang="zh-CN" altLang="en-US" sz="2000" b="1" dirty="0">
                  <a:solidFill>
                    <a:srgbClr val="88057A"/>
                  </a:solidFill>
                  <a:latin typeface="楷体" panose="02010609060101010101" pitchFamily="49" charset="-122"/>
                  <a:ea typeface="楷体" panose="02010609060101010101" pitchFamily="49" charset="-122"/>
                  <a:cs typeface="楷体" panose="02010609060101010101" pitchFamily="49" charset="-122"/>
                </a:rPr>
                <a:t>技术方案</a:t>
              </a:r>
              <a:r>
                <a:rPr lang="zh-CN" altLang="en-US" sz="2000" dirty="0">
                  <a:latin typeface="楷体" panose="02010609060101010101" pitchFamily="49" charset="-122"/>
                  <a:ea typeface="楷体" panose="02010609060101010101" pitchFamily="49" charset="-122"/>
                  <a:cs typeface="楷体" panose="02010609060101010101" pitchFamily="49" charset="-122"/>
                </a:rPr>
                <a:t>在未来的可能运行表现，进而现在就判定该方案的可行性。 </a:t>
              </a:r>
            </a:p>
          </p:txBody>
        </p:sp>
        <p:sp>
          <p:nvSpPr>
            <p:cNvPr id="67" name="对角圆角矩形 66"/>
            <p:cNvSpPr/>
            <p:nvPr>
              <p:custDataLst>
                <p:tags r:id="rId2"/>
              </p:custDataLst>
            </p:nvPr>
          </p:nvSpPr>
          <p:spPr>
            <a:xfrm>
              <a:off x="926" y="3472"/>
              <a:ext cx="2002" cy="609"/>
            </a:xfrm>
            <a:prstGeom prst="round2DiagRect">
              <a:avLst/>
            </a:prstGeom>
            <a:solidFill>
              <a:srgbClr val="47268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000">
                  <a:latin typeface="楷体" panose="02010609060101010101" pitchFamily="49" charset="-122"/>
                  <a:ea typeface="楷体" panose="02010609060101010101" pitchFamily="49" charset="-122"/>
                </a:rPr>
                <a:t>特点</a:t>
              </a: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引示系统原型</a:t>
            </a:r>
          </a:p>
        </p:txBody>
      </p:sp>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原型</a:t>
            </a:r>
          </a:p>
        </p:txBody>
      </p:sp>
      <p:graphicFrame>
        <p:nvGraphicFramePr>
          <p:cNvPr id="52" name="图示 51"/>
          <p:cNvGraphicFramePr/>
          <p:nvPr/>
        </p:nvGraphicFramePr>
        <p:xfrm>
          <a:off x="508000" y="719455"/>
          <a:ext cx="8128000" cy="54184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内容占位符 2"/>
          <p:cNvSpPr txBox="1"/>
          <p:nvPr>
            <p:custDataLst>
              <p:tags r:id="rId1"/>
            </p:custDataLst>
          </p:nvPr>
        </p:nvSpPr>
        <p:spPr>
          <a:xfrm>
            <a:off x="628650" y="1413672"/>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r>
              <a:rPr kumimoji="1" lang="en-US" altLang="zh-CN" dirty="0">
                <a:latin typeface="楷体" panose="02010609060101010101" pitchFamily="49" charset="-122"/>
                <a:ea typeface="楷体" panose="02010609060101010101" pitchFamily="49" charset="-122"/>
              </a:rPr>
              <a:t>引示系统原型的用途是用来</a:t>
            </a:r>
            <a:r>
              <a:rPr kumimoji="1" lang="en-US" altLang="zh-CN" b="1" dirty="0">
                <a:solidFill>
                  <a:srgbClr val="88057A"/>
                </a:solidFill>
                <a:latin typeface="楷体" panose="02010609060101010101" pitchFamily="49" charset="-122"/>
                <a:ea typeface="楷体" panose="02010609060101010101" pitchFamily="49" charset="-122"/>
              </a:rPr>
              <a:t>增长</a:t>
            </a:r>
            <a:r>
              <a:rPr kumimoji="1" lang="zh-CN" altLang="en-US" b="1" dirty="0">
                <a:solidFill>
                  <a:srgbClr val="88057A"/>
                </a:solidFill>
                <a:latin typeface="楷体" panose="02010609060101010101" pitchFamily="49" charset="-122"/>
                <a:ea typeface="楷体" panose="02010609060101010101" pitchFamily="49" charset="-122"/>
              </a:rPr>
              <a:t>。</a:t>
            </a:r>
            <a:endParaRPr kumimoji="1" lang="en-US" altLang="zh-CN" dirty="0">
              <a:latin typeface="楷体" panose="02010609060101010101" pitchFamily="49" charset="-122"/>
              <a:ea typeface="楷体" panose="02010609060101010101" pitchFamily="49" charset="-122"/>
            </a:endParaRPr>
          </a:p>
          <a:p>
            <a:pPr>
              <a:lnSpc>
                <a:spcPct val="110000"/>
              </a:lnSpc>
            </a:pPr>
            <a:endParaRPr kumimoji="1" lang="en-US" altLang="zh-CN" dirty="0">
              <a:latin typeface="楷体" panose="02010609060101010101" pitchFamily="49" charset="-122"/>
              <a:ea typeface="楷体" panose="02010609060101010101" pitchFamily="49" charset="-122"/>
            </a:endParaRPr>
          </a:p>
          <a:p>
            <a:pPr>
              <a:lnSpc>
                <a:spcPct val="110000"/>
              </a:lnSpc>
            </a:pPr>
            <a:r>
              <a:rPr lang="zh-CN" altLang="en-US" dirty="0">
                <a:latin typeface="楷体" panose="02010609060101010101" pitchFamily="49" charset="-122"/>
                <a:ea typeface="楷体" panose="02010609060101010101" pitchFamily="49" charset="-122"/>
                <a:cs typeface="楷体" panose="02010609060101010101" pitchFamily="49" charset="-122"/>
                <a:sym typeface="+mn-ea"/>
              </a:rPr>
              <a:t>如果一个原型不是用来探索、测试某个想法或者阐明某些意图，而是被用作</a:t>
            </a:r>
            <a:r>
              <a:rPr lang="zh-CN" altLang="en-US" b="1" dirty="0">
                <a:solidFill>
                  <a:srgbClr val="88057A"/>
                </a:solidFill>
                <a:latin typeface="楷体" panose="02010609060101010101" pitchFamily="49" charset="-122"/>
                <a:ea typeface="楷体" panose="02010609060101010101" pitchFamily="49" charset="-122"/>
                <a:cs typeface="楷体" panose="02010609060101010101" pitchFamily="49" charset="-122"/>
                <a:sym typeface="+mn-ea"/>
              </a:rPr>
              <a:t>最终系统的构建核心</a:t>
            </a:r>
            <a:r>
              <a:rPr lang="zh-CN" altLang="en-US" dirty="0">
                <a:latin typeface="楷体" panose="02010609060101010101" pitchFamily="49" charset="-122"/>
                <a:ea typeface="楷体" panose="02010609060101010101" pitchFamily="49" charset="-122"/>
                <a:cs typeface="楷体" panose="02010609060101010101" pitchFamily="49" charset="-122"/>
                <a:sym typeface="+mn-ea"/>
              </a:rPr>
              <a:t>，那么该原型就属于引示系统原型。</a:t>
            </a:r>
          </a:p>
          <a:p>
            <a:pPr lvl="1">
              <a:lnSpc>
                <a:spcPct val="110000"/>
              </a:lnSpc>
            </a:pPr>
            <a:endParaRPr kumimoji="1" lang="en-US" altLang="zh-CN" dirty="0">
              <a:latin typeface="楷体" panose="02010609060101010101" pitchFamily="49" charset="-122"/>
              <a:ea typeface="楷体" panose="02010609060101010101" pitchFamily="49" charset="-122"/>
              <a:sym typeface="+mn-ea"/>
            </a:endParaRPr>
          </a:p>
          <a:p>
            <a:pPr>
              <a:lnSpc>
                <a:spcPct val="110000"/>
              </a:lnSpc>
            </a:pPr>
            <a:r>
              <a:rPr lang="zh-CN" altLang="en-US" dirty="0">
                <a:latin typeface="楷体" panose="02010609060101010101" pitchFamily="49" charset="-122"/>
                <a:ea typeface="楷体" panose="02010609060101010101" pitchFamily="49" charset="-122"/>
                <a:cs typeface="楷体" panose="02010609060101010101" pitchFamily="49" charset="-122"/>
                <a:sym typeface="+mn-ea"/>
              </a:rPr>
              <a:t>在建立引示系统原型时，对它施加的</a:t>
            </a:r>
            <a:r>
              <a:rPr lang="zh-CN" altLang="en-US" b="1" dirty="0">
                <a:solidFill>
                  <a:srgbClr val="88057A"/>
                </a:solidFill>
                <a:latin typeface="楷体" panose="02010609060101010101" pitchFamily="49" charset="-122"/>
                <a:ea typeface="楷体" panose="02010609060101010101" pitchFamily="49" charset="-122"/>
                <a:cs typeface="楷体" panose="02010609060101010101" pitchFamily="49" charset="-122"/>
                <a:sym typeface="+mn-ea"/>
              </a:rPr>
              <a:t>约束</a:t>
            </a:r>
            <a:r>
              <a:rPr lang="zh-CN" altLang="en-US" dirty="0">
                <a:latin typeface="楷体" panose="02010609060101010101" pitchFamily="49" charset="-122"/>
                <a:ea typeface="楷体" panose="02010609060101010101" pitchFamily="49" charset="-122"/>
                <a:cs typeface="楷体" panose="02010609060101010101" pitchFamily="49" charset="-122"/>
                <a:sym typeface="+mn-ea"/>
              </a:rPr>
              <a:t>与实际的应用系统要保持一致。</a:t>
            </a:r>
            <a:endParaRPr kumimoji="1" lang="en-US" altLang="zh-CN" dirty="0">
              <a:latin typeface="楷体" panose="02010609060101010101" pitchFamily="49" charset="-122"/>
              <a:ea typeface="楷体" panose="02010609060101010101" pitchFamily="49" charset="-122"/>
              <a:sym typeface="+mn-ea"/>
            </a:endParaRPr>
          </a:p>
          <a:p>
            <a:pPr>
              <a:lnSpc>
                <a:spcPct val="110000"/>
              </a:lnSpc>
            </a:pPr>
            <a:endParaRPr kumimoji="1" lang="en-US" altLang="zh-CN" dirty="0">
              <a:latin typeface="楷体" panose="02010609060101010101" pitchFamily="49" charset="-122"/>
              <a:ea typeface="楷体" panose="02010609060101010101" pitchFamily="49"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软件工程中原型及原型法的应用</a:t>
            </a:r>
          </a:p>
        </p:txBody>
      </p:sp>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原型</a:t>
            </a:r>
          </a:p>
        </p:txBody>
      </p:sp>
      <p:graphicFrame>
        <p:nvGraphicFramePr>
          <p:cNvPr id="52" name="图示 51"/>
          <p:cNvGraphicFramePr/>
          <p:nvPr/>
        </p:nvGraphicFramePr>
        <p:xfrm>
          <a:off x="508000" y="719455"/>
          <a:ext cx="8128000" cy="54184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4" name="内容占位符 3"/>
          <p:cNvGraphicFramePr>
            <a:graphicFrameLocks noGrp="1"/>
          </p:cNvGraphicFramePr>
          <p:nvPr>
            <p:ph idx="1"/>
            <p:custDataLst>
              <p:tags r:id="rId1"/>
            </p:custDataLst>
          </p:nvPr>
        </p:nvGraphicFramePr>
        <p:xfrm>
          <a:off x="304800" y="1570990"/>
          <a:ext cx="8679180" cy="4104640"/>
        </p:xfrm>
        <a:graphic>
          <a:graphicData uri="http://schemas.openxmlformats.org/drawingml/2006/table">
            <a:tbl>
              <a:tblPr>
                <a:effectLst>
                  <a:outerShdw blurRad="50800" dist="38100" dir="2700000" algn="tl" rotWithShape="0">
                    <a:prstClr val="black">
                      <a:alpha val="40000"/>
                    </a:prstClr>
                  </a:outerShdw>
                </a:effectLst>
              </a:tblPr>
              <a:tblGrid>
                <a:gridCol w="1332230">
                  <a:extLst>
                    <a:ext uri="{9D8B030D-6E8A-4147-A177-3AD203B41FA5}">
                      <a16:colId xmlns:a16="http://schemas.microsoft.com/office/drawing/2014/main" val="20000"/>
                    </a:ext>
                  </a:extLst>
                </a:gridCol>
                <a:gridCol w="2574925">
                  <a:extLst>
                    <a:ext uri="{9D8B030D-6E8A-4147-A177-3AD203B41FA5}">
                      <a16:colId xmlns:a16="http://schemas.microsoft.com/office/drawing/2014/main" val="20001"/>
                    </a:ext>
                  </a:extLst>
                </a:gridCol>
                <a:gridCol w="3222625">
                  <a:extLst>
                    <a:ext uri="{9D8B030D-6E8A-4147-A177-3AD203B41FA5}">
                      <a16:colId xmlns:a16="http://schemas.microsoft.com/office/drawing/2014/main" val="20002"/>
                    </a:ext>
                  </a:extLst>
                </a:gridCol>
                <a:gridCol w="1549400">
                  <a:extLst>
                    <a:ext uri="{9D8B030D-6E8A-4147-A177-3AD203B41FA5}">
                      <a16:colId xmlns:a16="http://schemas.microsoft.com/office/drawing/2014/main" val="20003"/>
                    </a:ext>
                  </a:extLst>
                </a:gridCol>
              </a:tblGrid>
              <a:tr h="82296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50000"/>
                        </a:lnSpc>
                        <a:buNone/>
                      </a:pPr>
                      <a:r>
                        <a:rPr lang="en-US" altLang="zh-CN" b="0" dirty="0">
                          <a:solidFill>
                            <a:schemeClr val="tx1">
                              <a:lumMod val="65000"/>
                              <a:lumOff val="35000"/>
                            </a:schemeClr>
                          </a:solidFill>
                          <a:latin typeface="楷体" panose="02010609060101010101" pitchFamily="49" charset="-122"/>
                          <a:ea typeface="楷体" panose="02010609060101010101" pitchFamily="49" charset="-122"/>
                        </a:rPr>
                        <a:t> </a:t>
                      </a:r>
                    </a:p>
                  </a:txBody>
                  <a:tcPr marL="68580" marR="68580" marT="0" marB="0" anchor="ct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rgbClr val="6D91D1">
                        <a:alpha val="78000"/>
                      </a:srgbClr>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50000"/>
                        </a:lnSpc>
                        <a:buNone/>
                      </a:pPr>
                      <a:r>
                        <a:rPr lang="zh-CN" altLang="en-US" b="0" dirty="0">
                          <a:solidFill>
                            <a:srgbClr val="FFFFFF"/>
                          </a:solidFill>
                          <a:latin typeface="楷体" panose="02010609060101010101" pitchFamily="49" charset="-122"/>
                          <a:ea typeface="楷体" panose="02010609060101010101" pitchFamily="49" charset="-122"/>
                        </a:rPr>
                        <a:t>不确定性分布</a:t>
                      </a:r>
                    </a:p>
                  </a:txBody>
                  <a:tcPr marL="68580" marR="68580" marT="0" marB="0" anchor="ct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rgbClr val="4472C4">
                        <a:alpha val="78000"/>
                      </a:srgbClr>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50000"/>
                        </a:lnSpc>
                        <a:buNone/>
                      </a:pPr>
                      <a:r>
                        <a:rPr lang="zh-CN" altLang="en-US" b="0" dirty="0">
                          <a:solidFill>
                            <a:srgbClr val="FFFFFF"/>
                          </a:solidFill>
                          <a:latin typeface="楷体" panose="02010609060101010101" pitchFamily="49" charset="-122"/>
                          <a:ea typeface="楷体" panose="02010609060101010101" pitchFamily="49" charset="-122"/>
                        </a:rPr>
                        <a:t>原型使用</a:t>
                      </a:r>
                    </a:p>
                  </a:txBody>
                  <a:tcPr marL="68580" marR="68580" marT="0" marB="0" anchor="ct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rgbClr val="4472C4">
                        <a:alpha val="78000"/>
                      </a:srgbClr>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50000"/>
                        </a:lnSpc>
                        <a:buNone/>
                      </a:pPr>
                      <a:r>
                        <a:rPr lang="zh-CN" altLang="en-US" b="0" dirty="0">
                          <a:solidFill>
                            <a:srgbClr val="FFFFFF"/>
                          </a:solidFill>
                          <a:latin typeface="楷体" panose="02010609060101010101" pitchFamily="49" charset="-122"/>
                          <a:ea typeface="楷体" panose="02010609060101010101" pitchFamily="49" charset="-122"/>
                        </a:rPr>
                        <a:t>其他解决方法</a:t>
                      </a:r>
                    </a:p>
                  </a:txBody>
                  <a:tcPr marL="68580" marR="68580" marT="0" marB="0" anchor="ct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rgbClr val="4472C4">
                        <a:alpha val="78000"/>
                      </a:srgbClr>
                    </a:solidFill>
                  </a:tcPr>
                </a:tc>
                <a:extLst>
                  <a:ext uri="{0D108BD9-81ED-4DB2-BD59-A6C34878D82A}">
                    <a16:rowId xmlns:a16="http://schemas.microsoft.com/office/drawing/2014/main" val="10000"/>
                  </a:ext>
                </a:extLst>
              </a:tr>
              <a:tr h="56261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50000"/>
                        </a:lnSpc>
                        <a:buNone/>
                      </a:pPr>
                      <a:r>
                        <a:rPr lang="zh-CN" altLang="en-US" b="0" dirty="0">
                          <a:solidFill>
                            <a:schemeClr val="tx1">
                              <a:lumMod val="65000"/>
                              <a:lumOff val="35000"/>
                            </a:schemeClr>
                          </a:solidFill>
                          <a:latin typeface="楷体" panose="02010609060101010101" pitchFamily="49" charset="-122"/>
                          <a:ea typeface="楷体" panose="02010609060101010101" pitchFamily="49" charset="-122"/>
                        </a:rPr>
                        <a:t>需求</a:t>
                      </a:r>
                    </a:p>
                  </a:txBody>
                  <a:tcPr marL="68580" marR="68580" marT="0" marB="0" anchor="ct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CFD5EA"/>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50000"/>
                        </a:lnSpc>
                        <a:buNone/>
                      </a:pPr>
                      <a:r>
                        <a:rPr lang="zh-CN" altLang="en-US" dirty="0">
                          <a:solidFill>
                            <a:srgbClr val="000000"/>
                          </a:solidFill>
                          <a:latin typeface="楷体" panose="02010609060101010101" pitchFamily="49" charset="-122"/>
                          <a:ea typeface="楷体" panose="02010609060101010101" pitchFamily="49" charset="-122"/>
                        </a:rPr>
                        <a:t>涉众的需要不明确</a:t>
                      </a:r>
                    </a:p>
                  </a:txBody>
                  <a:tcPr marL="68580" marR="68580" marT="0" marB="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CFD5EA"/>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50000"/>
                        </a:lnSpc>
                        <a:buNone/>
                      </a:pPr>
                      <a:r>
                        <a:rPr lang="zh-CN" altLang="en-US" dirty="0">
                          <a:solidFill>
                            <a:srgbClr val="000000"/>
                          </a:solidFill>
                          <a:latin typeface="楷体" panose="02010609060101010101" pitchFamily="49" charset="-122"/>
                          <a:ea typeface="楷体" panose="02010609060101010101" pitchFamily="49" charset="-122"/>
                        </a:rPr>
                        <a:t>严格意义的原型</a:t>
                      </a:r>
                    </a:p>
                  </a:txBody>
                  <a:tcPr marL="68580" marR="68580" marT="0" marB="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CFD5EA"/>
                    </a:solidFill>
                  </a:tcPr>
                </a:tc>
                <a:tc rowSpan="4">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50000"/>
                        </a:lnSpc>
                        <a:buNone/>
                      </a:pPr>
                      <a:r>
                        <a:rPr lang="zh-CN" altLang="en-US" dirty="0">
                          <a:solidFill>
                            <a:srgbClr val="000000"/>
                          </a:solidFill>
                          <a:latin typeface="楷体" panose="02010609060101010101" pitchFamily="49" charset="-122"/>
                          <a:ea typeface="楷体" panose="02010609060101010101" pitchFamily="49" charset="-122"/>
                        </a:rPr>
                        <a:t>迭代式开发</a:t>
                      </a:r>
                    </a:p>
                    <a:p>
                      <a:pPr lvl="0" algn="ctr" eaLnBrk="1" hangingPunct="1">
                        <a:lnSpc>
                          <a:spcPct val="150000"/>
                        </a:lnSpc>
                        <a:buNone/>
                      </a:pPr>
                      <a:r>
                        <a:rPr lang="zh-CN" altLang="en-US" dirty="0">
                          <a:solidFill>
                            <a:srgbClr val="000000"/>
                          </a:solidFill>
                          <a:latin typeface="楷体" panose="02010609060101010101" pitchFamily="49" charset="-122"/>
                          <a:ea typeface="楷体" panose="02010609060101010101" pitchFamily="49" charset="-122"/>
                        </a:rPr>
                        <a:t>快速反馈</a:t>
                      </a:r>
                    </a:p>
                    <a:p>
                      <a:pPr lvl="0" algn="ctr" eaLnBrk="1" hangingPunct="1">
                        <a:lnSpc>
                          <a:spcPct val="150000"/>
                        </a:lnSpc>
                        <a:buNone/>
                      </a:pPr>
                      <a:r>
                        <a:rPr lang="zh-CN" altLang="en-US" dirty="0">
                          <a:solidFill>
                            <a:srgbClr val="000000"/>
                          </a:solidFill>
                          <a:latin typeface="楷体" panose="02010609060101010101" pitchFamily="49" charset="-122"/>
                          <a:ea typeface="楷体" panose="02010609060101010101" pitchFamily="49" charset="-122"/>
                        </a:rPr>
                        <a:t>风险管理</a:t>
                      </a:r>
                      <a:endParaRPr lang="zh-CN" altLang="en-US" dirty="0">
                        <a:solidFill>
                          <a:srgbClr val="373737"/>
                        </a:solidFill>
                        <a:latin typeface="楷体" panose="02010609060101010101" pitchFamily="49" charset="-122"/>
                        <a:ea typeface="楷体" panose="02010609060101010101" pitchFamily="49" charset="-122"/>
                      </a:endParaRPr>
                    </a:p>
                  </a:txBody>
                  <a:tcPr marL="68580" marR="68580" marT="0" marB="0" anchor="ct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9EBF5"/>
                    </a:solidFill>
                  </a:tcPr>
                </a:tc>
                <a:extLst>
                  <a:ext uri="{0D108BD9-81ED-4DB2-BD59-A6C34878D82A}">
                    <a16:rowId xmlns:a16="http://schemas.microsoft.com/office/drawing/2014/main" val="10001"/>
                  </a:ext>
                </a:extLst>
              </a:tr>
              <a:tr h="56388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50000"/>
                        </a:lnSpc>
                        <a:buNone/>
                      </a:pPr>
                      <a:r>
                        <a:rPr lang="zh-CN" altLang="en-US" b="0" dirty="0">
                          <a:solidFill>
                            <a:schemeClr val="tx1">
                              <a:lumMod val="65000"/>
                              <a:lumOff val="35000"/>
                            </a:schemeClr>
                          </a:solidFill>
                          <a:latin typeface="楷体" panose="02010609060101010101" pitchFamily="49" charset="-122"/>
                          <a:ea typeface="楷体" panose="02010609060101010101" pitchFamily="49" charset="-122"/>
                        </a:rPr>
                        <a:t>设计</a:t>
                      </a:r>
                    </a:p>
                  </a:txBody>
                  <a:tcPr marL="68580" marR="68580" marT="0" marB="0" anchor="ct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9EBF5"/>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50000"/>
                        </a:lnSpc>
                        <a:buNone/>
                      </a:pPr>
                      <a:r>
                        <a:rPr lang="zh-CN" altLang="en-US" dirty="0">
                          <a:solidFill>
                            <a:srgbClr val="000000"/>
                          </a:solidFill>
                          <a:latin typeface="楷体" panose="02010609060101010101" pitchFamily="49" charset="-122"/>
                          <a:ea typeface="楷体" panose="02010609060101010101" pitchFamily="49" charset="-122"/>
                        </a:rPr>
                        <a:t>技术细节不明确</a:t>
                      </a:r>
                    </a:p>
                  </a:txBody>
                  <a:tcPr marL="68580" marR="68580" marT="0" marB="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9EBF5"/>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50000"/>
                        </a:lnSpc>
                        <a:buNone/>
                      </a:pPr>
                      <a:r>
                        <a:rPr lang="zh-CN" altLang="en-US" dirty="0">
                          <a:solidFill>
                            <a:srgbClr val="000000"/>
                          </a:solidFill>
                          <a:latin typeface="楷体" panose="02010609060101010101" pitchFamily="49" charset="-122"/>
                          <a:ea typeface="楷体" panose="02010609060101010101" pitchFamily="49" charset="-122"/>
                        </a:rPr>
                        <a:t>试验原型</a:t>
                      </a:r>
                    </a:p>
                  </a:txBody>
                  <a:tcPr marL="68580" marR="68580" marT="0" marB="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9EBF5"/>
                    </a:solidFill>
                  </a:tcPr>
                </a:tc>
                <a:tc vMerge="1">
                  <a:txBody>
                    <a:bodyPr/>
                    <a:lstStyle/>
                    <a:p>
                      <a:endParaRPr lang="zh-CN"/>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tcPr>
                </a:tc>
                <a:extLst>
                  <a:ext uri="{0D108BD9-81ED-4DB2-BD59-A6C34878D82A}">
                    <a16:rowId xmlns:a16="http://schemas.microsoft.com/office/drawing/2014/main" val="10002"/>
                  </a:ext>
                </a:extLst>
              </a:tr>
              <a:tr h="624205">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50000"/>
                        </a:lnSpc>
                        <a:buNone/>
                      </a:pPr>
                      <a:r>
                        <a:rPr lang="zh-CN" altLang="en-US" b="0" dirty="0">
                          <a:solidFill>
                            <a:schemeClr val="tx1">
                              <a:lumMod val="65000"/>
                              <a:lumOff val="35000"/>
                            </a:schemeClr>
                          </a:solidFill>
                          <a:latin typeface="楷体" panose="02010609060101010101" pitchFamily="49" charset="-122"/>
                          <a:ea typeface="楷体" panose="02010609060101010101" pitchFamily="49" charset="-122"/>
                        </a:rPr>
                        <a:t>构造</a:t>
                      </a:r>
                    </a:p>
                  </a:txBody>
                  <a:tcPr marL="68580" marR="68580" marT="0" marB="0" anchor="ct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CFD5EA"/>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50000"/>
                        </a:lnSpc>
                        <a:buNone/>
                      </a:pPr>
                      <a:r>
                        <a:rPr lang="zh-CN" altLang="en-US" dirty="0">
                          <a:solidFill>
                            <a:srgbClr val="000000"/>
                          </a:solidFill>
                          <a:latin typeface="楷体" panose="02010609060101010101" pitchFamily="49" charset="-122"/>
                          <a:ea typeface="楷体" panose="02010609060101010101" pitchFamily="49" charset="-122"/>
                        </a:rPr>
                        <a:t>算法细节不明确</a:t>
                      </a:r>
                    </a:p>
                  </a:txBody>
                  <a:tcPr marL="68580" marR="68580" marT="0" marB="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CFD5EA"/>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50000"/>
                        </a:lnSpc>
                        <a:buNone/>
                      </a:pPr>
                      <a:r>
                        <a:rPr lang="zh-CN" altLang="en-US" dirty="0">
                          <a:solidFill>
                            <a:srgbClr val="000000"/>
                          </a:solidFill>
                          <a:latin typeface="楷体" panose="02010609060101010101" pitchFamily="49" charset="-122"/>
                          <a:ea typeface="楷体" panose="02010609060101010101" pitchFamily="49" charset="-122"/>
                        </a:rPr>
                        <a:t>试验原型</a:t>
                      </a:r>
                    </a:p>
                  </a:txBody>
                  <a:tcPr marL="68580" marR="68580" marT="0" marB="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CFD5EA"/>
                    </a:solidFill>
                  </a:tcPr>
                </a:tc>
                <a:tc vMerge="1">
                  <a:txBody>
                    <a:bodyPr/>
                    <a:lstStyle/>
                    <a:p>
                      <a:endParaRPr lang="zh-CN"/>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tcPr>
                </a:tc>
                <a:extLst>
                  <a:ext uri="{0D108BD9-81ED-4DB2-BD59-A6C34878D82A}">
                    <a16:rowId xmlns:a16="http://schemas.microsoft.com/office/drawing/2014/main" val="10003"/>
                  </a:ext>
                </a:extLst>
              </a:tr>
              <a:tr h="810895">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50000"/>
                        </a:lnSpc>
                        <a:buNone/>
                      </a:pPr>
                      <a:r>
                        <a:rPr lang="zh-CN" altLang="en-US" b="0" dirty="0">
                          <a:solidFill>
                            <a:schemeClr val="tx1">
                              <a:lumMod val="65000"/>
                              <a:lumOff val="35000"/>
                            </a:schemeClr>
                          </a:solidFill>
                          <a:latin typeface="楷体" panose="02010609060101010101" pitchFamily="49" charset="-122"/>
                          <a:ea typeface="楷体" panose="02010609060101010101" pitchFamily="49" charset="-122"/>
                        </a:rPr>
                        <a:t>测试</a:t>
                      </a:r>
                    </a:p>
                  </a:txBody>
                  <a:tcPr marL="68580" marR="68580" marT="0" marB="0" anchor="ct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9EBF5"/>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50000"/>
                        </a:lnSpc>
                        <a:buNone/>
                      </a:pPr>
                      <a:r>
                        <a:rPr lang="zh-CN" altLang="en-US" dirty="0">
                          <a:solidFill>
                            <a:srgbClr val="000000"/>
                          </a:solidFill>
                          <a:latin typeface="楷体" panose="02010609060101010101" pitchFamily="49" charset="-122"/>
                          <a:ea typeface="楷体" panose="02010609060101010101" pitchFamily="49" charset="-122"/>
                        </a:rPr>
                        <a:t>缺陷的发现与移除不明确</a:t>
                      </a:r>
                    </a:p>
                  </a:txBody>
                  <a:tcPr marL="68580" marR="68580" marT="0" marB="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9EBF5"/>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50000"/>
                        </a:lnSpc>
                        <a:buNone/>
                      </a:pPr>
                      <a:r>
                        <a:rPr lang="zh-CN" altLang="en-US" dirty="0">
                          <a:solidFill>
                            <a:srgbClr val="000000"/>
                          </a:solidFill>
                          <a:latin typeface="楷体" panose="02010609060101010101" pitchFamily="49" charset="-122"/>
                          <a:ea typeface="楷体" panose="02010609060101010101" pitchFamily="49" charset="-122"/>
                        </a:rPr>
                        <a:t>缺陷分布原型（缺陷植入）</a:t>
                      </a:r>
                    </a:p>
                  </a:txBody>
                  <a:tcPr marL="68580" marR="68580" marT="0" marB="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9EBF5"/>
                    </a:solidFill>
                  </a:tcPr>
                </a:tc>
                <a:tc vMerge="1">
                  <a:txBody>
                    <a:bodyPr/>
                    <a:lstStyle/>
                    <a:p>
                      <a:endParaRPr lang="zh-CN"/>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B w="12700" cap="flat" cmpd="sng">
                      <a:solidFill>
                        <a:schemeClr val="bg1"/>
                      </a:solidFill>
                      <a:prstDash val="solid"/>
                      <a:headEnd type="none" w="med" len="med"/>
                      <a:tailEnd type="none" w="med" len="med"/>
                    </a:lnB>
                  </a:tcPr>
                </a:tc>
                <a:extLst>
                  <a:ext uri="{0D108BD9-81ED-4DB2-BD59-A6C34878D82A}">
                    <a16:rowId xmlns:a16="http://schemas.microsoft.com/office/drawing/2014/main" val="10004"/>
                  </a:ext>
                </a:extLst>
              </a:tr>
              <a:tr h="708025">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50000"/>
                        </a:lnSpc>
                        <a:buNone/>
                      </a:pPr>
                      <a:r>
                        <a:rPr lang="zh-CN" altLang="en-US" b="0" dirty="0">
                          <a:solidFill>
                            <a:schemeClr val="tx1">
                              <a:lumMod val="65000"/>
                              <a:lumOff val="35000"/>
                            </a:schemeClr>
                          </a:solidFill>
                          <a:latin typeface="楷体" panose="02010609060101010101" pitchFamily="49" charset="-122"/>
                          <a:ea typeface="楷体" panose="02010609060101010101" pitchFamily="49" charset="-122"/>
                        </a:rPr>
                        <a:t>迭代式开发</a:t>
                      </a:r>
                    </a:p>
                  </a:txBody>
                  <a:tcPr marL="68580" marR="68580" marT="0" marB="0" anchor="ct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CFD5EA"/>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50000"/>
                        </a:lnSpc>
                        <a:buNone/>
                      </a:pPr>
                      <a:r>
                        <a:rPr lang="en-US" altLang="zh-CN" dirty="0">
                          <a:solidFill>
                            <a:srgbClr val="000000"/>
                          </a:solidFill>
                          <a:latin typeface="楷体" panose="02010609060101010101" pitchFamily="49" charset="-122"/>
                          <a:ea typeface="楷体" panose="02010609060101010101" pitchFamily="49" charset="-122"/>
                        </a:rPr>
                        <a:t> </a:t>
                      </a:r>
                    </a:p>
                  </a:txBody>
                  <a:tcPr marL="68580" marR="68580" marT="0" marB="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CFD5EA"/>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50000"/>
                        </a:lnSpc>
                        <a:buNone/>
                      </a:pPr>
                      <a:r>
                        <a:rPr lang="zh-CN" altLang="en-US" dirty="0">
                          <a:solidFill>
                            <a:srgbClr val="000000"/>
                          </a:solidFill>
                          <a:latin typeface="楷体" panose="02010609060101010101" pitchFamily="49" charset="-122"/>
                          <a:ea typeface="楷体" panose="02010609060101010101" pitchFamily="49" charset="-122"/>
                        </a:rPr>
                        <a:t>引示系统原型（体系结构原型）</a:t>
                      </a:r>
                    </a:p>
                  </a:txBody>
                  <a:tcPr marL="68580" marR="68580" marT="0" marB="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CFD5EA"/>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50000"/>
                        </a:lnSpc>
                        <a:buNone/>
                      </a:pPr>
                      <a:r>
                        <a:rPr lang="en-US" altLang="zh-CN" dirty="0">
                          <a:solidFill>
                            <a:srgbClr val="000000"/>
                          </a:solidFill>
                          <a:latin typeface="楷体" panose="02010609060101010101" pitchFamily="49" charset="-122"/>
                          <a:ea typeface="楷体" panose="02010609060101010101" pitchFamily="49" charset="-122"/>
                        </a:rPr>
                        <a:t> </a:t>
                      </a:r>
                    </a:p>
                  </a:txBody>
                  <a:tcPr marL="68580" marR="68580" marT="0" marB="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CFD5EA"/>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原型方法的典型过程</a:t>
            </a:r>
          </a:p>
        </p:txBody>
      </p:sp>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原型</a:t>
            </a:r>
          </a:p>
        </p:txBody>
      </p:sp>
      <p:cxnSp>
        <p:nvCxnSpPr>
          <p:cNvPr id="14" name="直接箭头连接符 13"/>
          <p:cNvCxnSpPr>
            <a:stCxn id="9" idx="3"/>
          </p:cNvCxnSpPr>
          <p:nvPr>
            <p:custDataLst>
              <p:tags r:id="rId1"/>
            </p:custDataLst>
          </p:nvPr>
        </p:nvCxnSpPr>
        <p:spPr>
          <a:xfrm>
            <a:off x="5726430" y="2994660"/>
            <a:ext cx="465455" cy="0"/>
          </a:xfrm>
          <a:prstGeom prst="straightConnector1">
            <a:avLst/>
          </a:prstGeom>
          <a:ln w="22225">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8" name="直接箭头连接符 17"/>
          <p:cNvCxnSpPr>
            <a:stCxn id="11" idx="2"/>
            <a:endCxn id="10" idx="0"/>
          </p:cNvCxnSpPr>
          <p:nvPr/>
        </p:nvCxnSpPr>
        <p:spPr>
          <a:xfrm>
            <a:off x="6869430" y="3710305"/>
            <a:ext cx="0" cy="469265"/>
          </a:xfrm>
          <a:prstGeom prst="straightConnector1">
            <a:avLst/>
          </a:prstGeom>
          <a:ln w="22225">
            <a:solidFill>
              <a:schemeClr val="tx1"/>
            </a:solidFill>
            <a:tailEnd type="arrow"/>
          </a:ln>
        </p:spPr>
        <p:style>
          <a:lnRef idx="2">
            <a:schemeClr val="accent1"/>
          </a:lnRef>
          <a:fillRef idx="0">
            <a:srgbClr val="FFFFFF"/>
          </a:fillRef>
          <a:effectRef idx="0">
            <a:srgbClr val="FFFFFF"/>
          </a:effectRef>
          <a:fontRef idx="minor">
            <a:schemeClr val="tx1"/>
          </a:fontRef>
        </p:style>
      </p:cxnSp>
      <p:grpSp>
        <p:nvGrpSpPr>
          <p:cNvPr id="22" name="组合 21"/>
          <p:cNvGrpSpPr/>
          <p:nvPr/>
        </p:nvGrpSpPr>
        <p:grpSpPr>
          <a:xfrm>
            <a:off x="503555" y="2286000"/>
            <a:ext cx="8072120" cy="2621280"/>
            <a:chOff x="1049" y="1893"/>
            <a:chExt cx="11645" cy="2805"/>
          </a:xfrm>
        </p:grpSpPr>
        <p:cxnSp>
          <p:nvCxnSpPr>
            <p:cNvPr id="13" name="直接箭头连接符 12"/>
            <p:cNvCxnSpPr/>
            <p:nvPr>
              <p:custDataLst>
                <p:tags r:id="rId2"/>
              </p:custDataLst>
            </p:nvPr>
          </p:nvCxnSpPr>
          <p:spPr>
            <a:xfrm>
              <a:off x="5923" y="2652"/>
              <a:ext cx="661" cy="0"/>
            </a:xfrm>
            <a:prstGeom prst="straightConnector1">
              <a:avLst/>
            </a:prstGeom>
            <a:ln w="22225">
              <a:solidFill>
                <a:schemeClr val="tx1"/>
              </a:solidFill>
              <a:tailEnd type="arrow"/>
            </a:ln>
          </p:spPr>
          <p:style>
            <a:lnRef idx="2">
              <a:schemeClr val="accent1"/>
            </a:lnRef>
            <a:fillRef idx="0">
              <a:srgbClr val="FFFFFF"/>
            </a:fillRef>
            <a:effectRef idx="0">
              <a:srgbClr val="FFFFFF"/>
            </a:effectRef>
            <a:fontRef idx="minor">
              <a:schemeClr val="tx1"/>
            </a:fontRef>
          </p:style>
        </p:cxnSp>
        <p:grpSp>
          <p:nvGrpSpPr>
            <p:cNvPr id="21" name="组合 20"/>
            <p:cNvGrpSpPr/>
            <p:nvPr/>
          </p:nvGrpSpPr>
          <p:grpSpPr>
            <a:xfrm>
              <a:off x="1049" y="1893"/>
              <a:ext cx="11645" cy="2805"/>
              <a:chOff x="996" y="2473"/>
              <a:chExt cx="11645" cy="2805"/>
            </a:xfrm>
          </p:grpSpPr>
          <p:sp>
            <p:nvSpPr>
              <p:cNvPr id="5" name="矩形 4"/>
              <p:cNvSpPr/>
              <p:nvPr/>
            </p:nvSpPr>
            <p:spPr>
              <a:xfrm>
                <a:off x="996" y="2842"/>
                <a:ext cx="2336" cy="779"/>
              </a:xfrm>
              <a:prstGeom prst="rect">
                <a:avLst/>
              </a:prstGeom>
              <a:solidFill>
                <a:srgbClr val="6D91D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a:latin typeface="楷体" panose="02010609060101010101" pitchFamily="49" charset="-122"/>
                    <a:ea typeface="楷体" panose="02010609060101010101" pitchFamily="49" charset="-122"/>
                  </a:rPr>
                  <a:t>确定原型需求</a:t>
                </a:r>
              </a:p>
            </p:txBody>
          </p:sp>
          <p:sp>
            <p:nvSpPr>
              <p:cNvPr id="7" name="矩形 6"/>
              <p:cNvSpPr/>
              <p:nvPr>
                <p:custDataLst>
                  <p:tags r:id="rId3"/>
                </p:custDataLst>
              </p:nvPr>
            </p:nvSpPr>
            <p:spPr>
              <a:xfrm>
                <a:off x="3993" y="2842"/>
                <a:ext cx="1938" cy="779"/>
              </a:xfrm>
              <a:prstGeom prst="rect">
                <a:avLst/>
              </a:prstGeom>
              <a:solidFill>
                <a:srgbClr val="6D91D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a:latin typeface="楷体" panose="02010609060101010101" pitchFamily="49" charset="-122"/>
                    <a:ea typeface="楷体" panose="02010609060101010101" pitchFamily="49" charset="-122"/>
                  </a:rPr>
                  <a:t>原型开发</a:t>
                </a:r>
              </a:p>
            </p:txBody>
          </p:sp>
          <p:sp>
            <p:nvSpPr>
              <p:cNvPr id="9" name="矩形 8"/>
              <p:cNvSpPr/>
              <p:nvPr>
                <p:custDataLst>
                  <p:tags r:id="rId4"/>
                </p:custDataLst>
              </p:nvPr>
            </p:nvSpPr>
            <p:spPr>
              <a:xfrm>
                <a:off x="6592" y="2842"/>
                <a:ext cx="1938" cy="779"/>
              </a:xfrm>
              <a:prstGeom prst="rect">
                <a:avLst/>
              </a:prstGeom>
              <a:solidFill>
                <a:srgbClr val="6D91D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a:latin typeface="楷体" panose="02010609060101010101" pitchFamily="49" charset="-122"/>
                    <a:ea typeface="楷体" panose="02010609060101010101" pitchFamily="49" charset="-122"/>
                  </a:rPr>
                  <a:t>原型评估</a:t>
                </a:r>
              </a:p>
            </p:txBody>
          </p:sp>
          <p:sp>
            <p:nvSpPr>
              <p:cNvPr id="10" name="矩形 9"/>
              <p:cNvSpPr/>
              <p:nvPr>
                <p:custDataLst>
                  <p:tags r:id="rId5"/>
                </p:custDataLst>
              </p:nvPr>
            </p:nvSpPr>
            <p:spPr>
              <a:xfrm>
                <a:off x="9210" y="4499"/>
                <a:ext cx="1938" cy="779"/>
              </a:xfrm>
              <a:prstGeom prst="rect">
                <a:avLst/>
              </a:prstGeom>
              <a:solidFill>
                <a:srgbClr val="6D91D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a:latin typeface="楷体" panose="02010609060101010101" pitchFamily="49" charset="-122"/>
                    <a:ea typeface="楷体" panose="02010609060101010101" pitchFamily="49" charset="-122"/>
                  </a:rPr>
                  <a:t>原型修正</a:t>
                </a:r>
              </a:p>
            </p:txBody>
          </p:sp>
          <p:sp>
            <p:nvSpPr>
              <p:cNvPr id="11" name="菱形 10"/>
              <p:cNvSpPr/>
              <p:nvPr/>
            </p:nvSpPr>
            <p:spPr>
              <a:xfrm>
                <a:off x="9211" y="2473"/>
                <a:ext cx="1937" cy="1524"/>
              </a:xfrm>
              <a:prstGeom prst="diamond">
                <a:avLst/>
              </a:prstGeom>
              <a:solidFill>
                <a:srgbClr val="6D91D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a:latin typeface="楷体" panose="02010609060101010101" pitchFamily="49" charset="-122"/>
                    <a:ea typeface="楷体" panose="02010609060101010101" pitchFamily="49" charset="-122"/>
                  </a:rPr>
                  <a:t>达到目的？</a:t>
                </a:r>
              </a:p>
            </p:txBody>
          </p:sp>
          <p:cxnSp>
            <p:nvCxnSpPr>
              <p:cNvPr id="12" name="直接箭头连接符 11"/>
              <p:cNvCxnSpPr>
                <a:stCxn id="5" idx="3"/>
                <a:endCxn id="7" idx="1"/>
              </p:cNvCxnSpPr>
              <p:nvPr/>
            </p:nvCxnSpPr>
            <p:spPr>
              <a:xfrm>
                <a:off x="3332" y="3232"/>
                <a:ext cx="661" cy="0"/>
              </a:xfrm>
              <a:prstGeom prst="straightConnector1">
                <a:avLst/>
              </a:prstGeom>
              <a:ln w="22225">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5" name="直接箭头连接符 14"/>
              <p:cNvCxnSpPr/>
              <p:nvPr>
                <p:custDataLst>
                  <p:tags r:id="rId6"/>
                </p:custDataLst>
              </p:nvPr>
            </p:nvCxnSpPr>
            <p:spPr>
              <a:xfrm>
                <a:off x="11129" y="3232"/>
                <a:ext cx="1512" cy="0"/>
              </a:xfrm>
              <a:prstGeom prst="straightConnector1">
                <a:avLst/>
              </a:prstGeom>
              <a:ln w="22225">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16" name="文本框 15"/>
              <p:cNvSpPr txBox="1"/>
              <p:nvPr/>
            </p:nvSpPr>
            <p:spPr>
              <a:xfrm>
                <a:off x="11549" y="2652"/>
                <a:ext cx="381" cy="394"/>
              </a:xfrm>
              <a:prstGeom prst="rect">
                <a:avLst/>
              </a:prstGeom>
              <a:noFill/>
            </p:spPr>
            <p:txBody>
              <a:bodyPr wrap="square" rtlCol="0">
                <a:spAutoFit/>
              </a:bodyPr>
              <a:lstStyle/>
              <a:p>
                <a:r>
                  <a:rPr lang="zh-CN" altLang="en-US">
                    <a:latin typeface="楷体" panose="02010609060101010101" pitchFamily="49" charset="-122"/>
                    <a:ea typeface="楷体" panose="02010609060101010101" pitchFamily="49" charset="-122"/>
                  </a:rPr>
                  <a:t>是</a:t>
                </a:r>
              </a:p>
            </p:txBody>
          </p:sp>
          <p:sp>
            <p:nvSpPr>
              <p:cNvPr id="19" name="文本框 18"/>
              <p:cNvSpPr txBox="1"/>
              <p:nvPr>
                <p:custDataLst>
                  <p:tags r:id="rId7"/>
                </p:custDataLst>
              </p:nvPr>
            </p:nvSpPr>
            <p:spPr>
              <a:xfrm>
                <a:off x="10180" y="3919"/>
                <a:ext cx="968" cy="394"/>
              </a:xfrm>
              <a:prstGeom prst="rect">
                <a:avLst/>
              </a:prstGeom>
              <a:noFill/>
            </p:spPr>
            <p:txBody>
              <a:bodyPr wrap="square" rtlCol="0">
                <a:spAutoFit/>
              </a:bodyPr>
              <a:lstStyle/>
              <a:p>
                <a:r>
                  <a:rPr lang="zh-CN" altLang="en-US">
                    <a:latin typeface="楷体" panose="02010609060101010101" pitchFamily="49" charset="-122"/>
                    <a:ea typeface="楷体" panose="02010609060101010101" pitchFamily="49" charset="-122"/>
                  </a:rPr>
                  <a:t>否</a:t>
                </a:r>
              </a:p>
            </p:txBody>
          </p:sp>
          <p:cxnSp>
            <p:nvCxnSpPr>
              <p:cNvPr id="20" name="肘形连接符 19"/>
              <p:cNvCxnSpPr>
                <a:stCxn id="10" idx="2"/>
                <a:endCxn id="9" idx="2"/>
              </p:cNvCxnSpPr>
              <p:nvPr/>
            </p:nvCxnSpPr>
            <p:spPr>
              <a:xfrm rot="5400000" flipH="1">
                <a:off x="8042" y="3140"/>
                <a:ext cx="1657" cy="2618"/>
              </a:xfrm>
              <a:prstGeom prst="bentConnector3">
                <a:avLst>
                  <a:gd name="adj1" fmla="val -22601"/>
                </a:avLst>
              </a:prstGeom>
              <a:ln w="22225">
                <a:solidFill>
                  <a:schemeClr val="tx1"/>
                </a:solidFill>
                <a:tailEnd type="arrow"/>
              </a:ln>
            </p:spPr>
            <p:style>
              <a:lnRef idx="2">
                <a:schemeClr val="accent1"/>
              </a:lnRef>
              <a:fillRef idx="0">
                <a:srgbClr val="FFFFFF"/>
              </a:fillRef>
              <a:effectRef idx="0">
                <a:srgbClr val="FFFFFF"/>
              </a:effectRef>
              <a:fontRef idx="minor">
                <a:schemeClr val="tx1"/>
              </a:fontRef>
            </p:style>
          </p:cxnSp>
        </p:gr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确定原型需求</a:t>
            </a:r>
          </a:p>
        </p:txBody>
      </p:sp>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原型</a:t>
            </a:r>
          </a:p>
        </p:txBody>
      </p:sp>
      <p:sp>
        <p:nvSpPr>
          <p:cNvPr id="37" name="内容占位符 2"/>
          <p:cNvSpPr txBox="1"/>
          <p:nvPr>
            <p:custDataLst>
              <p:tags r:id="rId1"/>
            </p:custDataLst>
          </p:nvPr>
        </p:nvSpPr>
        <p:spPr>
          <a:xfrm>
            <a:off x="628650" y="1555750"/>
            <a:ext cx="7886700" cy="517906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charset="0"/>
              <a:buChar char=""/>
            </a:pPr>
            <a:r>
              <a:rPr kumimoji="1" lang="en-US" altLang="zh-CN" dirty="0">
                <a:latin typeface="楷体" panose="02010609060101010101" pitchFamily="49" charset="-122"/>
                <a:ea typeface="楷体" panose="02010609060101010101" pitchFamily="49" charset="-122"/>
              </a:rPr>
              <a:t>界定不确定性</a:t>
            </a:r>
          </a:p>
          <a:p>
            <a:pPr lvl="1">
              <a:lnSpc>
                <a:spcPct val="100000"/>
              </a:lnSpc>
              <a:buFont typeface="Arial" panose="020B0604020202020204" pitchFamily="34" charset="0"/>
              <a:buChar char="•"/>
            </a:pPr>
            <a:r>
              <a:rPr kumimoji="1" lang="en-US" altLang="zh-CN" sz="2000" dirty="0">
                <a:latin typeface="楷体" panose="02010609060101010101" pitchFamily="49" charset="-122"/>
                <a:ea typeface="楷体" panose="02010609060101010101" pitchFamily="49" charset="-122"/>
              </a:rPr>
              <a:t>可能发生的需求变更</a:t>
            </a:r>
          </a:p>
          <a:p>
            <a:pPr lvl="1">
              <a:lnSpc>
                <a:spcPct val="100000"/>
              </a:lnSpc>
              <a:buFont typeface="Arial" panose="020B0604020202020204" pitchFamily="34" charset="0"/>
              <a:buChar char="•"/>
            </a:pPr>
            <a:r>
              <a:rPr kumimoji="1" lang="en-US" altLang="zh-CN" sz="2000" dirty="0">
                <a:latin typeface="楷体" panose="02010609060101010101" pitchFamily="49" charset="-122"/>
                <a:ea typeface="楷体" panose="02010609060101010101" pitchFamily="49" charset="-122"/>
              </a:rPr>
              <a:t>存在冲突的地方</a:t>
            </a:r>
          </a:p>
          <a:p>
            <a:pPr lvl="1">
              <a:lnSpc>
                <a:spcPct val="100000"/>
              </a:lnSpc>
              <a:buFont typeface="Arial" panose="020B0604020202020204" pitchFamily="34" charset="0"/>
              <a:buChar char="•"/>
            </a:pPr>
            <a:r>
              <a:rPr kumimoji="1" lang="en-US" altLang="zh-CN" sz="2000" dirty="0">
                <a:latin typeface="楷体" panose="02010609060101010101" pitchFamily="49" charset="-122"/>
                <a:ea typeface="楷体" panose="02010609060101010101" pitchFamily="49" charset="-122"/>
              </a:rPr>
              <a:t>信息不充分的地方</a:t>
            </a:r>
          </a:p>
          <a:p>
            <a:pPr lvl="1">
              <a:lnSpc>
                <a:spcPct val="100000"/>
              </a:lnSpc>
              <a:buFont typeface="Arial" panose="020B0604020202020204" pitchFamily="34" charset="0"/>
              <a:buChar char="•"/>
            </a:pPr>
            <a:endParaRPr kumimoji="1" lang="en-US" altLang="zh-CN" sz="2000" dirty="0">
              <a:latin typeface="楷体" panose="02010609060101010101" pitchFamily="49" charset="-122"/>
              <a:ea typeface="楷体" panose="02010609060101010101" pitchFamily="49" charset="-122"/>
            </a:endParaRPr>
          </a:p>
        </p:txBody>
      </p:sp>
      <p:sp>
        <p:nvSpPr>
          <p:cNvPr id="3" name="文本框 2"/>
          <p:cNvSpPr txBox="1"/>
          <p:nvPr/>
        </p:nvSpPr>
        <p:spPr>
          <a:xfrm>
            <a:off x="972185" y="3165475"/>
            <a:ext cx="7272020" cy="3232150"/>
          </a:xfrm>
          <a:prstGeom prst="rect">
            <a:avLst/>
          </a:prstGeom>
          <a:noFill/>
          <a:ln w="22225" cmpd="sng">
            <a:solidFill>
              <a:srgbClr val="7030A0"/>
            </a:solidFill>
            <a:prstDash val="dashDot"/>
          </a:ln>
        </p:spPr>
        <p:txBody>
          <a:bodyPr wrap="square" lIns="0" rIns="36195" rtlCol="0" anchor="t" anchorCtr="0">
            <a:noAutofit/>
          </a:bodyPr>
          <a:lstStyle/>
          <a:p>
            <a:pPr marL="742950" lvl="1" indent="-285750" algn="l">
              <a:lnSpc>
                <a:spcPct val="130000"/>
              </a:lnSpc>
              <a:buFont typeface="Arial" panose="020B0604020202020204" pitchFamily="34" charset="0"/>
              <a:buChar char="•"/>
            </a:pPr>
            <a:r>
              <a:rPr kumimoji="1" lang="en-US" altLang="zh-CN" sz="1600" dirty="0">
                <a:latin typeface="楷体" panose="02010609060101010101" pitchFamily="49" charset="-122"/>
                <a:ea typeface="楷体" panose="02010609060101010101" pitchFamily="49" charset="-122"/>
                <a:sym typeface="+mn-ea"/>
              </a:rPr>
              <a:t>产品的部分需求以前从未存在过，属于</a:t>
            </a:r>
            <a:r>
              <a:rPr kumimoji="1" lang="en-US" altLang="zh-CN" sz="1600" dirty="0">
                <a:solidFill>
                  <a:srgbClr val="88057A"/>
                </a:solidFill>
                <a:latin typeface="楷体" panose="02010609060101010101" pitchFamily="49" charset="-122"/>
                <a:ea typeface="楷体" panose="02010609060101010101" pitchFamily="49" charset="-122"/>
                <a:sym typeface="+mn-ea"/>
              </a:rPr>
              <a:t>创新性内容</a:t>
            </a:r>
            <a:r>
              <a:rPr kumimoji="1" lang="en-US" altLang="zh-CN" sz="1600" dirty="0">
                <a:latin typeface="楷体" panose="02010609060101010101" pitchFamily="49" charset="-122"/>
                <a:ea typeface="楷体" panose="02010609060101010101" pitchFamily="49" charset="-122"/>
                <a:sym typeface="+mn-ea"/>
              </a:rPr>
              <a:t>，有着很大的不确定性；</a:t>
            </a:r>
            <a:endParaRPr kumimoji="1" lang="en-US" altLang="zh-CN" sz="1600" dirty="0">
              <a:latin typeface="楷体" panose="02010609060101010101" pitchFamily="49" charset="-122"/>
              <a:ea typeface="楷体" panose="02010609060101010101" pitchFamily="49" charset="-122"/>
            </a:endParaRPr>
          </a:p>
          <a:p>
            <a:pPr marL="742950" lvl="1" indent="-285750" algn="l">
              <a:lnSpc>
                <a:spcPct val="130000"/>
              </a:lnSpc>
              <a:buFont typeface="Arial" panose="020B0604020202020204" pitchFamily="34" charset="0"/>
              <a:buChar char="•"/>
            </a:pPr>
            <a:r>
              <a:rPr kumimoji="1" lang="en-US" altLang="zh-CN" sz="1600" dirty="0">
                <a:latin typeface="楷体" panose="02010609060101010101" pitchFamily="49" charset="-122"/>
                <a:ea typeface="楷体" panose="02010609060101010101" pitchFamily="49" charset="-122"/>
                <a:sym typeface="+mn-ea"/>
              </a:rPr>
              <a:t>产品的涉众对相关的产品功能</a:t>
            </a:r>
            <a:r>
              <a:rPr kumimoji="1" lang="en-US" altLang="zh-CN" sz="1600" dirty="0">
                <a:solidFill>
                  <a:srgbClr val="88057A"/>
                </a:solidFill>
                <a:latin typeface="楷体" panose="02010609060101010101" pitchFamily="49" charset="-122"/>
                <a:ea typeface="楷体" panose="02010609060101010101" pitchFamily="49" charset="-122"/>
                <a:sym typeface="+mn-ea"/>
              </a:rPr>
              <a:t>没有经验</a:t>
            </a:r>
            <a:r>
              <a:rPr kumimoji="1" lang="en-US" altLang="zh-CN" sz="1600" dirty="0">
                <a:latin typeface="楷体" panose="02010609060101010101" pitchFamily="49" charset="-122"/>
                <a:ea typeface="楷体" panose="02010609060101010101" pitchFamily="49" charset="-122"/>
                <a:sym typeface="+mn-ea"/>
              </a:rPr>
              <a:t>，无法明确工作的具体细节，也即存在不确定性；</a:t>
            </a:r>
            <a:endParaRPr kumimoji="1" lang="en-US" altLang="zh-CN" sz="1600" dirty="0">
              <a:latin typeface="楷体" panose="02010609060101010101" pitchFamily="49" charset="-122"/>
              <a:ea typeface="楷体" panose="02010609060101010101" pitchFamily="49" charset="-122"/>
            </a:endParaRPr>
          </a:p>
          <a:p>
            <a:pPr marL="742950" lvl="1" indent="-285750" algn="l">
              <a:lnSpc>
                <a:spcPct val="130000"/>
              </a:lnSpc>
              <a:buFont typeface="Arial" panose="020B0604020202020204" pitchFamily="34" charset="0"/>
              <a:buChar char="•"/>
            </a:pPr>
            <a:r>
              <a:rPr kumimoji="1" lang="en-US" altLang="zh-CN" sz="1600" dirty="0">
                <a:latin typeface="楷体" panose="02010609060101010101" pitchFamily="49" charset="-122"/>
                <a:ea typeface="楷体" panose="02010609060101010101" pitchFamily="49" charset="-122"/>
                <a:sym typeface="+mn-ea"/>
              </a:rPr>
              <a:t>涉众在完成工作的</a:t>
            </a:r>
            <a:r>
              <a:rPr kumimoji="1" lang="en-US" altLang="zh-CN" sz="1600" dirty="0">
                <a:solidFill>
                  <a:srgbClr val="88057A"/>
                </a:solidFill>
                <a:latin typeface="楷体" panose="02010609060101010101" pitchFamily="49" charset="-122"/>
                <a:ea typeface="楷体" panose="02010609060101010101" pitchFamily="49" charset="-122"/>
                <a:sym typeface="+mn-ea"/>
              </a:rPr>
              <a:t>方式</a:t>
            </a:r>
            <a:r>
              <a:rPr kumimoji="1" lang="en-US" altLang="zh-CN" sz="1600" dirty="0">
                <a:latin typeface="楷体" panose="02010609060101010101" pitchFamily="49" charset="-122"/>
                <a:ea typeface="楷体" panose="02010609060101010101" pitchFamily="49" charset="-122"/>
                <a:sym typeface="+mn-ea"/>
              </a:rPr>
              <a:t>上存在障碍，无法判断问题的解决方案是否现实可行，所以产品功能的</a:t>
            </a:r>
            <a:r>
              <a:rPr kumimoji="1" lang="en-US" altLang="zh-CN" sz="1600" dirty="0">
                <a:solidFill>
                  <a:schemeClr val="tx1"/>
                </a:solidFill>
                <a:latin typeface="楷体" panose="02010609060101010101" pitchFamily="49" charset="-122"/>
                <a:ea typeface="楷体" panose="02010609060101010101" pitchFamily="49" charset="-122"/>
                <a:sym typeface="+mn-ea"/>
              </a:rPr>
              <a:t>可行性</a:t>
            </a:r>
            <a:r>
              <a:rPr kumimoji="1" lang="en-US" altLang="zh-CN" sz="1600" dirty="0">
                <a:latin typeface="楷体" panose="02010609060101010101" pitchFamily="49" charset="-122"/>
                <a:ea typeface="楷体" panose="02010609060101010101" pitchFamily="49" charset="-122"/>
                <a:sym typeface="+mn-ea"/>
              </a:rPr>
              <a:t>是不确定的；</a:t>
            </a:r>
            <a:endParaRPr kumimoji="1" lang="en-US" altLang="zh-CN" sz="1600" dirty="0">
              <a:latin typeface="楷体" panose="02010609060101010101" pitchFamily="49" charset="-122"/>
              <a:ea typeface="楷体" panose="02010609060101010101" pitchFamily="49" charset="-122"/>
            </a:endParaRPr>
          </a:p>
          <a:p>
            <a:pPr marL="742950" lvl="1" indent="-285750" algn="l">
              <a:lnSpc>
                <a:spcPct val="130000"/>
              </a:lnSpc>
              <a:buFont typeface="Arial" panose="020B0604020202020204" pitchFamily="34" charset="0"/>
              <a:buChar char="•"/>
            </a:pPr>
            <a:r>
              <a:rPr kumimoji="1" lang="en-US" altLang="zh-CN" sz="1600" dirty="0">
                <a:latin typeface="楷体" panose="02010609060101010101" pitchFamily="49" charset="-122"/>
                <a:ea typeface="楷体" panose="02010609060101010101" pitchFamily="49" charset="-122"/>
                <a:sym typeface="+mn-ea"/>
              </a:rPr>
              <a:t>涉众在清晰</a:t>
            </a:r>
            <a:r>
              <a:rPr kumimoji="1" lang="en-US" altLang="zh-CN" sz="1600" dirty="0">
                <a:solidFill>
                  <a:srgbClr val="88057A"/>
                </a:solidFill>
                <a:latin typeface="楷体" panose="02010609060101010101" pitchFamily="49" charset="-122"/>
                <a:ea typeface="楷体" panose="02010609060101010101" pitchFamily="49" charset="-122"/>
                <a:sym typeface="+mn-ea"/>
              </a:rPr>
              <a:t>说明</a:t>
            </a:r>
            <a:r>
              <a:rPr kumimoji="1" lang="en-US" altLang="zh-CN" sz="1600" dirty="0">
                <a:latin typeface="楷体" panose="02010609060101010101" pitchFamily="49" charset="-122"/>
                <a:ea typeface="楷体" panose="02010609060101010101" pitchFamily="49" charset="-122"/>
                <a:sym typeface="+mn-ea"/>
              </a:rPr>
              <a:t>某些需求方面存在困难，这些需求是不确定的；</a:t>
            </a:r>
            <a:endParaRPr kumimoji="1" lang="en-US" altLang="zh-CN" sz="1600" dirty="0">
              <a:latin typeface="楷体" panose="02010609060101010101" pitchFamily="49" charset="-122"/>
              <a:ea typeface="楷体" panose="02010609060101010101" pitchFamily="49" charset="-122"/>
            </a:endParaRPr>
          </a:p>
          <a:p>
            <a:pPr marL="742950" lvl="1" indent="-285750" algn="l">
              <a:lnSpc>
                <a:spcPct val="130000"/>
              </a:lnSpc>
              <a:buFont typeface="Arial" panose="020B0604020202020204" pitchFamily="34" charset="0"/>
              <a:buChar char="•"/>
            </a:pPr>
            <a:r>
              <a:rPr kumimoji="1" lang="en-US" altLang="zh-CN" sz="1600" dirty="0">
                <a:latin typeface="楷体" panose="02010609060101010101" pitchFamily="49" charset="-122"/>
                <a:ea typeface="楷体" panose="02010609060101010101" pitchFamily="49" charset="-122"/>
                <a:sym typeface="+mn-ea"/>
              </a:rPr>
              <a:t>需求工程师在</a:t>
            </a:r>
            <a:r>
              <a:rPr kumimoji="1" lang="en-US" altLang="zh-CN" sz="1600" dirty="0">
                <a:solidFill>
                  <a:srgbClr val="88057A"/>
                </a:solidFill>
                <a:latin typeface="楷体" panose="02010609060101010101" pitchFamily="49" charset="-122"/>
                <a:ea typeface="楷体" panose="02010609060101010101" pitchFamily="49" charset="-122"/>
                <a:sym typeface="+mn-ea"/>
              </a:rPr>
              <a:t>理解</a:t>
            </a:r>
            <a:r>
              <a:rPr kumimoji="1" lang="en-US" altLang="zh-CN" sz="1600" dirty="0">
                <a:latin typeface="楷体" panose="02010609060101010101" pitchFamily="49" charset="-122"/>
                <a:ea typeface="楷体" panose="02010609060101010101" pitchFamily="49" charset="-122"/>
                <a:sym typeface="+mn-ea"/>
              </a:rPr>
              <a:t>涉众的部分需求上存在困难。在澄清和理解之前，这些需求是不确定的；</a:t>
            </a:r>
            <a:endParaRPr kumimoji="1" lang="en-US" altLang="zh-CN" sz="1600" dirty="0">
              <a:latin typeface="楷体" panose="02010609060101010101" pitchFamily="49" charset="-122"/>
              <a:ea typeface="楷体" panose="02010609060101010101" pitchFamily="49" charset="-122"/>
            </a:endParaRPr>
          </a:p>
          <a:p>
            <a:pPr marL="742950" lvl="1" indent="-285750" algn="l">
              <a:lnSpc>
                <a:spcPct val="130000"/>
              </a:lnSpc>
              <a:buFont typeface="Arial" panose="020B0604020202020204" pitchFamily="34" charset="0"/>
              <a:buChar char="•"/>
            </a:pPr>
            <a:r>
              <a:rPr kumimoji="1" lang="en-US" altLang="zh-CN" sz="1600" dirty="0">
                <a:latin typeface="楷体" panose="02010609060101010101" pitchFamily="49" charset="-122"/>
                <a:ea typeface="楷体" panose="02010609060101010101" pitchFamily="49" charset="-122"/>
                <a:sym typeface="+mn-ea"/>
              </a:rPr>
              <a:t>部分需求的</a:t>
            </a:r>
            <a:r>
              <a:rPr kumimoji="1" lang="en-US" altLang="zh-CN" sz="1600" dirty="0">
                <a:solidFill>
                  <a:srgbClr val="88057A"/>
                </a:solidFill>
                <a:latin typeface="楷体" panose="02010609060101010101" pitchFamily="49" charset="-122"/>
                <a:ea typeface="楷体" panose="02010609060101010101" pitchFamily="49" charset="-122"/>
                <a:sym typeface="+mn-ea"/>
              </a:rPr>
              <a:t>可行性</a:t>
            </a:r>
            <a:r>
              <a:rPr kumimoji="1" lang="en-US" altLang="zh-CN" sz="1600" dirty="0">
                <a:latin typeface="楷体" panose="02010609060101010101" pitchFamily="49" charset="-122"/>
                <a:ea typeface="楷体" panose="02010609060101010101" pitchFamily="49" charset="-122"/>
                <a:sym typeface="+mn-ea"/>
              </a:rPr>
              <a:t>值得怀疑，即具体需求的可满足性存在着不确定性。</a:t>
            </a:r>
            <a:endParaRPr kumimoji="1" lang="en-US" altLang="zh-CN" sz="1600" dirty="0">
              <a:latin typeface="楷体" panose="02010609060101010101" pitchFamily="49" charset="-122"/>
              <a:ea typeface="楷体" panose="02010609060101010101" pitchFamily="49" charset="-122"/>
            </a:endParaRPr>
          </a:p>
          <a:p>
            <a:pPr lvl="1" indent="0" algn="l">
              <a:lnSpc>
                <a:spcPct val="130000"/>
              </a:lnSpc>
              <a:buNone/>
            </a:pPr>
            <a:endParaRPr kumimoji="1" lang="en-US" altLang="zh-CN" sz="1600" dirty="0">
              <a:latin typeface="楷体" panose="02010609060101010101" pitchFamily="49" charset="-122"/>
              <a:ea typeface="楷体" panose="02010609060101010101" pitchFamily="49" charset="-122"/>
            </a:endParaRPr>
          </a:p>
        </p:txBody>
      </p:sp>
      <p:sp>
        <p:nvSpPr>
          <p:cNvPr id="4" name="文本框 3"/>
          <p:cNvSpPr txBox="1"/>
          <p:nvPr/>
        </p:nvSpPr>
        <p:spPr>
          <a:xfrm>
            <a:off x="713740" y="1156970"/>
            <a:ext cx="7531100" cy="398780"/>
          </a:xfrm>
          <a:prstGeom prst="rect">
            <a:avLst/>
          </a:prstGeom>
          <a:solidFill>
            <a:schemeClr val="tx2">
              <a:lumMod val="20000"/>
              <a:lumOff val="80000"/>
            </a:schemeClr>
          </a:solidFill>
        </p:spPr>
        <p:txBody>
          <a:bodyPr wrap="square" rtlCol="0">
            <a:noAutofit/>
          </a:bodyPr>
          <a:lstStyle/>
          <a:p>
            <a:r>
              <a:rPr lang="zh-CN" altLang="en-US">
                <a:latin typeface="楷体" panose="02010609060101010101" pitchFamily="49" charset="-122"/>
                <a:ea typeface="楷体" panose="02010609060101010101" pitchFamily="49" charset="-122"/>
              </a:rPr>
              <a:t>系统只需要针对不确定的需求建立原型以控制原型开发的成本。</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原型开发</a:t>
            </a:r>
          </a:p>
        </p:txBody>
      </p:sp>
      <p:sp>
        <p:nvSpPr>
          <p:cNvPr id="3" name="内容占位符 2"/>
          <p:cNvSpPr txBox="1"/>
          <p:nvPr>
            <p:custDataLst>
              <p:tags r:id="rId1"/>
            </p:custDataLst>
          </p:nvPr>
        </p:nvSpPr>
        <p:spPr>
          <a:xfrm>
            <a:off x="628650" y="2094865"/>
            <a:ext cx="7886700" cy="400304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charset="0"/>
              <a:buChar char=""/>
            </a:pPr>
            <a:r>
              <a:rPr kumimoji="1" lang="zh-CN" altLang="en-US" dirty="0">
                <a:latin typeface="楷体" panose="02010609060101010101" pitchFamily="49" charset="-122"/>
                <a:ea typeface="楷体" panose="02010609060101010101" pitchFamily="49" charset="-122"/>
              </a:rPr>
              <a:t>开发原型时的</a:t>
            </a:r>
            <a:r>
              <a:rPr kumimoji="1" lang="zh-CN" altLang="en-US" b="1" dirty="0">
                <a:solidFill>
                  <a:srgbClr val="88057A"/>
                </a:solidFill>
                <a:latin typeface="楷体" panose="02010609060101010101" pitchFamily="49" charset="-122"/>
                <a:ea typeface="楷体" panose="02010609060101010101" pitchFamily="49" charset="-122"/>
              </a:rPr>
              <a:t>注意事项</a:t>
            </a:r>
            <a:endParaRPr kumimoji="1" lang="zh-CN" altLang="en-US" dirty="0">
              <a:latin typeface="楷体" panose="02010609060101010101" pitchFamily="49" charset="-122"/>
              <a:ea typeface="楷体" panose="02010609060101010101" pitchFamily="49" charset="-122"/>
            </a:endParaRPr>
          </a:p>
          <a:p>
            <a:pPr lvl="1">
              <a:lnSpc>
                <a:spcPct val="160000"/>
              </a:lnSpc>
            </a:pPr>
            <a:r>
              <a:rPr kumimoji="1" lang="zh-CN" altLang="en-US" dirty="0">
                <a:latin typeface="楷体" panose="02010609060101010101" pitchFamily="49" charset="-122"/>
                <a:ea typeface="楷体" panose="02010609060101010101" pitchFamily="49" charset="-122"/>
              </a:rPr>
              <a:t>将探索不确定功能需求的原型构建得易于修改</a:t>
            </a:r>
          </a:p>
          <a:p>
            <a:pPr lvl="1">
              <a:lnSpc>
                <a:spcPct val="160000"/>
              </a:lnSpc>
            </a:pPr>
            <a:r>
              <a:rPr kumimoji="1" lang="zh-CN" altLang="en-US" dirty="0">
                <a:latin typeface="楷体" panose="02010609060101010101" pitchFamily="49" charset="-122"/>
                <a:ea typeface="楷体" panose="02010609060101010101" pitchFamily="49" charset="-122"/>
              </a:rPr>
              <a:t>让探索可行性的原型收集充分的数据</a:t>
            </a:r>
          </a:p>
          <a:p>
            <a:pPr lvl="1">
              <a:lnSpc>
                <a:spcPct val="160000"/>
              </a:lnSpc>
            </a:pPr>
            <a:r>
              <a:rPr kumimoji="1" lang="zh-CN" altLang="en-US" dirty="0">
                <a:latin typeface="楷体" panose="02010609060101010101" pitchFamily="49" charset="-122"/>
                <a:ea typeface="楷体" panose="02010609060101010101" pitchFamily="49" charset="-122"/>
              </a:rPr>
              <a:t>控制开发成本</a:t>
            </a:r>
          </a:p>
        </p:txBody>
      </p:sp>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原型</a:t>
            </a:r>
          </a:p>
        </p:txBody>
      </p:sp>
      <p:sp>
        <p:nvSpPr>
          <p:cNvPr id="5" name="文本框 4"/>
          <p:cNvSpPr txBox="1"/>
          <p:nvPr>
            <p:custDataLst>
              <p:tags r:id="rId2"/>
            </p:custDataLst>
          </p:nvPr>
        </p:nvSpPr>
        <p:spPr>
          <a:xfrm>
            <a:off x="713740" y="1251585"/>
            <a:ext cx="7531100" cy="622300"/>
          </a:xfrm>
          <a:prstGeom prst="rect">
            <a:avLst/>
          </a:prstGeom>
          <a:solidFill>
            <a:schemeClr val="tx2">
              <a:lumMod val="20000"/>
              <a:lumOff val="80000"/>
            </a:schemeClr>
          </a:solidFill>
        </p:spPr>
        <p:txBody>
          <a:bodyPr wrap="square" rtlCol="0" anchor="ctr" anchorCtr="0">
            <a:noAutofit/>
          </a:bodyPr>
          <a:lstStyle/>
          <a:p>
            <a:pPr>
              <a:lnSpc>
                <a:spcPct val="100000"/>
              </a:lnSpc>
            </a:pPr>
            <a:r>
              <a:rPr kumimoji="1" lang="en-US" altLang="zh-CN" sz="2000" dirty="0">
                <a:latin typeface="楷体" panose="02010609060101010101" pitchFamily="49" charset="-122"/>
                <a:ea typeface="楷体" panose="02010609060101010101" pitchFamily="49" charset="-122"/>
                <a:sym typeface="+mn-ea"/>
              </a:rPr>
              <a:t>依据原型的需求特点和开发目的，以最低的成本建立初始原型。</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原型评估</a:t>
            </a:r>
          </a:p>
        </p:txBody>
      </p:sp>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原型</a:t>
            </a:r>
          </a:p>
        </p:txBody>
      </p:sp>
      <p:sp>
        <p:nvSpPr>
          <p:cNvPr id="5" name="文本框 4"/>
          <p:cNvSpPr txBox="1"/>
          <p:nvPr>
            <p:custDataLst>
              <p:tags r:id="rId1"/>
            </p:custDataLst>
          </p:nvPr>
        </p:nvSpPr>
        <p:spPr>
          <a:xfrm>
            <a:off x="713740" y="1156970"/>
            <a:ext cx="7531100" cy="622300"/>
          </a:xfrm>
          <a:prstGeom prst="rect">
            <a:avLst/>
          </a:prstGeom>
          <a:noFill/>
          <a:ln w="15875">
            <a:solidFill>
              <a:srgbClr val="88057A"/>
            </a:solidFill>
          </a:ln>
        </p:spPr>
        <p:txBody>
          <a:bodyPr wrap="square" rtlCol="0" anchor="ctr" anchorCtr="0">
            <a:noAutofit/>
          </a:bodyPr>
          <a:lstStyle/>
          <a:p>
            <a:pPr>
              <a:lnSpc>
                <a:spcPct val="100000"/>
              </a:lnSpc>
            </a:pPr>
            <a:r>
              <a:rPr kumimoji="1" lang="en-US" altLang="zh-CN" dirty="0">
                <a:latin typeface="楷体" panose="02010609060101010101" pitchFamily="49" charset="-122"/>
                <a:ea typeface="楷体" panose="02010609060101010101" pitchFamily="49" charset="-122"/>
                <a:sym typeface="+mn-ea"/>
              </a:rPr>
              <a:t>对上一阶段产生的原型进行评估，根据</a:t>
            </a:r>
            <a:r>
              <a:rPr kumimoji="1" lang="en-US" altLang="zh-CN" b="1" dirty="0">
                <a:solidFill>
                  <a:srgbClr val="88057A"/>
                </a:solidFill>
                <a:latin typeface="楷体" panose="02010609060101010101" pitchFamily="49" charset="-122"/>
                <a:ea typeface="楷体" panose="02010609060101010101" pitchFamily="49" charset="-122"/>
                <a:sym typeface="+mn-ea"/>
              </a:rPr>
              <a:t>评估者的反馈</a:t>
            </a:r>
            <a:r>
              <a:rPr kumimoji="1" lang="en-US" altLang="zh-CN" dirty="0">
                <a:latin typeface="楷体" panose="02010609060101010101" pitchFamily="49" charset="-122"/>
                <a:ea typeface="楷体" panose="02010609060101010101" pitchFamily="49" charset="-122"/>
                <a:sym typeface="+mn-ea"/>
              </a:rPr>
              <a:t>判断原型是否满足结束标准。评估者一般是用户和开发者。</a:t>
            </a:r>
          </a:p>
        </p:txBody>
      </p:sp>
      <p:sp>
        <p:nvSpPr>
          <p:cNvPr id="20" name="平行四边形 19"/>
          <p:cNvSpPr/>
          <p:nvPr>
            <p:custDataLst>
              <p:tags r:id="rId2"/>
            </p:custDataLst>
          </p:nvPr>
        </p:nvSpPr>
        <p:spPr>
          <a:xfrm>
            <a:off x="720090" y="2379345"/>
            <a:ext cx="3551555" cy="956945"/>
          </a:xfrm>
          <a:prstGeom prst="parallelogram">
            <a:avLst>
              <a:gd name="adj" fmla="val 19751"/>
            </a:avLst>
          </a:prstGeom>
          <a:gradFill>
            <a:gsLst>
              <a:gs pos="0">
                <a:srgbClr val="7D01AA">
                  <a:lumMod val="20000"/>
                  <a:lumOff val="80000"/>
                  <a:alpha val="2000"/>
                </a:srgbClr>
              </a:gs>
              <a:gs pos="100000">
                <a:srgbClr val="7D01AA">
                  <a:lumMod val="20000"/>
                  <a:lumOff val="80000"/>
                </a:srgbClr>
              </a:gs>
            </a:gsLst>
            <a:lin ang="10800000" scaled="0"/>
          </a:gradFill>
          <a:ln>
            <a:noFill/>
          </a:ln>
        </p:spPr>
        <p:style>
          <a:lnRef idx="2">
            <a:srgbClr val="7D01AA">
              <a:shade val="50000"/>
            </a:srgbClr>
          </a:lnRef>
          <a:fillRef idx="1">
            <a:srgbClr val="7D01AA"/>
          </a:fillRef>
          <a:effectRef idx="0">
            <a:srgbClr val="7D01AA"/>
          </a:effectRef>
          <a:fontRef idx="minor">
            <a:srgbClr val="FFFFFF"/>
          </a:fontRef>
        </p:style>
        <p:txBody>
          <a:bodyPr rtlCol="0" anchor="ctr"/>
          <a:lstStyle/>
          <a:p>
            <a:pPr algn="ctr"/>
            <a:endParaRPr lang="zh-CN" altLang="en-US" sz="1350">
              <a:solidFill>
                <a:srgbClr val="FFFFFF"/>
              </a:solidFill>
              <a:latin typeface="Arial" panose="020B0604020202020204" pitchFamily="34" charset="0"/>
              <a:ea typeface="微软雅黑" panose="020B0503020204020204" pitchFamily="34" charset="-122"/>
              <a:cs typeface="思源黑体 CN Regular" panose="020B0500000000000000" charset="-122"/>
            </a:endParaRPr>
          </a:p>
        </p:txBody>
      </p:sp>
      <p:sp>
        <p:nvSpPr>
          <p:cNvPr id="7" name="文本框 6"/>
          <p:cNvSpPr txBox="1"/>
          <p:nvPr>
            <p:custDataLst>
              <p:tags r:id="rId3"/>
            </p:custDataLst>
          </p:nvPr>
        </p:nvSpPr>
        <p:spPr>
          <a:xfrm>
            <a:off x="896620" y="2459355"/>
            <a:ext cx="3447415" cy="822325"/>
          </a:xfrm>
          <a:prstGeom prst="rect">
            <a:avLst/>
          </a:prstGeom>
          <a:noFill/>
        </p:spPr>
        <p:txBody>
          <a:bodyPr wrap="square" rtlCol="0" anchor="t"/>
          <a:lstStyle/>
          <a:p>
            <a:pPr algn="l" fontAlgn="auto">
              <a:lnSpc>
                <a:spcPct val="110000"/>
              </a:lnSpc>
              <a:spcAft>
                <a:spcPts val="1000"/>
              </a:spcAft>
            </a:pPr>
            <a:r>
              <a:rPr lang="zh-CN" altLang="en-US" sz="1400" spc="150">
                <a:solidFill>
                  <a:srgbClr val="000000">
                    <a:lumMod val="75000"/>
                    <a:lumOff val="25000"/>
                  </a:srgbClr>
                </a:solidFill>
                <a:effectLst/>
                <a:uFillTx/>
                <a:latin typeface="楷体" panose="02010609060101010101" pitchFamily="49" charset="-122"/>
                <a:ea typeface="楷体" panose="02010609060101010101" pitchFamily="49" charset="-122"/>
                <a:cs typeface="思源黑体 CN Regular" panose="020B0500000000000000" charset="-122"/>
                <a:sym typeface="微软雅黑" panose="020B0503020204020204" pitchFamily="34" charset="-122"/>
              </a:rPr>
              <a:t>脚本的框架是评估者需要执行的任务，并在每个任务执行中或执行后探索相应的问题。</a:t>
            </a:r>
          </a:p>
        </p:txBody>
      </p:sp>
      <p:sp>
        <p:nvSpPr>
          <p:cNvPr id="8" name="文本框 7"/>
          <p:cNvSpPr txBox="1"/>
          <p:nvPr>
            <p:custDataLst>
              <p:tags r:id="rId4"/>
            </p:custDataLst>
          </p:nvPr>
        </p:nvSpPr>
        <p:spPr>
          <a:xfrm>
            <a:off x="3310453" y="2153139"/>
            <a:ext cx="509420" cy="300357"/>
          </a:xfrm>
          <a:prstGeom prst="rect">
            <a:avLst/>
          </a:prstGeom>
          <a:noFill/>
        </p:spPr>
        <p:txBody>
          <a:bodyPr wrap="square" rtlCol="0" anchor="ctr" anchorCtr="0"/>
          <a:lstStyle/>
          <a:p>
            <a:pPr algn="ctr"/>
            <a:r>
              <a:rPr lang="en-US" altLang="zh-CN" sz="1600" b="1" dirty="0">
                <a:ln>
                  <a:noFill/>
                </a:ln>
                <a:gradFill>
                  <a:gsLst>
                    <a:gs pos="15000">
                      <a:srgbClr val="7D01AA"/>
                    </a:gs>
                    <a:gs pos="100000">
                      <a:srgbClr val="7D01AA">
                        <a:lumMod val="20000"/>
                        <a:lumOff val="80000"/>
                        <a:alpha val="50000"/>
                      </a:srgbClr>
                    </a:gs>
                  </a:gsLst>
                  <a:lin ang="5400000" scaled="0"/>
                </a:gradFill>
                <a:latin typeface="思源黑体 CN Bold" panose="020B0800000000000000" charset="-122"/>
                <a:ea typeface="思源黑体 CN Bold" panose="020B0800000000000000" charset="-122"/>
                <a:cs typeface="思源黑体 CN Regular" panose="020B0500000000000000" charset="-122"/>
                <a:sym typeface="微软雅黑" panose="020B0503020204020204" pitchFamily="34" charset="-122"/>
              </a:rPr>
              <a:t>01</a:t>
            </a:r>
          </a:p>
        </p:txBody>
      </p:sp>
      <p:cxnSp>
        <p:nvCxnSpPr>
          <p:cNvPr id="9" name="直接箭头连接符 8"/>
          <p:cNvCxnSpPr>
            <a:endCxn id="8" idx="1"/>
          </p:cNvCxnSpPr>
          <p:nvPr>
            <p:custDataLst>
              <p:tags r:id="rId5"/>
            </p:custDataLst>
          </p:nvPr>
        </p:nvCxnSpPr>
        <p:spPr>
          <a:xfrm>
            <a:off x="2944809" y="2292165"/>
            <a:ext cx="365760" cy="10795"/>
          </a:xfrm>
          <a:prstGeom prst="straightConnector1">
            <a:avLst/>
          </a:prstGeom>
          <a:ln>
            <a:solidFill>
              <a:srgbClr val="7D01AA">
                <a:alpha val="20000"/>
              </a:srgbClr>
            </a:solidFill>
            <a:tailEnd type="stealth"/>
          </a:ln>
        </p:spPr>
        <p:style>
          <a:lnRef idx="1">
            <a:srgbClr val="7D01AA"/>
          </a:lnRef>
          <a:fillRef idx="0">
            <a:srgbClr val="7D01AA"/>
          </a:fillRef>
          <a:effectRef idx="0">
            <a:srgbClr val="7D01AA"/>
          </a:effectRef>
          <a:fontRef idx="minor">
            <a:srgbClr val="000000"/>
          </a:fontRef>
        </p:style>
      </p:cxnSp>
      <p:sp>
        <p:nvSpPr>
          <p:cNvPr id="11" name="平行四边形 10"/>
          <p:cNvSpPr/>
          <p:nvPr>
            <p:custDataLst>
              <p:tags r:id="rId6"/>
            </p:custDataLst>
          </p:nvPr>
        </p:nvSpPr>
        <p:spPr>
          <a:xfrm>
            <a:off x="1001855" y="2153079"/>
            <a:ext cx="2048062" cy="224762"/>
          </a:xfrm>
          <a:prstGeom prst="parallelogram">
            <a:avLst/>
          </a:prstGeom>
          <a:solidFill>
            <a:srgbClr val="7D01AA">
              <a:lumMod val="20000"/>
              <a:lumOff val="80000"/>
            </a:srgbClr>
          </a:solidFill>
          <a:ln>
            <a:noFill/>
          </a:ln>
        </p:spPr>
        <p:style>
          <a:lnRef idx="2">
            <a:srgbClr val="7D01AA">
              <a:shade val="50000"/>
            </a:srgbClr>
          </a:lnRef>
          <a:fillRef idx="1">
            <a:srgbClr val="7D01AA"/>
          </a:fillRef>
          <a:effectRef idx="0">
            <a:srgbClr val="7D01AA"/>
          </a:effectRef>
          <a:fontRef idx="minor">
            <a:srgbClr val="FFFFFF"/>
          </a:fontRef>
        </p:style>
        <p:txBody>
          <a:bodyPr rtlCol="0" anchor="ctr"/>
          <a:lstStyle/>
          <a:p>
            <a:pPr algn="ctr"/>
            <a:endParaRPr lang="zh-CN" altLang="en-US" sz="1350">
              <a:solidFill>
                <a:srgbClr val="FFFFFF"/>
              </a:solidFill>
              <a:latin typeface="Arial" panose="020B0604020202020204" pitchFamily="34" charset="0"/>
              <a:ea typeface="微软雅黑" panose="020B0503020204020204" pitchFamily="34" charset="-122"/>
              <a:cs typeface="思源黑体 CN Regular" panose="020B0500000000000000" charset="-122"/>
            </a:endParaRPr>
          </a:p>
        </p:txBody>
      </p:sp>
      <p:sp>
        <p:nvSpPr>
          <p:cNvPr id="12" name="平行四边形 11"/>
          <p:cNvSpPr/>
          <p:nvPr>
            <p:custDataLst>
              <p:tags r:id="rId7"/>
            </p:custDataLst>
          </p:nvPr>
        </p:nvSpPr>
        <p:spPr>
          <a:xfrm>
            <a:off x="827405" y="1995805"/>
            <a:ext cx="2154555" cy="360680"/>
          </a:xfrm>
          <a:prstGeom prst="parallelogram">
            <a:avLst/>
          </a:prstGeom>
          <a:solidFill>
            <a:srgbClr val="7D01AA"/>
          </a:solidFill>
          <a:ln>
            <a:noFill/>
          </a:ln>
        </p:spPr>
        <p:style>
          <a:lnRef idx="2">
            <a:srgbClr val="7D01AA">
              <a:shade val="50000"/>
            </a:srgbClr>
          </a:lnRef>
          <a:fillRef idx="1">
            <a:srgbClr val="7D01AA"/>
          </a:fillRef>
          <a:effectRef idx="0">
            <a:srgbClr val="7D01AA"/>
          </a:effectRef>
          <a:fontRef idx="minor">
            <a:srgbClr val="FFFFFF"/>
          </a:fontRef>
        </p:style>
        <p:txBody>
          <a:bodyPr rtlCol="0" anchor="ctr"/>
          <a:lstStyle/>
          <a:p>
            <a:pPr algn="ctr"/>
            <a:endParaRPr lang="zh-CN" altLang="en-US" sz="1350">
              <a:solidFill>
                <a:srgbClr val="FFFFFF"/>
              </a:solidFill>
              <a:latin typeface="Arial" panose="020B0604020202020204" pitchFamily="34" charset="0"/>
              <a:ea typeface="微软雅黑" panose="020B0503020204020204" pitchFamily="34" charset="-122"/>
              <a:cs typeface="思源黑体 CN Regular" panose="020B0500000000000000" charset="-122"/>
            </a:endParaRPr>
          </a:p>
        </p:txBody>
      </p:sp>
      <p:sp>
        <p:nvSpPr>
          <p:cNvPr id="58" name="文本框 57"/>
          <p:cNvSpPr txBox="1"/>
          <p:nvPr>
            <p:custDataLst>
              <p:tags r:id="rId8"/>
            </p:custDataLst>
          </p:nvPr>
        </p:nvSpPr>
        <p:spPr>
          <a:xfrm>
            <a:off x="842645" y="2037080"/>
            <a:ext cx="2222500" cy="280035"/>
          </a:xfrm>
          <a:prstGeom prst="rect">
            <a:avLst/>
          </a:prstGeom>
          <a:noFill/>
        </p:spPr>
        <p:txBody>
          <a:bodyPr wrap="square" bIns="0" rtlCol="0" anchor="ctr" anchorCtr="0"/>
          <a:lstStyle/>
          <a:p>
            <a:pPr algn="l"/>
            <a:r>
              <a:rPr kumimoji="1" lang="zh-CN" altLang="en-US" sz="1400" dirty="0">
                <a:solidFill>
                  <a:schemeClr val="bg1"/>
                </a:solidFill>
                <a:latin typeface="楷体" panose="02010609060101010101" pitchFamily="49" charset="-122"/>
                <a:ea typeface="楷体" panose="02010609060101010101" pitchFamily="49" charset="-122"/>
                <a:sym typeface="+mn-ea"/>
              </a:rPr>
              <a:t>使用脚本指导评估过程</a:t>
            </a:r>
            <a:endParaRPr kumimoji="1" lang="zh-CN" altLang="en-US" sz="1400" spc="300" dirty="0">
              <a:solidFill>
                <a:schemeClr val="bg1"/>
              </a:solidFill>
              <a:uFillTx/>
              <a:latin typeface="楷体" panose="02010609060101010101" pitchFamily="49" charset="-122"/>
              <a:ea typeface="楷体" panose="02010609060101010101" pitchFamily="49" charset="-122"/>
              <a:cs typeface="思源黑体 CN Regular" panose="020B0500000000000000" charset="-122"/>
              <a:sym typeface="+mn-ea"/>
            </a:endParaRPr>
          </a:p>
        </p:txBody>
      </p:sp>
      <p:sp>
        <p:nvSpPr>
          <p:cNvPr id="16" name="平行四边形 15"/>
          <p:cNvSpPr/>
          <p:nvPr>
            <p:custDataLst>
              <p:tags r:id="rId9"/>
            </p:custDataLst>
          </p:nvPr>
        </p:nvSpPr>
        <p:spPr>
          <a:xfrm>
            <a:off x="5080000" y="2611755"/>
            <a:ext cx="3435350" cy="1069975"/>
          </a:xfrm>
          <a:prstGeom prst="parallelogram">
            <a:avLst>
              <a:gd name="adj" fmla="val 19751"/>
            </a:avLst>
          </a:prstGeom>
          <a:gradFill>
            <a:gsLst>
              <a:gs pos="0">
                <a:srgbClr val="9157D7">
                  <a:lumMod val="20000"/>
                  <a:lumOff val="80000"/>
                  <a:alpha val="2000"/>
                </a:srgbClr>
              </a:gs>
              <a:gs pos="100000">
                <a:srgbClr val="9157D7">
                  <a:lumMod val="20000"/>
                  <a:lumOff val="80000"/>
                </a:srgbClr>
              </a:gs>
            </a:gsLst>
            <a:lin ang="10800000" scaled="0"/>
          </a:gradFill>
          <a:ln>
            <a:noFill/>
          </a:ln>
        </p:spPr>
        <p:style>
          <a:lnRef idx="2">
            <a:srgbClr val="7D01AA">
              <a:shade val="50000"/>
            </a:srgbClr>
          </a:lnRef>
          <a:fillRef idx="1">
            <a:srgbClr val="7D01AA"/>
          </a:fillRef>
          <a:effectRef idx="0">
            <a:srgbClr val="7D01AA"/>
          </a:effectRef>
          <a:fontRef idx="minor">
            <a:srgbClr val="FFFFFF"/>
          </a:fontRef>
        </p:style>
        <p:txBody>
          <a:bodyPr rtlCol="0" anchor="ctr"/>
          <a:lstStyle/>
          <a:p>
            <a:pPr algn="ctr"/>
            <a:endParaRPr lang="zh-CN" altLang="en-US" sz="1350">
              <a:solidFill>
                <a:srgbClr val="FFFFFF"/>
              </a:solidFill>
              <a:latin typeface="Arial" panose="020B0604020202020204" pitchFamily="34" charset="0"/>
              <a:ea typeface="微软雅黑" panose="020B0503020204020204" pitchFamily="34" charset="-122"/>
              <a:cs typeface="思源黑体 CN Regular" panose="020B0500000000000000" charset="-122"/>
            </a:endParaRPr>
          </a:p>
        </p:txBody>
      </p:sp>
      <p:sp>
        <p:nvSpPr>
          <p:cNvPr id="23" name="文本框 22"/>
          <p:cNvSpPr txBox="1"/>
          <p:nvPr>
            <p:custDataLst>
              <p:tags r:id="rId10"/>
            </p:custDataLst>
          </p:nvPr>
        </p:nvSpPr>
        <p:spPr>
          <a:xfrm>
            <a:off x="5173980" y="2762250"/>
            <a:ext cx="3140710" cy="1007110"/>
          </a:xfrm>
          <a:prstGeom prst="rect">
            <a:avLst/>
          </a:prstGeom>
          <a:noFill/>
        </p:spPr>
        <p:txBody>
          <a:bodyPr wrap="square" rtlCol="0" anchor="t"/>
          <a:lstStyle/>
          <a:p>
            <a:pPr algn="l" fontAlgn="auto">
              <a:lnSpc>
                <a:spcPct val="130000"/>
              </a:lnSpc>
              <a:spcAft>
                <a:spcPts val="1000"/>
              </a:spcAft>
            </a:pPr>
            <a:r>
              <a:rPr lang="zh-CN" altLang="en-US" sz="1400" spc="150">
                <a:solidFill>
                  <a:srgbClr val="000000">
                    <a:lumMod val="75000"/>
                    <a:lumOff val="25000"/>
                  </a:srgbClr>
                </a:solidFill>
                <a:effectLst/>
                <a:uFillTx/>
                <a:latin typeface="楷体" panose="02010609060101010101" pitchFamily="49" charset="-122"/>
                <a:ea typeface="楷体" panose="02010609060101010101" pitchFamily="49" charset="-122"/>
                <a:cs typeface="思源黑体 CN Regular" panose="020B0500000000000000" charset="-122"/>
                <a:sym typeface="微软雅黑" panose="020B0503020204020204" pitchFamily="34" charset="-122"/>
              </a:rPr>
              <a:t>比起只是简单地听取评估者对原型的想法，亲自观察评估人员使用原型的过程可以获得更多的信息。</a:t>
            </a:r>
          </a:p>
        </p:txBody>
      </p:sp>
      <p:sp>
        <p:nvSpPr>
          <p:cNvPr id="27" name="文本框 26"/>
          <p:cNvSpPr txBox="1"/>
          <p:nvPr>
            <p:custDataLst>
              <p:tags r:id="rId11"/>
            </p:custDataLst>
          </p:nvPr>
        </p:nvSpPr>
        <p:spPr>
          <a:xfrm>
            <a:off x="7315835" y="2385695"/>
            <a:ext cx="690880" cy="300355"/>
          </a:xfrm>
          <a:prstGeom prst="rect">
            <a:avLst/>
          </a:prstGeom>
          <a:noFill/>
        </p:spPr>
        <p:txBody>
          <a:bodyPr wrap="square" rtlCol="0" anchor="ctr" anchorCtr="0"/>
          <a:lstStyle/>
          <a:p>
            <a:pPr algn="ctr"/>
            <a:r>
              <a:rPr lang="en-US" altLang="zh-CN" sz="1600" b="1">
                <a:ln>
                  <a:noFill/>
                </a:ln>
                <a:gradFill>
                  <a:gsLst>
                    <a:gs pos="15000">
                      <a:srgbClr val="7D01AA"/>
                    </a:gs>
                    <a:gs pos="100000">
                      <a:srgbClr val="7D01AA">
                        <a:lumMod val="20000"/>
                        <a:lumOff val="80000"/>
                        <a:alpha val="50000"/>
                      </a:srgbClr>
                    </a:gs>
                  </a:gsLst>
                  <a:lin ang="5400000" scaled="0"/>
                </a:gradFill>
                <a:latin typeface="思源黑体 CN Bold" panose="020B0800000000000000" charset="-122"/>
                <a:ea typeface="思源黑体 CN Bold" panose="020B0800000000000000" charset="-122"/>
                <a:cs typeface="思源黑体 CN Regular" panose="020B0500000000000000" charset="-122"/>
                <a:sym typeface="微软雅黑" panose="020B0503020204020204" pitchFamily="34" charset="-122"/>
              </a:rPr>
              <a:t>04</a:t>
            </a:r>
          </a:p>
        </p:txBody>
      </p:sp>
      <p:cxnSp>
        <p:nvCxnSpPr>
          <p:cNvPr id="28" name="直接箭头连接符 27"/>
          <p:cNvCxnSpPr/>
          <p:nvPr>
            <p:custDataLst>
              <p:tags r:id="rId12"/>
            </p:custDataLst>
          </p:nvPr>
        </p:nvCxnSpPr>
        <p:spPr>
          <a:xfrm>
            <a:off x="7165453" y="2579735"/>
            <a:ext cx="365176" cy="0"/>
          </a:xfrm>
          <a:prstGeom prst="straightConnector1">
            <a:avLst/>
          </a:prstGeom>
          <a:ln>
            <a:solidFill>
              <a:srgbClr val="7D01AA">
                <a:alpha val="20000"/>
              </a:srgbClr>
            </a:solidFill>
            <a:tailEnd type="stealth"/>
          </a:ln>
        </p:spPr>
        <p:style>
          <a:lnRef idx="1">
            <a:srgbClr val="7D01AA"/>
          </a:lnRef>
          <a:fillRef idx="0">
            <a:srgbClr val="7D01AA"/>
          </a:fillRef>
          <a:effectRef idx="0">
            <a:srgbClr val="7D01AA"/>
          </a:effectRef>
          <a:fontRef idx="minor">
            <a:srgbClr val="000000"/>
          </a:fontRef>
        </p:style>
      </p:cxnSp>
      <p:sp>
        <p:nvSpPr>
          <p:cNvPr id="29" name="平行四边形 28"/>
          <p:cNvSpPr/>
          <p:nvPr>
            <p:custDataLst>
              <p:tags r:id="rId13"/>
            </p:custDataLst>
          </p:nvPr>
        </p:nvSpPr>
        <p:spPr>
          <a:xfrm>
            <a:off x="5449248" y="2550082"/>
            <a:ext cx="1716325" cy="212258"/>
          </a:xfrm>
          <a:prstGeom prst="parallelogram">
            <a:avLst/>
          </a:prstGeom>
          <a:solidFill>
            <a:srgbClr val="9157D7">
              <a:lumMod val="20000"/>
              <a:lumOff val="80000"/>
            </a:srgbClr>
          </a:solidFill>
          <a:ln>
            <a:noFill/>
          </a:ln>
        </p:spPr>
        <p:style>
          <a:lnRef idx="2">
            <a:srgbClr val="7D01AA">
              <a:shade val="50000"/>
            </a:srgbClr>
          </a:lnRef>
          <a:fillRef idx="1">
            <a:srgbClr val="7D01AA"/>
          </a:fillRef>
          <a:effectRef idx="0">
            <a:srgbClr val="7D01AA"/>
          </a:effectRef>
          <a:fontRef idx="minor">
            <a:srgbClr val="FFFFFF"/>
          </a:fontRef>
        </p:style>
        <p:txBody>
          <a:bodyPr rtlCol="0" anchor="ctr"/>
          <a:lstStyle/>
          <a:p>
            <a:pPr algn="ctr"/>
            <a:endParaRPr lang="zh-CN" altLang="en-US" sz="1350">
              <a:solidFill>
                <a:srgbClr val="FFFFFF"/>
              </a:solidFill>
              <a:latin typeface="Arial" panose="020B0604020202020204" pitchFamily="34" charset="0"/>
              <a:ea typeface="微软雅黑" panose="020B0503020204020204" pitchFamily="34" charset="-122"/>
              <a:cs typeface="思源黑体 CN Regular" panose="020B0500000000000000" charset="-122"/>
            </a:endParaRPr>
          </a:p>
        </p:txBody>
      </p:sp>
      <p:sp>
        <p:nvSpPr>
          <p:cNvPr id="30" name="平行四边形 29"/>
          <p:cNvSpPr/>
          <p:nvPr>
            <p:custDataLst>
              <p:tags r:id="rId14"/>
            </p:custDataLst>
          </p:nvPr>
        </p:nvSpPr>
        <p:spPr>
          <a:xfrm>
            <a:off x="5281129" y="2401730"/>
            <a:ext cx="1793468" cy="360611"/>
          </a:xfrm>
          <a:prstGeom prst="parallelogram">
            <a:avLst/>
          </a:prstGeom>
          <a:solidFill>
            <a:srgbClr val="9157D7"/>
          </a:solidFill>
          <a:ln>
            <a:noFill/>
          </a:ln>
        </p:spPr>
        <p:style>
          <a:lnRef idx="2">
            <a:srgbClr val="7D01AA">
              <a:shade val="50000"/>
            </a:srgbClr>
          </a:lnRef>
          <a:fillRef idx="1">
            <a:srgbClr val="7D01AA"/>
          </a:fillRef>
          <a:effectRef idx="0">
            <a:srgbClr val="7D01AA"/>
          </a:effectRef>
          <a:fontRef idx="minor">
            <a:srgbClr val="FFFFFF"/>
          </a:fontRef>
        </p:style>
        <p:txBody>
          <a:bodyPr rtlCol="0" anchor="ctr"/>
          <a:lstStyle/>
          <a:p>
            <a:pPr algn="ctr"/>
            <a:endParaRPr lang="zh-CN" altLang="en-US" sz="1350">
              <a:solidFill>
                <a:srgbClr val="FFFFFF"/>
              </a:solidFill>
              <a:latin typeface="Arial" panose="020B0604020202020204" pitchFamily="34" charset="0"/>
              <a:ea typeface="微软雅黑" panose="020B0503020204020204" pitchFamily="34" charset="-122"/>
              <a:cs typeface="思源黑体 CN Regular" panose="020B0500000000000000" charset="-122"/>
            </a:endParaRPr>
          </a:p>
        </p:txBody>
      </p:sp>
      <p:sp>
        <p:nvSpPr>
          <p:cNvPr id="33" name="文本框 32"/>
          <p:cNvSpPr txBox="1"/>
          <p:nvPr>
            <p:custDataLst>
              <p:tags r:id="rId15"/>
            </p:custDataLst>
          </p:nvPr>
        </p:nvSpPr>
        <p:spPr>
          <a:xfrm>
            <a:off x="5281102" y="2430058"/>
            <a:ext cx="1685247" cy="280875"/>
          </a:xfrm>
          <a:prstGeom prst="rect">
            <a:avLst/>
          </a:prstGeom>
          <a:noFill/>
        </p:spPr>
        <p:txBody>
          <a:bodyPr wrap="square" bIns="0" rtlCol="0" anchor="ctr" anchorCtr="0">
            <a:noAutofit/>
          </a:bodyPr>
          <a:lstStyle/>
          <a:p>
            <a:pPr algn="l"/>
            <a:r>
              <a:rPr kumimoji="1" lang="zh-CN" altLang="en-US" sz="1400" dirty="0">
                <a:solidFill>
                  <a:schemeClr val="bg1"/>
                </a:solidFill>
                <a:latin typeface="楷体" panose="02010609060101010101" pitchFamily="49" charset="-122"/>
                <a:ea typeface="楷体" panose="02010609060101010101" pitchFamily="49" charset="-122"/>
                <a:sym typeface="+mn-ea"/>
              </a:rPr>
              <a:t>观察评估者的行为</a:t>
            </a:r>
            <a:endParaRPr kumimoji="1" lang="zh-CN" altLang="en-US" sz="1400" spc="300" dirty="0">
              <a:solidFill>
                <a:schemeClr val="bg1"/>
              </a:solidFill>
              <a:uFillTx/>
              <a:latin typeface="楷体" panose="02010609060101010101" pitchFamily="49" charset="-122"/>
              <a:ea typeface="楷体" panose="02010609060101010101" pitchFamily="49" charset="-122"/>
              <a:cs typeface="思源黑体 CN Regular" panose="020B0500000000000000" charset="-122"/>
              <a:sym typeface="+mn-ea"/>
            </a:endParaRPr>
          </a:p>
        </p:txBody>
      </p:sp>
      <p:sp>
        <p:nvSpPr>
          <p:cNvPr id="13" name="平行四边形 12"/>
          <p:cNvSpPr/>
          <p:nvPr>
            <p:custDataLst>
              <p:tags r:id="rId16"/>
            </p:custDataLst>
          </p:nvPr>
        </p:nvSpPr>
        <p:spPr>
          <a:xfrm>
            <a:off x="720090" y="3837305"/>
            <a:ext cx="3726815" cy="822325"/>
          </a:xfrm>
          <a:prstGeom prst="parallelogram">
            <a:avLst>
              <a:gd name="adj" fmla="val 19751"/>
            </a:avLst>
          </a:prstGeom>
          <a:gradFill>
            <a:gsLst>
              <a:gs pos="0">
                <a:srgbClr val="892BC0">
                  <a:lumMod val="20000"/>
                  <a:lumOff val="80000"/>
                  <a:alpha val="2000"/>
                </a:srgbClr>
              </a:gs>
              <a:gs pos="100000">
                <a:srgbClr val="7D01AA">
                  <a:lumMod val="20000"/>
                  <a:lumOff val="80000"/>
                </a:srgbClr>
              </a:gs>
            </a:gsLst>
            <a:lin ang="10800000" scaled="0"/>
          </a:gradFill>
          <a:ln>
            <a:noFill/>
          </a:ln>
        </p:spPr>
        <p:style>
          <a:lnRef idx="2">
            <a:srgbClr val="7D01AA">
              <a:shade val="50000"/>
            </a:srgbClr>
          </a:lnRef>
          <a:fillRef idx="1">
            <a:srgbClr val="7D01AA"/>
          </a:fillRef>
          <a:effectRef idx="0">
            <a:srgbClr val="7D01AA"/>
          </a:effectRef>
          <a:fontRef idx="minor">
            <a:srgbClr val="FFFFFF"/>
          </a:fontRef>
        </p:style>
        <p:txBody>
          <a:bodyPr rtlCol="0" anchor="ctr"/>
          <a:lstStyle/>
          <a:p>
            <a:pPr algn="ctr"/>
            <a:endParaRPr lang="zh-CN" altLang="en-US" sz="1350">
              <a:solidFill>
                <a:srgbClr val="FFFFFF"/>
              </a:solidFill>
              <a:latin typeface="Arial" panose="020B0604020202020204" pitchFamily="34" charset="0"/>
              <a:ea typeface="微软雅黑" panose="020B0503020204020204" pitchFamily="34" charset="-122"/>
              <a:cs typeface="思源黑体 CN Regular" panose="020B0500000000000000" charset="-122"/>
            </a:endParaRPr>
          </a:p>
        </p:txBody>
      </p:sp>
      <p:sp>
        <p:nvSpPr>
          <p:cNvPr id="54" name="文本框 53"/>
          <p:cNvSpPr txBox="1"/>
          <p:nvPr>
            <p:custDataLst>
              <p:tags r:id="rId17"/>
            </p:custDataLst>
          </p:nvPr>
        </p:nvSpPr>
        <p:spPr>
          <a:xfrm>
            <a:off x="827405" y="3989705"/>
            <a:ext cx="3503295" cy="655320"/>
          </a:xfrm>
          <a:prstGeom prst="rect">
            <a:avLst/>
          </a:prstGeom>
          <a:noFill/>
        </p:spPr>
        <p:txBody>
          <a:bodyPr wrap="square" rtlCol="0" anchor="t"/>
          <a:lstStyle/>
          <a:p>
            <a:pPr algn="l" fontAlgn="auto">
              <a:lnSpc>
                <a:spcPct val="130000"/>
              </a:lnSpc>
              <a:spcAft>
                <a:spcPts val="1000"/>
              </a:spcAft>
            </a:pPr>
            <a:r>
              <a:rPr lang="zh-CN" altLang="en-US" sz="1400" spc="150">
                <a:solidFill>
                  <a:srgbClr val="000000">
                    <a:lumMod val="75000"/>
                    <a:lumOff val="25000"/>
                  </a:srgbClr>
                </a:solidFill>
                <a:effectLst/>
                <a:uFillTx/>
                <a:latin typeface="楷体" panose="02010609060101010101" pitchFamily="49" charset="-122"/>
                <a:ea typeface="楷体" panose="02010609060101010101" pitchFamily="49" charset="-122"/>
                <a:cs typeface="思源黑体 CN Regular" panose="020B0500000000000000" charset="-122"/>
                <a:sym typeface="微软雅黑" panose="020B0503020204020204" pitchFamily="34" charset="-122"/>
              </a:rPr>
              <a:t>创造无偏见评估环境的关键是让评估者明白原型是基于缺陷需求构建的。</a:t>
            </a:r>
          </a:p>
        </p:txBody>
      </p:sp>
      <p:sp>
        <p:nvSpPr>
          <p:cNvPr id="14" name="文本框 13"/>
          <p:cNvSpPr txBox="1"/>
          <p:nvPr>
            <p:custDataLst>
              <p:tags r:id="rId18"/>
            </p:custDataLst>
          </p:nvPr>
        </p:nvSpPr>
        <p:spPr>
          <a:xfrm>
            <a:off x="3222188" y="3647758"/>
            <a:ext cx="509420" cy="300357"/>
          </a:xfrm>
          <a:prstGeom prst="rect">
            <a:avLst/>
          </a:prstGeom>
          <a:noFill/>
        </p:spPr>
        <p:txBody>
          <a:bodyPr wrap="square" rtlCol="0" anchor="ctr" anchorCtr="0"/>
          <a:lstStyle/>
          <a:p>
            <a:pPr algn="ctr"/>
            <a:r>
              <a:rPr lang="en-US" altLang="zh-CN" sz="1600" b="1">
                <a:ln>
                  <a:noFill/>
                </a:ln>
                <a:gradFill>
                  <a:gsLst>
                    <a:gs pos="15000">
                      <a:srgbClr val="7D01AA"/>
                    </a:gs>
                    <a:gs pos="100000">
                      <a:srgbClr val="7D01AA">
                        <a:lumMod val="20000"/>
                        <a:lumOff val="80000"/>
                        <a:alpha val="50000"/>
                      </a:srgbClr>
                    </a:gs>
                  </a:gsLst>
                  <a:lin ang="5400000" scaled="0"/>
                </a:gradFill>
                <a:latin typeface="思源黑体 CN Bold" panose="020B0800000000000000" charset="-122"/>
                <a:ea typeface="思源黑体 CN Bold" panose="020B0800000000000000" charset="-122"/>
                <a:cs typeface="思源黑体 CN Regular" panose="020B0500000000000000" charset="-122"/>
                <a:sym typeface="微软雅黑" panose="020B0503020204020204" pitchFamily="34" charset="-122"/>
              </a:rPr>
              <a:t>02</a:t>
            </a:r>
          </a:p>
        </p:txBody>
      </p:sp>
      <p:cxnSp>
        <p:nvCxnSpPr>
          <p:cNvPr id="15" name="直接箭头连接符 14"/>
          <p:cNvCxnSpPr/>
          <p:nvPr>
            <p:custDataLst>
              <p:tags r:id="rId19"/>
            </p:custDataLst>
          </p:nvPr>
        </p:nvCxnSpPr>
        <p:spPr>
          <a:xfrm>
            <a:off x="2900994" y="3835044"/>
            <a:ext cx="365176" cy="0"/>
          </a:xfrm>
          <a:prstGeom prst="straightConnector1">
            <a:avLst/>
          </a:prstGeom>
          <a:ln>
            <a:solidFill>
              <a:srgbClr val="7D01AA">
                <a:alpha val="20000"/>
              </a:srgbClr>
            </a:solidFill>
            <a:tailEnd type="stealth"/>
          </a:ln>
        </p:spPr>
        <p:style>
          <a:lnRef idx="1">
            <a:srgbClr val="7D01AA"/>
          </a:lnRef>
          <a:fillRef idx="0">
            <a:srgbClr val="7D01AA"/>
          </a:fillRef>
          <a:effectRef idx="0">
            <a:srgbClr val="7D01AA"/>
          </a:effectRef>
          <a:fontRef idx="minor">
            <a:srgbClr val="000000"/>
          </a:fontRef>
        </p:style>
      </p:cxnSp>
      <p:sp>
        <p:nvSpPr>
          <p:cNvPr id="17" name="平行四边形 16"/>
          <p:cNvSpPr/>
          <p:nvPr>
            <p:custDataLst>
              <p:tags r:id="rId20"/>
            </p:custDataLst>
          </p:nvPr>
        </p:nvSpPr>
        <p:spPr>
          <a:xfrm>
            <a:off x="1049511" y="3647119"/>
            <a:ext cx="1979967" cy="222853"/>
          </a:xfrm>
          <a:prstGeom prst="parallelogram">
            <a:avLst/>
          </a:prstGeom>
          <a:solidFill>
            <a:srgbClr val="892BC0">
              <a:lumMod val="20000"/>
              <a:lumOff val="80000"/>
            </a:srgbClr>
          </a:solidFill>
          <a:ln>
            <a:noFill/>
          </a:ln>
        </p:spPr>
        <p:style>
          <a:lnRef idx="2">
            <a:srgbClr val="7D01AA">
              <a:shade val="50000"/>
            </a:srgbClr>
          </a:lnRef>
          <a:fillRef idx="1">
            <a:srgbClr val="7D01AA"/>
          </a:fillRef>
          <a:effectRef idx="0">
            <a:srgbClr val="7D01AA"/>
          </a:effectRef>
          <a:fontRef idx="minor">
            <a:srgbClr val="FFFFFF"/>
          </a:fontRef>
        </p:style>
        <p:txBody>
          <a:bodyPr rtlCol="0" anchor="ctr"/>
          <a:lstStyle/>
          <a:p>
            <a:pPr algn="ctr"/>
            <a:endParaRPr lang="zh-CN" altLang="en-US" sz="1350">
              <a:solidFill>
                <a:srgbClr val="FFFFFF"/>
              </a:solidFill>
              <a:latin typeface="Arial" panose="020B0604020202020204" pitchFamily="34" charset="0"/>
              <a:ea typeface="微软雅黑" panose="020B0503020204020204" pitchFamily="34" charset="-122"/>
              <a:cs typeface="思源黑体 CN Regular" panose="020B0500000000000000" charset="-122"/>
            </a:endParaRPr>
          </a:p>
        </p:txBody>
      </p:sp>
      <p:sp>
        <p:nvSpPr>
          <p:cNvPr id="18" name="平行四边形 17"/>
          <p:cNvSpPr/>
          <p:nvPr>
            <p:custDataLst>
              <p:tags r:id="rId21"/>
            </p:custDataLst>
          </p:nvPr>
        </p:nvSpPr>
        <p:spPr>
          <a:xfrm>
            <a:off x="840740" y="3558540"/>
            <a:ext cx="2015490" cy="335280"/>
          </a:xfrm>
          <a:prstGeom prst="parallelogram">
            <a:avLst/>
          </a:prstGeom>
          <a:solidFill>
            <a:srgbClr val="892BC0"/>
          </a:solidFill>
          <a:ln>
            <a:noFill/>
          </a:ln>
        </p:spPr>
        <p:style>
          <a:lnRef idx="2">
            <a:srgbClr val="7D01AA">
              <a:shade val="50000"/>
            </a:srgbClr>
          </a:lnRef>
          <a:fillRef idx="1">
            <a:srgbClr val="7D01AA"/>
          </a:fillRef>
          <a:effectRef idx="0">
            <a:srgbClr val="7D01AA"/>
          </a:effectRef>
          <a:fontRef idx="minor">
            <a:srgbClr val="FFFFFF"/>
          </a:fontRef>
        </p:style>
        <p:txBody>
          <a:bodyPr rtlCol="0" anchor="ctr"/>
          <a:lstStyle/>
          <a:p>
            <a:pPr algn="ctr"/>
            <a:endParaRPr lang="zh-CN" altLang="en-US" sz="1350">
              <a:solidFill>
                <a:srgbClr val="FFFFFF"/>
              </a:solidFill>
              <a:latin typeface="Arial" panose="020B0604020202020204" pitchFamily="34" charset="0"/>
              <a:ea typeface="微软雅黑" panose="020B0503020204020204" pitchFamily="34" charset="-122"/>
              <a:cs typeface="思源黑体 CN Regular" panose="020B0500000000000000" charset="-122"/>
            </a:endParaRPr>
          </a:p>
        </p:txBody>
      </p:sp>
      <p:sp>
        <p:nvSpPr>
          <p:cNvPr id="19" name="文本框 18"/>
          <p:cNvSpPr txBox="1"/>
          <p:nvPr>
            <p:custDataLst>
              <p:tags r:id="rId22"/>
            </p:custDataLst>
          </p:nvPr>
        </p:nvSpPr>
        <p:spPr>
          <a:xfrm>
            <a:off x="843603" y="3562448"/>
            <a:ext cx="2221282" cy="321753"/>
          </a:xfrm>
          <a:prstGeom prst="rect">
            <a:avLst/>
          </a:prstGeom>
          <a:noFill/>
        </p:spPr>
        <p:txBody>
          <a:bodyPr wrap="square" bIns="0" rtlCol="0" anchor="ctr" anchorCtr="0">
            <a:noAutofit/>
          </a:bodyPr>
          <a:lstStyle/>
          <a:p>
            <a:pPr algn="l"/>
            <a:r>
              <a:rPr kumimoji="1" lang="zh-CN" altLang="en-US" sz="1400" dirty="0">
                <a:solidFill>
                  <a:schemeClr val="bg1"/>
                </a:solidFill>
                <a:latin typeface="楷体" panose="02010609060101010101" pitchFamily="49" charset="-122"/>
                <a:ea typeface="楷体" panose="02010609060101010101" pitchFamily="49" charset="-122"/>
                <a:sym typeface="+mn-ea"/>
              </a:rPr>
              <a:t>创造无偏见的评估环境</a:t>
            </a:r>
            <a:endParaRPr kumimoji="1" lang="zh-CN" altLang="en-US" sz="800" spc="300" dirty="0">
              <a:solidFill>
                <a:schemeClr val="bg1"/>
              </a:solidFill>
              <a:uFillTx/>
              <a:latin typeface="楷体" panose="02010609060101010101" pitchFamily="49" charset="-122"/>
              <a:ea typeface="楷体" panose="02010609060101010101" pitchFamily="49" charset="-122"/>
              <a:cs typeface="思源黑体 CN Regular" panose="020B0500000000000000" charset="-122"/>
              <a:sym typeface="+mn-ea"/>
            </a:endParaRPr>
          </a:p>
        </p:txBody>
      </p:sp>
      <p:sp>
        <p:nvSpPr>
          <p:cNvPr id="62" name="平行四边形 61"/>
          <p:cNvSpPr/>
          <p:nvPr>
            <p:custDataLst>
              <p:tags r:id="rId23"/>
            </p:custDataLst>
          </p:nvPr>
        </p:nvSpPr>
        <p:spPr>
          <a:xfrm>
            <a:off x="628650" y="5353050"/>
            <a:ext cx="3643630" cy="956310"/>
          </a:xfrm>
          <a:prstGeom prst="parallelogram">
            <a:avLst>
              <a:gd name="adj" fmla="val 19751"/>
            </a:avLst>
          </a:prstGeom>
          <a:gradFill>
            <a:gsLst>
              <a:gs pos="0">
                <a:srgbClr val="8D41CB">
                  <a:lumMod val="20000"/>
                  <a:lumOff val="80000"/>
                  <a:alpha val="2000"/>
                </a:srgbClr>
              </a:gs>
              <a:gs pos="100000">
                <a:srgbClr val="8D41CB">
                  <a:lumMod val="20000"/>
                  <a:lumOff val="80000"/>
                </a:srgbClr>
              </a:gs>
            </a:gsLst>
            <a:lin ang="10800000" scaled="0"/>
          </a:gradFill>
          <a:ln>
            <a:noFill/>
          </a:ln>
        </p:spPr>
        <p:style>
          <a:lnRef idx="2">
            <a:srgbClr val="7D01AA">
              <a:shade val="50000"/>
            </a:srgbClr>
          </a:lnRef>
          <a:fillRef idx="1">
            <a:srgbClr val="7D01AA"/>
          </a:fillRef>
          <a:effectRef idx="0">
            <a:srgbClr val="7D01AA"/>
          </a:effectRef>
          <a:fontRef idx="minor">
            <a:srgbClr val="FFFFFF"/>
          </a:fontRef>
        </p:style>
        <p:txBody>
          <a:bodyPr rtlCol="0" anchor="ctr"/>
          <a:lstStyle/>
          <a:p>
            <a:pPr algn="ctr"/>
            <a:endParaRPr lang="zh-CN" altLang="en-US" sz="1350">
              <a:solidFill>
                <a:srgbClr val="FFFFFF"/>
              </a:solidFill>
              <a:latin typeface="Arial" panose="020B0604020202020204" pitchFamily="34" charset="0"/>
              <a:ea typeface="微软雅黑" panose="020B0503020204020204" pitchFamily="34" charset="-122"/>
              <a:cs typeface="思源黑体 CN Regular" panose="020B0500000000000000" charset="-122"/>
            </a:endParaRPr>
          </a:p>
        </p:txBody>
      </p:sp>
      <p:sp>
        <p:nvSpPr>
          <p:cNvPr id="21" name="文本框 20"/>
          <p:cNvSpPr txBox="1"/>
          <p:nvPr>
            <p:custDataLst>
              <p:tags r:id="rId24"/>
            </p:custDataLst>
          </p:nvPr>
        </p:nvSpPr>
        <p:spPr>
          <a:xfrm>
            <a:off x="721360" y="5391785"/>
            <a:ext cx="3472815" cy="1001395"/>
          </a:xfrm>
          <a:prstGeom prst="rect">
            <a:avLst/>
          </a:prstGeom>
          <a:noFill/>
        </p:spPr>
        <p:txBody>
          <a:bodyPr wrap="square" rtlCol="0" anchor="t"/>
          <a:lstStyle/>
          <a:p>
            <a:pPr algn="l" fontAlgn="auto">
              <a:lnSpc>
                <a:spcPct val="130000"/>
              </a:lnSpc>
              <a:spcAft>
                <a:spcPts val="1000"/>
              </a:spcAft>
            </a:pPr>
            <a:r>
              <a:rPr lang="zh-CN" altLang="en-US" sz="1400" spc="150">
                <a:solidFill>
                  <a:srgbClr val="000000">
                    <a:lumMod val="75000"/>
                    <a:lumOff val="25000"/>
                  </a:srgbClr>
                </a:solidFill>
                <a:effectLst/>
                <a:uFillTx/>
                <a:latin typeface="楷体" panose="02010609060101010101" pitchFamily="49" charset="-122"/>
                <a:ea typeface="楷体" panose="02010609060101010101" pitchFamily="49" charset="-122"/>
                <a:cs typeface="思源黑体 CN Regular" panose="020B0500000000000000" charset="-122"/>
                <a:sym typeface="微软雅黑" panose="020B0503020204020204" pitchFamily="34" charset="-122"/>
              </a:rPr>
              <a:t>要让原型所针对的不明确需求的相关涉众来执行评估，只有他们的意见才是真正有用的。</a:t>
            </a:r>
          </a:p>
        </p:txBody>
      </p:sp>
      <p:sp>
        <p:nvSpPr>
          <p:cNvPr id="22" name="文本框 21"/>
          <p:cNvSpPr txBox="1"/>
          <p:nvPr>
            <p:custDataLst>
              <p:tags r:id="rId25"/>
            </p:custDataLst>
          </p:nvPr>
        </p:nvSpPr>
        <p:spPr>
          <a:xfrm>
            <a:off x="3123128" y="5160157"/>
            <a:ext cx="509420" cy="300357"/>
          </a:xfrm>
          <a:prstGeom prst="rect">
            <a:avLst/>
          </a:prstGeom>
          <a:noFill/>
        </p:spPr>
        <p:txBody>
          <a:bodyPr wrap="square" rtlCol="0" anchor="ctr" anchorCtr="0"/>
          <a:lstStyle/>
          <a:p>
            <a:pPr algn="ctr"/>
            <a:r>
              <a:rPr lang="en-US" altLang="zh-CN" sz="1600" b="1">
                <a:ln>
                  <a:noFill/>
                </a:ln>
                <a:gradFill>
                  <a:gsLst>
                    <a:gs pos="15000">
                      <a:srgbClr val="7D01AA"/>
                    </a:gs>
                    <a:gs pos="100000">
                      <a:srgbClr val="7D01AA">
                        <a:lumMod val="20000"/>
                        <a:lumOff val="80000"/>
                        <a:alpha val="50000"/>
                      </a:srgbClr>
                    </a:gs>
                  </a:gsLst>
                  <a:lin ang="5400000" scaled="0"/>
                </a:gradFill>
                <a:latin typeface="思源黑体 CN Bold" panose="020B0800000000000000" charset="-122"/>
                <a:ea typeface="思源黑体 CN Bold" panose="020B0800000000000000" charset="-122"/>
                <a:cs typeface="思源黑体 CN Regular" panose="020B0500000000000000" charset="-122"/>
                <a:sym typeface="微软雅黑" panose="020B0503020204020204" pitchFamily="34" charset="-122"/>
              </a:rPr>
              <a:t>03</a:t>
            </a:r>
          </a:p>
        </p:txBody>
      </p:sp>
      <p:cxnSp>
        <p:nvCxnSpPr>
          <p:cNvPr id="24" name="直接箭头连接符 23"/>
          <p:cNvCxnSpPr/>
          <p:nvPr>
            <p:custDataLst>
              <p:tags r:id="rId26"/>
            </p:custDataLst>
          </p:nvPr>
        </p:nvCxnSpPr>
        <p:spPr>
          <a:xfrm>
            <a:off x="2859084" y="5363953"/>
            <a:ext cx="365176" cy="0"/>
          </a:xfrm>
          <a:prstGeom prst="straightConnector1">
            <a:avLst/>
          </a:prstGeom>
          <a:ln>
            <a:solidFill>
              <a:srgbClr val="7D01AA">
                <a:alpha val="20000"/>
              </a:srgbClr>
            </a:solidFill>
            <a:tailEnd type="stealth"/>
          </a:ln>
        </p:spPr>
        <p:style>
          <a:lnRef idx="1">
            <a:srgbClr val="7D01AA"/>
          </a:lnRef>
          <a:fillRef idx="0">
            <a:srgbClr val="7D01AA"/>
          </a:fillRef>
          <a:effectRef idx="0">
            <a:srgbClr val="7D01AA"/>
          </a:effectRef>
          <a:fontRef idx="minor">
            <a:srgbClr val="000000"/>
          </a:fontRef>
        </p:style>
      </p:cxnSp>
      <p:sp>
        <p:nvSpPr>
          <p:cNvPr id="66" name="平行四边形 65"/>
          <p:cNvSpPr/>
          <p:nvPr>
            <p:custDataLst>
              <p:tags r:id="rId27"/>
            </p:custDataLst>
          </p:nvPr>
        </p:nvSpPr>
        <p:spPr>
          <a:xfrm>
            <a:off x="1001886" y="5159943"/>
            <a:ext cx="1979967" cy="242633"/>
          </a:xfrm>
          <a:prstGeom prst="parallelogram">
            <a:avLst/>
          </a:prstGeom>
          <a:solidFill>
            <a:srgbClr val="892BC0">
              <a:lumMod val="20000"/>
              <a:lumOff val="80000"/>
            </a:srgbClr>
          </a:solidFill>
          <a:ln>
            <a:noFill/>
          </a:ln>
        </p:spPr>
        <p:style>
          <a:lnRef idx="2">
            <a:srgbClr val="7D01AA">
              <a:shade val="50000"/>
            </a:srgbClr>
          </a:lnRef>
          <a:fillRef idx="1">
            <a:srgbClr val="7D01AA"/>
          </a:fillRef>
          <a:effectRef idx="0">
            <a:srgbClr val="7D01AA"/>
          </a:effectRef>
          <a:fontRef idx="minor">
            <a:srgbClr val="FFFFFF"/>
          </a:fontRef>
        </p:style>
        <p:txBody>
          <a:bodyPr rtlCol="0" anchor="ctr"/>
          <a:lstStyle/>
          <a:p>
            <a:pPr algn="ctr"/>
            <a:endParaRPr lang="zh-CN" altLang="en-US" sz="1350">
              <a:solidFill>
                <a:srgbClr val="FFFFFF"/>
              </a:solidFill>
              <a:latin typeface="Arial" panose="020B0604020202020204" pitchFamily="34" charset="0"/>
              <a:ea typeface="微软雅黑" panose="020B0503020204020204" pitchFamily="34" charset="-122"/>
              <a:cs typeface="思源黑体 CN Regular" panose="020B0500000000000000" charset="-122"/>
            </a:endParaRPr>
          </a:p>
        </p:txBody>
      </p:sp>
      <p:sp>
        <p:nvSpPr>
          <p:cNvPr id="67" name="平行四边形 66"/>
          <p:cNvSpPr/>
          <p:nvPr>
            <p:custDataLst>
              <p:tags r:id="rId28"/>
            </p:custDataLst>
          </p:nvPr>
        </p:nvSpPr>
        <p:spPr>
          <a:xfrm>
            <a:off x="721598" y="4893576"/>
            <a:ext cx="2136888" cy="471421"/>
          </a:xfrm>
          <a:prstGeom prst="parallelogram">
            <a:avLst/>
          </a:prstGeom>
          <a:solidFill>
            <a:srgbClr val="8D41CB"/>
          </a:solidFill>
          <a:ln>
            <a:noFill/>
          </a:ln>
        </p:spPr>
        <p:style>
          <a:lnRef idx="2">
            <a:srgbClr val="7D01AA">
              <a:shade val="50000"/>
            </a:srgbClr>
          </a:lnRef>
          <a:fillRef idx="1">
            <a:srgbClr val="7D01AA"/>
          </a:fillRef>
          <a:effectRef idx="0">
            <a:srgbClr val="7D01AA"/>
          </a:effectRef>
          <a:fontRef idx="minor">
            <a:srgbClr val="FFFFFF"/>
          </a:fontRef>
        </p:style>
        <p:txBody>
          <a:bodyPr rtlCol="0" anchor="ctr"/>
          <a:lstStyle/>
          <a:p>
            <a:pPr algn="ctr"/>
            <a:endParaRPr lang="zh-CN" altLang="en-US" sz="1350">
              <a:solidFill>
                <a:srgbClr val="FFFFFF"/>
              </a:solidFill>
              <a:latin typeface="Arial" panose="020B0604020202020204" pitchFamily="34" charset="0"/>
              <a:ea typeface="微软雅黑" panose="020B0503020204020204" pitchFamily="34" charset="-122"/>
              <a:cs typeface="思源黑体 CN Regular" panose="020B0500000000000000" charset="-122"/>
            </a:endParaRPr>
          </a:p>
        </p:txBody>
      </p:sp>
      <p:sp>
        <p:nvSpPr>
          <p:cNvPr id="68" name="文本框 67"/>
          <p:cNvSpPr txBox="1"/>
          <p:nvPr>
            <p:custDataLst>
              <p:tags r:id="rId29"/>
            </p:custDataLst>
          </p:nvPr>
        </p:nvSpPr>
        <p:spPr>
          <a:xfrm>
            <a:off x="825500" y="4886960"/>
            <a:ext cx="2030730" cy="440690"/>
          </a:xfrm>
          <a:prstGeom prst="rect">
            <a:avLst/>
          </a:prstGeom>
          <a:noFill/>
        </p:spPr>
        <p:txBody>
          <a:bodyPr wrap="square" bIns="0" rtlCol="0" anchor="ctr" anchorCtr="0">
            <a:noAutofit/>
          </a:bodyPr>
          <a:lstStyle/>
          <a:p>
            <a:pPr algn="l"/>
            <a:r>
              <a:rPr kumimoji="1" lang="zh-CN" altLang="en-US" sz="1400" dirty="0">
                <a:solidFill>
                  <a:schemeClr val="bg1"/>
                </a:solidFill>
                <a:latin typeface="楷体" panose="02010609060101010101" pitchFamily="49" charset="-122"/>
                <a:ea typeface="楷体" panose="02010609060101010101" pitchFamily="49" charset="-122"/>
                <a:sym typeface="+mn-ea"/>
              </a:rPr>
              <a:t>引导评估者从恰当的角度进行评价</a:t>
            </a:r>
            <a:endParaRPr kumimoji="1" lang="zh-CN" altLang="en-US" sz="1400" spc="300" dirty="0">
              <a:solidFill>
                <a:schemeClr val="bg1"/>
              </a:solidFill>
              <a:uFillTx/>
              <a:latin typeface="楷体" panose="02010609060101010101" pitchFamily="49" charset="-122"/>
              <a:ea typeface="楷体" panose="02010609060101010101" pitchFamily="49" charset="-122"/>
              <a:cs typeface="思源黑体 CN Regular" panose="020B0500000000000000" charset="-122"/>
              <a:sym typeface="+mn-ea"/>
            </a:endParaRPr>
          </a:p>
        </p:txBody>
      </p:sp>
      <p:sp>
        <p:nvSpPr>
          <p:cNvPr id="26" name="平行四边形 25"/>
          <p:cNvSpPr/>
          <p:nvPr>
            <p:custDataLst>
              <p:tags r:id="rId30"/>
            </p:custDataLst>
          </p:nvPr>
        </p:nvSpPr>
        <p:spPr>
          <a:xfrm>
            <a:off x="5080000" y="4344670"/>
            <a:ext cx="3434715" cy="956945"/>
          </a:xfrm>
          <a:prstGeom prst="parallelogram">
            <a:avLst>
              <a:gd name="adj" fmla="val 19751"/>
            </a:avLst>
          </a:prstGeom>
          <a:gradFill>
            <a:gsLst>
              <a:gs pos="0">
                <a:srgbClr val="966EE0">
                  <a:lumMod val="20000"/>
                  <a:lumOff val="80000"/>
                  <a:alpha val="2000"/>
                </a:srgbClr>
              </a:gs>
              <a:gs pos="100000">
                <a:srgbClr val="966EE0">
                  <a:lumMod val="20000"/>
                  <a:lumOff val="80000"/>
                </a:srgbClr>
              </a:gs>
            </a:gsLst>
            <a:lin ang="10800000" scaled="0"/>
          </a:gradFill>
          <a:ln>
            <a:noFill/>
          </a:ln>
        </p:spPr>
        <p:style>
          <a:lnRef idx="2">
            <a:srgbClr val="7D01AA">
              <a:shade val="50000"/>
            </a:srgbClr>
          </a:lnRef>
          <a:fillRef idx="1">
            <a:srgbClr val="7D01AA"/>
          </a:fillRef>
          <a:effectRef idx="0">
            <a:srgbClr val="7D01AA"/>
          </a:effectRef>
          <a:fontRef idx="minor">
            <a:srgbClr val="FFFFFF"/>
          </a:fontRef>
        </p:style>
        <p:txBody>
          <a:bodyPr rtlCol="0" anchor="ctr"/>
          <a:lstStyle/>
          <a:p>
            <a:pPr algn="ctr"/>
            <a:endParaRPr lang="zh-CN" altLang="en-US" sz="1350">
              <a:solidFill>
                <a:srgbClr val="FFFFFF"/>
              </a:solidFill>
              <a:latin typeface="Arial" panose="020B0604020202020204" pitchFamily="34" charset="0"/>
              <a:ea typeface="微软雅黑" panose="020B0503020204020204" pitchFamily="34" charset="-122"/>
              <a:cs typeface="思源黑体 CN Regular" panose="020B0500000000000000" charset="-122"/>
            </a:endParaRPr>
          </a:p>
        </p:txBody>
      </p:sp>
      <p:sp>
        <p:nvSpPr>
          <p:cNvPr id="31" name="文本框 30"/>
          <p:cNvSpPr txBox="1"/>
          <p:nvPr>
            <p:custDataLst>
              <p:tags r:id="rId31"/>
            </p:custDataLst>
          </p:nvPr>
        </p:nvSpPr>
        <p:spPr>
          <a:xfrm>
            <a:off x="4918710" y="4413250"/>
            <a:ext cx="2545715" cy="746760"/>
          </a:xfrm>
          <a:prstGeom prst="rect">
            <a:avLst/>
          </a:prstGeom>
          <a:noFill/>
        </p:spPr>
        <p:txBody>
          <a:bodyPr wrap="square" rtlCol="0" anchor="t"/>
          <a:lstStyle/>
          <a:p>
            <a:pPr lvl="1" eaLnBrk="1" hangingPunct="1">
              <a:lnSpc>
                <a:spcPct val="110000"/>
              </a:lnSpc>
            </a:pPr>
            <a:r>
              <a:rPr lang="zh-CN" altLang="en-US" sz="1400" dirty="0">
                <a:solidFill>
                  <a:schemeClr val="tx1">
                    <a:lumMod val="75000"/>
                    <a:lumOff val="25000"/>
                  </a:schemeClr>
                </a:solidFill>
                <a:latin typeface="楷体" panose="02010609060101010101" pitchFamily="49" charset="-122"/>
                <a:ea typeface="楷体" panose="02010609060101010101" pitchFamily="49" charset="-122"/>
                <a:cs typeface="楷体" panose="02010609060101010101" pitchFamily="49" charset="-122"/>
                <a:sym typeface="+mn-ea"/>
              </a:rPr>
              <a:t>评估者反应； </a:t>
            </a:r>
          </a:p>
          <a:p>
            <a:pPr lvl="1" eaLnBrk="1" hangingPunct="1">
              <a:lnSpc>
                <a:spcPct val="110000"/>
              </a:lnSpc>
            </a:pPr>
            <a:r>
              <a:rPr lang="zh-CN" altLang="en-US" sz="1400" dirty="0">
                <a:solidFill>
                  <a:schemeClr val="tx1">
                    <a:lumMod val="75000"/>
                    <a:lumOff val="25000"/>
                  </a:schemeClr>
                </a:solidFill>
                <a:latin typeface="楷体" panose="02010609060101010101" pitchFamily="49" charset="-122"/>
                <a:ea typeface="楷体" panose="02010609060101010101" pitchFamily="49" charset="-122"/>
                <a:cs typeface="楷体" panose="02010609060101010101" pitchFamily="49" charset="-122"/>
                <a:sym typeface="+mn-ea"/>
              </a:rPr>
              <a:t>评估者建议 ；</a:t>
            </a:r>
          </a:p>
          <a:p>
            <a:pPr lvl="1" eaLnBrk="1" hangingPunct="1">
              <a:lnSpc>
                <a:spcPct val="110000"/>
              </a:lnSpc>
            </a:pPr>
            <a:r>
              <a:rPr lang="zh-CN" altLang="en-US" sz="1400" dirty="0">
                <a:solidFill>
                  <a:schemeClr val="tx1">
                    <a:lumMod val="75000"/>
                    <a:lumOff val="25000"/>
                  </a:schemeClr>
                </a:solidFill>
                <a:latin typeface="楷体" panose="02010609060101010101" pitchFamily="49" charset="-122"/>
                <a:ea typeface="楷体" panose="02010609060101010101" pitchFamily="49" charset="-122"/>
                <a:cs typeface="楷体" panose="02010609060101010101" pitchFamily="49" charset="-122"/>
                <a:sym typeface="+mn-ea"/>
              </a:rPr>
              <a:t>创新思想。</a:t>
            </a:r>
            <a:endParaRPr lang="zh-CN" altLang="en-US" sz="1400" spc="150" dirty="0">
              <a:solidFill>
                <a:schemeClr val="tx1">
                  <a:lumMod val="75000"/>
                  <a:lumOff val="25000"/>
                </a:schemeClr>
              </a:solidFill>
              <a:effectLst/>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72" name="文本框 71"/>
          <p:cNvSpPr txBox="1"/>
          <p:nvPr>
            <p:custDataLst>
              <p:tags r:id="rId32"/>
            </p:custDataLst>
          </p:nvPr>
        </p:nvSpPr>
        <p:spPr>
          <a:xfrm>
            <a:off x="7464243" y="4113127"/>
            <a:ext cx="509420" cy="300357"/>
          </a:xfrm>
          <a:prstGeom prst="rect">
            <a:avLst/>
          </a:prstGeom>
          <a:noFill/>
        </p:spPr>
        <p:txBody>
          <a:bodyPr wrap="square" rtlCol="0" anchor="ctr" anchorCtr="0"/>
          <a:lstStyle/>
          <a:p>
            <a:pPr algn="ctr"/>
            <a:r>
              <a:rPr lang="en-US" altLang="zh-CN" sz="1600" b="1">
                <a:ln>
                  <a:noFill/>
                </a:ln>
                <a:gradFill>
                  <a:gsLst>
                    <a:gs pos="15000">
                      <a:srgbClr val="7D01AA"/>
                    </a:gs>
                    <a:gs pos="100000">
                      <a:srgbClr val="7D01AA">
                        <a:lumMod val="20000"/>
                        <a:lumOff val="80000"/>
                        <a:alpha val="50000"/>
                      </a:srgbClr>
                    </a:gs>
                  </a:gsLst>
                  <a:lin ang="5400000" scaled="0"/>
                </a:gradFill>
                <a:latin typeface="思源黑体 CN Bold" panose="020B0800000000000000" charset="-122"/>
                <a:ea typeface="思源黑体 CN Bold" panose="020B0800000000000000" charset="-122"/>
                <a:cs typeface="思源黑体 CN Regular" panose="020B0500000000000000" charset="-122"/>
                <a:sym typeface="微软雅黑" panose="020B0503020204020204" pitchFamily="34" charset="-122"/>
              </a:rPr>
              <a:t>05</a:t>
            </a:r>
          </a:p>
        </p:txBody>
      </p:sp>
      <p:cxnSp>
        <p:nvCxnSpPr>
          <p:cNvPr id="73" name="直接箭头连接符 72"/>
          <p:cNvCxnSpPr/>
          <p:nvPr>
            <p:custDataLst>
              <p:tags r:id="rId33"/>
            </p:custDataLst>
          </p:nvPr>
        </p:nvCxnSpPr>
        <p:spPr>
          <a:xfrm>
            <a:off x="7099234" y="4278188"/>
            <a:ext cx="365176" cy="0"/>
          </a:xfrm>
          <a:prstGeom prst="straightConnector1">
            <a:avLst/>
          </a:prstGeom>
          <a:ln>
            <a:solidFill>
              <a:srgbClr val="7D01AA">
                <a:alpha val="20000"/>
              </a:srgbClr>
            </a:solidFill>
            <a:tailEnd type="stealth"/>
          </a:ln>
        </p:spPr>
        <p:style>
          <a:lnRef idx="1">
            <a:srgbClr val="7D01AA"/>
          </a:lnRef>
          <a:fillRef idx="0">
            <a:srgbClr val="7D01AA"/>
          </a:fillRef>
          <a:effectRef idx="0">
            <a:srgbClr val="7D01AA"/>
          </a:effectRef>
          <a:fontRef idx="minor">
            <a:srgbClr val="000000"/>
          </a:fontRef>
        </p:style>
      </p:cxnSp>
      <p:sp>
        <p:nvSpPr>
          <p:cNvPr id="74" name="平行四边形 73"/>
          <p:cNvSpPr/>
          <p:nvPr>
            <p:custDataLst>
              <p:tags r:id="rId34"/>
            </p:custDataLst>
          </p:nvPr>
        </p:nvSpPr>
        <p:spPr>
          <a:xfrm>
            <a:off x="5449069" y="4148207"/>
            <a:ext cx="1716325" cy="212258"/>
          </a:xfrm>
          <a:prstGeom prst="parallelogram">
            <a:avLst/>
          </a:prstGeom>
          <a:solidFill>
            <a:srgbClr val="966EE0">
              <a:lumMod val="20000"/>
              <a:lumOff val="80000"/>
            </a:srgbClr>
          </a:solidFill>
          <a:ln>
            <a:noFill/>
          </a:ln>
        </p:spPr>
        <p:style>
          <a:lnRef idx="2">
            <a:srgbClr val="7D01AA">
              <a:shade val="50000"/>
            </a:srgbClr>
          </a:lnRef>
          <a:fillRef idx="1">
            <a:srgbClr val="7D01AA"/>
          </a:fillRef>
          <a:effectRef idx="0">
            <a:srgbClr val="7D01AA"/>
          </a:effectRef>
          <a:fontRef idx="minor">
            <a:srgbClr val="FFFFFF"/>
          </a:fontRef>
        </p:style>
        <p:txBody>
          <a:bodyPr rtlCol="0" anchor="ctr"/>
          <a:lstStyle/>
          <a:p>
            <a:pPr algn="ctr"/>
            <a:endParaRPr lang="zh-CN" altLang="en-US" sz="1350">
              <a:solidFill>
                <a:srgbClr val="FFFFFF"/>
              </a:solidFill>
              <a:latin typeface="Arial" panose="020B0604020202020204" pitchFamily="34" charset="0"/>
              <a:ea typeface="微软雅黑" panose="020B0503020204020204" pitchFamily="34" charset="-122"/>
              <a:cs typeface="思源黑体 CN Regular" panose="020B0500000000000000" charset="-122"/>
            </a:endParaRPr>
          </a:p>
        </p:txBody>
      </p:sp>
      <p:sp>
        <p:nvSpPr>
          <p:cNvPr id="32" name="平行四边形 31"/>
          <p:cNvSpPr/>
          <p:nvPr>
            <p:custDataLst>
              <p:tags r:id="rId35"/>
            </p:custDataLst>
          </p:nvPr>
        </p:nvSpPr>
        <p:spPr>
          <a:xfrm>
            <a:off x="5281585" y="4002393"/>
            <a:ext cx="1793468" cy="360611"/>
          </a:xfrm>
          <a:prstGeom prst="parallelogram">
            <a:avLst/>
          </a:prstGeom>
          <a:solidFill>
            <a:srgbClr val="966EE0"/>
          </a:solidFill>
          <a:ln>
            <a:noFill/>
          </a:ln>
        </p:spPr>
        <p:style>
          <a:lnRef idx="2">
            <a:srgbClr val="7D01AA">
              <a:shade val="50000"/>
            </a:srgbClr>
          </a:lnRef>
          <a:fillRef idx="1">
            <a:srgbClr val="7D01AA"/>
          </a:fillRef>
          <a:effectRef idx="0">
            <a:srgbClr val="7D01AA"/>
          </a:effectRef>
          <a:fontRef idx="minor">
            <a:srgbClr val="FFFFFF"/>
          </a:fontRef>
        </p:style>
        <p:txBody>
          <a:bodyPr rtlCol="0" anchor="ctr"/>
          <a:lstStyle/>
          <a:p>
            <a:pPr algn="ctr"/>
            <a:endParaRPr lang="zh-CN" altLang="en-US" sz="1350">
              <a:solidFill>
                <a:srgbClr val="FFFFFF"/>
              </a:solidFill>
              <a:latin typeface="Arial" panose="020B0604020202020204" pitchFamily="34" charset="0"/>
              <a:ea typeface="微软雅黑" panose="020B0503020204020204" pitchFamily="34" charset="-122"/>
              <a:cs typeface="思源黑体 CN Regular" panose="020B0500000000000000" charset="-122"/>
            </a:endParaRPr>
          </a:p>
        </p:txBody>
      </p:sp>
      <p:sp>
        <p:nvSpPr>
          <p:cNvPr id="34" name="文本框 33"/>
          <p:cNvSpPr txBox="1"/>
          <p:nvPr>
            <p:custDataLst>
              <p:tags r:id="rId36"/>
            </p:custDataLst>
          </p:nvPr>
        </p:nvSpPr>
        <p:spPr>
          <a:xfrm>
            <a:off x="5281085" y="4017001"/>
            <a:ext cx="1685247" cy="280875"/>
          </a:xfrm>
          <a:prstGeom prst="rect">
            <a:avLst/>
          </a:prstGeom>
          <a:noFill/>
        </p:spPr>
        <p:txBody>
          <a:bodyPr wrap="square" bIns="0" rtlCol="0" anchor="ctr" anchorCtr="0">
            <a:noAutofit/>
          </a:bodyPr>
          <a:lstStyle/>
          <a:p>
            <a:pPr algn="l"/>
            <a:r>
              <a:rPr kumimoji="1" lang="zh-CN" altLang="en-US" sz="1400" dirty="0">
                <a:solidFill>
                  <a:schemeClr val="bg1"/>
                </a:solidFill>
                <a:latin typeface="楷体" panose="02010609060101010101" pitchFamily="49" charset="-122"/>
                <a:ea typeface="楷体" panose="02010609060101010101" pitchFamily="49" charset="-122"/>
                <a:sym typeface="+mn-ea"/>
              </a:rPr>
              <a:t>收集评估者的反馈</a:t>
            </a:r>
            <a:endParaRPr kumimoji="1" lang="zh-CN" altLang="en-US" sz="1400" spc="300" dirty="0">
              <a:solidFill>
                <a:schemeClr val="bg1"/>
              </a:solidFill>
              <a:uFillTx/>
              <a:latin typeface="楷体" panose="02010609060101010101" pitchFamily="49" charset="-122"/>
              <a:ea typeface="楷体" panose="02010609060101010101" pitchFamily="49" charset="-122"/>
              <a:cs typeface="思源黑体 CN Regular" panose="020B0500000000000000" charset="-122"/>
              <a:sym typeface="+mn-e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原型修正</a:t>
            </a:r>
          </a:p>
        </p:txBody>
      </p:sp>
      <p:sp>
        <p:nvSpPr>
          <p:cNvPr id="3" name="内容占位符 2"/>
          <p:cNvSpPr txBox="1"/>
          <p:nvPr>
            <p:custDataLst>
              <p:tags r:id="rId1"/>
            </p:custDataLst>
          </p:nvPr>
        </p:nvSpPr>
        <p:spPr>
          <a:xfrm>
            <a:off x="628650" y="2566035"/>
            <a:ext cx="7886700" cy="359219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00000"/>
              </a:lnSpc>
              <a:buFont typeface="Wingdings" panose="05000000000000000000" charset="0"/>
              <a:buChar char=""/>
            </a:pPr>
            <a:r>
              <a:rPr kumimoji="1" lang="zh-CN" altLang="en-US" sz="2400" dirty="0">
                <a:latin typeface="楷体" panose="02010609060101010101" pitchFamily="49" charset="-122"/>
                <a:ea typeface="楷体" panose="02010609060101010101" pitchFamily="49" charset="-122"/>
              </a:rPr>
              <a:t>原型方法适宜于探索和验证需求</a:t>
            </a:r>
          </a:p>
          <a:p>
            <a:pPr lvl="1" eaLnBrk="1" hangingPunct="1">
              <a:lnSpc>
                <a:spcPct val="100000"/>
              </a:lnSpc>
            </a:pPr>
            <a:r>
              <a:rPr kumimoji="1" lang="zh-CN" altLang="en-US" sz="2000" dirty="0">
                <a:latin typeface="楷体" panose="02010609060101010101" pitchFamily="49" charset="-122"/>
                <a:ea typeface="楷体" panose="02010609060101010101" pitchFamily="49" charset="-122"/>
              </a:rPr>
              <a:t>一方面是因为原型能够让用户较早的感受到系统功能并</a:t>
            </a:r>
            <a:r>
              <a:rPr kumimoji="1" lang="zh-CN" altLang="en-US" sz="2000" b="1" dirty="0">
                <a:solidFill>
                  <a:srgbClr val="88057A"/>
                </a:solidFill>
                <a:latin typeface="楷体" panose="02010609060101010101" pitchFamily="49" charset="-122"/>
                <a:ea typeface="楷体" panose="02010609060101010101" pitchFamily="49" charset="-122"/>
              </a:rPr>
              <a:t>及时提出反馈</a:t>
            </a:r>
          </a:p>
          <a:p>
            <a:pPr lvl="1" eaLnBrk="1" hangingPunct="1">
              <a:lnSpc>
                <a:spcPct val="100000"/>
              </a:lnSpc>
            </a:pPr>
            <a:r>
              <a:rPr kumimoji="1" lang="zh-CN" altLang="en-US" sz="2000" dirty="0">
                <a:latin typeface="楷体" panose="02010609060101010101" pitchFamily="49" charset="-122"/>
                <a:ea typeface="楷体" panose="02010609060101010101" pitchFamily="49" charset="-122"/>
              </a:rPr>
              <a:t>另一方面是因为原型方法能够根据评估者的反馈</a:t>
            </a:r>
            <a:r>
              <a:rPr kumimoji="1" lang="zh-CN" altLang="en-US" sz="2000" b="1" dirty="0">
                <a:solidFill>
                  <a:srgbClr val="88057A"/>
                </a:solidFill>
                <a:latin typeface="楷体" panose="02010609060101010101" pitchFamily="49" charset="-122"/>
                <a:ea typeface="楷体" panose="02010609060101010101" pitchFamily="49" charset="-122"/>
              </a:rPr>
              <a:t>迅速调整</a:t>
            </a:r>
            <a:r>
              <a:rPr kumimoji="1" lang="zh-CN" altLang="en-US" sz="2000" dirty="0">
                <a:latin typeface="楷体" panose="02010609060101010101" pitchFamily="49" charset="-122"/>
                <a:ea typeface="楷体" panose="02010609060101010101" pitchFamily="49" charset="-122"/>
              </a:rPr>
              <a:t>错误的或不完善的想法，并在连续的反馈和调整之中逐步接近正确的和完善的需求</a:t>
            </a:r>
          </a:p>
          <a:p>
            <a:pPr eaLnBrk="1" hangingPunct="1">
              <a:lnSpc>
                <a:spcPct val="100000"/>
              </a:lnSpc>
              <a:buFont typeface="Wingdings" panose="05000000000000000000" charset="0"/>
              <a:buChar char=""/>
            </a:pPr>
            <a:r>
              <a:rPr kumimoji="1" lang="zh-CN" altLang="en-US" sz="2400" dirty="0">
                <a:latin typeface="楷体" panose="02010609060101010101" pitchFamily="49" charset="-122"/>
                <a:ea typeface="楷体" panose="02010609060101010101" pitchFamily="49" charset="-122"/>
              </a:rPr>
              <a:t>原型修正</a:t>
            </a:r>
          </a:p>
          <a:p>
            <a:pPr lvl="1" eaLnBrk="1" hangingPunct="1">
              <a:lnSpc>
                <a:spcPct val="100000"/>
              </a:lnSpc>
            </a:pPr>
            <a:r>
              <a:rPr kumimoji="1" lang="zh-CN" altLang="en-US" sz="2000" dirty="0">
                <a:latin typeface="楷体" panose="02010609060101010101" pitchFamily="49" charset="-122"/>
                <a:ea typeface="楷体" panose="02010609060101010101" pitchFamily="49" charset="-122"/>
              </a:rPr>
              <a:t>一方面要依据</a:t>
            </a:r>
            <a:r>
              <a:rPr kumimoji="1" lang="zh-CN" altLang="en-US" sz="2000" b="1" dirty="0">
                <a:solidFill>
                  <a:srgbClr val="88057A"/>
                </a:solidFill>
                <a:latin typeface="楷体" panose="02010609060101010101" pitchFamily="49" charset="-122"/>
                <a:ea typeface="楷体" panose="02010609060101010101" pitchFamily="49" charset="-122"/>
              </a:rPr>
              <a:t>评估人员</a:t>
            </a:r>
            <a:r>
              <a:rPr kumimoji="1" lang="zh-CN" altLang="en-US" sz="2000" dirty="0">
                <a:latin typeface="楷体" panose="02010609060101010101" pitchFamily="49" charset="-122"/>
                <a:ea typeface="楷体" panose="02010609060101010101" pitchFamily="49" charset="-122"/>
              </a:rPr>
              <a:t>的反馈</a:t>
            </a:r>
          </a:p>
          <a:p>
            <a:pPr lvl="1" eaLnBrk="1" hangingPunct="1">
              <a:lnSpc>
                <a:spcPct val="100000"/>
              </a:lnSpc>
            </a:pPr>
            <a:r>
              <a:rPr kumimoji="1" lang="zh-CN" altLang="en-US" sz="2000" dirty="0">
                <a:latin typeface="楷体" panose="02010609060101010101" pitchFamily="49" charset="-122"/>
                <a:ea typeface="楷体" panose="02010609060101010101" pitchFamily="49" charset="-122"/>
              </a:rPr>
              <a:t>另一方面也要考虑事先的</a:t>
            </a:r>
            <a:r>
              <a:rPr kumimoji="1" lang="zh-CN" altLang="en-US" sz="2000" b="1" dirty="0">
                <a:solidFill>
                  <a:srgbClr val="88057A"/>
                </a:solidFill>
                <a:latin typeface="楷体" panose="02010609060101010101" pitchFamily="49" charset="-122"/>
                <a:ea typeface="楷体" panose="02010609060101010101" pitchFamily="49" charset="-122"/>
              </a:rPr>
              <a:t>原型调整计划</a:t>
            </a:r>
            <a:endParaRPr kumimoji="1" lang="zh-CN" altLang="en-US" sz="2000" dirty="0">
              <a:latin typeface="楷体" panose="02010609060101010101" pitchFamily="49" charset="-122"/>
              <a:ea typeface="楷体" panose="02010609060101010101" pitchFamily="49" charset="-122"/>
            </a:endParaRPr>
          </a:p>
        </p:txBody>
      </p:sp>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原型</a:t>
            </a:r>
          </a:p>
        </p:txBody>
      </p:sp>
      <p:sp>
        <p:nvSpPr>
          <p:cNvPr id="5" name="文本框 4"/>
          <p:cNvSpPr txBox="1"/>
          <p:nvPr>
            <p:custDataLst>
              <p:tags r:id="rId2"/>
            </p:custDataLst>
          </p:nvPr>
        </p:nvSpPr>
        <p:spPr>
          <a:xfrm>
            <a:off x="713740" y="1251585"/>
            <a:ext cx="7531100" cy="1142365"/>
          </a:xfrm>
          <a:prstGeom prst="rect">
            <a:avLst/>
          </a:prstGeom>
          <a:solidFill>
            <a:schemeClr val="tx2">
              <a:lumMod val="20000"/>
              <a:lumOff val="80000"/>
            </a:schemeClr>
          </a:solidFill>
        </p:spPr>
        <p:txBody>
          <a:bodyPr wrap="square" rtlCol="0" anchor="ctr" anchorCtr="0">
            <a:noAutofit/>
          </a:bodyPr>
          <a:lstStyle/>
          <a:p>
            <a:pPr>
              <a:lnSpc>
                <a:spcPct val="100000"/>
              </a:lnSpc>
            </a:pPr>
            <a:r>
              <a:rPr kumimoji="1" lang="en-US" altLang="zh-CN" sz="2000" dirty="0">
                <a:latin typeface="楷体" panose="02010609060101010101" pitchFamily="49" charset="-122"/>
                <a:ea typeface="楷体" panose="02010609060101010101" pitchFamily="49" charset="-122"/>
                <a:sym typeface="+mn-ea"/>
              </a:rPr>
              <a:t>如果已经建立的原型达到了目的，就结束原型方法过程。否则根据评估者反馈的不足，进行原型调整，调整完成后准备再次进行原型评估。</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Times Regular" panose="00000500000000020000" charset="0"/>
                <a:ea typeface="微软雅黑" panose="020B0503020204020204" pitchFamily="34" charset="-122"/>
              </a:rPr>
              <a:t>原型开发方法的三种类型</a:t>
            </a:r>
          </a:p>
        </p:txBody>
      </p:sp>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Times Regular" panose="00000500000000020000" charset="0"/>
                <a:ea typeface="楷体" panose="02010609060101010101" pitchFamily="49" charset="-122"/>
              </a:rPr>
              <a:t>原型</a:t>
            </a:r>
          </a:p>
        </p:txBody>
      </p:sp>
      <p:grpSp>
        <p:nvGrpSpPr>
          <p:cNvPr id="4" name="组合 3"/>
          <p:cNvGrpSpPr/>
          <p:nvPr/>
        </p:nvGrpSpPr>
        <p:grpSpPr>
          <a:xfrm>
            <a:off x="628650" y="1251585"/>
            <a:ext cx="7963535" cy="1369695"/>
            <a:chOff x="926" y="5232"/>
            <a:chExt cx="12541" cy="2157"/>
          </a:xfrm>
        </p:grpSpPr>
        <p:sp>
          <p:nvSpPr>
            <p:cNvPr id="5" name="文本框 4"/>
            <p:cNvSpPr txBox="1"/>
            <p:nvPr>
              <p:custDataLst>
                <p:tags r:id="rId5"/>
              </p:custDataLst>
            </p:nvPr>
          </p:nvSpPr>
          <p:spPr>
            <a:xfrm>
              <a:off x="1135" y="5828"/>
              <a:ext cx="12332" cy="1561"/>
            </a:xfrm>
            <a:prstGeom prst="rect">
              <a:avLst/>
            </a:prstGeom>
            <a:noFill/>
            <a:ln w="15875" cmpd="sng">
              <a:solidFill>
                <a:srgbClr val="472680"/>
              </a:solidFill>
              <a:prstDash val="lgDashDot"/>
            </a:ln>
          </p:spPr>
          <p:txBody>
            <a:bodyPr wrap="square" rtlCol="0" anchor="t">
              <a:noAutofit/>
            </a:bodyPr>
            <a:lstStyle/>
            <a:p>
              <a:pPr>
                <a:lnSpc>
                  <a:spcPct val="110000"/>
                </a:lnSpc>
              </a:pPr>
              <a:endParaRPr lang="zh-CN" altLang="en-US" sz="1600" dirty="0">
                <a:latin typeface="Times Regular" panose="00000500000000020000" charset="0"/>
                <a:ea typeface="楷体" panose="02010609060101010101" pitchFamily="49" charset="-122"/>
                <a:cs typeface="Times Regular" panose="00000500000000020000" charset="0"/>
              </a:endParaRPr>
            </a:p>
            <a:p>
              <a:pPr marL="285750" indent="-285750">
                <a:lnSpc>
                  <a:spcPct val="110000"/>
                </a:lnSpc>
                <a:buFont typeface="Arial" panose="020B0604020202020204" pitchFamily="34" charset="0"/>
                <a:buChar char="•"/>
              </a:pPr>
              <a:r>
                <a:rPr lang="zh-CN" altLang="en-US" sz="1600" dirty="0">
                  <a:latin typeface="Times Regular" panose="00000500000000020000" charset="0"/>
                  <a:ea typeface="楷体" panose="02010609060101010101" pitchFamily="49" charset="-122"/>
                  <a:cs typeface="Times Regular" panose="00000500000000020000" charset="0"/>
                </a:rPr>
                <a:t>以</a:t>
              </a:r>
              <a:r>
                <a:rPr lang="zh-CN" altLang="en-US" sz="1600" b="1" dirty="0">
                  <a:solidFill>
                    <a:srgbClr val="88057A"/>
                  </a:solidFill>
                  <a:latin typeface="Times Regular" panose="00000500000000020000" charset="0"/>
                  <a:ea typeface="楷体" panose="02010609060101010101" pitchFamily="49" charset="-122"/>
                  <a:cs typeface="Times Regular" panose="00000500000000020000" charset="0"/>
                </a:rPr>
                <a:t>缺陷需求</a:t>
              </a:r>
              <a:r>
                <a:rPr lang="zh-CN" altLang="en-US" sz="1600" dirty="0">
                  <a:latin typeface="Times Regular" panose="00000500000000020000" charset="0"/>
                  <a:ea typeface="楷体" panose="02010609060101010101" pitchFamily="49" charset="-122"/>
                  <a:cs typeface="Times Regular" panose="00000500000000020000" charset="0"/>
                </a:rPr>
                <a:t>开始继而不断调整和修正需求的原型开发方式称为探索式 </a:t>
              </a:r>
            </a:p>
            <a:p>
              <a:pPr marL="285750" indent="-285750">
                <a:lnSpc>
                  <a:spcPct val="110000"/>
                </a:lnSpc>
                <a:buFont typeface="Arial" panose="020B0604020202020204" pitchFamily="34" charset="0"/>
                <a:buChar char="•"/>
              </a:pPr>
              <a:r>
                <a:rPr lang="zh-CN" altLang="en-US" sz="1600" dirty="0">
                  <a:latin typeface="Times Regular" panose="00000500000000020000" charset="0"/>
                  <a:ea typeface="楷体" panose="02010609060101010101" pitchFamily="49" charset="-122"/>
                  <a:cs typeface="Times Regular" panose="00000500000000020000" charset="0"/>
                </a:rPr>
                <a:t>要尽可能的调整各种设计选项 </a:t>
              </a:r>
            </a:p>
          </p:txBody>
        </p:sp>
        <p:sp>
          <p:nvSpPr>
            <p:cNvPr id="15" name="对角圆角矩形 14"/>
            <p:cNvSpPr/>
            <p:nvPr>
              <p:custDataLst>
                <p:tags r:id="rId6"/>
              </p:custDataLst>
            </p:nvPr>
          </p:nvSpPr>
          <p:spPr>
            <a:xfrm>
              <a:off x="926" y="5232"/>
              <a:ext cx="2915" cy="884"/>
            </a:xfrm>
            <a:prstGeom prst="round2DiagRect">
              <a:avLst/>
            </a:prstGeom>
            <a:solidFill>
              <a:srgbClr val="47268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a:latin typeface="Times Regular" panose="00000500000000020000" charset="0"/>
                  <a:ea typeface="楷体" panose="02010609060101010101" pitchFamily="49" charset="-122"/>
                  <a:cs typeface="Times Regular" panose="00000500000000020000" charset="0"/>
                </a:rPr>
                <a:t>探索式（exploratory）</a:t>
              </a:r>
            </a:p>
          </p:txBody>
        </p:sp>
      </p:grpSp>
      <p:grpSp>
        <p:nvGrpSpPr>
          <p:cNvPr id="8" name="组合 7"/>
          <p:cNvGrpSpPr/>
          <p:nvPr/>
        </p:nvGrpSpPr>
        <p:grpSpPr>
          <a:xfrm>
            <a:off x="628650" y="2906395"/>
            <a:ext cx="7963535" cy="1458595"/>
            <a:chOff x="926" y="5232"/>
            <a:chExt cx="12541" cy="2297"/>
          </a:xfrm>
        </p:grpSpPr>
        <p:sp>
          <p:nvSpPr>
            <p:cNvPr id="9" name="文本框 8"/>
            <p:cNvSpPr txBox="1"/>
            <p:nvPr>
              <p:custDataLst>
                <p:tags r:id="rId3"/>
              </p:custDataLst>
            </p:nvPr>
          </p:nvSpPr>
          <p:spPr>
            <a:xfrm>
              <a:off x="1135" y="5828"/>
              <a:ext cx="12332" cy="1701"/>
            </a:xfrm>
            <a:prstGeom prst="rect">
              <a:avLst/>
            </a:prstGeom>
            <a:noFill/>
            <a:ln w="15875" cmpd="sng">
              <a:solidFill>
                <a:srgbClr val="472680"/>
              </a:solidFill>
              <a:prstDash val="lgDashDot"/>
            </a:ln>
          </p:spPr>
          <p:txBody>
            <a:bodyPr wrap="square" rtlCol="0" anchor="t">
              <a:noAutofit/>
            </a:bodyPr>
            <a:lstStyle/>
            <a:p>
              <a:pPr marL="285750" indent="-285750">
                <a:lnSpc>
                  <a:spcPct val="100000"/>
                </a:lnSpc>
                <a:buFont typeface="Arial" panose="020B0604020202020204" pitchFamily="34" charset="0"/>
                <a:buChar char="•"/>
              </a:pPr>
              <a:endParaRPr lang="zh-CN" altLang="en-US" sz="1600" dirty="0">
                <a:latin typeface="Times Regular" panose="00000500000000020000" charset="0"/>
                <a:ea typeface="楷体" panose="02010609060101010101" pitchFamily="49" charset="-122"/>
                <a:cs typeface="Times Regular" panose="00000500000000020000" charset="0"/>
              </a:endParaRPr>
            </a:p>
            <a:p>
              <a:pPr marL="285750" indent="-285750">
                <a:lnSpc>
                  <a:spcPct val="100000"/>
                </a:lnSpc>
                <a:buFont typeface="Arial" panose="020B0604020202020204" pitchFamily="34" charset="0"/>
                <a:buChar char="•"/>
              </a:pPr>
              <a:r>
                <a:rPr lang="zh-CN" altLang="en-US" sz="1600" dirty="0">
                  <a:latin typeface="Times Regular" panose="00000500000000020000" charset="0"/>
                  <a:ea typeface="楷体" panose="02010609060101010101" pitchFamily="49" charset="-122"/>
                  <a:cs typeface="Times Regular" panose="00000500000000020000" charset="0"/>
                </a:rPr>
                <a:t>以</a:t>
              </a:r>
              <a:r>
                <a:rPr lang="zh-CN" altLang="en-US" sz="1600" b="1" dirty="0">
                  <a:solidFill>
                    <a:srgbClr val="88057A"/>
                  </a:solidFill>
                  <a:latin typeface="Times Regular" panose="00000500000000020000" charset="0"/>
                  <a:ea typeface="楷体" panose="02010609060101010101" pitchFamily="49" charset="-122"/>
                  <a:cs typeface="Times Regular" panose="00000500000000020000" charset="0"/>
                </a:rPr>
                <a:t>清晰的用户需求和模糊的实现方法、实现效果、可行性</a:t>
              </a:r>
              <a:r>
                <a:rPr lang="zh-CN" altLang="en-US" sz="1600" dirty="0">
                  <a:latin typeface="Times Regular" panose="00000500000000020000" charset="0"/>
                  <a:ea typeface="楷体" panose="02010609060101010101" pitchFamily="49" charset="-122"/>
                  <a:cs typeface="Times Regular" panose="00000500000000020000" charset="0"/>
                </a:rPr>
                <a:t>开始，明确需求的可行性和技术实现方案 </a:t>
              </a:r>
            </a:p>
            <a:p>
              <a:pPr marL="285750" indent="-285750">
                <a:lnSpc>
                  <a:spcPct val="100000"/>
                </a:lnSpc>
                <a:buFont typeface="Arial" panose="020B0604020202020204" pitchFamily="34" charset="0"/>
                <a:buChar char="•"/>
              </a:pPr>
              <a:r>
                <a:rPr lang="zh-CN" altLang="en-US" sz="1600" dirty="0">
                  <a:latin typeface="Times Regular" panose="00000500000000020000" charset="0"/>
                  <a:ea typeface="楷体" panose="02010609060101010101" pitchFamily="49" charset="-122"/>
                  <a:cs typeface="Times Regular" panose="00000500000000020000" charset="0"/>
                </a:rPr>
                <a:t>定义一个对原型的评估方法，确定评估的属性 </a:t>
              </a:r>
            </a:p>
          </p:txBody>
        </p:sp>
        <p:sp>
          <p:nvSpPr>
            <p:cNvPr id="10" name="对角圆角矩形 9"/>
            <p:cNvSpPr/>
            <p:nvPr>
              <p:custDataLst>
                <p:tags r:id="rId4"/>
              </p:custDataLst>
            </p:nvPr>
          </p:nvSpPr>
          <p:spPr>
            <a:xfrm>
              <a:off x="926" y="5232"/>
              <a:ext cx="2915" cy="884"/>
            </a:xfrm>
            <a:prstGeom prst="round2DiagRect">
              <a:avLst/>
            </a:prstGeom>
            <a:solidFill>
              <a:srgbClr val="47268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a:latin typeface="Times Regular" panose="00000500000000020000" charset="0"/>
                  <a:ea typeface="楷体" panose="02010609060101010101" pitchFamily="49" charset="-122"/>
                  <a:cs typeface="Times Regular" panose="00000500000000020000" charset="0"/>
                </a:rPr>
                <a:t>实验式（experimental）</a:t>
              </a:r>
            </a:p>
          </p:txBody>
        </p:sp>
      </p:grpSp>
      <p:grpSp>
        <p:nvGrpSpPr>
          <p:cNvPr id="11" name="组合 10"/>
          <p:cNvGrpSpPr/>
          <p:nvPr/>
        </p:nvGrpSpPr>
        <p:grpSpPr>
          <a:xfrm>
            <a:off x="628650" y="4631055"/>
            <a:ext cx="7963535" cy="1369695"/>
            <a:chOff x="926" y="5232"/>
            <a:chExt cx="12541" cy="2157"/>
          </a:xfrm>
        </p:grpSpPr>
        <p:sp>
          <p:nvSpPr>
            <p:cNvPr id="12" name="文本框 11"/>
            <p:cNvSpPr txBox="1"/>
            <p:nvPr>
              <p:custDataLst>
                <p:tags r:id="rId1"/>
              </p:custDataLst>
            </p:nvPr>
          </p:nvSpPr>
          <p:spPr>
            <a:xfrm>
              <a:off x="1135" y="5828"/>
              <a:ext cx="12332" cy="1561"/>
            </a:xfrm>
            <a:prstGeom prst="rect">
              <a:avLst/>
            </a:prstGeom>
            <a:noFill/>
            <a:ln w="15875" cmpd="sng">
              <a:solidFill>
                <a:srgbClr val="472680"/>
              </a:solidFill>
              <a:prstDash val="lgDashDot"/>
            </a:ln>
          </p:spPr>
          <p:txBody>
            <a:bodyPr wrap="square" rtlCol="0" anchor="t">
              <a:noAutofit/>
            </a:bodyPr>
            <a:lstStyle/>
            <a:p>
              <a:endParaRPr lang="zh-CN" altLang="en-US" sz="1600" dirty="0">
                <a:latin typeface="Times Regular" panose="00000500000000020000" charset="0"/>
                <a:ea typeface="楷体" panose="02010609060101010101" pitchFamily="49" charset="-122"/>
                <a:cs typeface="楷体" panose="02010609060101010101" pitchFamily="49" charset="-122"/>
              </a:endParaRPr>
            </a:p>
            <a:p>
              <a:pPr marL="285750" indent="-285750">
                <a:lnSpc>
                  <a:spcPct val="120000"/>
                </a:lnSpc>
                <a:buFont typeface="Arial" panose="020B0604020202020204" pitchFamily="34" charset="0"/>
                <a:buChar char="•"/>
              </a:pPr>
              <a:r>
                <a:rPr lang="zh-CN" altLang="en-US" sz="1600" dirty="0">
                  <a:latin typeface="Times Regular" panose="00000500000000020000" charset="0"/>
                  <a:ea typeface="楷体" panose="02010609060101010101" pitchFamily="49" charset="-122"/>
                  <a:cs typeface="楷体" panose="02010609060101010101" pitchFamily="49" charset="-122"/>
                </a:rPr>
                <a:t>以清晰的</a:t>
              </a:r>
              <a:r>
                <a:rPr lang="zh-CN" altLang="en-US" sz="1600" b="1" dirty="0">
                  <a:solidFill>
                    <a:srgbClr val="88057A"/>
                  </a:solidFill>
                  <a:latin typeface="Times Regular" panose="00000500000000020000" charset="0"/>
                  <a:ea typeface="楷体" panose="02010609060101010101" pitchFamily="49" charset="-122"/>
                  <a:cs typeface="楷体" panose="02010609060101010101" pitchFamily="49" charset="-122"/>
                </a:rPr>
                <a:t>原型化需求</a:t>
              </a:r>
              <a:r>
                <a:rPr lang="zh-CN" altLang="en-US" sz="1600" dirty="0">
                  <a:latin typeface="Times Regular" panose="00000500000000020000" charset="0"/>
                  <a:ea typeface="楷体" panose="02010609060101010101" pitchFamily="49" charset="-122"/>
                  <a:cs typeface="楷体" panose="02010609060101010101" pitchFamily="49" charset="-122"/>
                </a:rPr>
                <a:t>和项目积累下来的</a:t>
              </a:r>
              <a:r>
                <a:rPr lang="zh-CN" altLang="en-US" sz="1600" b="1" dirty="0">
                  <a:solidFill>
                    <a:srgbClr val="88057A"/>
                  </a:solidFill>
                  <a:latin typeface="Times Regular" panose="00000500000000020000" charset="0"/>
                  <a:ea typeface="楷体" panose="02010609060101010101" pitchFamily="49" charset="-122"/>
                  <a:cs typeface="楷体" panose="02010609060101010101" pitchFamily="49" charset="-122"/>
                </a:rPr>
                <a:t>原型资产</a:t>
              </a:r>
              <a:r>
                <a:rPr lang="zh-CN" altLang="en-US" sz="1600" dirty="0">
                  <a:latin typeface="Times Regular" panose="00000500000000020000" charset="0"/>
                  <a:ea typeface="楷体" panose="02010609060101010101" pitchFamily="49" charset="-122"/>
                  <a:cs typeface="楷体" panose="02010609060101010101" pitchFamily="49" charset="-122"/>
                </a:rPr>
                <a:t>为开始</a:t>
              </a:r>
            </a:p>
            <a:p>
              <a:pPr marL="285750" indent="-285750">
                <a:lnSpc>
                  <a:spcPct val="120000"/>
                </a:lnSpc>
                <a:buFont typeface="Arial" panose="020B0604020202020204" pitchFamily="34" charset="0"/>
                <a:buChar char="•"/>
              </a:pPr>
              <a:r>
                <a:rPr lang="zh-CN" altLang="en-US" sz="1600" dirty="0">
                  <a:latin typeface="Times Regular" panose="00000500000000020000" charset="0"/>
                  <a:ea typeface="楷体" panose="02010609060101010101" pitchFamily="49" charset="-122"/>
                  <a:cs typeface="Times New Roman" panose="02020603050405020304" pitchFamily="18" charset="0"/>
                </a:rPr>
                <a:t>被不断传递和不断增强的原型资产将成为最终的软件系统</a:t>
              </a:r>
            </a:p>
          </p:txBody>
        </p:sp>
        <p:sp>
          <p:nvSpPr>
            <p:cNvPr id="13" name="对角圆角矩形 12"/>
            <p:cNvSpPr/>
            <p:nvPr>
              <p:custDataLst>
                <p:tags r:id="rId2"/>
              </p:custDataLst>
            </p:nvPr>
          </p:nvSpPr>
          <p:spPr>
            <a:xfrm>
              <a:off x="926" y="5232"/>
              <a:ext cx="2915" cy="884"/>
            </a:xfrm>
            <a:prstGeom prst="round2DiagRect">
              <a:avLst/>
            </a:prstGeom>
            <a:solidFill>
              <a:srgbClr val="47268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a:latin typeface="Times Regular" panose="00000500000000020000" charset="0"/>
                  <a:ea typeface="楷体" panose="02010609060101010101" pitchFamily="49" charset="-122"/>
                  <a:cs typeface="Times Regular" panose="00000500000000020000" charset="0"/>
                </a:rPr>
                <a:t>演化式（evolutionary） </a:t>
              </a: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抛弃式原型与演化式原型</a:t>
            </a:r>
          </a:p>
        </p:txBody>
      </p:sp>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原型</a:t>
            </a:r>
          </a:p>
        </p:txBody>
      </p:sp>
      <p:sp>
        <p:nvSpPr>
          <p:cNvPr id="3" name="文本框 2"/>
          <p:cNvSpPr txBox="1"/>
          <p:nvPr/>
        </p:nvSpPr>
        <p:spPr>
          <a:xfrm>
            <a:off x="628015" y="1251585"/>
            <a:ext cx="8014970" cy="4802505"/>
          </a:xfrm>
          <a:prstGeom prst="rect">
            <a:avLst/>
          </a:prstGeom>
          <a:noFill/>
        </p:spPr>
        <p:txBody>
          <a:bodyPr wrap="square" rtlCol="0" anchor="t">
            <a:noAutofit/>
          </a:bodyPr>
          <a:lstStyle/>
          <a:p>
            <a:pPr marL="457200" indent="-457200" eaLnBrk="1" hangingPunct="1">
              <a:lnSpc>
                <a:spcPct val="120000"/>
              </a:lnSpc>
              <a:buFont typeface="Wingdings" panose="05000000000000000000" charset="0"/>
              <a:buChar char=""/>
            </a:pPr>
            <a:r>
              <a:rPr lang="zh-CN" altLang="en-US" sz="2600" b="1" dirty="0">
                <a:solidFill>
                  <a:srgbClr val="88057A"/>
                </a:solidFill>
                <a:latin typeface="楷体" panose="02010609060101010101" pitchFamily="49" charset="-122"/>
                <a:ea typeface="楷体" panose="02010609060101010101" pitchFamily="49" charset="-122"/>
                <a:cs typeface="楷体" panose="02010609060101010101" pitchFamily="49" charset="-122"/>
                <a:sym typeface="+mn-ea"/>
              </a:rPr>
              <a:t>探索式和实验式方法</a:t>
            </a:r>
            <a:r>
              <a:rPr lang="zh-CN" altLang="en-US" sz="2600" dirty="0">
                <a:latin typeface="楷体" panose="02010609060101010101" pitchFamily="49" charset="-122"/>
                <a:ea typeface="楷体" panose="02010609060101010101" pitchFamily="49" charset="-122"/>
                <a:cs typeface="楷体" panose="02010609060101010101" pitchFamily="49" charset="-122"/>
                <a:sym typeface="+mn-ea"/>
              </a:rPr>
              <a:t>产生的原型产品被称为抛弃式原型 </a:t>
            </a:r>
            <a:endParaRPr lang="zh-CN" altLang="en-US" sz="2600" dirty="0">
              <a:latin typeface="楷体" panose="02010609060101010101" pitchFamily="49" charset="-122"/>
              <a:ea typeface="楷体" panose="02010609060101010101" pitchFamily="49" charset="-122"/>
              <a:cs typeface="楷体" panose="02010609060101010101" pitchFamily="49" charset="-122"/>
            </a:endParaRPr>
          </a:p>
          <a:p>
            <a:pPr marL="800100" lvl="1" indent="-342900" eaLnBrk="1" hangingPunct="1">
              <a:lnSpc>
                <a:spcPct val="130000"/>
              </a:lnSpc>
              <a:buFont typeface="Arial" panose="020B0604020202020204" pitchFamily="34" charset="0"/>
              <a:buChar char="•"/>
            </a:pPr>
            <a:r>
              <a:rPr lang="zh-CN" altLang="en-US" sz="2000" dirty="0">
                <a:latin typeface="楷体" panose="02010609060101010101" pitchFamily="49" charset="-122"/>
                <a:ea typeface="楷体" panose="02010609060101010101" pitchFamily="49" charset="-122"/>
                <a:cs typeface="楷体" panose="02010609060101010101" pitchFamily="49" charset="-122"/>
                <a:sym typeface="+mn-ea"/>
              </a:rPr>
              <a:t>花费最小的代价，争取最快的速度 </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a:p>
            <a:pPr marL="800100" lvl="1" indent="-342900" eaLnBrk="1" hangingPunct="1">
              <a:lnSpc>
                <a:spcPct val="130000"/>
              </a:lnSpc>
              <a:buFont typeface="Arial" panose="020B0604020202020204" pitchFamily="34" charset="0"/>
              <a:buChar char="•"/>
            </a:pPr>
            <a:r>
              <a:rPr lang="zh-CN" altLang="en-US" sz="2000" dirty="0">
                <a:latin typeface="楷体" panose="02010609060101010101" pitchFamily="49" charset="-122"/>
                <a:ea typeface="楷体" panose="02010609060101010101" pitchFamily="49" charset="-122"/>
                <a:cs typeface="楷体" panose="02010609060101010101" pitchFamily="49" charset="-122"/>
                <a:sym typeface="+mn-ea"/>
              </a:rPr>
              <a:t>可能会使用简易的开发工具和不成熟的构造技术 </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a:p>
            <a:pPr marL="800100" lvl="1" indent="-342900" eaLnBrk="1" hangingPunct="1">
              <a:lnSpc>
                <a:spcPct val="130000"/>
              </a:lnSpc>
              <a:buFont typeface="Arial" panose="020B0604020202020204" pitchFamily="34" charset="0"/>
              <a:buChar char="•"/>
            </a:pPr>
            <a:r>
              <a:rPr lang="zh-CN" altLang="en-US" sz="2000" dirty="0">
                <a:latin typeface="楷体" panose="02010609060101010101" pitchFamily="49" charset="-122"/>
                <a:ea typeface="楷体" panose="02010609060101010101" pitchFamily="49" charset="-122"/>
                <a:cs typeface="楷体" panose="02010609060101010101" pitchFamily="49" charset="-122"/>
                <a:sym typeface="+mn-ea"/>
              </a:rPr>
              <a:t>可能会忽略或简化处理原型目的不相关的功能特征 </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a:p>
            <a:pPr marL="800100" lvl="1" indent="-342900" eaLnBrk="1" hangingPunct="1">
              <a:lnSpc>
                <a:spcPct val="130000"/>
              </a:lnSpc>
              <a:buFont typeface="Arial" panose="020B0604020202020204" pitchFamily="34" charset="0"/>
              <a:buChar char="•"/>
            </a:pPr>
            <a:r>
              <a:rPr lang="zh-CN" altLang="en-US" sz="2000" dirty="0">
                <a:latin typeface="楷体" panose="02010609060101010101" pitchFamily="49" charset="-122"/>
                <a:ea typeface="楷体" panose="02010609060101010101" pitchFamily="49" charset="-122"/>
                <a:cs typeface="楷体" panose="02010609060101010101" pitchFamily="49" charset="-122"/>
                <a:sym typeface="+mn-ea"/>
              </a:rPr>
              <a:t>要坚决的抛弃</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a:p>
            <a:pPr marL="457200" indent="-457200" eaLnBrk="1" hangingPunct="1">
              <a:lnSpc>
                <a:spcPct val="130000"/>
              </a:lnSpc>
              <a:buFont typeface="Wingdings" panose="05000000000000000000" charset="0"/>
              <a:buChar char=""/>
            </a:pPr>
            <a:r>
              <a:rPr lang="zh-CN" altLang="en-US" sz="2600" b="1" dirty="0">
                <a:solidFill>
                  <a:srgbClr val="88057A"/>
                </a:solidFill>
                <a:latin typeface="楷体" panose="02010609060101010101" pitchFamily="49" charset="-122"/>
                <a:ea typeface="楷体" panose="02010609060101010101" pitchFamily="49" charset="-122"/>
                <a:cs typeface="楷体" panose="02010609060101010101" pitchFamily="49" charset="-122"/>
                <a:sym typeface="+mn-ea"/>
              </a:rPr>
              <a:t>演化式原型方法</a:t>
            </a:r>
            <a:r>
              <a:rPr lang="zh-CN" altLang="en-US" sz="2600" dirty="0">
                <a:latin typeface="楷体" panose="02010609060101010101" pitchFamily="49" charset="-122"/>
                <a:ea typeface="楷体" panose="02010609060101010101" pitchFamily="49" charset="-122"/>
                <a:cs typeface="楷体" panose="02010609060101010101" pitchFamily="49" charset="-122"/>
                <a:sym typeface="+mn-ea"/>
              </a:rPr>
              <a:t>产生的原型产品被称为演化式原型 </a:t>
            </a:r>
            <a:endParaRPr lang="zh-CN" altLang="en-US" sz="2600" dirty="0">
              <a:latin typeface="楷体" panose="02010609060101010101" pitchFamily="49" charset="-122"/>
              <a:ea typeface="楷体" panose="02010609060101010101" pitchFamily="49" charset="-122"/>
              <a:cs typeface="楷体" panose="02010609060101010101" pitchFamily="49" charset="-122"/>
            </a:endParaRPr>
          </a:p>
          <a:p>
            <a:pPr marL="800100" lvl="1" indent="-342900" eaLnBrk="1" hangingPunct="1">
              <a:lnSpc>
                <a:spcPct val="130000"/>
              </a:lnSpc>
              <a:buFont typeface="Arial" panose="020B0604020202020204" pitchFamily="34" charset="0"/>
              <a:buChar char="•"/>
            </a:pPr>
            <a:r>
              <a:rPr lang="zh-CN" altLang="en-US" sz="2000" dirty="0">
                <a:latin typeface="楷体" panose="02010609060101010101" pitchFamily="49" charset="-122"/>
                <a:ea typeface="楷体" panose="02010609060101010101" pitchFamily="49" charset="-122"/>
                <a:cs typeface="楷体" panose="02010609060101010101" pitchFamily="49" charset="-122"/>
                <a:sym typeface="+mn-ea"/>
              </a:rPr>
              <a:t>质量要从一开始就能达到最终系统的要求 </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a:p>
            <a:pPr marL="800100" lvl="1" indent="-342900" eaLnBrk="1" hangingPunct="1">
              <a:lnSpc>
                <a:spcPct val="130000"/>
              </a:lnSpc>
              <a:buFont typeface="Arial" panose="020B0604020202020204" pitchFamily="34" charset="0"/>
              <a:buChar char="•"/>
            </a:pPr>
            <a:r>
              <a:rPr lang="zh-CN" altLang="en-US" sz="2000" dirty="0">
                <a:latin typeface="楷体" panose="02010609060101010101" pitchFamily="49" charset="-122"/>
                <a:ea typeface="楷体" panose="02010609060101010101" pitchFamily="49" charset="-122"/>
                <a:cs typeface="楷体" panose="02010609060101010101" pitchFamily="49" charset="-122"/>
                <a:sym typeface="+mn-ea"/>
              </a:rPr>
              <a:t>要易于进行扩展和频繁改进，因此开发者必须重视演化式原型的设计 </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a:p>
            <a:pPr marL="800100" lvl="1" indent="-342900" eaLnBrk="1" hangingPunct="1">
              <a:lnSpc>
                <a:spcPct val="130000"/>
              </a:lnSpc>
              <a:buFont typeface="Arial" panose="020B0604020202020204" pitchFamily="34" charset="0"/>
              <a:buChar char="•"/>
            </a:pPr>
            <a:r>
              <a:rPr lang="zh-CN" altLang="en-US" sz="2000" dirty="0">
                <a:latin typeface="楷体" panose="02010609060101010101" pitchFamily="49" charset="-122"/>
                <a:ea typeface="楷体" panose="02010609060101010101" pitchFamily="49" charset="-122"/>
                <a:cs typeface="楷体" panose="02010609060101010101" pitchFamily="49" charset="-122"/>
                <a:sym typeface="+mn-ea"/>
              </a:rPr>
              <a:t>仅应该被用于处理清晰的需求、规格说明和技术方案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坚决抛弃抛弃式原型</a:t>
            </a:r>
          </a:p>
        </p:txBody>
      </p:sp>
      <p:sp>
        <p:nvSpPr>
          <p:cNvPr id="3" name="内容占位符 2"/>
          <p:cNvSpPr txBox="1"/>
          <p:nvPr/>
        </p:nvSpPr>
        <p:spPr>
          <a:xfrm>
            <a:off x="628650" y="1413672"/>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r>
              <a:rPr kumimoji="1" lang="en-US" altLang="zh-CN" sz="2400" dirty="0">
                <a:latin typeface="楷体" panose="02010609060101010101" pitchFamily="49" charset="-122"/>
                <a:ea typeface="楷体" panose="02010609060101010101" pitchFamily="49" charset="-122"/>
              </a:rPr>
              <a:t>因为基于</a:t>
            </a:r>
            <a:r>
              <a:rPr kumimoji="1" lang="en-US" altLang="zh-CN" sz="2400" b="1" dirty="0">
                <a:solidFill>
                  <a:srgbClr val="88057A"/>
                </a:solidFill>
                <a:latin typeface="楷体" panose="02010609060101010101" pitchFamily="49" charset="-122"/>
                <a:ea typeface="楷体" panose="02010609060101010101" pitchFamily="49" charset="-122"/>
              </a:rPr>
              <a:t>不确定的需求基础</a:t>
            </a:r>
            <a:r>
              <a:rPr kumimoji="1" lang="en-US" altLang="zh-CN" sz="2400" dirty="0">
                <a:latin typeface="楷体" panose="02010609060101010101" pitchFamily="49" charset="-122"/>
                <a:ea typeface="楷体" panose="02010609060101010101" pitchFamily="49" charset="-122"/>
              </a:rPr>
              <a:t>，所以抛弃式原型难免反复修改，导致代码质量较低</a:t>
            </a:r>
          </a:p>
          <a:p>
            <a:pPr>
              <a:lnSpc>
                <a:spcPct val="110000"/>
              </a:lnSpc>
            </a:pPr>
            <a:endParaRPr kumimoji="1" lang="en-US" altLang="zh-CN" sz="2400" dirty="0">
              <a:latin typeface="楷体" panose="02010609060101010101" pitchFamily="49" charset="-122"/>
              <a:ea typeface="楷体" panose="02010609060101010101" pitchFamily="49" charset="-122"/>
            </a:endParaRPr>
          </a:p>
          <a:p>
            <a:pPr>
              <a:lnSpc>
                <a:spcPct val="110000"/>
              </a:lnSpc>
            </a:pPr>
            <a:r>
              <a:rPr kumimoji="1" lang="en-US" altLang="zh-CN" sz="2400" b="1" dirty="0">
                <a:solidFill>
                  <a:srgbClr val="88057A"/>
                </a:solidFill>
                <a:latin typeface="楷体" panose="02010609060101010101" pitchFamily="49" charset="-122"/>
                <a:ea typeface="楷体" panose="02010609060101010101" pitchFamily="49" charset="-122"/>
              </a:rPr>
              <a:t>需求获取</a:t>
            </a:r>
            <a:r>
              <a:rPr kumimoji="1" lang="en-US" altLang="zh-CN" sz="2400" dirty="0">
                <a:latin typeface="楷体" panose="02010609060101010101" pitchFamily="49" charset="-122"/>
                <a:ea typeface="楷体" panose="02010609060101010101" pitchFamily="49" charset="-122"/>
              </a:rPr>
              <a:t>原型大多数是探索式原型，也可能使用少量的实验式原型，但都属于抛弃式原型</a:t>
            </a:r>
          </a:p>
          <a:p>
            <a:pPr>
              <a:lnSpc>
                <a:spcPct val="110000"/>
              </a:lnSpc>
            </a:pPr>
            <a:endParaRPr kumimoji="1" lang="en-US" altLang="zh-CN" sz="2400" dirty="0">
              <a:latin typeface="楷体" panose="02010609060101010101" pitchFamily="49" charset="-122"/>
              <a:ea typeface="楷体" panose="02010609060101010101" pitchFamily="49" charset="-122"/>
            </a:endParaRPr>
          </a:p>
          <a:p>
            <a:pPr>
              <a:lnSpc>
                <a:spcPct val="110000"/>
              </a:lnSpc>
            </a:pPr>
            <a:r>
              <a:rPr kumimoji="1" lang="en-US" altLang="zh-CN" sz="2400" dirty="0">
                <a:latin typeface="楷体" panose="02010609060101010101" pitchFamily="49" charset="-122"/>
                <a:ea typeface="楷体" panose="02010609060101010101" pitchFamily="49" charset="-122"/>
              </a:rPr>
              <a:t>抛弃式原型的贡献不在于它的代码，而是它所</a:t>
            </a:r>
            <a:r>
              <a:rPr kumimoji="1" lang="en-US" altLang="zh-CN" sz="2400" b="1" dirty="0">
                <a:solidFill>
                  <a:srgbClr val="88057A"/>
                </a:solidFill>
                <a:latin typeface="楷体" panose="02010609060101010101" pitchFamily="49" charset="-122"/>
                <a:ea typeface="楷体" panose="02010609060101010101" pitchFamily="49" charset="-122"/>
              </a:rPr>
              <a:t>包含的内容</a:t>
            </a:r>
            <a:r>
              <a:rPr kumimoji="1" lang="en-US" altLang="zh-CN" sz="2400" dirty="0">
                <a:latin typeface="楷体" panose="02010609060101010101" pitchFamily="49" charset="-122"/>
                <a:ea typeface="楷体" panose="02010609060101010101" pitchFamily="49" charset="-122"/>
              </a:rPr>
              <a:t>，它说明了正确的需求和正确的技术方案，如果认识不到这一点，就只能得到低质量的代码，而丢失真正宝贵的内容</a:t>
            </a:r>
          </a:p>
        </p:txBody>
      </p:sp>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原型</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控制原型成本</a:t>
            </a:r>
          </a:p>
        </p:txBody>
      </p:sp>
      <p:sp>
        <p:nvSpPr>
          <p:cNvPr id="3" name="内容占位符 2"/>
          <p:cNvSpPr txBox="1"/>
          <p:nvPr/>
        </p:nvSpPr>
        <p:spPr>
          <a:xfrm>
            <a:off x="628650" y="1413672"/>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r>
              <a:rPr kumimoji="1" lang="en-US" altLang="zh-CN" sz="2400" dirty="0">
                <a:latin typeface="楷体" panose="02010609060101010101" pitchFamily="49" charset="-122"/>
                <a:ea typeface="楷体" panose="02010609060101010101" pitchFamily="49" charset="-122"/>
              </a:rPr>
              <a:t>原型是一个成本较为高昂的方法，它在构建原型的过程当中会花费一定的</a:t>
            </a:r>
            <a:r>
              <a:rPr kumimoji="1" lang="en-US" altLang="zh-CN" sz="2400" b="1" dirty="0">
                <a:solidFill>
                  <a:srgbClr val="88057A"/>
                </a:solidFill>
                <a:latin typeface="楷体" panose="02010609060101010101" pitchFamily="49" charset="-122"/>
                <a:ea typeface="楷体" panose="02010609060101010101" pitchFamily="49" charset="-122"/>
              </a:rPr>
              <a:t>人力和经济成本</a:t>
            </a:r>
            <a:r>
              <a:rPr kumimoji="1" lang="en-US" altLang="zh-CN" sz="2400" dirty="0">
                <a:latin typeface="楷体" panose="02010609060101010101" pitchFamily="49" charset="-122"/>
                <a:ea typeface="楷体" panose="02010609060101010101" pitchFamily="49" charset="-122"/>
              </a:rPr>
              <a:t>，而且还可能带来</a:t>
            </a:r>
            <a:r>
              <a:rPr kumimoji="1" lang="en-US" altLang="zh-CN" sz="2400" b="1" dirty="0">
                <a:solidFill>
                  <a:srgbClr val="88057A"/>
                </a:solidFill>
                <a:latin typeface="楷体" panose="02010609060101010101" pitchFamily="49" charset="-122"/>
                <a:ea typeface="楷体" panose="02010609060101010101" pitchFamily="49" charset="-122"/>
              </a:rPr>
              <a:t>开发时间</a:t>
            </a:r>
            <a:r>
              <a:rPr kumimoji="1" lang="en-US" altLang="zh-CN" sz="2400" dirty="0">
                <a:latin typeface="楷体" panose="02010609060101010101" pitchFamily="49" charset="-122"/>
                <a:ea typeface="楷体" panose="02010609060101010101" pitchFamily="49" charset="-122"/>
              </a:rPr>
              <a:t>的浪费。</a:t>
            </a:r>
          </a:p>
          <a:p>
            <a:pPr>
              <a:lnSpc>
                <a:spcPct val="110000"/>
              </a:lnSpc>
            </a:pPr>
            <a:r>
              <a:rPr kumimoji="1" lang="en-US" altLang="zh-CN" sz="2400" dirty="0">
                <a:latin typeface="楷体" panose="02010609060101010101" pitchFamily="49" charset="-122"/>
                <a:ea typeface="楷体" panose="02010609060101010101" pitchFamily="49" charset="-122"/>
              </a:rPr>
              <a:t>因此</a:t>
            </a:r>
            <a:r>
              <a:rPr kumimoji="1" lang="zh-CN" altLang="en-US" sz="2400" dirty="0">
                <a:latin typeface="楷体" panose="02010609060101010101" pitchFamily="49" charset="-122"/>
                <a:ea typeface="楷体" panose="02010609060101010101" pitchFamily="49" charset="-122"/>
              </a:rPr>
              <a:t>，</a:t>
            </a:r>
            <a:r>
              <a:rPr kumimoji="1" lang="en-US" altLang="zh-CN" sz="2400" dirty="0">
                <a:latin typeface="楷体" panose="02010609060101010101" pitchFamily="49" charset="-122"/>
                <a:ea typeface="楷体" panose="02010609060101010101" pitchFamily="49" charset="-122"/>
              </a:rPr>
              <a:t>在使用原型法时要尽量控制原型的成本。</a:t>
            </a:r>
          </a:p>
        </p:txBody>
      </p:sp>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原型</a:t>
            </a:r>
          </a:p>
        </p:txBody>
      </p:sp>
      <p:pic>
        <p:nvPicPr>
          <p:cNvPr id="4" name="图片 3" descr="手机"/>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3847465" y="4747895"/>
            <a:ext cx="732790" cy="732790"/>
          </a:xfrm>
          <a:prstGeom prst="rect">
            <a:avLst/>
          </a:prstGeom>
        </p:spPr>
      </p:pic>
      <p:pic>
        <p:nvPicPr>
          <p:cNvPr id="5" name="图片 4" descr="人"/>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5207635" y="3275965"/>
            <a:ext cx="848995" cy="848995"/>
          </a:xfrm>
          <a:prstGeom prst="rect">
            <a:avLst/>
          </a:prstGeom>
        </p:spPr>
      </p:pic>
      <p:pic>
        <p:nvPicPr>
          <p:cNvPr id="8" name="图片 7" descr="人"/>
          <p:cNvPicPr>
            <a:picLocks noChangeAspect="1"/>
          </p:cNvPicPr>
          <p:nvPr>
            <p:custDataLst>
              <p:tags r:id="rId1"/>
            </p:custDataLst>
          </p:nvPr>
        </p:nvPicPr>
        <p:blipFill>
          <a:blip r:embed="rId16">
            <a:extLst>
              <a:ext uri="{96DAC541-7B7A-43D3-8B79-37D633B846F1}">
                <asvg:svgBlip xmlns:asvg="http://schemas.microsoft.com/office/drawing/2016/SVG/main" r:embed="rId17"/>
              </a:ext>
            </a:extLst>
          </a:blip>
          <a:stretch>
            <a:fillRect/>
          </a:stretch>
        </p:blipFill>
        <p:spPr>
          <a:xfrm>
            <a:off x="1791970" y="5320665"/>
            <a:ext cx="914400" cy="914400"/>
          </a:xfrm>
          <a:prstGeom prst="rect">
            <a:avLst/>
          </a:prstGeom>
        </p:spPr>
      </p:pic>
      <p:pic>
        <p:nvPicPr>
          <p:cNvPr id="9" name="图片 8" descr="钱"/>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618615" y="3804285"/>
            <a:ext cx="914400" cy="914400"/>
          </a:xfrm>
          <a:prstGeom prst="rect">
            <a:avLst/>
          </a:prstGeom>
        </p:spPr>
      </p:pic>
      <p:pic>
        <p:nvPicPr>
          <p:cNvPr id="10" name="图片 9" descr="钱"/>
          <p:cNvPicPr>
            <a:picLocks noChangeAspect="1"/>
          </p:cNvPicPr>
          <p:nvPr>
            <p:custDataLst>
              <p:tags r:id="rId2"/>
            </p:custDataLst>
          </p:nvPr>
        </p:nvPicPr>
        <p:blipFill>
          <a:blip r:embed="rId18">
            <a:extLst>
              <a:ext uri="{96DAC541-7B7A-43D3-8B79-37D633B846F1}">
                <asvg:svgBlip xmlns:asvg="http://schemas.microsoft.com/office/drawing/2016/SVG/main" r:embed="rId19"/>
              </a:ext>
            </a:extLst>
          </a:blip>
          <a:stretch>
            <a:fillRect/>
          </a:stretch>
        </p:blipFill>
        <p:spPr>
          <a:xfrm>
            <a:off x="5521960" y="5539105"/>
            <a:ext cx="914400" cy="914400"/>
          </a:xfrm>
          <a:prstGeom prst="rect">
            <a:avLst/>
          </a:prstGeom>
        </p:spPr>
      </p:pic>
      <p:pic>
        <p:nvPicPr>
          <p:cNvPr id="11" name="图片 10" descr="时间"/>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5997575" y="4471035"/>
            <a:ext cx="848995" cy="848995"/>
          </a:xfrm>
          <a:prstGeom prst="rect">
            <a:avLst/>
          </a:prstGeom>
        </p:spPr>
      </p:pic>
      <p:sp>
        <p:nvSpPr>
          <p:cNvPr id="53" name="Freeform 8"/>
          <p:cNvSpPr/>
          <p:nvPr>
            <p:custDataLst>
              <p:tags r:id="rId3"/>
            </p:custDataLst>
          </p:nvPr>
        </p:nvSpPr>
        <p:spPr bwMode="auto">
          <a:xfrm rot="19240499">
            <a:off x="2875351" y="4341309"/>
            <a:ext cx="1176338" cy="592931"/>
          </a:xfrm>
          <a:custGeom>
            <a:avLst/>
            <a:gdLst>
              <a:gd name="T0" fmla="*/ 208 w 988"/>
              <a:gd name="T1" fmla="*/ 474 h 498"/>
              <a:gd name="T2" fmla="*/ 222 w 988"/>
              <a:gd name="T3" fmla="*/ 458 h 498"/>
              <a:gd name="T4" fmla="*/ 234 w 988"/>
              <a:gd name="T5" fmla="*/ 442 h 498"/>
              <a:gd name="T6" fmla="*/ 246 w 988"/>
              <a:gd name="T7" fmla="*/ 430 h 498"/>
              <a:gd name="T8" fmla="*/ 262 w 988"/>
              <a:gd name="T9" fmla="*/ 416 h 498"/>
              <a:gd name="T10" fmla="*/ 272 w 988"/>
              <a:gd name="T11" fmla="*/ 406 h 498"/>
              <a:gd name="T12" fmla="*/ 300 w 988"/>
              <a:gd name="T13" fmla="*/ 382 h 498"/>
              <a:gd name="T14" fmla="*/ 328 w 988"/>
              <a:gd name="T15" fmla="*/ 362 h 498"/>
              <a:gd name="T16" fmla="*/ 368 w 988"/>
              <a:gd name="T17" fmla="*/ 334 h 498"/>
              <a:gd name="T18" fmla="*/ 386 w 988"/>
              <a:gd name="T19" fmla="*/ 324 h 498"/>
              <a:gd name="T20" fmla="*/ 402 w 988"/>
              <a:gd name="T21" fmla="*/ 314 h 498"/>
              <a:gd name="T22" fmla="*/ 418 w 988"/>
              <a:gd name="T23" fmla="*/ 306 h 498"/>
              <a:gd name="T24" fmla="*/ 436 w 988"/>
              <a:gd name="T25" fmla="*/ 298 h 498"/>
              <a:gd name="T26" fmla="*/ 450 w 988"/>
              <a:gd name="T27" fmla="*/ 292 h 498"/>
              <a:gd name="T28" fmla="*/ 484 w 988"/>
              <a:gd name="T29" fmla="*/ 278 h 498"/>
              <a:gd name="T30" fmla="*/ 516 w 988"/>
              <a:gd name="T31" fmla="*/ 266 h 498"/>
              <a:gd name="T32" fmla="*/ 562 w 988"/>
              <a:gd name="T33" fmla="*/ 252 h 498"/>
              <a:gd name="T34" fmla="*/ 584 w 988"/>
              <a:gd name="T35" fmla="*/ 248 h 498"/>
              <a:gd name="T36" fmla="*/ 602 w 988"/>
              <a:gd name="T37" fmla="*/ 244 h 498"/>
              <a:gd name="T38" fmla="*/ 618 w 988"/>
              <a:gd name="T39" fmla="*/ 242 h 498"/>
              <a:gd name="T40" fmla="*/ 638 w 988"/>
              <a:gd name="T41" fmla="*/ 238 h 498"/>
              <a:gd name="T42" fmla="*/ 654 w 988"/>
              <a:gd name="T43" fmla="*/ 236 h 498"/>
              <a:gd name="T44" fmla="*/ 690 w 988"/>
              <a:gd name="T45" fmla="*/ 234 h 498"/>
              <a:gd name="T46" fmla="*/ 724 w 988"/>
              <a:gd name="T47" fmla="*/ 232 h 498"/>
              <a:gd name="T48" fmla="*/ 774 w 988"/>
              <a:gd name="T49" fmla="*/ 234 h 498"/>
              <a:gd name="T50" fmla="*/ 794 w 988"/>
              <a:gd name="T51" fmla="*/ 236 h 498"/>
              <a:gd name="T52" fmla="*/ 814 w 988"/>
              <a:gd name="T53" fmla="*/ 238 h 498"/>
              <a:gd name="T54" fmla="*/ 830 w 988"/>
              <a:gd name="T55" fmla="*/ 242 h 498"/>
              <a:gd name="T56" fmla="*/ 850 w 988"/>
              <a:gd name="T57" fmla="*/ 244 h 498"/>
              <a:gd name="T58" fmla="*/ 866 w 988"/>
              <a:gd name="T59" fmla="*/ 248 h 498"/>
              <a:gd name="T60" fmla="*/ 900 w 988"/>
              <a:gd name="T61" fmla="*/ 256 h 498"/>
              <a:gd name="T62" fmla="*/ 984 w 988"/>
              <a:gd name="T63" fmla="*/ 38 h 498"/>
              <a:gd name="T64" fmla="*/ 964 w 988"/>
              <a:gd name="T65" fmla="*/ 34 h 498"/>
              <a:gd name="T66" fmla="*/ 932 w 988"/>
              <a:gd name="T67" fmla="*/ 26 h 498"/>
              <a:gd name="T68" fmla="*/ 804 w 988"/>
              <a:gd name="T69" fmla="*/ 4 h 498"/>
              <a:gd name="T70" fmla="*/ 786 w 988"/>
              <a:gd name="T71" fmla="*/ 4 h 498"/>
              <a:gd name="T72" fmla="*/ 750 w 988"/>
              <a:gd name="T73" fmla="*/ 2 h 498"/>
              <a:gd name="T74" fmla="*/ 724 w 988"/>
              <a:gd name="T75" fmla="*/ 0 h 498"/>
              <a:gd name="T76" fmla="*/ 702 w 988"/>
              <a:gd name="T77" fmla="*/ 2 h 498"/>
              <a:gd name="T78" fmla="*/ 682 w 988"/>
              <a:gd name="T79" fmla="*/ 2 h 498"/>
              <a:gd name="T80" fmla="*/ 648 w 988"/>
              <a:gd name="T81" fmla="*/ 4 h 498"/>
              <a:gd name="T82" fmla="*/ 520 w 988"/>
              <a:gd name="T83" fmla="*/ 24 h 498"/>
              <a:gd name="T84" fmla="*/ 504 w 988"/>
              <a:gd name="T85" fmla="*/ 28 h 498"/>
              <a:gd name="T86" fmla="*/ 468 w 988"/>
              <a:gd name="T87" fmla="*/ 38 h 498"/>
              <a:gd name="T88" fmla="*/ 444 w 988"/>
              <a:gd name="T89" fmla="*/ 46 h 498"/>
              <a:gd name="T90" fmla="*/ 424 w 988"/>
              <a:gd name="T91" fmla="*/ 52 h 498"/>
              <a:gd name="T92" fmla="*/ 404 w 988"/>
              <a:gd name="T93" fmla="*/ 60 h 498"/>
              <a:gd name="T94" fmla="*/ 372 w 988"/>
              <a:gd name="T95" fmla="*/ 72 h 498"/>
              <a:gd name="T96" fmla="*/ 258 w 988"/>
              <a:gd name="T97" fmla="*/ 130 h 498"/>
              <a:gd name="T98" fmla="*/ 242 w 988"/>
              <a:gd name="T99" fmla="*/ 140 h 498"/>
              <a:gd name="T100" fmla="*/ 212 w 988"/>
              <a:gd name="T101" fmla="*/ 160 h 498"/>
              <a:gd name="T102" fmla="*/ 190 w 988"/>
              <a:gd name="T103" fmla="*/ 174 h 498"/>
              <a:gd name="T104" fmla="*/ 170 w 988"/>
              <a:gd name="T105" fmla="*/ 190 h 498"/>
              <a:gd name="T106" fmla="*/ 150 w 988"/>
              <a:gd name="T107" fmla="*/ 206 h 498"/>
              <a:gd name="T108" fmla="*/ 128 w 988"/>
              <a:gd name="T109" fmla="*/ 224 h 498"/>
              <a:gd name="T110" fmla="*/ 36 w 988"/>
              <a:gd name="T111" fmla="*/ 316 h 498"/>
              <a:gd name="T112" fmla="*/ 20 w 988"/>
              <a:gd name="T113" fmla="*/ 336 h 498"/>
              <a:gd name="T114" fmla="*/ 2 w 988"/>
              <a:gd name="T115" fmla="*/ 358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988" h="498">
                <a:moveTo>
                  <a:pt x="188" y="498"/>
                </a:moveTo>
                <a:lnTo>
                  <a:pt x="188" y="498"/>
                </a:lnTo>
                <a:lnTo>
                  <a:pt x="198" y="484"/>
                </a:lnTo>
                <a:lnTo>
                  <a:pt x="198" y="484"/>
                </a:lnTo>
                <a:lnTo>
                  <a:pt x="208" y="474"/>
                </a:lnTo>
                <a:lnTo>
                  <a:pt x="208" y="474"/>
                </a:lnTo>
                <a:lnTo>
                  <a:pt x="220" y="460"/>
                </a:lnTo>
                <a:lnTo>
                  <a:pt x="220" y="460"/>
                </a:lnTo>
                <a:lnTo>
                  <a:pt x="222" y="458"/>
                </a:lnTo>
                <a:lnTo>
                  <a:pt x="222" y="458"/>
                </a:lnTo>
                <a:lnTo>
                  <a:pt x="230" y="448"/>
                </a:lnTo>
                <a:lnTo>
                  <a:pt x="230" y="448"/>
                </a:lnTo>
                <a:lnTo>
                  <a:pt x="232" y="446"/>
                </a:lnTo>
                <a:lnTo>
                  <a:pt x="232" y="446"/>
                </a:lnTo>
                <a:lnTo>
                  <a:pt x="234" y="442"/>
                </a:lnTo>
                <a:lnTo>
                  <a:pt x="234" y="442"/>
                </a:lnTo>
                <a:lnTo>
                  <a:pt x="242" y="436"/>
                </a:lnTo>
                <a:lnTo>
                  <a:pt x="242" y="436"/>
                </a:lnTo>
                <a:lnTo>
                  <a:pt x="246" y="430"/>
                </a:lnTo>
                <a:lnTo>
                  <a:pt x="246" y="430"/>
                </a:lnTo>
                <a:lnTo>
                  <a:pt x="252" y="426"/>
                </a:lnTo>
                <a:lnTo>
                  <a:pt x="252" y="426"/>
                </a:lnTo>
                <a:lnTo>
                  <a:pt x="258" y="418"/>
                </a:lnTo>
                <a:lnTo>
                  <a:pt x="258" y="418"/>
                </a:lnTo>
                <a:lnTo>
                  <a:pt x="262" y="416"/>
                </a:lnTo>
                <a:lnTo>
                  <a:pt x="262" y="416"/>
                </a:lnTo>
                <a:lnTo>
                  <a:pt x="264" y="414"/>
                </a:lnTo>
                <a:lnTo>
                  <a:pt x="264" y="414"/>
                </a:lnTo>
                <a:lnTo>
                  <a:pt x="272" y="406"/>
                </a:lnTo>
                <a:lnTo>
                  <a:pt x="272" y="406"/>
                </a:lnTo>
                <a:lnTo>
                  <a:pt x="274" y="404"/>
                </a:lnTo>
                <a:lnTo>
                  <a:pt x="274" y="404"/>
                </a:lnTo>
                <a:lnTo>
                  <a:pt x="288" y="392"/>
                </a:lnTo>
                <a:lnTo>
                  <a:pt x="288" y="392"/>
                </a:lnTo>
                <a:lnTo>
                  <a:pt x="300" y="382"/>
                </a:lnTo>
                <a:lnTo>
                  <a:pt x="300" y="382"/>
                </a:lnTo>
                <a:lnTo>
                  <a:pt x="314" y="372"/>
                </a:lnTo>
                <a:lnTo>
                  <a:pt x="314" y="372"/>
                </a:lnTo>
                <a:lnTo>
                  <a:pt x="328" y="362"/>
                </a:lnTo>
                <a:lnTo>
                  <a:pt x="328" y="362"/>
                </a:lnTo>
                <a:lnTo>
                  <a:pt x="340" y="352"/>
                </a:lnTo>
                <a:lnTo>
                  <a:pt x="340" y="352"/>
                </a:lnTo>
                <a:lnTo>
                  <a:pt x="354" y="342"/>
                </a:lnTo>
                <a:lnTo>
                  <a:pt x="354" y="342"/>
                </a:lnTo>
                <a:lnTo>
                  <a:pt x="368" y="334"/>
                </a:lnTo>
                <a:lnTo>
                  <a:pt x="368" y="334"/>
                </a:lnTo>
                <a:lnTo>
                  <a:pt x="384" y="326"/>
                </a:lnTo>
                <a:lnTo>
                  <a:pt x="384" y="326"/>
                </a:lnTo>
                <a:lnTo>
                  <a:pt x="386" y="324"/>
                </a:lnTo>
                <a:lnTo>
                  <a:pt x="386" y="324"/>
                </a:lnTo>
                <a:lnTo>
                  <a:pt x="396" y="318"/>
                </a:lnTo>
                <a:lnTo>
                  <a:pt x="396" y="318"/>
                </a:lnTo>
                <a:lnTo>
                  <a:pt x="400" y="316"/>
                </a:lnTo>
                <a:lnTo>
                  <a:pt x="400" y="316"/>
                </a:lnTo>
                <a:lnTo>
                  <a:pt x="402" y="314"/>
                </a:lnTo>
                <a:lnTo>
                  <a:pt x="402" y="314"/>
                </a:lnTo>
                <a:lnTo>
                  <a:pt x="412" y="310"/>
                </a:lnTo>
                <a:lnTo>
                  <a:pt x="412" y="310"/>
                </a:lnTo>
                <a:lnTo>
                  <a:pt x="418" y="306"/>
                </a:lnTo>
                <a:lnTo>
                  <a:pt x="418" y="306"/>
                </a:lnTo>
                <a:lnTo>
                  <a:pt x="424" y="304"/>
                </a:lnTo>
                <a:lnTo>
                  <a:pt x="424" y="304"/>
                </a:lnTo>
                <a:lnTo>
                  <a:pt x="432" y="298"/>
                </a:lnTo>
                <a:lnTo>
                  <a:pt x="432" y="298"/>
                </a:lnTo>
                <a:lnTo>
                  <a:pt x="436" y="298"/>
                </a:lnTo>
                <a:lnTo>
                  <a:pt x="436" y="298"/>
                </a:lnTo>
                <a:lnTo>
                  <a:pt x="440" y="296"/>
                </a:lnTo>
                <a:lnTo>
                  <a:pt x="440" y="296"/>
                </a:lnTo>
                <a:lnTo>
                  <a:pt x="450" y="292"/>
                </a:lnTo>
                <a:lnTo>
                  <a:pt x="450" y="292"/>
                </a:lnTo>
                <a:lnTo>
                  <a:pt x="452" y="290"/>
                </a:lnTo>
                <a:lnTo>
                  <a:pt x="452" y="290"/>
                </a:lnTo>
                <a:lnTo>
                  <a:pt x="470" y="282"/>
                </a:lnTo>
                <a:lnTo>
                  <a:pt x="470" y="282"/>
                </a:lnTo>
                <a:lnTo>
                  <a:pt x="484" y="278"/>
                </a:lnTo>
                <a:lnTo>
                  <a:pt x="484" y="278"/>
                </a:lnTo>
                <a:lnTo>
                  <a:pt x="500" y="272"/>
                </a:lnTo>
                <a:lnTo>
                  <a:pt x="500" y="272"/>
                </a:lnTo>
                <a:lnTo>
                  <a:pt x="516" y="266"/>
                </a:lnTo>
                <a:lnTo>
                  <a:pt x="516" y="266"/>
                </a:lnTo>
                <a:lnTo>
                  <a:pt x="530" y="262"/>
                </a:lnTo>
                <a:lnTo>
                  <a:pt x="530" y="262"/>
                </a:lnTo>
                <a:lnTo>
                  <a:pt x="548" y="256"/>
                </a:lnTo>
                <a:lnTo>
                  <a:pt x="548" y="256"/>
                </a:lnTo>
                <a:lnTo>
                  <a:pt x="562" y="252"/>
                </a:lnTo>
                <a:lnTo>
                  <a:pt x="562" y="252"/>
                </a:lnTo>
                <a:lnTo>
                  <a:pt x="580" y="248"/>
                </a:lnTo>
                <a:lnTo>
                  <a:pt x="580" y="248"/>
                </a:lnTo>
                <a:lnTo>
                  <a:pt x="584" y="248"/>
                </a:lnTo>
                <a:lnTo>
                  <a:pt x="584" y="248"/>
                </a:lnTo>
                <a:lnTo>
                  <a:pt x="594" y="246"/>
                </a:lnTo>
                <a:lnTo>
                  <a:pt x="594" y="246"/>
                </a:lnTo>
                <a:lnTo>
                  <a:pt x="598" y="244"/>
                </a:lnTo>
                <a:lnTo>
                  <a:pt x="598" y="244"/>
                </a:lnTo>
                <a:lnTo>
                  <a:pt x="602" y="244"/>
                </a:lnTo>
                <a:lnTo>
                  <a:pt x="602" y="244"/>
                </a:lnTo>
                <a:lnTo>
                  <a:pt x="612" y="242"/>
                </a:lnTo>
                <a:lnTo>
                  <a:pt x="612" y="242"/>
                </a:lnTo>
                <a:lnTo>
                  <a:pt x="618" y="242"/>
                </a:lnTo>
                <a:lnTo>
                  <a:pt x="618" y="242"/>
                </a:lnTo>
                <a:lnTo>
                  <a:pt x="626" y="240"/>
                </a:lnTo>
                <a:lnTo>
                  <a:pt x="626" y="240"/>
                </a:lnTo>
                <a:lnTo>
                  <a:pt x="636" y="238"/>
                </a:lnTo>
                <a:lnTo>
                  <a:pt x="636" y="238"/>
                </a:lnTo>
                <a:lnTo>
                  <a:pt x="638" y="238"/>
                </a:lnTo>
                <a:lnTo>
                  <a:pt x="638" y="238"/>
                </a:lnTo>
                <a:lnTo>
                  <a:pt x="644" y="238"/>
                </a:lnTo>
                <a:lnTo>
                  <a:pt x="644" y="238"/>
                </a:lnTo>
                <a:lnTo>
                  <a:pt x="654" y="236"/>
                </a:lnTo>
                <a:lnTo>
                  <a:pt x="654" y="236"/>
                </a:lnTo>
                <a:lnTo>
                  <a:pt x="658" y="236"/>
                </a:lnTo>
                <a:lnTo>
                  <a:pt x="658" y="236"/>
                </a:lnTo>
                <a:lnTo>
                  <a:pt x="676" y="234"/>
                </a:lnTo>
                <a:lnTo>
                  <a:pt x="676" y="234"/>
                </a:lnTo>
                <a:lnTo>
                  <a:pt x="690" y="234"/>
                </a:lnTo>
                <a:lnTo>
                  <a:pt x="690" y="234"/>
                </a:lnTo>
                <a:lnTo>
                  <a:pt x="708" y="234"/>
                </a:lnTo>
                <a:lnTo>
                  <a:pt x="708" y="234"/>
                </a:lnTo>
                <a:lnTo>
                  <a:pt x="724" y="232"/>
                </a:lnTo>
                <a:lnTo>
                  <a:pt x="724" y="232"/>
                </a:lnTo>
                <a:lnTo>
                  <a:pt x="740" y="234"/>
                </a:lnTo>
                <a:lnTo>
                  <a:pt x="740" y="234"/>
                </a:lnTo>
                <a:lnTo>
                  <a:pt x="758" y="234"/>
                </a:lnTo>
                <a:lnTo>
                  <a:pt x="758" y="234"/>
                </a:lnTo>
                <a:lnTo>
                  <a:pt x="774" y="234"/>
                </a:lnTo>
                <a:lnTo>
                  <a:pt x="774" y="234"/>
                </a:lnTo>
                <a:lnTo>
                  <a:pt x="792" y="236"/>
                </a:lnTo>
                <a:lnTo>
                  <a:pt x="792" y="236"/>
                </a:lnTo>
                <a:lnTo>
                  <a:pt x="794" y="236"/>
                </a:lnTo>
                <a:lnTo>
                  <a:pt x="794" y="236"/>
                </a:lnTo>
                <a:lnTo>
                  <a:pt x="806" y="238"/>
                </a:lnTo>
                <a:lnTo>
                  <a:pt x="806" y="238"/>
                </a:lnTo>
                <a:lnTo>
                  <a:pt x="810" y="238"/>
                </a:lnTo>
                <a:lnTo>
                  <a:pt x="810" y="238"/>
                </a:lnTo>
                <a:lnTo>
                  <a:pt x="814" y="238"/>
                </a:lnTo>
                <a:lnTo>
                  <a:pt x="814" y="238"/>
                </a:lnTo>
                <a:lnTo>
                  <a:pt x="824" y="240"/>
                </a:lnTo>
                <a:lnTo>
                  <a:pt x="824" y="240"/>
                </a:lnTo>
                <a:lnTo>
                  <a:pt x="830" y="242"/>
                </a:lnTo>
                <a:lnTo>
                  <a:pt x="830" y="242"/>
                </a:lnTo>
                <a:lnTo>
                  <a:pt x="836" y="242"/>
                </a:lnTo>
                <a:lnTo>
                  <a:pt x="836" y="242"/>
                </a:lnTo>
                <a:lnTo>
                  <a:pt x="846" y="244"/>
                </a:lnTo>
                <a:lnTo>
                  <a:pt x="846" y="244"/>
                </a:lnTo>
                <a:lnTo>
                  <a:pt x="850" y="244"/>
                </a:lnTo>
                <a:lnTo>
                  <a:pt x="850" y="244"/>
                </a:lnTo>
                <a:lnTo>
                  <a:pt x="854" y="246"/>
                </a:lnTo>
                <a:lnTo>
                  <a:pt x="854" y="246"/>
                </a:lnTo>
                <a:lnTo>
                  <a:pt x="866" y="248"/>
                </a:lnTo>
                <a:lnTo>
                  <a:pt x="866" y="248"/>
                </a:lnTo>
                <a:lnTo>
                  <a:pt x="868" y="248"/>
                </a:lnTo>
                <a:lnTo>
                  <a:pt x="868" y="248"/>
                </a:lnTo>
                <a:lnTo>
                  <a:pt x="886" y="252"/>
                </a:lnTo>
                <a:lnTo>
                  <a:pt x="886" y="252"/>
                </a:lnTo>
                <a:lnTo>
                  <a:pt x="900" y="256"/>
                </a:lnTo>
                <a:lnTo>
                  <a:pt x="900" y="256"/>
                </a:lnTo>
                <a:lnTo>
                  <a:pt x="916" y="260"/>
                </a:lnTo>
                <a:lnTo>
                  <a:pt x="988" y="40"/>
                </a:lnTo>
                <a:lnTo>
                  <a:pt x="988" y="40"/>
                </a:lnTo>
                <a:lnTo>
                  <a:pt x="984" y="38"/>
                </a:lnTo>
                <a:lnTo>
                  <a:pt x="984" y="38"/>
                </a:lnTo>
                <a:lnTo>
                  <a:pt x="980" y="38"/>
                </a:lnTo>
                <a:lnTo>
                  <a:pt x="980" y="38"/>
                </a:lnTo>
                <a:lnTo>
                  <a:pt x="964" y="34"/>
                </a:lnTo>
                <a:lnTo>
                  <a:pt x="964" y="34"/>
                </a:lnTo>
                <a:lnTo>
                  <a:pt x="956" y="32"/>
                </a:lnTo>
                <a:lnTo>
                  <a:pt x="956" y="32"/>
                </a:lnTo>
                <a:lnTo>
                  <a:pt x="946" y="28"/>
                </a:lnTo>
                <a:lnTo>
                  <a:pt x="946" y="28"/>
                </a:lnTo>
                <a:lnTo>
                  <a:pt x="932" y="26"/>
                </a:lnTo>
                <a:lnTo>
                  <a:pt x="932" y="26"/>
                </a:lnTo>
                <a:lnTo>
                  <a:pt x="928" y="24"/>
                </a:lnTo>
                <a:lnTo>
                  <a:pt x="928" y="24"/>
                </a:lnTo>
                <a:lnTo>
                  <a:pt x="866" y="12"/>
                </a:lnTo>
                <a:lnTo>
                  <a:pt x="804" y="4"/>
                </a:lnTo>
                <a:lnTo>
                  <a:pt x="804" y="4"/>
                </a:lnTo>
                <a:lnTo>
                  <a:pt x="800" y="4"/>
                </a:lnTo>
                <a:lnTo>
                  <a:pt x="800" y="4"/>
                </a:lnTo>
                <a:lnTo>
                  <a:pt x="786" y="4"/>
                </a:lnTo>
                <a:lnTo>
                  <a:pt x="786" y="4"/>
                </a:lnTo>
                <a:lnTo>
                  <a:pt x="774" y="2"/>
                </a:lnTo>
                <a:lnTo>
                  <a:pt x="774" y="2"/>
                </a:lnTo>
                <a:lnTo>
                  <a:pt x="766" y="2"/>
                </a:lnTo>
                <a:lnTo>
                  <a:pt x="766" y="2"/>
                </a:lnTo>
                <a:lnTo>
                  <a:pt x="750" y="2"/>
                </a:lnTo>
                <a:lnTo>
                  <a:pt x="750" y="2"/>
                </a:lnTo>
                <a:lnTo>
                  <a:pt x="746" y="2"/>
                </a:lnTo>
                <a:lnTo>
                  <a:pt x="746" y="2"/>
                </a:lnTo>
                <a:lnTo>
                  <a:pt x="724" y="0"/>
                </a:lnTo>
                <a:lnTo>
                  <a:pt x="724" y="0"/>
                </a:lnTo>
                <a:lnTo>
                  <a:pt x="724" y="0"/>
                </a:lnTo>
                <a:lnTo>
                  <a:pt x="724" y="0"/>
                </a:lnTo>
                <a:lnTo>
                  <a:pt x="724" y="0"/>
                </a:lnTo>
                <a:lnTo>
                  <a:pt x="724" y="0"/>
                </a:lnTo>
                <a:lnTo>
                  <a:pt x="702" y="2"/>
                </a:lnTo>
                <a:lnTo>
                  <a:pt x="702" y="2"/>
                </a:lnTo>
                <a:lnTo>
                  <a:pt x="698" y="2"/>
                </a:lnTo>
                <a:lnTo>
                  <a:pt x="698" y="2"/>
                </a:lnTo>
                <a:lnTo>
                  <a:pt x="682" y="2"/>
                </a:lnTo>
                <a:lnTo>
                  <a:pt x="682" y="2"/>
                </a:lnTo>
                <a:lnTo>
                  <a:pt x="674" y="2"/>
                </a:lnTo>
                <a:lnTo>
                  <a:pt x="674" y="2"/>
                </a:lnTo>
                <a:lnTo>
                  <a:pt x="662" y="4"/>
                </a:lnTo>
                <a:lnTo>
                  <a:pt x="662" y="4"/>
                </a:lnTo>
                <a:lnTo>
                  <a:pt x="648" y="4"/>
                </a:lnTo>
                <a:lnTo>
                  <a:pt x="648" y="4"/>
                </a:lnTo>
                <a:lnTo>
                  <a:pt x="644" y="4"/>
                </a:lnTo>
                <a:lnTo>
                  <a:pt x="644" y="4"/>
                </a:lnTo>
                <a:lnTo>
                  <a:pt x="582" y="12"/>
                </a:lnTo>
                <a:lnTo>
                  <a:pt x="520" y="24"/>
                </a:lnTo>
                <a:lnTo>
                  <a:pt x="520" y="24"/>
                </a:lnTo>
                <a:lnTo>
                  <a:pt x="516" y="26"/>
                </a:lnTo>
                <a:lnTo>
                  <a:pt x="516" y="26"/>
                </a:lnTo>
                <a:lnTo>
                  <a:pt x="504" y="28"/>
                </a:lnTo>
                <a:lnTo>
                  <a:pt x="504" y="28"/>
                </a:lnTo>
                <a:lnTo>
                  <a:pt x="492" y="32"/>
                </a:lnTo>
                <a:lnTo>
                  <a:pt x="492" y="32"/>
                </a:lnTo>
                <a:lnTo>
                  <a:pt x="484" y="34"/>
                </a:lnTo>
                <a:lnTo>
                  <a:pt x="484" y="34"/>
                </a:lnTo>
                <a:lnTo>
                  <a:pt x="468" y="38"/>
                </a:lnTo>
                <a:lnTo>
                  <a:pt x="468" y="38"/>
                </a:lnTo>
                <a:lnTo>
                  <a:pt x="464" y="38"/>
                </a:lnTo>
                <a:lnTo>
                  <a:pt x="464" y="38"/>
                </a:lnTo>
                <a:lnTo>
                  <a:pt x="444" y="46"/>
                </a:lnTo>
                <a:lnTo>
                  <a:pt x="444" y="46"/>
                </a:lnTo>
                <a:lnTo>
                  <a:pt x="444" y="46"/>
                </a:lnTo>
                <a:lnTo>
                  <a:pt x="444" y="46"/>
                </a:lnTo>
                <a:lnTo>
                  <a:pt x="444" y="46"/>
                </a:lnTo>
                <a:lnTo>
                  <a:pt x="444" y="46"/>
                </a:lnTo>
                <a:lnTo>
                  <a:pt x="424" y="52"/>
                </a:lnTo>
                <a:lnTo>
                  <a:pt x="424" y="52"/>
                </a:lnTo>
                <a:lnTo>
                  <a:pt x="420" y="54"/>
                </a:lnTo>
                <a:lnTo>
                  <a:pt x="420" y="54"/>
                </a:lnTo>
                <a:lnTo>
                  <a:pt x="404" y="60"/>
                </a:lnTo>
                <a:lnTo>
                  <a:pt x="404" y="60"/>
                </a:lnTo>
                <a:lnTo>
                  <a:pt x="396" y="62"/>
                </a:lnTo>
                <a:lnTo>
                  <a:pt x="396" y="62"/>
                </a:lnTo>
                <a:lnTo>
                  <a:pt x="386" y="66"/>
                </a:lnTo>
                <a:lnTo>
                  <a:pt x="386" y="66"/>
                </a:lnTo>
                <a:lnTo>
                  <a:pt x="372" y="72"/>
                </a:lnTo>
                <a:lnTo>
                  <a:pt x="372" y="72"/>
                </a:lnTo>
                <a:lnTo>
                  <a:pt x="368" y="74"/>
                </a:lnTo>
                <a:lnTo>
                  <a:pt x="368" y="74"/>
                </a:lnTo>
                <a:lnTo>
                  <a:pt x="312" y="100"/>
                </a:lnTo>
                <a:lnTo>
                  <a:pt x="258" y="130"/>
                </a:lnTo>
                <a:lnTo>
                  <a:pt x="258" y="130"/>
                </a:lnTo>
                <a:lnTo>
                  <a:pt x="254" y="132"/>
                </a:lnTo>
                <a:lnTo>
                  <a:pt x="254" y="132"/>
                </a:lnTo>
                <a:lnTo>
                  <a:pt x="242" y="140"/>
                </a:lnTo>
                <a:lnTo>
                  <a:pt x="242" y="140"/>
                </a:lnTo>
                <a:lnTo>
                  <a:pt x="232" y="146"/>
                </a:lnTo>
                <a:lnTo>
                  <a:pt x="232" y="146"/>
                </a:lnTo>
                <a:lnTo>
                  <a:pt x="226" y="150"/>
                </a:lnTo>
                <a:lnTo>
                  <a:pt x="226" y="150"/>
                </a:lnTo>
                <a:lnTo>
                  <a:pt x="212" y="160"/>
                </a:lnTo>
                <a:lnTo>
                  <a:pt x="212" y="160"/>
                </a:lnTo>
                <a:lnTo>
                  <a:pt x="208" y="162"/>
                </a:lnTo>
                <a:lnTo>
                  <a:pt x="208" y="162"/>
                </a:lnTo>
                <a:lnTo>
                  <a:pt x="190" y="174"/>
                </a:lnTo>
                <a:lnTo>
                  <a:pt x="190" y="174"/>
                </a:lnTo>
                <a:lnTo>
                  <a:pt x="190" y="174"/>
                </a:lnTo>
                <a:lnTo>
                  <a:pt x="190" y="174"/>
                </a:lnTo>
                <a:lnTo>
                  <a:pt x="174" y="188"/>
                </a:lnTo>
                <a:lnTo>
                  <a:pt x="174" y="188"/>
                </a:lnTo>
                <a:lnTo>
                  <a:pt x="170" y="190"/>
                </a:lnTo>
                <a:lnTo>
                  <a:pt x="170" y="190"/>
                </a:lnTo>
                <a:lnTo>
                  <a:pt x="158" y="200"/>
                </a:lnTo>
                <a:lnTo>
                  <a:pt x="158" y="200"/>
                </a:lnTo>
                <a:lnTo>
                  <a:pt x="150" y="206"/>
                </a:lnTo>
                <a:lnTo>
                  <a:pt x="150" y="206"/>
                </a:lnTo>
                <a:lnTo>
                  <a:pt x="142" y="212"/>
                </a:lnTo>
                <a:lnTo>
                  <a:pt x="142" y="212"/>
                </a:lnTo>
                <a:lnTo>
                  <a:pt x="132" y="222"/>
                </a:lnTo>
                <a:lnTo>
                  <a:pt x="132" y="222"/>
                </a:lnTo>
                <a:lnTo>
                  <a:pt x="128" y="224"/>
                </a:lnTo>
                <a:lnTo>
                  <a:pt x="128" y="224"/>
                </a:lnTo>
                <a:lnTo>
                  <a:pt x="82" y="266"/>
                </a:lnTo>
                <a:lnTo>
                  <a:pt x="40" y="312"/>
                </a:lnTo>
                <a:lnTo>
                  <a:pt x="40" y="312"/>
                </a:lnTo>
                <a:lnTo>
                  <a:pt x="36" y="316"/>
                </a:lnTo>
                <a:lnTo>
                  <a:pt x="36" y="316"/>
                </a:lnTo>
                <a:lnTo>
                  <a:pt x="28" y="326"/>
                </a:lnTo>
                <a:lnTo>
                  <a:pt x="28" y="326"/>
                </a:lnTo>
                <a:lnTo>
                  <a:pt x="20" y="336"/>
                </a:lnTo>
                <a:lnTo>
                  <a:pt x="20" y="336"/>
                </a:lnTo>
                <a:lnTo>
                  <a:pt x="16" y="342"/>
                </a:lnTo>
                <a:lnTo>
                  <a:pt x="16" y="342"/>
                </a:lnTo>
                <a:lnTo>
                  <a:pt x="6" y="354"/>
                </a:lnTo>
                <a:lnTo>
                  <a:pt x="6" y="354"/>
                </a:lnTo>
                <a:lnTo>
                  <a:pt x="2" y="358"/>
                </a:lnTo>
                <a:lnTo>
                  <a:pt x="2" y="358"/>
                </a:lnTo>
                <a:lnTo>
                  <a:pt x="0" y="362"/>
                </a:lnTo>
                <a:lnTo>
                  <a:pt x="188" y="498"/>
                </a:lnTo>
                <a:close/>
              </a:path>
            </a:pathLst>
          </a:custGeom>
          <a:solidFill>
            <a:srgbClr val="8590CA"/>
          </a:solidFill>
          <a:ln w="3175">
            <a:noFill/>
            <a:prstDash val="solid"/>
            <a:round/>
          </a:ln>
        </p:spPr>
        <p:txBody>
          <a:bodyPr vert="horz" wrap="square" lIns="68580" tIns="34290" rIns="68580" bIns="34290" numCol="1" anchor="t" anchorCtr="0" compatLnSpc="1"/>
          <a:lstStyle/>
          <a:p>
            <a:pPr>
              <a:lnSpc>
                <a:spcPct val="120000"/>
              </a:lnSpc>
            </a:pPr>
            <a:endParaRPr lang="zh-CN" altLang="en-US" sz="1350">
              <a:latin typeface="Arial" panose="020B0604020202020204" pitchFamily="34" charset="0"/>
              <a:ea typeface="微软雅黑" panose="020B0503020204020204" pitchFamily="34" charset="-122"/>
              <a:sym typeface="Arial" panose="020B0604020202020204" pitchFamily="34" charset="0"/>
            </a:endParaRPr>
          </a:p>
        </p:txBody>
      </p:sp>
      <p:sp>
        <p:nvSpPr>
          <p:cNvPr id="54" name="Freeform 9"/>
          <p:cNvSpPr/>
          <p:nvPr>
            <p:custDataLst>
              <p:tags r:id="rId4"/>
            </p:custDataLst>
          </p:nvPr>
        </p:nvSpPr>
        <p:spPr bwMode="auto">
          <a:xfrm rot="19240499">
            <a:off x="3289600" y="5006486"/>
            <a:ext cx="419100" cy="1235869"/>
          </a:xfrm>
          <a:custGeom>
            <a:avLst/>
            <a:gdLst>
              <a:gd name="T0" fmla="*/ 334 w 352"/>
              <a:gd name="T1" fmla="*/ 876 h 1038"/>
              <a:gd name="T2" fmla="*/ 324 w 352"/>
              <a:gd name="T3" fmla="*/ 858 h 1038"/>
              <a:gd name="T4" fmla="*/ 314 w 352"/>
              <a:gd name="T5" fmla="*/ 840 h 1038"/>
              <a:gd name="T6" fmla="*/ 306 w 352"/>
              <a:gd name="T7" fmla="*/ 826 h 1038"/>
              <a:gd name="T8" fmla="*/ 298 w 352"/>
              <a:gd name="T9" fmla="*/ 808 h 1038"/>
              <a:gd name="T10" fmla="*/ 290 w 352"/>
              <a:gd name="T11" fmla="*/ 794 h 1038"/>
              <a:gd name="T12" fmla="*/ 276 w 352"/>
              <a:gd name="T13" fmla="*/ 760 h 1038"/>
              <a:gd name="T14" fmla="*/ 266 w 352"/>
              <a:gd name="T15" fmla="*/ 728 h 1038"/>
              <a:gd name="T16" fmla="*/ 252 w 352"/>
              <a:gd name="T17" fmla="*/ 680 h 1038"/>
              <a:gd name="T18" fmla="*/ 248 w 352"/>
              <a:gd name="T19" fmla="*/ 660 h 1038"/>
              <a:gd name="T20" fmla="*/ 244 w 352"/>
              <a:gd name="T21" fmla="*/ 642 h 1038"/>
              <a:gd name="T22" fmla="*/ 240 w 352"/>
              <a:gd name="T23" fmla="*/ 624 h 1038"/>
              <a:gd name="T24" fmla="*/ 238 w 352"/>
              <a:gd name="T25" fmla="*/ 604 h 1038"/>
              <a:gd name="T26" fmla="*/ 236 w 352"/>
              <a:gd name="T27" fmla="*/ 588 h 1038"/>
              <a:gd name="T28" fmla="*/ 234 w 352"/>
              <a:gd name="T29" fmla="*/ 552 h 1038"/>
              <a:gd name="T30" fmla="*/ 232 w 352"/>
              <a:gd name="T31" fmla="*/ 518 h 1038"/>
              <a:gd name="T32" fmla="*/ 234 w 352"/>
              <a:gd name="T33" fmla="*/ 470 h 1038"/>
              <a:gd name="T34" fmla="*/ 236 w 352"/>
              <a:gd name="T35" fmla="*/ 448 h 1038"/>
              <a:gd name="T36" fmla="*/ 238 w 352"/>
              <a:gd name="T37" fmla="*/ 430 h 1038"/>
              <a:gd name="T38" fmla="*/ 240 w 352"/>
              <a:gd name="T39" fmla="*/ 414 h 1038"/>
              <a:gd name="T40" fmla="*/ 244 w 352"/>
              <a:gd name="T41" fmla="*/ 392 h 1038"/>
              <a:gd name="T42" fmla="*/ 248 w 352"/>
              <a:gd name="T43" fmla="*/ 378 h 1038"/>
              <a:gd name="T44" fmla="*/ 256 w 352"/>
              <a:gd name="T45" fmla="*/ 342 h 1038"/>
              <a:gd name="T46" fmla="*/ 266 w 352"/>
              <a:gd name="T47" fmla="*/ 310 h 1038"/>
              <a:gd name="T48" fmla="*/ 282 w 352"/>
              <a:gd name="T49" fmla="*/ 264 h 1038"/>
              <a:gd name="T50" fmla="*/ 290 w 352"/>
              <a:gd name="T51" fmla="*/ 244 h 1038"/>
              <a:gd name="T52" fmla="*/ 298 w 352"/>
              <a:gd name="T53" fmla="*/ 228 h 1038"/>
              <a:gd name="T54" fmla="*/ 306 w 352"/>
              <a:gd name="T55" fmla="*/ 212 h 1038"/>
              <a:gd name="T56" fmla="*/ 316 w 352"/>
              <a:gd name="T57" fmla="*/ 194 h 1038"/>
              <a:gd name="T58" fmla="*/ 324 w 352"/>
              <a:gd name="T59" fmla="*/ 180 h 1038"/>
              <a:gd name="T60" fmla="*/ 342 w 352"/>
              <a:gd name="T61" fmla="*/ 150 h 1038"/>
              <a:gd name="T62" fmla="*/ 162 w 352"/>
              <a:gd name="T63" fmla="*/ 2 h 1038"/>
              <a:gd name="T64" fmla="*/ 150 w 352"/>
              <a:gd name="T65" fmla="*/ 20 h 1038"/>
              <a:gd name="T66" fmla="*/ 132 w 352"/>
              <a:gd name="T67" fmla="*/ 48 h 1038"/>
              <a:gd name="T68" fmla="*/ 72 w 352"/>
              <a:gd name="T69" fmla="*/ 164 h 1038"/>
              <a:gd name="T70" fmla="*/ 66 w 352"/>
              <a:gd name="T71" fmla="*/ 180 h 1038"/>
              <a:gd name="T72" fmla="*/ 54 w 352"/>
              <a:gd name="T73" fmla="*/ 214 h 1038"/>
              <a:gd name="T74" fmla="*/ 44 w 352"/>
              <a:gd name="T75" fmla="*/ 238 h 1038"/>
              <a:gd name="T76" fmla="*/ 38 w 352"/>
              <a:gd name="T77" fmla="*/ 258 h 1038"/>
              <a:gd name="T78" fmla="*/ 32 w 352"/>
              <a:gd name="T79" fmla="*/ 278 h 1038"/>
              <a:gd name="T80" fmla="*/ 24 w 352"/>
              <a:gd name="T81" fmla="*/ 310 h 1038"/>
              <a:gd name="T82" fmla="*/ 4 w 352"/>
              <a:gd name="T83" fmla="*/ 438 h 1038"/>
              <a:gd name="T84" fmla="*/ 2 w 352"/>
              <a:gd name="T85" fmla="*/ 458 h 1038"/>
              <a:gd name="T86" fmla="*/ 0 w 352"/>
              <a:gd name="T87" fmla="*/ 494 h 1038"/>
              <a:gd name="T88" fmla="*/ 0 w 352"/>
              <a:gd name="T89" fmla="*/ 518 h 1038"/>
              <a:gd name="T90" fmla="*/ 0 w 352"/>
              <a:gd name="T91" fmla="*/ 540 h 1038"/>
              <a:gd name="T92" fmla="*/ 2 w 352"/>
              <a:gd name="T93" fmla="*/ 560 h 1038"/>
              <a:gd name="T94" fmla="*/ 4 w 352"/>
              <a:gd name="T95" fmla="*/ 594 h 1038"/>
              <a:gd name="T96" fmla="*/ 24 w 352"/>
              <a:gd name="T97" fmla="*/ 722 h 1038"/>
              <a:gd name="T98" fmla="*/ 28 w 352"/>
              <a:gd name="T99" fmla="*/ 740 h 1038"/>
              <a:gd name="T100" fmla="*/ 38 w 352"/>
              <a:gd name="T101" fmla="*/ 774 h 1038"/>
              <a:gd name="T102" fmla="*/ 44 w 352"/>
              <a:gd name="T103" fmla="*/ 800 h 1038"/>
              <a:gd name="T104" fmla="*/ 52 w 352"/>
              <a:gd name="T105" fmla="*/ 820 h 1038"/>
              <a:gd name="T106" fmla="*/ 58 w 352"/>
              <a:gd name="T107" fmla="*/ 840 h 1038"/>
              <a:gd name="T108" fmla="*/ 72 w 352"/>
              <a:gd name="T109" fmla="*/ 870 h 1038"/>
              <a:gd name="T110" fmla="*/ 130 w 352"/>
              <a:gd name="T111" fmla="*/ 986 h 1038"/>
              <a:gd name="T112" fmla="*/ 140 w 352"/>
              <a:gd name="T113" fmla="*/ 1002 h 1038"/>
              <a:gd name="T114" fmla="*/ 160 w 352"/>
              <a:gd name="T115" fmla="*/ 1032 h 1038"/>
              <a:gd name="T116" fmla="*/ 352 w 352"/>
              <a:gd name="T117" fmla="*/ 902 h 10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52" h="1038">
                <a:moveTo>
                  <a:pt x="352" y="902"/>
                </a:moveTo>
                <a:lnTo>
                  <a:pt x="352" y="902"/>
                </a:lnTo>
                <a:lnTo>
                  <a:pt x="342" y="888"/>
                </a:lnTo>
                <a:lnTo>
                  <a:pt x="342" y="888"/>
                </a:lnTo>
                <a:lnTo>
                  <a:pt x="334" y="876"/>
                </a:lnTo>
                <a:lnTo>
                  <a:pt x="334" y="876"/>
                </a:lnTo>
                <a:lnTo>
                  <a:pt x="324" y="860"/>
                </a:lnTo>
                <a:lnTo>
                  <a:pt x="324" y="860"/>
                </a:lnTo>
                <a:lnTo>
                  <a:pt x="324" y="858"/>
                </a:lnTo>
                <a:lnTo>
                  <a:pt x="324" y="858"/>
                </a:lnTo>
                <a:lnTo>
                  <a:pt x="318" y="848"/>
                </a:lnTo>
                <a:lnTo>
                  <a:pt x="318" y="848"/>
                </a:lnTo>
                <a:lnTo>
                  <a:pt x="316" y="844"/>
                </a:lnTo>
                <a:lnTo>
                  <a:pt x="316" y="844"/>
                </a:lnTo>
                <a:lnTo>
                  <a:pt x="314" y="840"/>
                </a:lnTo>
                <a:lnTo>
                  <a:pt x="314" y="840"/>
                </a:lnTo>
                <a:lnTo>
                  <a:pt x="310" y="832"/>
                </a:lnTo>
                <a:lnTo>
                  <a:pt x="310" y="832"/>
                </a:lnTo>
                <a:lnTo>
                  <a:pt x="306" y="826"/>
                </a:lnTo>
                <a:lnTo>
                  <a:pt x="306" y="826"/>
                </a:lnTo>
                <a:lnTo>
                  <a:pt x="302" y="820"/>
                </a:lnTo>
                <a:lnTo>
                  <a:pt x="302" y="820"/>
                </a:lnTo>
                <a:lnTo>
                  <a:pt x="298" y="810"/>
                </a:lnTo>
                <a:lnTo>
                  <a:pt x="298" y="810"/>
                </a:lnTo>
                <a:lnTo>
                  <a:pt x="298" y="808"/>
                </a:lnTo>
                <a:lnTo>
                  <a:pt x="298" y="808"/>
                </a:lnTo>
                <a:lnTo>
                  <a:pt x="296" y="804"/>
                </a:lnTo>
                <a:lnTo>
                  <a:pt x="296" y="804"/>
                </a:lnTo>
                <a:lnTo>
                  <a:pt x="290" y="794"/>
                </a:lnTo>
                <a:lnTo>
                  <a:pt x="290" y="794"/>
                </a:lnTo>
                <a:lnTo>
                  <a:pt x="290" y="790"/>
                </a:lnTo>
                <a:lnTo>
                  <a:pt x="290" y="790"/>
                </a:lnTo>
                <a:lnTo>
                  <a:pt x="282" y="774"/>
                </a:lnTo>
                <a:lnTo>
                  <a:pt x="282" y="774"/>
                </a:lnTo>
                <a:lnTo>
                  <a:pt x="276" y="760"/>
                </a:lnTo>
                <a:lnTo>
                  <a:pt x="276" y="760"/>
                </a:lnTo>
                <a:lnTo>
                  <a:pt x="270" y="744"/>
                </a:lnTo>
                <a:lnTo>
                  <a:pt x="270" y="744"/>
                </a:lnTo>
                <a:lnTo>
                  <a:pt x="266" y="728"/>
                </a:lnTo>
                <a:lnTo>
                  <a:pt x="266" y="728"/>
                </a:lnTo>
                <a:lnTo>
                  <a:pt x="260" y="712"/>
                </a:lnTo>
                <a:lnTo>
                  <a:pt x="260" y="712"/>
                </a:lnTo>
                <a:lnTo>
                  <a:pt x="256" y="696"/>
                </a:lnTo>
                <a:lnTo>
                  <a:pt x="256" y="696"/>
                </a:lnTo>
                <a:lnTo>
                  <a:pt x="252" y="680"/>
                </a:lnTo>
                <a:lnTo>
                  <a:pt x="252" y="680"/>
                </a:lnTo>
                <a:lnTo>
                  <a:pt x="248" y="662"/>
                </a:lnTo>
                <a:lnTo>
                  <a:pt x="248" y="662"/>
                </a:lnTo>
                <a:lnTo>
                  <a:pt x="248" y="660"/>
                </a:lnTo>
                <a:lnTo>
                  <a:pt x="248" y="660"/>
                </a:lnTo>
                <a:lnTo>
                  <a:pt x="246" y="648"/>
                </a:lnTo>
                <a:lnTo>
                  <a:pt x="246" y="648"/>
                </a:lnTo>
                <a:lnTo>
                  <a:pt x="244" y="644"/>
                </a:lnTo>
                <a:lnTo>
                  <a:pt x="244" y="644"/>
                </a:lnTo>
                <a:lnTo>
                  <a:pt x="244" y="642"/>
                </a:lnTo>
                <a:lnTo>
                  <a:pt x="244" y="642"/>
                </a:lnTo>
                <a:lnTo>
                  <a:pt x="242" y="632"/>
                </a:lnTo>
                <a:lnTo>
                  <a:pt x="242" y="632"/>
                </a:lnTo>
                <a:lnTo>
                  <a:pt x="240" y="624"/>
                </a:lnTo>
                <a:lnTo>
                  <a:pt x="240" y="624"/>
                </a:lnTo>
                <a:lnTo>
                  <a:pt x="240" y="618"/>
                </a:lnTo>
                <a:lnTo>
                  <a:pt x="240" y="618"/>
                </a:lnTo>
                <a:lnTo>
                  <a:pt x="238" y="608"/>
                </a:lnTo>
                <a:lnTo>
                  <a:pt x="238" y="608"/>
                </a:lnTo>
                <a:lnTo>
                  <a:pt x="238" y="604"/>
                </a:lnTo>
                <a:lnTo>
                  <a:pt x="238" y="604"/>
                </a:lnTo>
                <a:lnTo>
                  <a:pt x="238" y="600"/>
                </a:lnTo>
                <a:lnTo>
                  <a:pt x="238" y="600"/>
                </a:lnTo>
                <a:lnTo>
                  <a:pt x="236" y="588"/>
                </a:lnTo>
                <a:lnTo>
                  <a:pt x="236" y="588"/>
                </a:lnTo>
                <a:lnTo>
                  <a:pt x="236" y="586"/>
                </a:lnTo>
                <a:lnTo>
                  <a:pt x="236" y="586"/>
                </a:lnTo>
                <a:lnTo>
                  <a:pt x="234" y="568"/>
                </a:lnTo>
                <a:lnTo>
                  <a:pt x="234" y="568"/>
                </a:lnTo>
                <a:lnTo>
                  <a:pt x="234" y="552"/>
                </a:lnTo>
                <a:lnTo>
                  <a:pt x="234" y="552"/>
                </a:lnTo>
                <a:lnTo>
                  <a:pt x="232" y="536"/>
                </a:lnTo>
                <a:lnTo>
                  <a:pt x="232" y="536"/>
                </a:lnTo>
                <a:lnTo>
                  <a:pt x="232" y="518"/>
                </a:lnTo>
                <a:lnTo>
                  <a:pt x="232" y="518"/>
                </a:lnTo>
                <a:lnTo>
                  <a:pt x="232" y="502"/>
                </a:lnTo>
                <a:lnTo>
                  <a:pt x="232" y="502"/>
                </a:lnTo>
                <a:lnTo>
                  <a:pt x="234" y="484"/>
                </a:lnTo>
                <a:lnTo>
                  <a:pt x="234" y="484"/>
                </a:lnTo>
                <a:lnTo>
                  <a:pt x="234" y="470"/>
                </a:lnTo>
                <a:lnTo>
                  <a:pt x="234" y="470"/>
                </a:lnTo>
                <a:lnTo>
                  <a:pt x="236" y="452"/>
                </a:lnTo>
                <a:lnTo>
                  <a:pt x="236" y="452"/>
                </a:lnTo>
                <a:lnTo>
                  <a:pt x="236" y="448"/>
                </a:lnTo>
                <a:lnTo>
                  <a:pt x="236" y="448"/>
                </a:lnTo>
                <a:lnTo>
                  <a:pt x="238" y="438"/>
                </a:lnTo>
                <a:lnTo>
                  <a:pt x="238" y="438"/>
                </a:lnTo>
                <a:lnTo>
                  <a:pt x="238" y="434"/>
                </a:lnTo>
                <a:lnTo>
                  <a:pt x="238" y="434"/>
                </a:lnTo>
                <a:lnTo>
                  <a:pt x="238" y="430"/>
                </a:lnTo>
                <a:lnTo>
                  <a:pt x="238" y="430"/>
                </a:lnTo>
                <a:lnTo>
                  <a:pt x="240" y="420"/>
                </a:lnTo>
                <a:lnTo>
                  <a:pt x="240" y="420"/>
                </a:lnTo>
                <a:lnTo>
                  <a:pt x="240" y="414"/>
                </a:lnTo>
                <a:lnTo>
                  <a:pt x="240" y="414"/>
                </a:lnTo>
                <a:lnTo>
                  <a:pt x="242" y="406"/>
                </a:lnTo>
                <a:lnTo>
                  <a:pt x="242" y="406"/>
                </a:lnTo>
                <a:lnTo>
                  <a:pt x="244" y="396"/>
                </a:lnTo>
                <a:lnTo>
                  <a:pt x="244" y="396"/>
                </a:lnTo>
                <a:lnTo>
                  <a:pt x="244" y="392"/>
                </a:lnTo>
                <a:lnTo>
                  <a:pt x="244" y="392"/>
                </a:lnTo>
                <a:lnTo>
                  <a:pt x="246" y="388"/>
                </a:lnTo>
                <a:lnTo>
                  <a:pt x="246" y="388"/>
                </a:lnTo>
                <a:lnTo>
                  <a:pt x="248" y="378"/>
                </a:lnTo>
                <a:lnTo>
                  <a:pt x="248" y="378"/>
                </a:lnTo>
                <a:lnTo>
                  <a:pt x="248" y="374"/>
                </a:lnTo>
                <a:lnTo>
                  <a:pt x="248" y="374"/>
                </a:lnTo>
                <a:lnTo>
                  <a:pt x="252" y="356"/>
                </a:lnTo>
                <a:lnTo>
                  <a:pt x="252" y="356"/>
                </a:lnTo>
                <a:lnTo>
                  <a:pt x="256" y="342"/>
                </a:lnTo>
                <a:lnTo>
                  <a:pt x="256" y="342"/>
                </a:lnTo>
                <a:lnTo>
                  <a:pt x="260" y="326"/>
                </a:lnTo>
                <a:lnTo>
                  <a:pt x="260" y="326"/>
                </a:lnTo>
                <a:lnTo>
                  <a:pt x="266" y="310"/>
                </a:lnTo>
                <a:lnTo>
                  <a:pt x="266" y="310"/>
                </a:lnTo>
                <a:lnTo>
                  <a:pt x="270" y="294"/>
                </a:lnTo>
                <a:lnTo>
                  <a:pt x="270" y="294"/>
                </a:lnTo>
                <a:lnTo>
                  <a:pt x="276" y="278"/>
                </a:lnTo>
                <a:lnTo>
                  <a:pt x="276" y="278"/>
                </a:lnTo>
                <a:lnTo>
                  <a:pt x="282" y="264"/>
                </a:lnTo>
                <a:lnTo>
                  <a:pt x="282" y="264"/>
                </a:lnTo>
                <a:lnTo>
                  <a:pt x="290" y="248"/>
                </a:lnTo>
                <a:lnTo>
                  <a:pt x="290" y="248"/>
                </a:lnTo>
                <a:lnTo>
                  <a:pt x="290" y="244"/>
                </a:lnTo>
                <a:lnTo>
                  <a:pt x="290" y="244"/>
                </a:lnTo>
                <a:lnTo>
                  <a:pt x="296" y="234"/>
                </a:lnTo>
                <a:lnTo>
                  <a:pt x="296" y="234"/>
                </a:lnTo>
                <a:lnTo>
                  <a:pt x="298" y="230"/>
                </a:lnTo>
                <a:lnTo>
                  <a:pt x="298" y="230"/>
                </a:lnTo>
                <a:lnTo>
                  <a:pt x="298" y="228"/>
                </a:lnTo>
                <a:lnTo>
                  <a:pt x="298" y="228"/>
                </a:lnTo>
                <a:lnTo>
                  <a:pt x="302" y="218"/>
                </a:lnTo>
                <a:lnTo>
                  <a:pt x="302" y="218"/>
                </a:lnTo>
                <a:lnTo>
                  <a:pt x="306" y="212"/>
                </a:lnTo>
                <a:lnTo>
                  <a:pt x="306" y="212"/>
                </a:lnTo>
                <a:lnTo>
                  <a:pt x="310" y="206"/>
                </a:lnTo>
                <a:lnTo>
                  <a:pt x="310" y="206"/>
                </a:lnTo>
                <a:lnTo>
                  <a:pt x="314" y="196"/>
                </a:lnTo>
                <a:lnTo>
                  <a:pt x="314" y="196"/>
                </a:lnTo>
                <a:lnTo>
                  <a:pt x="316" y="194"/>
                </a:lnTo>
                <a:lnTo>
                  <a:pt x="316" y="194"/>
                </a:lnTo>
                <a:lnTo>
                  <a:pt x="318" y="190"/>
                </a:lnTo>
                <a:lnTo>
                  <a:pt x="318" y="190"/>
                </a:lnTo>
                <a:lnTo>
                  <a:pt x="324" y="180"/>
                </a:lnTo>
                <a:lnTo>
                  <a:pt x="324" y="180"/>
                </a:lnTo>
                <a:lnTo>
                  <a:pt x="324" y="178"/>
                </a:lnTo>
                <a:lnTo>
                  <a:pt x="324" y="178"/>
                </a:lnTo>
                <a:lnTo>
                  <a:pt x="334" y="162"/>
                </a:lnTo>
                <a:lnTo>
                  <a:pt x="334" y="162"/>
                </a:lnTo>
                <a:lnTo>
                  <a:pt x="342" y="150"/>
                </a:lnTo>
                <a:lnTo>
                  <a:pt x="342" y="150"/>
                </a:lnTo>
                <a:lnTo>
                  <a:pt x="352" y="136"/>
                </a:lnTo>
                <a:lnTo>
                  <a:pt x="164" y="0"/>
                </a:lnTo>
                <a:lnTo>
                  <a:pt x="164" y="0"/>
                </a:lnTo>
                <a:lnTo>
                  <a:pt x="162" y="2"/>
                </a:lnTo>
                <a:lnTo>
                  <a:pt x="162" y="2"/>
                </a:lnTo>
                <a:lnTo>
                  <a:pt x="160" y="6"/>
                </a:lnTo>
                <a:lnTo>
                  <a:pt x="160" y="6"/>
                </a:lnTo>
                <a:lnTo>
                  <a:pt x="150" y="20"/>
                </a:lnTo>
                <a:lnTo>
                  <a:pt x="150" y="20"/>
                </a:lnTo>
                <a:lnTo>
                  <a:pt x="146" y="26"/>
                </a:lnTo>
                <a:lnTo>
                  <a:pt x="146" y="26"/>
                </a:lnTo>
                <a:lnTo>
                  <a:pt x="140" y="36"/>
                </a:lnTo>
                <a:lnTo>
                  <a:pt x="140" y="36"/>
                </a:lnTo>
                <a:lnTo>
                  <a:pt x="132" y="48"/>
                </a:lnTo>
                <a:lnTo>
                  <a:pt x="132" y="48"/>
                </a:lnTo>
                <a:lnTo>
                  <a:pt x="130" y="52"/>
                </a:lnTo>
                <a:lnTo>
                  <a:pt x="130" y="52"/>
                </a:lnTo>
                <a:lnTo>
                  <a:pt x="100" y="106"/>
                </a:lnTo>
                <a:lnTo>
                  <a:pt x="72" y="164"/>
                </a:lnTo>
                <a:lnTo>
                  <a:pt x="72" y="164"/>
                </a:lnTo>
                <a:lnTo>
                  <a:pt x="72" y="168"/>
                </a:lnTo>
                <a:lnTo>
                  <a:pt x="72" y="168"/>
                </a:lnTo>
                <a:lnTo>
                  <a:pt x="66" y="180"/>
                </a:lnTo>
                <a:lnTo>
                  <a:pt x="66" y="180"/>
                </a:lnTo>
                <a:lnTo>
                  <a:pt x="62" y="190"/>
                </a:lnTo>
                <a:lnTo>
                  <a:pt x="62" y="190"/>
                </a:lnTo>
                <a:lnTo>
                  <a:pt x="58" y="198"/>
                </a:lnTo>
                <a:lnTo>
                  <a:pt x="58" y="198"/>
                </a:lnTo>
                <a:lnTo>
                  <a:pt x="54" y="214"/>
                </a:lnTo>
                <a:lnTo>
                  <a:pt x="54" y="214"/>
                </a:lnTo>
                <a:lnTo>
                  <a:pt x="52" y="218"/>
                </a:lnTo>
                <a:lnTo>
                  <a:pt x="52" y="218"/>
                </a:lnTo>
                <a:lnTo>
                  <a:pt x="44" y="238"/>
                </a:lnTo>
                <a:lnTo>
                  <a:pt x="44" y="238"/>
                </a:lnTo>
                <a:lnTo>
                  <a:pt x="44" y="238"/>
                </a:lnTo>
                <a:lnTo>
                  <a:pt x="44" y="238"/>
                </a:lnTo>
                <a:lnTo>
                  <a:pt x="44" y="238"/>
                </a:lnTo>
                <a:lnTo>
                  <a:pt x="44" y="238"/>
                </a:lnTo>
                <a:lnTo>
                  <a:pt x="38" y="258"/>
                </a:lnTo>
                <a:lnTo>
                  <a:pt x="38" y="258"/>
                </a:lnTo>
                <a:lnTo>
                  <a:pt x="38" y="262"/>
                </a:lnTo>
                <a:lnTo>
                  <a:pt x="38" y="262"/>
                </a:lnTo>
                <a:lnTo>
                  <a:pt x="32" y="278"/>
                </a:lnTo>
                <a:lnTo>
                  <a:pt x="32" y="278"/>
                </a:lnTo>
                <a:lnTo>
                  <a:pt x="30" y="286"/>
                </a:lnTo>
                <a:lnTo>
                  <a:pt x="30" y="286"/>
                </a:lnTo>
                <a:lnTo>
                  <a:pt x="28" y="298"/>
                </a:lnTo>
                <a:lnTo>
                  <a:pt x="28" y="298"/>
                </a:lnTo>
                <a:lnTo>
                  <a:pt x="24" y="310"/>
                </a:lnTo>
                <a:lnTo>
                  <a:pt x="24" y="310"/>
                </a:lnTo>
                <a:lnTo>
                  <a:pt x="24" y="316"/>
                </a:lnTo>
                <a:lnTo>
                  <a:pt x="24" y="316"/>
                </a:lnTo>
                <a:lnTo>
                  <a:pt x="12" y="376"/>
                </a:lnTo>
                <a:lnTo>
                  <a:pt x="4" y="438"/>
                </a:lnTo>
                <a:lnTo>
                  <a:pt x="4" y="438"/>
                </a:lnTo>
                <a:lnTo>
                  <a:pt x="4" y="444"/>
                </a:lnTo>
                <a:lnTo>
                  <a:pt x="4" y="444"/>
                </a:lnTo>
                <a:lnTo>
                  <a:pt x="2" y="458"/>
                </a:lnTo>
                <a:lnTo>
                  <a:pt x="2" y="458"/>
                </a:lnTo>
                <a:lnTo>
                  <a:pt x="2" y="468"/>
                </a:lnTo>
                <a:lnTo>
                  <a:pt x="2" y="468"/>
                </a:lnTo>
                <a:lnTo>
                  <a:pt x="2" y="476"/>
                </a:lnTo>
                <a:lnTo>
                  <a:pt x="2" y="476"/>
                </a:lnTo>
                <a:lnTo>
                  <a:pt x="0" y="494"/>
                </a:lnTo>
                <a:lnTo>
                  <a:pt x="0" y="494"/>
                </a:lnTo>
                <a:lnTo>
                  <a:pt x="0" y="498"/>
                </a:lnTo>
                <a:lnTo>
                  <a:pt x="0" y="498"/>
                </a:lnTo>
                <a:lnTo>
                  <a:pt x="0" y="518"/>
                </a:lnTo>
                <a:lnTo>
                  <a:pt x="0" y="518"/>
                </a:lnTo>
                <a:lnTo>
                  <a:pt x="0" y="518"/>
                </a:lnTo>
                <a:lnTo>
                  <a:pt x="0" y="518"/>
                </a:lnTo>
                <a:lnTo>
                  <a:pt x="0" y="518"/>
                </a:lnTo>
                <a:lnTo>
                  <a:pt x="0" y="518"/>
                </a:lnTo>
                <a:lnTo>
                  <a:pt x="0" y="540"/>
                </a:lnTo>
                <a:lnTo>
                  <a:pt x="0" y="540"/>
                </a:lnTo>
                <a:lnTo>
                  <a:pt x="0" y="544"/>
                </a:lnTo>
                <a:lnTo>
                  <a:pt x="0" y="544"/>
                </a:lnTo>
                <a:lnTo>
                  <a:pt x="2" y="560"/>
                </a:lnTo>
                <a:lnTo>
                  <a:pt x="2" y="560"/>
                </a:lnTo>
                <a:lnTo>
                  <a:pt x="2" y="570"/>
                </a:lnTo>
                <a:lnTo>
                  <a:pt x="2" y="570"/>
                </a:lnTo>
                <a:lnTo>
                  <a:pt x="2" y="580"/>
                </a:lnTo>
                <a:lnTo>
                  <a:pt x="2" y="580"/>
                </a:lnTo>
                <a:lnTo>
                  <a:pt x="4" y="594"/>
                </a:lnTo>
                <a:lnTo>
                  <a:pt x="4" y="594"/>
                </a:lnTo>
                <a:lnTo>
                  <a:pt x="4" y="598"/>
                </a:lnTo>
                <a:lnTo>
                  <a:pt x="4" y="598"/>
                </a:lnTo>
                <a:lnTo>
                  <a:pt x="12" y="660"/>
                </a:lnTo>
                <a:lnTo>
                  <a:pt x="24" y="722"/>
                </a:lnTo>
                <a:lnTo>
                  <a:pt x="24" y="722"/>
                </a:lnTo>
                <a:lnTo>
                  <a:pt x="24" y="726"/>
                </a:lnTo>
                <a:lnTo>
                  <a:pt x="24" y="726"/>
                </a:lnTo>
                <a:lnTo>
                  <a:pt x="28" y="740"/>
                </a:lnTo>
                <a:lnTo>
                  <a:pt x="28" y="740"/>
                </a:lnTo>
                <a:lnTo>
                  <a:pt x="30" y="750"/>
                </a:lnTo>
                <a:lnTo>
                  <a:pt x="30" y="750"/>
                </a:lnTo>
                <a:lnTo>
                  <a:pt x="32" y="758"/>
                </a:lnTo>
                <a:lnTo>
                  <a:pt x="32" y="758"/>
                </a:lnTo>
                <a:lnTo>
                  <a:pt x="38" y="774"/>
                </a:lnTo>
                <a:lnTo>
                  <a:pt x="38" y="774"/>
                </a:lnTo>
                <a:lnTo>
                  <a:pt x="38" y="778"/>
                </a:lnTo>
                <a:lnTo>
                  <a:pt x="38" y="778"/>
                </a:lnTo>
                <a:lnTo>
                  <a:pt x="44" y="800"/>
                </a:lnTo>
                <a:lnTo>
                  <a:pt x="44" y="800"/>
                </a:lnTo>
                <a:lnTo>
                  <a:pt x="44" y="800"/>
                </a:lnTo>
                <a:lnTo>
                  <a:pt x="44" y="800"/>
                </a:lnTo>
                <a:lnTo>
                  <a:pt x="44" y="800"/>
                </a:lnTo>
                <a:lnTo>
                  <a:pt x="44" y="800"/>
                </a:lnTo>
                <a:lnTo>
                  <a:pt x="52" y="820"/>
                </a:lnTo>
                <a:lnTo>
                  <a:pt x="52" y="820"/>
                </a:lnTo>
                <a:lnTo>
                  <a:pt x="54" y="824"/>
                </a:lnTo>
                <a:lnTo>
                  <a:pt x="54" y="824"/>
                </a:lnTo>
                <a:lnTo>
                  <a:pt x="58" y="840"/>
                </a:lnTo>
                <a:lnTo>
                  <a:pt x="58" y="840"/>
                </a:lnTo>
                <a:lnTo>
                  <a:pt x="62" y="848"/>
                </a:lnTo>
                <a:lnTo>
                  <a:pt x="62" y="848"/>
                </a:lnTo>
                <a:lnTo>
                  <a:pt x="66" y="858"/>
                </a:lnTo>
                <a:lnTo>
                  <a:pt x="66" y="858"/>
                </a:lnTo>
                <a:lnTo>
                  <a:pt x="72" y="870"/>
                </a:lnTo>
                <a:lnTo>
                  <a:pt x="72" y="870"/>
                </a:lnTo>
                <a:lnTo>
                  <a:pt x="72" y="874"/>
                </a:lnTo>
                <a:lnTo>
                  <a:pt x="72" y="874"/>
                </a:lnTo>
                <a:lnTo>
                  <a:pt x="100" y="930"/>
                </a:lnTo>
                <a:lnTo>
                  <a:pt x="130" y="986"/>
                </a:lnTo>
                <a:lnTo>
                  <a:pt x="130" y="986"/>
                </a:lnTo>
                <a:lnTo>
                  <a:pt x="132" y="990"/>
                </a:lnTo>
                <a:lnTo>
                  <a:pt x="132" y="990"/>
                </a:lnTo>
                <a:lnTo>
                  <a:pt x="140" y="1002"/>
                </a:lnTo>
                <a:lnTo>
                  <a:pt x="140" y="1002"/>
                </a:lnTo>
                <a:lnTo>
                  <a:pt x="146" y="1010"/>
                </a:lnTo>
                <a:lnTo>
                  <a:pt x="146" y="1010"/>
                </a:lnTo>
                <a:lnTo>
                  <a:pt x="150" y="1018"/>
                </a:lnTo>
                <a:lnTo>
                  <a:pt x="150" y="1018"/>
                </a:lnTo>
                <a:lnTo>
                  <a:pt x="160" y="1032"/>
                </a:lnTo>
                <a:lnTo>
                  <a:pt x="160" y="1032"/>
                </a:lnTo>
                <a:lnTo>
                  <a:pt x="162" y="1034"/>
                </a:lnTo>
                <a:lnTo>
                  <a:pt x="162" y="1034"/>
                </a:lnTo>
                <a:lnTo>
                  <a:pt x="164" y="1038"/>
                </a:lnTo>
                <a:lnTo>
                  <a:pt x="352" y="902"/>
                </a:lnTo>
                <a:close/>
              </a:path>
            </a:pathLst>
          </a:custGeom>
          <a:solidFill>
            <a:srgbClr val="8EAADC"/>
          </a:solidFill>
          <a:ln w="3175">
            <a:noFill/>
            <a:prstDash val="solid"/>
            <a:round/>
          </a:ln>
        </p:spPr>
        <p:txBody>
          <a:bodyPr vert="horz" wrap="square" lIns="68580" tIns="34290" rIns="68580" bIns="34290" numCol="1" anchor="t" anchorCtr="0" compatLnSpc="1"/>
          <a:lstStyle/>
          <a:p>
            <a:pPr>
              <a:lnSpc>
                <a:spcPct val="120000"/>
              </a:lnSpc>
            </a:pPr>
            <a:endParaRPr lang="zh-CN" altLang="en-US" sz="1350">
              <a:latin typeface="Arial" panose="020B0604020202020204" pitchFamily="34" charset="0"/>
              <a:ea typeface="微软雅黑" panose="020B0503020204020204" pitchFamily="34" charset="-122"/>
              <a:sym typeface="Arial" panose="020B0604020202020204" pitchFamily="34" charset="0"/>
            </a:endParaRPr>
          </a:p>
        </p:txBody>
      </p:sp>
      <p:sp>
        <p:nvSpPr>
          <p:cNvPr id="55" name="Freeform 10"/>
          <p:cNvSpPr/>
          <p:nvPr>
            <p:custDataLst>
              <p:tags r:id="rId5"/>
            </p:custDataLst>
          </p:nvPr>
        </p:nvSpPr>
        <p:spPr bwMode="auto">
          <a:xfrm rot="19240499">
            <a:off x="3870565" y="5557331"/>
            <a:ext cx="1176338" cy="590550"/>
          </a:xfrm>
          <a:custGeom>
            <a:avLst/>
            <a:gdLst>
              <a:gd name="T0" fmla="*/ 886 w 988"/>
              <a:gd name="T1" fmla="*/ 244 h 496"/>
              <a:gd name="T2" fmla="*/ 866 w 988"/>
              <a:gd name="T3" fmla="*/ 250 h 496"/>
              <a:gd name="T4" fmla="*/ 846 w 988"/>
              <a:gd name="T5" fmla="*/ 254 h 496"/>
              <a:gd name="T6" fmla="*/ 830 w 988"/>
              <a:gd name="T7" fmla="*/ 256 h 496"/>
              <a:gd name="T8" fmla="*/ 810 w 988"/>
              <a:gd name="T9" fmla="*/ 260 h 496"/>
              <a:gd name="T10" fmla="*/ 794 w 988"/>
              <a:gd name="T11" fmla="*/ 262 h 496"/>
              <a:gd name="T12" fmla="*/ 758 w 988"/>
              <a:gd name="T13" fmla="*/ 264 h 496"/>
              <a:gd name="T14" fmla="*/ 724 w 988"/>
              <a:gd name="T15" fmla="*/ 264 h 496"/>
              <a:gd name="T16" fmla="*/ 676 w 988"/>
              <a:gd name="T17" fmla="*/ 262 h 496"/>
              <a:gd name="T18" fmla="*/ 654 w 988"/>
              <a:gd name="T19" fmla="*/ 262 h 496"/>
              <a:gd name="T20" fmla="*/ 636 w 988"/>
              <a:gd name="T21" fmla="*/ 258 h 496"/>
              <a:gd name="T22" fmla="*/ 618 w 988"/>
              <a:gd name="T23" fmla="*/ 256 h 496"/>
              <a:gd name="T24" fmla="*/ 598 w 988"/>
              <a:gd name="T25" fmla="*/ 252 h 496"/>
              <a:gd name="T26" fmla="*/ 584 w 988"/>
              <a:gd name="T27" fmla="*/ 250 h 496"/>
              <a:gd name="T28" fmla="*/ 548 w 988"/>
              <a:gd name="T29" fmla="*/ 242 h 496"/>
              <a:gd name="T30" fmla="*/ 516 w 988"/>
              <a:gd name="T31" fmla="*/ 232 h 496"/>
              <a:gd name="T32" fmla="*/ 470 w 988"/>
              <a:gd name="T33" fmla="*/ 214 h 496"/>
              <a:gd name="T34" fmla="*/ 450 w 988"/>
              <a:gd name="T35" fmla="*/ 206 h 496"/>
              <a:gd name="T36" fmla="*/ 432 w 988"/>
              <a:gd name="T37" fmla="*/ 198 h 496"/>
              <a:gd name="T38" fmla="*/ 418 w 988"/>
              <a:gd name="T39" fmla="*/ 192 h 496"/>
              <a:gd name="T40" fmla="*/ 400 w 988"/>
              <a:gd name="T41" fmla="*/ 182 h 496"/>
              <a:gd name="T42" fmla="*/ 386 w 988"/>
              <a:gd name="T43" fmla="*/ 174 h 496"/>
              <a:gd name="T44" fmla="*/ 354 w 988"/>
              <a:gd name="T45" fmla="*/ 154 h 496"/>
              <a:gd name="T46" fmla="*/ 328 w 988"/>
              <a:gd name="T47" fmla="*/ 136 h 496"/>
              <a:gd name="T48" fmla="*/ 288 w 988"/>
              <a:gd name="T49" fmla="*/ 106 h 496"/>
              <a:gd name="T50" fmla="*/ 272 w 988"/>
              <a:gd name="T51" fmla="*/ 92 h 496"/>
              <a:gd name="T52" fmla="*/ 258 w 988"/>
              <a:gd name="T53" fmla="*/ 78 h 496"/>
              <a:gd name="T54" fmla="*/ 246 w 988"/>
              <a:gd name="T55" fmla="*/ 66 h 496"/>
              <a:gd name="T56" fmla="*/ 232 w 988"/>
              <a:gd name="T57" fmla="*/ 52 h 496"/>
              <a:gd name="T58" fmla="*/ 222 w 988"/>
              <a:gd name="T59" fmla="*/ 40 h 496"/>
              <a:gd name="T60" fmla="*/ 198 w 988"/>
              <a:gd name="T61" fmla="*/ 12 h 496"/>
              <a:gd name="T62" fmla="*/ 2 w 988"/>
              <a:gd name="T63" fmla="*/ 140 h 496"/>
              <a:gd name="T64" fmla="*/ 16 w 988"/>
              <a:gd name="T65" fmla="*/ 156 h 496"/>
              <a:gd name="T66" fmla="*/ 36 w 988"/>
              <a:gd name="T67" fmla="*/ 182 h 496"/>
              <a:gd name="T68" fmla="*/ 128 w 988"/>
              <a:gd name="T69" fmla="*/ 274 h 496"/>
              <a:gd name="T70" fmla="*/ 142 w 988"/>
              <a:gd name="T71" fmla="*/ 286 h 496"/>
              <a:gd name="T72" fmla="*/ 170 w 988"/>
              <a:gd name="T73" fmla="*/ 308 h 496"/>
              <a:gd name="T74" fmla="*/ 190 w 988"/>
              <a:gd name="T75" fmla="*/ 324 h 496"/>
              <a:gd name="T76" fmla="*/ 208 w 988"/>
              <a:gd name="T77" fmla="*/ 336 h 496"/>
              <a:gd name="T78" fmla="*/ 226 w 988"/>
              <a:gd name="T79" fmla="*/ 348 h 496"/>
              <a:gd name="T80" fmla="*/ 254 w 988"/>
              <a:gd name="T81" fmla="*/ 366 h 496"/>
              <a:gd name="T82" fmla="*/ 368 w 988"/>
              <a:gd name="T83" fmla="*/ 424 h 496"/>
              <a:gd name="T84" fmla="*/ 386 w 988"/>
              <a:gd name="T85" fmla="*/ 432 h 496"/>
              <a:gd name="T86" fmla="*/ 420 w 988"/>
              <a:gd name="T87" fmla="*/ 444 h 496"/>
              <a:gd name="T88" fmla="*/ 444 w 988"/>
              <a:gd name="T89" fmla="*/ 452 h 496"/>
              <a:gd name="T90" fmla="*/ 464 w 988"/>
              <a:gd name="T91" fmla="*/ 458 h 496"/>
              <a:gd name="T92" fmla="*/ 484 w 988"/>
              <a:gd name="T93" fmla="*/ 464 h 496"/>
              <a:gd name="T94" fmla="*/ 516 w 988"/>
              <a:gd name="T95" fmla="*/ 472 h 496"/>
              <a:gd name="T96" fmla="*/ 644 w 988"/>
              <a:gd name="T97" fmla="*/ 494 h 496"/>
              <a:gd name="T98" fmla="*/ 662 w 988"/>
              <a:gd name="T99" fmla="*/ 494 h 496"/>
              <a:gd name="T100" fmla="*/ 698 w 988"/>
              <a:gd name="T101" fmla="*/ 496 h 496"/>
              <a:gd name="T102" fmla="*/ 724 w 988"/>
              <a:gd name="T103" fmla="*/ 496 h 496"/>
              <a:gd name="T104" fmla="*/ 746 w 988"/>
              <a:gd name="T105" fmla="*/ 496 h 496"/>
              <a:gd name="T106" fmla="*/ 766 w 988"/>
              <a:gd name="T107" fmla="*/ 496 h 496"/>
              <a:gd name="T108" fmla="*/ 800 w 988"/>
              <a:gd name="T109" fmla="*/ 494 h 496"/>
              <a:gd name="T110" fmla="*/ 928 w 988"/>
              <a:gd name="T111" fmla="*/ 474 h 496"/>
              <a:gd name="T112" fmla="*/ 946 w 988"/>
              <a:gd name="T113" fmla="*/ 470 h 496"/>
              <a:gd name="T114" fmla="*/ 980 w 988"/>
              <a:gd name="T115" fmla="*/ 460 h 496"/>
              <a:gd name="T116" fmla="*/ 916 w 988"/>
              <a:gd name="T117" fmla="*/ 23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88" h="496">
                <a:moveTo>
                  <a:pt x="916" y="236"/>
                </a:moveTo>
                <a:lnTo>
                  <a:pt x="916" y="236"/>
                </a:lnTo>
                <a:lnTo>
                  <a:pt x="900" y="242"/>
                </a:lnTo>
                <a:lnTo>
                  <a:pt x="900" y="242"/>
                </a:lnTo>
                <a:lnTo>
                  <a:pt x="886" y="244"/>
                </a:lnTo>
                <a:lnTo>
                  <a:pt x="886" y="244"/>
                </a:lnTo>
                <a:lnTo>
                  <a:pt x="868" y="250"/>
                </a:lnTo>
                <a:lnTo>
                  <a:pt x="868" y="250"/>
                </a:lnTo>
                <a:lnTo>
                  <a:pt x="866" y="250"/>
                </a:lnTo>
                <a:lnTo>
                  <a:pt x="866" y="250"/>
                </a:lnTo>
                <a:lnTo>
                  <a:pt x="854" y="252"/>
                </a:lnTo>
                <a:lnTo>
                  <a:pt x="854" y="252"/>
                </a:lnTo>
                <a:lnTo>
                  <a:pt x="850" y="252"/>
                </a:lnTo>
                <a:lnTo>
                  <a:pt x="850" y="252"/>
                </a:lnTo>
                <a:lnTo>
                  <a:pt x="846" y="254"/>
                </a:lnTo>
                <a:lnTo>
                  <a:pt x="846" y="254"/>
                </a:lnTo>
                <a:lnTo>
                  <a:pt x="836" y="256"/>
                </a:lnTo>
                <a:lnTo>
                  <a:pt x="836" y="256"/>
                </a:lnTo>
                <a:lnTo>
                  <a:pt x="830" y="256"/>
                </a:lnTo>
                <a:lnTo>
                  <a:pt x="830" y="256"/>
                </a:lnTo>
                <a:lnTo>
                  <a:pt x="824" y="258"/>
                </a:lnTo>
                <a:lnTo>
                  <a:pt x="824" y="258"/>
                </a:lnTo>
                <a:lnTo>
                  <a:pt x="814" y="258"/>
                </a:lnTo>
                <a:lnTo>
                  <a:pt x="814" y="258"/>
                </a:lnTo>
                <a:lnTo>
                  <a:pt x="810" y="260"/>
                </a:lnTo>
                <a:lnTo>
                  <a:pt x="810" y="260"/>
                </a:lnTo>
                <a:lnTo>
                  <a:pt x="806" y="260"/>
                </a:lnTo>
                <a:lnTo>
                  <a:pt x="806" y="260"/>
                </a:lnTo>
                <a:lnTo>
                  <a:pt x="794" y="262"/>
                </a:lnTo>
                <a:lnTo>
                  <a:pt x="794" y="262"/>
                </a:lnTo>
                <a:lnTo>
                  <a:pt x="792" y="262"/>
                </a:lnTo>
                <a:lnTo>
                  <a:pt x="792" y="262"/>
                </a:lnTo>
                <a:lnTo>
                  <a:pt x="774" y="262"/>
                </a:lnTo>
                <a:lnTo>
                  <a:pt x="774" y="262"/>
                </a:lnTo>
                <a:lnTo>
                  <a:pt x="758" y="264"/>
                </a:lnTo>
                <a:lnTo>
                  <a:pt x="758" y="264"/>
                </a:lnTo>
                <a:lnTo>
                  <a:pt x="740" y="264"/>
                </a:lnTo>
                <a:lnTo>
                  <a:pt x="740" y="264"/>
                </a:lnTo>
                <a:lnTo>
                  <a:pt x="724" y="264"/>
                </a:lnTo>
                <a:lnTo>
                  <a:pt x="724" y="264"/>
                </a:lnTo>
                <a:lnTo>
                  <a:pt x="708" y="264"/>
                </a:lnTo>
                <a:lnTo>
                  <a:pt x="708" y="264"/>
                </a:lnTo>
                <a:lnTo>
                  <a:pt x="690" y="264"/>
                </a:lnTo>
                <a:lnTo>
                  <a:pt x="690" y="264"/>
                </a:lnTo>
                <a:lnTo>
                  <a:pt x="676" y="262"/>
                </a:lnTo>
                <a:lnTo>
                  <a:pt x="676" y="262"/>
                </a:lnTo>
                <a:lnTo>
                  <a:pt x="658" y="262"/>
                </a:lnTo>
                <a:lnTo>
                  <a:pt x="658" y="262"/>
                </a:lnTo>
                <a:lnTo>
                  <a:pt x="654" y="262"/>
                </a:lnTo>
                <a:lnTo>
                  <a:pt x="654" y="262"/>
                </a:lnTo>
                <a:lnTo>
                  <a:pt x="644" y="260"/>
                </a:lnTo>
                <a:lnTo>
                  <a:pt x="644" y="260"/>
                </a:lnTo>
                <a:lnTo>
                  <a:pt x="638" y="260"/>
                </a:lnTo>
                <a:lnTo>
                  <a:pt x="638" y="260"/>
                </a:lnTo>
                <a:lnTo>
                  <a:pt x="636" y="258"/>
                </a:lnTo>
                <a:lnTo>
                  <a:pt x="636" y="258"/>
                </a:lnTo>
                <a:lnTo>
                  <a:pt x="626" y="258"/>
                </a:lnTo>
                <a:lnTo>
                  <a:pt x="626" y="258"/>
                </a:lnTo>
                <a:lnTo>
                  <a:pt x="618" y="256"/>
                </a:lnTo>
                <a:lnTo>
                  <a:pt x="618" y="256"/>
                </a:lnTo>
                <a:lnTo>
                  <a:pt x="612" y="256"/>
                </a:lnTo>
                <a:lnTo>
                  <a:pt x="612" y="256"/>
                </a:lnTo>
                <a:lnTo>
                  <a:pt x="602" y="254"/>
                </a:lnTo>
                <a:lnTo>
                  <a:pt x="602" y="254"/>
                </a:lnTo>
                <a:lnTo>
                  <a:pt x="598" y="252"/>
                </a:lnTo>
                <a:lnTo>
                  <a:pt x="598" y="252"/>
                </a:lnTo>
                <a:lnTo>
                  <a:pt x="594" y="252"/>
                </a:lnTo>
                <a:lnTo>
                  <a:pt x="594" y="252"/>
                </a:lnTo>
                <a:lnTo>
                  <a:pt x="584" y="250"/>
                </a:lnTo>
                <a:lnTo>
                  <a:pt x="584" y="250"/>
                </a:lnTo>
                <a:lnTo>
                  <a:pt x="580" y="250"/>
                </a:lnTo>
                <a:lnTo>
                  <a:pt x="580" y="250"/>
                </a:lnTo>
                <a:lnTo>
                  <a:pt x="562" y="244"/>
                </a:lnTo>
                <a:lnTo>
                  <a:pt x="562" y="244"/>
                </a:lnTo>
                <a:lnTo>
                  <a:pt x="548" y="242"/>
                </a:lnTo>
                <a:lnTo>
                  <a:pt x="548" y="242"/>
                </a:lnTo>
                <a:lnTo>
                  <a:pt x="530" y="236"/>
                </a:lnTo>
                <a:lnTo>
                  <a:pt x="530" y="236"/>
                </a:lnTo>
                <a:lnTo>
                  <a:pt x="516" y="232"/>
                </a:lnTo>
                <a:lnTo>
                  <a:pt x="516" y="232"/>
                </a:lnTo>
                <a:lnTo>
                  <a:pt x="500" y="226"/>
                </a:lnTo>
                <a:lnTo>
                  <a:pt x="500" y="226"/>
                </a:lnTo>
                <a:lnTo>
                  <a:pt x="484" y="220"/>
                </a:lnTo>
                <a:lnTo>
                  <a:pt x="484" y="220"/>
                </a:lnTo>
                <a:lnTo>
                  <a:pt x="470" y="214"/>
                </a:lnTo>
                <a:lnTo>
                  <a:pt x="470" y="214"/>
                </a:lnTo>
                <a:lnTo>
                  <a:pt x="452" y="208"/>
                </a:lnTo>
                <a:lnTo>
                  <a:pt x="452" y="208"/>
                </a:lnTo>
                <a:lnTo>
                  <a:pt x="450" y="206"/>
                </a:lnTo>
                <a:lnTo>
                  <a:pt x="450" y="206"/>
                </a:lnTo>
                <a:lnTo>
                  <a:pt x="440" y="202"/>
                </a:lnTo>
                <a:lnTo>
                  <a:pt x="440" y="202"/>
                </a:lnTo>
                <a:lnTo>
                  <a:pt x="436" y="200"/>
                </a:lnTo>
                <a:lnTo>
                  <a:pt x="436" y="200"/>
                </a:lnTo>
                <a:lnTo>
                  <a:pt x="432" y="198"/>
                </a:lnTo>
                <a:lnTo>
                  <a:pt x="432" y="198"/>
                </a:lnTo>
                <a:lnTo>
                  <a:pt x="424" y="194"/>
                </a:lnTo>
                <a:lnTo>
                  <a:pt x="424" y="194"/>
                </a:lnTo>
                <a:lnTo>
                  <a:pt x="418" y="192"/>
                </a:lnTo>
                <a:lnTo>
                  <a:pt x="418" y="192"/>
                </a:lnTo>
                <a:lnTo>
                  <a:pt x="412" y="188"/>
                </a:lnTo>
                <a:lnTo>
                  <a:pt x="412" y="188"/>
                </a:lnTo>
                <a:lnTo>
                  <a:pt x="402" y="184"/>
                </a:lnTo>
                <a:lnTo>
                  <a:pt x="402" y="184"/>
                </a:lnTo>
                <a:lnTo>
                  <a:pt x="400" y="182"/>
                </a:lnTo>
                <a:lnTo>
                  <a:pt x="400" y="182"/>
                </a:lnTo>
                <a:lnTo>
                  <a:pt x="396" y="180"/>
                </a:lnTo>
                <a:lnTo>
                  <a:pt x="396" y="180"/>
                </a:lnTo>
                <a:lnTo>
                  <a:pt x="386" y="174"/>
                </a:lnTo>
                <a:lnTo>
                  <a:pt x="386" y="174"/>
                </a:lnTo>
                <a:lnTo>
                  <a:pt x="384" y="172"/>
                </a:lnTo>
                <a:lnTo>
                  <a:pt x="384" y="172"/>
                </a:lnTo>
                <a:lnTo>
                  <a:pt x="368" y="162"/>
                </a:lnTo>
                <a:lnTo>
                  <a:pt x="368" y="162"/>
                </a:lnTo>
                <a:lnTo>
                  <a:pt x="354" y="154"/>
                </a:lnTo>
                <a:lnTo>
                  <a:pt x="354" y="154"/>
                </a:lnTo>
                <a:lnTo>
                  <a:pt x="340" y="146"/>
                </a:lnTo>
                <a:lnTo>
                  <a:pt x="340" y="146"/>
                </a:lnTo>
                <a:lnTo>
                  <a:pt x="328" y="136"/>
                </a:lnTo>
                <a:lnTo>
                  <a:pt x="328" y="136"/>
                </a:lnTo>
                <a:lnTo>
                  <a:pt x="314" y="126"/>
                </a:lnTo>
                <a:lnTo>
                  <a:pt x="314" y="126"/>
                </a:lnTo>
                <a:lnTo>
                  <a:pt x="300" y="114"/>
                </a:lnTo>
                <a:lnTo>
                  <a:pt x="300" y="114"/>
                </a:lnTo>
                <a:lnTo>
                  <a:pt x="288" y="106"/>
                </a:lnTo>
                <a:lnTo>
                  <a:pt x="288" y="106"/>
                </a:lnTo>
                <a:lnTo>
                  <a:pt x="274" y="94"/>
                </a:lnTo>
                <a:lnTo>
                  <a:pt x="274" y="94"/>
                </a:lnTo>
                <a:lnTo>
                  <a:pt x="272" y="92"/>
                </a:lnTo>
                <a:lnTo>
                  <a:pt x="272" y="92"/>
                </a:lnTo>
                <a:lnTo>
                  <a:pt x="264" y="84"/>
                </a:lnTo>
                <a:lnTo>
                  <a:pt x="264" y="84"/>
                </a:lnTo>
                <a:lnTo>
                  <a:pt x="262" y="80"/>
                </a:lnTo>
                <a:lnTo>
                  <a:pt x="262" y="80"/>
                </a:lnTo>
                <a:lnTo>
                  <a:pt x="258" y="78"/>
                </a:lnTo>
                <a:lnTo>
                  <a:pt x="258" y="78"/>
                </a:lnTo>
                <a:lnTo>
                  <a:pt x="252" y="72"/>
                </a:lnTo>
                <a:lnTo>
                  <a:pt x="252" y="72"/>
                </a:lnTo>
                <a:lnTo>
                  <a:pt x="246" y="66"/>
                </a:lnTo>
                <a:lnTo>
                  <a:pt x="246" y="66"/>
                </a:lnTo>
                <a:lnTo>
                  <a:pt x="242" y="62"/>
                </a:lnTo>
                <a:lnTo>
                  <a:pt x="242" y="62"/>
                </a:lnTo>
                <a:lnTo>
                  <a:pt x="234" y="54"/>
                </a:lnTo>
                <a:lnTo>
                  <a:pt x="234" y="54"/>
                </a:lnTo>
                <a:lnTo>
                  <a:pt x="232" y="52"/>
                </a:lnTo>
                <a:lnTo>
                  <a:pt x="232" y="52"/>
                </a:lnTo>
                <a:lnTo>
                  <a:pt x="230" y="48"/>
                </a:lnTo>
                <a:lnTo>
                  <a:pt x="230" y="48"/>
                </a:lnTo>
                <a:lnTo>
                  <a:pt x="222" y="40"/>
                </a:lnTo>
                <a:lnTo>
                  <a:pt x="222" y="40"/>
                </a:lnTo>
                <a:lnTo>
                  <a:pt x="220" y="38"/>
                </a:lnTo>
                <a:lnTo>
                  <a:pt x="220" y="38"/>
                </a:lnTo>
                <a:lnTo>
                  <a:pt x="208" y="24"/>
                </a:lnTo>
                <a:lnTo>
                  <a:pt x="208" y="24"/>
                </a:lnTo>
                <a:lnTo>
                  <a:pt x="198" y="12"/>
                </a:lnTo>
                <a:lnTo>
                  <a:pt x="198" y="12"/>
                </a:lnTo>
                <a:lnTo>
                  <a:pt x="188" y="0"/>
                </a:lnTo>
                <a:lnTo>
                  <a:pt x="0" y="136"/>
                </a:lnTo>
                <a:lnTo>
                  <a:pt x="0" y="136"/>
                </a:lnTo>
                <a:lnTo>
                  <a:pt x="2" y="140"/>
                </a:lnTo>
                <a:lnTo>
                  <a:pt x="2" y="140"/>
                </a:lnTo>
                <a:lnTo>
                  <a:pt x="6" y="142"/>
                </a:lnTo>
                <a:lnTo>
                  <a:pt x="6" y="142"/>
                </a:lnTo>
                <a:lnTo>
                  <a:pt x="16" y="156"/>
                </a:lnTo>
                <a:lnTo>
                  <a:pt x="16" y="156"/>
                </a:lnTo>
                <a:lnTo>
                  <a:pt x="20" y="162"/>
                </a:lnTo>
                <a:lnTo>
                  <a:pt x="20" y="162"/>
                </a:lnTo>
                <a:lnTo>
                  <a:pt x="28" y="172"/>
                </a:lnTo>
                <a:lnTo>
                  <a:pt x="28" y="172"/>
                </a:lnTo>
                <a:lnTo>
                  <a:pt x="36" y="182"/>
                </a:lnTo>
                <a:lnTo>
                  <a:pt x="36" y="182"/>
                </a:lnTo>
                <a:lnTo>
                  <a:pt x="40" y="186"/>
                </a:lnTo>
                <a:lnTo>
                  <a:pt x="40" y="186"/>
                </a:lnTo>
                <a:lnTo>
                  <a:pt x="82" y="230"/>
                </a:lnTo>
                <a:lnTo>
                  <a:pt x="128" y="274"/>
                </a:lnTo>
                <a:lnTo>
                  <a:pt x="128" y="274"/>
                </a:lnTo>
                <a:lnTo>
                  <a:pt x="132" y="276"/>
                </a:lnTo>
                <a:lnTo>
                  <a:pt x="132" y="276"/>
                </a:lnTo>
                <a:lnTo>
                  <a:pt x="142" y="286"/>
                </a:lnTo>
                <a:lnTo>
                  <a:pt x="142" y="286"/>
                </a:lnTo>
                <a:lnTo>
                  <a:pt x="150" y="292"/>
                </a:lnTo>
                <a:lnTo>
                  <a:pt x="150" y="292"/>
                </a:lnTo>
                <a:lnTo>
                  <a:pt x="158" y="298"/>
                </a:lnTo>
                <a:lnTo>
                  <a:pt x="158" y="298"/>
                </a:lnTo>
                <a:lnTo>
                  <a:pt x="170" y="308"/>
                </a:lnTo>
                <a:lnTo>
                  <a:pt x="170" y="308"/>
                </a:lnTo>
                <a:lnTo>
                  <a:pt x="174" y="310"/>
                </a:lnTo>
                <a:lnTo>
                  <a:pt x="174" y="310"/>
                </a:lnTo>
                <a:lnTo>
                  <a:pt x="190" y="324"/>
                </a:lnTo>
                <a:lnTo>
                  <a:pt x="190" y="324"/>
                </a:lnTo>
                <a:lnTo>
                  <a:pt x="190" y="324"/>
                </a:lnTo>
                <a:lnTo>
                  <a:pt x="190" y="324"/>
                </a:lnTo>
                <a:lnTo>
                  <a:pt x="190" y="324"/>
                </a:lnTo>
                <a:lnTo>
                  <a:pt x="190" y="324"/>
                </a:lnTo>
                <a:lnTo>
                  <a:pt x="208" y="336"/>
                </a:lnTo>
                <a:lnTo>
                  <a:pt x="208" y="336"/>
                </a:lnTo>
                <a:lnTo>
                  <a:pt x="212" y="338"/>
                </a:lnTo>
                <a:lnTo>
                  <a:pt x="212" y="338"/>
                </a:lnTo>
                <a:lnTo>
                  <a:pt x="226" y="348"/>
                </a:lnTo>
                <a:lnTo>
                  <a:pt x="226" y="348"/>
                </a:lnTo>
                <a:lnTo>
                  <a:pt x="232" y="352"/>
                </a:lnTo>
                <a:lnTo>
                  <a:pt x="232" y="352"/>
                </a:lnTo>
                <a:lnTo>
                  <a:pt x="242" y="358"/>
                </a:lnTo>
                <a:lnTo>
                  <a:pt x="242" y="358"/>
                </a:lnTo>
                <a:lnTo>
                  <a:pt x="254" y="366"/>
                </a:lnTo>
                <a:lnTo>
                  <a:pt x="254" y="366"/>
                </a:lnTo>
                <a:lnTo>
                  <a:pt x="258" y="368"/>
                </a:lnTo>
                <a:lnTo>
                  <a:pt x="258" y="368"/>
                </a:lnTo>
                <a:lnTo>
                  <a:pt x="312" y="398"/>
                </a:lnTo>
                <a:lnTo>
                  <a:pt x="368" y="424"/>
                </a:lnTo>
                <a:lnTo>
                  <a:pt x="368" y="424"/>
                </a:lnTo>
                <a:lnTo>
                  <a:pt x="372" y="426"/>
                </a:lnTo>
                <a:lnTo>
                  <a:pt x="372" y="426"/>
                </a:lnTo>
                <a:lnTo>
                  <a:pt x="386" y="432"/>
                </a:lnTo>
                <a:lnTo>
                  <a:pt x="386" y="432"/>
                </a:lnTo>
                <a:lnTo>
                  <a:pt x="396" y="436"/>
                </a:lnTo>
                <a:lnTo>
                  <a:pt x="396" y="436"/>
                </a:lnTo>
                <a:lnTo>
                  <a:pt x="404" y="438"/>
                </a:lnTo>
                <a:lnTo>
                  <a:pt x="404" y="438"/>
                </a:lnTo>
                <a:lnTo>
                  <a:pt x="420" y="444"/>
                </a:lnTo>
                <a:lnTo>
                  <a:pt x="420" y="444"/>
                </a:lnTo>
                <a:lnTo>
                  <a:pt x="424" y="446"/>
                </a:lnTo>
                <a:lnTo>
                  <a:pt x="424" y="446"/>
                </a:lnTo>
                <a:lnTo>
                  <a:pt x="444" y="452"/>
                </a:lnTo>
                <a:lnTo>
                  <a:pt x="444" y="452"/>
                </a:lnTo>
                <a:lnTo>
                  <a:pt x="444" y="452"/>
                </a:lnTo>
                <a:lnTo>
                  <a:pt x="444" y="452"/>
                </a:lnTo>
                <a:lnTo>
                  <a:pt x="444" y="452"/>
                </a:lnTo>
                <a:lnTo>
                  <a:pt x="444" y="452"/>
                </a:lnTo>
                <a:lnTo>
                  <a:pt x="464" y="458"/>
                </a:lnTo>
                <a:lnTo>
                  <a:pt x="464" y="458"/>
                </a:lnTo>
                <a:lnTo>
                  <a:pt x="468" y="460"/>
                </a:lnTo>
                <a:lnTo>
                  <a:pt x="468" y="460"/>
                </a:lnTo>
                <a:lnTo>
                  <a:pt x="484" y="464"/>
                </a:lnTo>
                <a:lnTo>
                  <a:pt x="484" y="464"/>
                </a:lnTo>
                <a:lnTo>
                  <a:pt x="492" y="466"/>
                </a:lnTo>
                <a:lnTo>
                  <a:pt x="492" y="466"/>
                </a:lnTo>
                <a:lnTo>
                  <a:pt x="504" y="470"/>
                </a:lnTo>
                <a:lnTo>
                  <a:pt x="504" y="470"/>
                </a:lnTo>
                <a:lnTo>
                  <a:pt x="516" y="472"/>
                </a:lnTo>
                <a:lnTo>
                  <a:pt x="516" y="472"/>
                </a:lnTo>
                <a:lnTo>
                  <a:pt x="520" y="474"/>
                </a:lnTo>
                <a:lnTo>
                  <a:pt x="520" y="474"/>
                </a:lnTo>
                <a:lnTo>
                  <a:pt x="582" y="486"/>
                </a:lnTo>
                <a:lnTo>
                  <a:pt x="644" y="494"/>
                </a:lnTo>
                <a:lnTo>
                  <a:pt x="644" y="494"/>
                </a:lnTo>
                <a:lnTo>
                  <a:pt x="648" y="494"/>
                </a:lnTo>
                <a:lnTo>
                  <a:pt x="648" y="494"/>
                </a:lnTo>
                <a:lnTo>
                  <a:pt x="662" y="494"/>
                </a:lnTo>
                <a:lnTo>
                  <a:pt x="662" y="494"/>
                </a:lnTo>
                <a:lnTo>
                  <a:pt x="674" y="496"/>
                </a:lnTo>
                <a:lnTo>
                  <a:pt x="674" y="496"/>
                </a:lnTo>
                <a:lnTo>
                  <a:pt x="682" y="496"/>
                </a:lnTo>
                <a:lnTo>
                  <a:pt x="682" y="496"/>
                </a:lnTo>
                <a:lnTo>
                  <a:pt x="698" y="496"/>
                </a:lnTo>
                <a:lnTo>
                  <a:pt x="698" y="496"/>
                </a:lnTo>
                <a:lnTo>
                  <a:pt x="702" y="496"/>
                </a:lnTo>
                <a:lnTo>
                  <a:pt x="702" y="496"/>
                </a:lnTo>
                <a:lnTo>
                  <a:pt x="724" y="496"/>
                </a:lnTo>
                <a:lnTo>
                  <a:pt x="724" y="496"/>
                </a:lnTo>
                <a:lnTo>
                  <a:pt x="724" y="496"/>
                </a:lnTo>
                <a:lnTo>
                  <a:pt x="724" y="496"/>
                </a:lnTo>
                <a:lnTo>
                  <a:pt x="724" y="496"/>
                </a:lnTo>
                <a:lnTo>
                  <a:pt x="724" y="496"/>
                </a:lnTo>
                <a:lnTo>
                  <a:pt x="746" y="496"/>
                </a:lnTo>
                <a:lnTo>
                  <a:pt x="746" y="496"/>
                </a:lnTo>
                <a:lnTo>
                  <a:pt x="750" y="496"/>
                </a:lnTo>
                <a:lnTo>
                  <a:pt x="750" y="496"/>
                </a:lnTo>
                <a:lnTo>
                  <a:pt x="766" y="496"/>
                </a:lnTo>
                <a:lnTo>
                  <a:pt x="766" y="496"/>
                </a:lnTo>
                <a:lnTo>
                  <a:pt x="774" y="496"/>
                </a:lnTo>
                <a:lnTo>
                  <a:pt x="774" y="496"/>
                </a:lnTo>
                <a:lnTo>
                  <a:pt x="786" y="494"/>
                </a:lnTo>
                <a:lnTo>
                  <a:pt x="786" y="494"/>
                </a:lnTo>
                <a:lnTo>
                  <a:pt x="800" y="494"/>
                </a:lnTo>
                <a:lnTo>
                  <a:pt x="800" y="494"/>
                </a:lnTo>
                <a:lnTo>
                  <a:pt x="804" y="494"/>
                </a:lnTo>
                <a:lnTo>
                  <a:pt x="804" y="494"/>
                </a:lnTo>
                <a:lnTo>
                  <a:pt x="866" y="486"/>
                </a:lnTo>
                <a:lnTo>
                  <a:pt x="928" y="474"/>
                </a:lnTo>
                <a:lnTo>
                  <a:pt x="928" y="474"/>
                </a:lnTo>
                <a:lnTo>
                  <a:pt x="932" y="472"/>
                </a:lnTo>
                <a:lnTo>
                  <a:pt x="932" y="472"/>
                </a:lnTo>
                <a:lnTo>
                  <a:pt x="946" y="470"/>
                </a:lnTo>
                <a:lnTo>
                  <a:pt x="946" y="470"/>
                </a:lnTo>
                <a:lnTo>
                  <a:pt x="956" y="466"/>
                </a:lnTo>
                <a:lnTo>
                  <a:pt x="956" y="466"/>
                </a:lnTo>
                <a:lnTo>
                  <a:pt x="964" y="464"/>
                </a:lnTo>
                <a:lnTo>
                  <a:pt x="964" y="464"/>
                </a:lnTo>
                <a:lnTo>
                  <a:pt x="980" y="460"/>
                </a:lnTo>
                <a:lnTo>
                  <a:pt x="980" y="460"/>
                </a:lnTo>
                <a:lnTo>
                  <a:pt x="984" y="458"/>
                </a:lnTo>
                <a:lnTo>
                  <a:pt x="984" y="458"/>
                </a:lnTo>
                <a:lnTo>
                  <a:pt x="988" y="458"/>
                </a:lnTo>
                <a:lnTo>
                  <a:pt x="916" y="236"/>
                </a:lnTo>
                <a:close/>
              </a:path>
            </a:pathLst>
          </a:custGeom>
          <a:solidFill>
            <a:srgbClr val="79B6D3"/>
          </a:solidFill>
          <a:ln w="3175">
            <a:noFill/>
            <a:prstDash val="solid"/>
            <a:round/>
          </a:ln>
        </p:spPr>
        <p:txBody>
          <a:bodyPr vert="horz" wrap="square" lIns="68580" tIns="34290" rIns="68580" bIns="34290" numCol="1" anchor="t" anchorCtr="0" compatLnSpc="1"/>
          <a:lstStyle/>
          <a:p>
            <a:pPr>
              <a:lnSpc>
                <a:spcPct val="120000"/>
              </a:lnSpc>
            </a:pPr>
            <a:endParaRPr lang="zh-CN" altLang="en-US" sz="1350">
              <a:latin typeface="Arial" panose="020B0604020202020204" pitchFamily="34" charset="0"/>
              <a:ea typeface="微软雅黑" panose="020B0503020204020204" pitchFamily="34" charset="-122"/>
              <a:sym typeface="Arial" panose="020B0604020202020204" pitchFamily="34" charset="0"/>
            </a:endParaRPr>
          </a:p>
        </p:txBody>
      </p:sp>
      <p:sp>
        <p:nvSpPr>
          <p:cNvPr id="56" name="Freeform 11"/>
          <p:cNvSpPr/>
          <p:nvPr>
            <p:custDataLst>
              <p:tags r:id="rId6"/>
            </p:custDataLst>
          </p:nvPr>
        </p:nvSpPr>
        <p:spPr bwMode="auto">
          <a:xfrm rot="19240499">
            <a:off x="3959077" y="3739635"/>
            <a:ext cx="812006" cy="1002506"/>
          </a:xfrm>
          <a:custGeom>
            <a:avLst/>
            <a:gdLst>
              <a:gd name="T0" fmla="*/ 28 w 682"/>
              <a:gd name="T1" fmla="*/ 232 h 842"/>
              <a:gd name="T2" fmla="*/ 48 w 682"/>
              <a:gd name="T3" fmla="*/ 242 h 842"/>
              <a:gd name="T4" fmla="*/ 66 w 682"/>
              <a:gd name="T5" fmla="*/ 248 h 842"/>
              <a:gd name="T6" fmla="*/ 82 w 682"/>
              <a:gd name="T7" fmla="*/ 256 h 842"/>
              <a:gd name="T8" fmla="*/ 100 w 682"/>
              <a:gd name="T9" fmla="*/ 266 h 842"/>
              <a:gd name="T10" fmla="*/ 112 w 682"/>
              <a:gd name="T11" fmla="*/ 274 h 842"/>
              <a:gd name="T12" fmla="*/ 144 w 682"/>
              <a:gd name="T13" fmla="*/ 292 h 842"/>
              <a:gd name="T14" fmla="*/ 172 w 682"/>
              <a:gd name="T15" fmla="*/ 312 h 842"/>
              <a:gd name="T16" fmla="*/ 210 w 682"/>
              <a:gd name="T17" fmla="*/ 342 h 842"/>
              <a:gd name="T18" fmla="*/ 226 w 682"/>
              <a:gd name="T19" fmla="*/ 356 h 842"/>
              <a:gd name="T20" fmla="*/ 240 w 682"/>
              <a:gd name="T21" fmla="*/ 368 h 842"/>
              <a:gd name="T22" fmla="*/ 252 w 682"/>
              <a:gd name="T23" fmla="*/ 380 h 842"/>
              <a:gd name="T24" fmla="*/ 266 w 682"/>
              <a:gd name="T25" fmla="*/ 396 h 842"/>
              <a:gd name="T26" fmla="*/ 278 w 682"/>
              <a:gd name="T27" fmla="*/ 408 h 842"/>
              <a:gd name="T28" fmla="*/ 300 w 682"/>
              <a:gd name="T29" fmla="*/ 434 h 842"/>
              <a:gd name="T30" fmla="*/ 322 w 682"/>
              <a:gd name="T31" fmla="*/ 462 h 842"/>
              <a:gd name="T32" fmla="*/ 348 w 682"/>
              <a:gd name="T33" fmla="*/ 502 h 842"/>
              <a:gd name="T34" fmla="*/ 360 w 682"/>
              <a:gd name="T35" fmla="*/ 520 h 842"/>
              <a:gd name="T36" fmla="*/ 368 w 682"/>
              <a:gd name="T37" fmla="*/ 536 h 842"/>
              <a:gd name="T38" fmla="*/ 376 w 682"/>
              <a:gd name="T39" fmla="*/ 552 h 842"/>
              <a:gd name="T40" fmla="*/ 386 w 682"/>
              <a:gd name="T41" fmla="*/ 570 h 842"/>
              <a:gd name="T42" fmla="*/ 392 w 682"/>
              <a:gd name="T43" fmla="*/ 584 h 842"/>
              <a:gd name="T44" fmla="*/ 406 w 682"/>
              <a:gd name="T45" fmla="*/ 618 h 842"/>
              <a:gd name="T46" fmla="*/ 418 w 682"/>
              <a:gd name="T47" fmla="*/ 650 h 842"/>
              <a:gd name="T48" fmla="*/ 430 w 682"/>
              <a:gd name="T49" fmla="*/ 696 h 842"/>
              <a:gd name="T50" fmla="*/ 436 w 682"/>
              <a:gd name="T51" fmla="*/ 718 h 842"/>
              <a:gd name="T52" fmla="*/ 440 w 682"/>
              <a:gd name="T53" fmla="*/ 736 h 842"/>
              <a:gd name="T54" fmla="*/ 442 w 682"/>
              <a:gd name="T55" fmla="*/ 754 h 842"/>
              <a:gd name="T56" fmla="*/ 444 w 682"/>
              <a:gd name="T57" fmla="*/ 774 h 842"/>
              <a:gd name="T58" fmla="*/ 446 w 682"/>
              <a:gd name="T59" fmla="*/ 788 h 842"/>
              <a:gd name="T60" fmla="*/ 450 w 682"/>
              <a:gd name="T61" fmla="*/ 824 h 842"/>
              <a:gd name="T62" fmla="*/ 682 w 682"/>
              <a:gd name="T63" fmla="*/ 838 h 842"/>
              <a:gd name="T64" fmla="*/ 682 w 682"/>
              <a:gd name="T65" fmla="*/ 816 h 842"/>
              <a:gd name="T66" fmla="*/ 680 w 682"/>
              <a:gd name="T67" fmla="*/ 784 h 842"/>
              <a:gd name="T68" fmla="*/ 660 w 682"/>
              <a:gd name="T69" fmla="*/ 656 h 842"/>
              <a:gd name="T70" fmla="*/ 654 w 682"/>
              <a:gd name="T71" fmla="*/ 638 h 842"/>
              <a:gd name="T72" fmla="*/ 646 w 682"/>
              <a:gd name="T73" fmla="*/ 602 h 842"/>
              <a:gd name="T74" fmla="*/ 638 w 682"/>
              <a:gd name="T75" fmla="*/ 578 h 842"/>
              <a:gd name="T76" fmla="*/ 630 w 682"/>
              <a:gd name="T77" fmla="*/ 558 h 842"/>
              <a:gd name="T78" fmla="*/ 624 w 682"/>
              <a:gd name="T79" fmla="*/ 538 h 842"/>
              <a:gd name="T80" fmla="*/ 612 w 682"/>
              <a:gd name="T81" fmla="*/ 508 h 842"/>
              <a:gd name="T82" fmla="*/ 552 w 682"/>
              <a:gd name="T83" fmla="*/ 392 h 842"/>
              <a:gd name="T84" fmla="*/ 544 w 682"/>
              <a:gd name="T85" fmla="*/ 376 h 842"/>
              <a:gd name="T86" fmla="*/ 524 w 682"/>
              <a:gd name="T87" fmla="*/ 346 h 842"/>
              <a:gd name="T88" fmla="*/ 508 w 682"/>
              <a:gd name="T89" fmla="*/ 326 h 842"/>
              <a:gd name="T90" fmla="*/ 496 w 682"/>
              <a:gd name="T91" fmla="*/ 308 h 842"/>
              <a:gd name="T92" fmla="*/ 484 w 682"/>
              <a:gd name="T93" fmla="*/ 292 h 842"/>
              <a:gd name="T94" fmla="*/ 462 w 682"/>
              <a:gd name="T95" fmla="*/ 266 h 842"/>
              <a:gd name="T96" fmla="*/ 370 w 682"/>
              <a:gd name="T97" fmla="*/ 174 h 842"/>
              <a:gd name="T98" fmla="*/ 356 w 682"/>
              <a:gd name="T99" fmla="*/ 162 h 842"/>
              <a:gd name="T100" fmla="*/ 328 w 682"/>
              <a:gd name="T101" fmla="*/ 140 h 842"/>
              <a:gd name="T102" fmla="*/ 308 w 682"/>
              <a:gd name="T103" fmla="*/ 124 h 842"/>
              <a:gd name="T104" fmla="*/ 288 w 682"/>
              <a:gd name="T105" fmla="*/ 110 h 842"/>
              <a:gd name="T106" fmla="*/ 266 w 682"/>
              <a:gd name="T107" fmla="*/ 96 h 842"/>
              <a:gd name="T108" fmla="*/ 242 w 682"/>
              <a:gd name="T109" fmla="*/ 80 h 842"/>
              <a:gd name="T110" fmla="*/ 126 w 682"/>
              <a:gd name="T111" fmla="*/ 22 h 842"/>
              <a:gd name="T112" fmla="*/ 102 w 682"/>
              <a:gd name="T113" fmla="*/ 12 h 842"/>
              <a:gd name="T114" fmla="*/ 76 w 682"/>
              <a:gd name="T115" fmla="*/ 2 h 8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82" h="842">
                <a:moveTo>
                  <a:pt x="0" y="222"/>
                </a:moveTo>
                <a:lnTo>
                  <a:pt x="0" y="222"/>
                </a:lnTo>
                <a:lnTo>
                  <a:pt x="16" y="228"/>
                </a:lnTo>
                <a:lnTo>
                  <a:pt x="16" y="228"/>
                </a:lnTo>
                <a:lnTo>
                  <a:pt x="28" y="232"/>
                </a:lnTo>
                <a:lnTo>
                  <a:pt x="28" y="232"/>
                </a:lnTo>
                <a:lnTo>
                  <a:pt x="46" y="240"/>
                </a:lnTo>
                <a:lnTo>
                  <a:pt x="46" y="240"/>
                </a:lnTo>
                <a:lnTo>
                  <a:pt x="48" y="242"/>
                </a:lnTo>
                <a:lnTo>
                  <a:pt x="48" y="242"/>
                </a:lnTo>
                <a:lnTo>
                  <a:pt x="58" y="246"/>
                </a:lnTo>
                <a:lnTo>
                  <a:pt x="58" y="246"/>
                </a:lnTo>
                <a:lnTo>
                  <a:pt x="62" y="248"/>
                </a:lnTo>
                <a:lnTo>
                  <a:pt x="62" y="248"/>
                </a:lnTo>
                <a:lnTo>
                  <a:pt x="66" y="248"/>
                </a:lnTo>
                <a:lnTo>
                  <a:pt x="66" y="248"/>
                </a:lnTo>
                <a:lnTo>
                  <a:pt x="74" y="254"/>
                </a:lnTo>
                <a:lnTo>
                  <a:pt x="74" y="254"/>
                </a:lnTo>
                <a:lnTo>
                  <a:pt x="82" y="256"/>
                </a:lnTo>
                <a:lnTo>
                  <a:pt x="82" y="256"/>
                </a:lnTo>
                <a:lnTo>
                  <a:pt x="88" y="260"/>
                </a:lnTo>
                <a:lnTo>
                  <a:pt x="88" y="260"/>
                </a:lnTo>
                <a:lnTo>
                  <a:pt x="96" y="264"/>
                </a:lnTo>
                <a:lnTo>
                  <a:pt x="96" y="264"/>
                </a:lnTo>
                <a:lnTo>
                  <a:pt x="100" y="266"/>
                </a:lnTo>
                <a:lnTo>
                  <a:pt x="100" y="266"/>
                </a:lnTo>
                <a:lnTo>
                  <a:pt x="102" y="268"/>
                </a:lnTo>
                <a:lnTo>
                  <a:pt x="102" y="268"/>
                </a:lnTo>
                <a:lnTo>
                  <a:pt x="112" y="274"/>
                </a:lnTo>
                <a:lnTo>
                  <a:pt x="112" y="274"/>
                </a:lnTo>
                <a:lnTo>
                  <a:pt x="116" y="276"/>
                </a:lnTo>
                <a:lnTo>
                  <a:pt x="116" y="276"/>
                </a:lnTo>
                <a:lnTo>
                  <a:pt x="132" y="284"/>
                </a:lnTo>
                <a:lnTo>
                  <a:pt x="132" y="284"/>
                </a:lnTo>
                <a:lnTo>
                  <a:pt x="144" y="292"/>
                </a:lnTo>
                <a:lnTo>
                  <a:pt x="144" y="292"/>
                </a:lnTo>
                <a:lnTo>
                  <a:pt x="158" y="302"/>
                </a:lnTo>
                <a:lnTo>
                  <a:pt x="158" y="302"/>
                </a:lnTo>
                <a:lnTo>
                  <a:pt x="172" y="312"/>
                </a:lnTo>
                <a:lnTo>
                  <a:pt x="172" y="312"/>
                </a:lnTo>
                <a:lnTo>
                  <a:pt x="184" y="322"/>
                </a:lnTo>
                <a:lnTo>
                  <a:pt x="184" y="322"/>
                </a:lnTo>
                <a:lnTo>
                  <a:pt x="198" y="332"/>
                </a:lnTo>
                <a:lnTo>
                  <a:pt x="198" y="332"/>
                </a:lnTo>
                <a:lnTo>
                  <a:pt x="210" y="342"/>
                </a:lnTo>
                <a:lnTo>
                  <a:pt x="210" y="342"/>
                </a:lnTo>
                <a:lnTo>
                  <a:pt x="224" y="354"/>
                </a:lnTo>
                <a:lnTo>
                  <a:pt x="224" y="354"/>
                </a:lnTo>
                <a:lnTo>
                  <a:pt x="226" y="356"/>
                </a:lnTo>
                <a:lnTo>
                  <a:pt x="226" y="356"/>
                </a:lnTo>
                <a:lnTo>
                  <a:pt x="234" y="364"/>
                </a:lnTo>
                <a:lnTo>
                  <a:pt x="234" y="364"/>
                </a:lnTo>
                <a:lnTo>
                  <a:pt x="238" y="366"/>
                </a:lnTo>
                <a:lnTo>
                  <a:pt x="238" y="366"/>
                </a:lnTo>
                <a:lnTo>
                  <a:pt x="240" y="368"/>
                </a:lnTo>
                <a:lnTo>
                  <a:pt x="240" y="368"/>
                </a:lnTo>
                <a:lnTo>
                  <a:pt x="248" y="376"/>
                </a:lnTo>
                <a:lnTo>
                  <a:pt x="248" y="376"/>
                </a:lnTo>
                <a:lnTo>
                  <a:pt x="252" y="380"/>
                </a:lnTo>
                <a:lnTo>
                  <a:pt x="252" y="380"/>
                </a:lnTo>
                <a:lnTo>
                  <a:pt x="258" y="386"/>
                </a:lnTo>
                <a:lnTo>
                  <a:pt x="258" y="386"/>
                </a:lnTo>
                <a:lnTo>
                  <a:pt x="264" y="392"/>
                </a:lnTo>
                <a:lnTo>
                  <a:pt x="264" y="392"/>
                </a:lnTo>
                <a:lnTo>
                  <a:pt x="266" y="396"/>
                </a:lnTo>
                <a:lnTo>
                  <a:pt x="266" y="396"/>
                </a:lnTo>
                <a:lnTo>
                  <a:pt x="270" y="398"/>
                </a:lnTo>
                <a:lnTo>
                  <a:pt x="270" y="398"/>
                </a:lnTo>
                <a:lnTo>
                  <a:pt x="278" y="408"/>
                </a:lnTo>
                <a:lnTo>
                  <a:pt x="278" y="408"/>
                </a:lnTo>
                <a:lnTo>
                  <a:pt x="278" y="410"/>
                </a:lnTo>
                <a:lnTo>
                  <a:pt x="278" y="410"/>
                </a:lnTo>
                <a:lnTo>
                  <a:pt x="292" y="424"/>
                </a:lnTo>
                <a:lnTo>
                  <a:pt x="292" y="424"/>
                </a:lnTo>
                <a:lnTo>
                  <a:pt x="300" y="434"/>
                </a:lnTo>
                <a:lnTo>
                  <a:pt x="300" y="434"/>
                </a:lnTo>
                <a:lnTo>
                  <a:pt x="312" y="448"/>
                </a:lnTo>
                <a:lnTo>
                  <a:pt x="312" y="448"/>
                </a:lnTo>
                <a:lnTo>
                  <a:pt x="322" y="462"/>
                </a:lnTo>
                <a:lnTo>
                  <a:pt x="322" y="462"/>
                </a:lnTo>
                <a:lnTo>
                  <a:pt x="330" y="474"/>
                </a:lnTo>
                <a:lnTo>
                  <a:pt x="330" y="474"/>
                </a:lnTo>
                <a:lnTo>
                  <a:pt x="340" y="490"/>
                </a:lnTo>
                <a:lnTo>
                  <a:pt x="340" y="490"/>
                </a:lnTo>
                <a:lnTo>
                  <a:pt x="348" y="502"/>
                </a:lnTo>
                <a:lnTo>
                  <a:pt x="348" y="502"/>
                </a:lnTo>
                <a:lnTo>
                  <a:pt x="358" y="518"/>
                </a:lnTo>
                <a:lnTo>
                  <a:pt x="358" y="518"/>
                </a:lnTo>
                <a:lnTo>
                  <a:pt x="360" y="520"/>
                </a:lnTo>
                <a:lnTo>
                  <a:pt x="360" y="520"/>
                </a:lnTo>
                <a:lnTo>
                  <a:pt x="364" y="530"/>
                </a:lnTo>
                <a:lnTo>
                  <a:pt x="364" y="530"/>
                </a:lnTo>
                <a:lnTo>
                  <a:pt x="366" y="534"/>
                </a:lnTo>
                <a:lnTo>
                  <a:pt x="366" y="534"/>
                </a:lnTo>
                <a:lnTo>
                  <a:pt x="368" y="536"/>
                </a:lnTo>
                <a:lnTo>
                  <a:pt x="368" y="536"/>
                </a:lnTo>
                <a:lnTo>
                  <a:pt x="374" y="546"/>
                </a:lnTo>
                <a:lnTo>
                  <a:pt x="374" y="546"/>
                </a:lnTo>
                <a:lnTo>
                  <a:pt x="376" y="552"/>
                </a:lnTo>
                <a:lnTo>
                  <a:pt x="376" y="552"/>
                </a:lnTo>
                <a:lnTo>
                  <a:pt x="380" y="558"/>
                </a:lnTo>
                <a:lnTo>
                  <a:pt x="380" y="558"/>
                </a:lnTo>
                <a:lnTo>
                  <a:pt x="384" y="568"/>
                </a:lnTo>
                <a:lnTo>
                  <a:pt x="384" y="568"/>
                </a:lnTo>
                <a:lnTo>
                  <a:pt x="386" y="570"/>
                </a:lnTo>
                <a:lnTo>
                  <a:pt x="386" y="570"/>
                </a:lnTo>
                <a:lnTo>
                  <a:pt x="388" y="574"/>
                </a:lnTo>
                <a:lnTo>
                  <a:pt x="388" y="574"/>
                </a:lnTo>
                <a:lnTo>
                  <a:pt x="392" y="584"/>
                </a:lnTo>
                <a:lnTo>
                  <a:pt x="392" y="584"/>
                </a:lnTo>
                <a:lnTo>
                  <a:pt x="394" y="588"/>
                </a:lnTo>
                <a:lnTo>
                  <a:pt x="394" y="588"/>
                </a:lnTo>
                <a:lnTo>
                  <a:pt x="400" y="604"/>
                </a:lnTo>
                <a:lnTo>
                  <a:pt x="400" y="604"/>
                </a:lnTo>
                <a:lnTo>
                  <a:pt x="406" y="618"/>
                </a:lnTo>
                <a:lnTo>
                  <a:pt x="406" y="618"/>
                </a:lnTo>
                <a:lnTo>
                  <a:pt x="412" y="634"/>
                </a:lnTo>
                <a:lnTo>
                  <a:pt x="412" y="634"/>
                </a:lnTo>
                <a:lnTo>
                  <a:pt x="418" y="650"/>
                </a:lnTo>
                <a:lnTo>
                  <a:pt x="418" y="650"/>
                </a:lnTo>
                <a:lnTo>
                  <a:pt x="422" y="666"/>
                </a:lnTo>
                <a:lnTo>
                  <a:pt x="422" y="666"/>
                </a:lnTo>
                <a:lnTo>
                  <a:pt x="426" y="682"/>
                </a:lnTo>
                <a:lnTo>
                  <a:pt x="426" y="682"/>
                </a:lnTo>
                <a:lnTo>
                  <a:pt x="430" y="696"/>
                </a:lnTo>
                <a:lnTo>
                  <a:pt x="430" y="696"/>
                </a:lnTo>
                <a:lnTo>
                  <a:pt x="434" y="714"/>
                </a:lnTo>
                <a:lnTo>
                  <a:pt x="434" y="714"/>
                </a:lnTo>
                <a:lnTo>
                  <a:pt x="436" y="718"/>
                </a:lnTo>
                <a:lnTo>
                  <a:pt x="436" y="718"/>
                </a:lnTo>
                <a:lnTo>
                  <a:pt x="438" y="728"/>
                </a:lnTo>
                <a:lnTo>
                  <a:pt x="438" y="728"/>
                </a:lnTo>
                <a:lnTo>
                  <a:pt x="438" y="732"/>
                </a:lnTo>
                <a:lnTo>
                  <a:pt x="438" y="732"/>
                </a:lnTo>
                <a:lnTo>
                  <a:pt x="440" y="736"/>
                </a:lnTo>
                <a:lnTo>
                  <a:pt x="440" y="736"/>
                </a:lnTo>
                <a:lnTo>
                  <a:pt x="440" y="746"/>
                </a:lnTo>
                <a:lnTo>
                  <a:pt x="440" y="746"/>
                </a:lnTo>
                <a:lnTo>
                  <a:pt x="442" y="754"/>
                </a:lnTo>
                <a:lnTo>
                  <a:pt x="442" y="754"/>
                </a:lnTo>
                <a:lnTo>
                  <a:pt x="442" y="760"/>
                </a:lnTo>
                <a:lnTo>
                  <a:pt x="442" y="760"/>
                </a:lnTo>
                <a:lnTo>
                  <a:pt x="444" y="770"/>
                </a:lnTo>
                <a:lnTo>
                  <a:pt x="444" y="770"/>
                </a:lnTo>
                <a:lnTo>
                  <a:pt x="444" y="774"/>
                </a:lnTo>
                <a:lnTo>
                  <a:pt x="444" y="774"/>
                </a:lnTo>
                <a:lnTo>
                  <a:pt x="446" y="778"/>
                </a:lnTo>
                <a:lnTo>
                  <a:pt x="446" y="778"/>
                </a:lnTo>
                <a:lnTo>
                  <a:pt x="446" y="788"/>
                </a:lnTo>
                <a:lnTo>
                  <a:pt x="446" y="788"/>
                </a:lnTo>
                <a:lnTo>
                  <a:pt x="446" y="792"/>
                </a:lnTo>
                <a:lnTo>
                  <a:pt x="446" y="792"/>
                </a:lnTo>
                <a:lnTo>
                  <a:pt x="448" y="810"/>
                </a:lnTo>
                <a:lnTo>
                  <a:pt x="448" y="810"/>
                </a:lnTo>
                <a:lnTo>
                  <a:pt x="450" y="824"/>
                </a:lnTo>
                <a:lnTo>
                  <a:pt x="450" y="824"/>
                </a:lnTo>
                <a:lnTo>
                  <a:pt x="450" y="842"/>
                </a:lnTo>
                <a:lnTo>
                  <a:pt x="682" y="842"/>
                </a:lnTo>
                <a:lnTo>
                  <a:pt x="682" y="842"/>
                </a:lnTo>
                <a:lnTo>
                  <a:pt x="682" y="838"/>
                </a:lnTo>
                <a:lnTo>
                  <a:pt x="682" y="838"/>
                </a:lnTo>
                <a:lnTo>
                  <a:pt x="682" y="834"/>
                </a:lnTo>
                <a:lnTo>
                  <a:pt x="682" y="834"/>
                </a:lnTo>
                <a:lnTo>
                  <a:pt x="682" y="816"/>
                </a:lnTo>
                <a:lnTo>
                  <a:pt x="682" y="816"/>
                </a:lnTo>
                <a:lnTo>
                  <a:pt x="680" y="808"/>
                </a:lnTo>
                <a:lnTo>
                  <a:pt x="680" y="808"/>
                </a:lnTo>
                <a:lnTo>
                  <a:pt x="680" y="798"/>
                </a:lnTo>
                <a:lnTo>
                  <a:pt x="680" y="798"/>
                </a:lnTo>
                <a:lnTo>
                  <a:pt x="680" y="784"/>
                </a:lnTo>
                <a:lnTo>
                  <a:pt x="680" y="784"/>
                </a:lnTo>
                <a:lnTo>
                  <a:pt x="678" y="778"/>
                </a:lnTo>
                <a:lnTo>
                  <a:pt x="678" y="778"/>
                </a:lnTo>
                <a:lnTo>
                  <a:pt x="670" y="716"/>
                </a:lnTo>
                <a:lnTo>
                  <a:pt x="660" y="656"/>
                </a:lnTo>
                <a:lnTo>
                  <a:pt x="660" y="656"/>
                </a:lnTo>
                <a:lnTo>
                  <a:pt x="658" y="650"/>
                </a:lnTo>
                <a:lnTo>
                  <a:pt x="658" y="650"/>
                </a:lnTo>
                <a:lnTo>
                  <a:pt x="654" y="638"/>
                </a:lnTo>
                <a:lnTo>
                  <a:pt x="654" y="638"/>
                </a:lnTo>
                <a:lnTo>
                  <a:pt x="652" y="626"/>
                </a:lnTo>
                <a:lnTo>
                  <a:pt x="652" y="626"/>
                </a:lnTo>
                <a:lnTo>
                  <a:pt x="650" y="618"/>
                </a:lnTo>
                <a:lnTo>
                  <a:pt x="650" y="618"/>
                </a:lnTo>
                <a:lnTo>
                  <a:pt x="646" y="602"/>
                </a:lnTo>
                <a:lnTo>
                  <a:pt x="646" y="602"/>
                </a:lnTo>
                <a:lnTo>
                  <a:pt x="644" y="598"/>
                </a:lnTo>
                <a:lnTo>
                  <a:pt x="644" y="598"/>
                </a:lnTo>
                <a:lnTo>
                  <a:pt x="638" y="578"/>
                </a:lnTo>
                <a:lnTo>
                  <a:pt x="638" y="578"/>
                </a:lnTo>
                <a:lnTo>
                  <a:pt x="638" y="578"/>
                </a:lnTo>
                <a:lnTo>
                  <a:pt x="638" y="578"/>
                </a:lnTo>
                <a:lnTo>
                  <a:pt x="638" y="578"/>
                </a:lnTo>
                <a:lnTo>
                  <a:pt x="638" y="578"/>
                </a:lnTo>
                <a:lnTo>
                  <a:pt x="630" y="558"/>
                </a:lnTo>
                <a:lnTo>
                  <a:pt x="630" y="558"/>
                </a:lnTo>
                <a:lnTo>
                  <a:pt x="630" y="554"/>
                </a:lnTo>
                <a:lnTo>
                  <a:pt x="630" y="554"/>
                </a:lnTo>
                <a:lnTo>
                  <a:pt x="624" y="538"/>
                </a:lnTo>
                <a:lnTo>
                  <a:pt x="624" y="538"/>
                </a:lnTo>
                <a:lnTo>
                  <a:pt x="620" y="530"/>
                </a:lnTo>
                <a:lnTo>
                  <a:pt x="620" y="530"/>
                </a:lnTo>
                <a:lnTo>
                  <a:pt x="616" y="520"/>
                </a:lnTo>
                <a:lnTo>
                  <a:pt x="616" y="520"/>
                </a:lnTo>
                <a:lnTo>
                  <a:pt x="612" y="508"/>
                </a:lnTo>
                <a:lnTo>
                  <a:pt x="612" y="508"/>
                </a:lnTo>
                <a:lnTo>
                  <a:pt x="610" y="504"/>
                </a:lnTo>
                <a:lnTo>
                  <a:pt x="610" y="504"/>
                </a:lnTo>
                <a:lnTo>
                  <a:pt x="584" y="446"/>
                </a:lnTo>
                <a:lnTo>
                  <a:pt x="552" y="392"/>
                </a:lnTo>
                <a:lnTo>
                  <a:pt x="552" y="392"/>
                </a:lnTo>
                <a:lnTo>
                  <a:pt x="550" y="388"/>
                </a:lnTo>
                <a:lnTo>
                  <a:pt x="550" y="388"/>
                </a:lnTo>
                <a:lnTo>
                  <a:pt x="544" y="376"/>
                </a:lnTo>
                <a:lnTo>
                  <a:pt x="544" y="376"/>
                </a:lnTo>
                <a:lnTo>
                  <a:pt x="538" y="366"/>
                </a:lnTo>
                <a:lnTo>
                  <a:pt x="538" y="366"/>
                </a:lnTo>
                <a:lnTo>
                  <a:pt x="532" y="360"/>
                </a:lnTo>
                <a:lnTo>
                  <a:pt x="532" y="360"/>
                </a:lnTo>
                <a:lnTo>
                  <a:pt x="524" y="346"/>
                </a:lnTo>
                <a:lnTo>
                  <a:pt x="524" y="346"/>
                </a:lnTo>
                <a:lnTo>
                  <a:pt x="522" y="342"/>
                </a:lnTo>
                <a:lnTo>
                  <a:pt x="522" y="342"/>
                </a:lnTo>
                <a:lnTo>
                  <a:pt x="508" y="326"/>
                </a:lnTo>
                <a:lnTo>
                  <a:pt x="508" y="326"/>
                </a:lnTo>
                <a:lnTo>
                  <a:pt x="508" y="326"/>
                </a:lnTo>
                <a:lnTo>
                  <a:pt x="508" y="326"/>
                </a:lnTo>
                <a:lnTo>
                  <a:pt x="508" y="326"/>
                </a:lnTo>
                <a:lnTo>
                  <a:pt x="508" y="326"/>
                </a:lnTo>
                <a:lnTo>
                  <a:pt x="496" y="308"/>
                </a:lnTo>
                <a:lnTo>
                  <a:pt x="496" y="308"/>
                </a:lnTo>
                <a:lnTo>
                  <a:pt x="494" y="304"/>
                </a:lnTo>
                <a:lnTo>
                  <a:pt x="494" y="304"/>
                </a:lnTo>
                <a:lnTo>
                  <a:pt x="484" y="292"/>
                </a:lnTo>
                <a:lnTo>
                  <a:pt x="484" y="292"/>
                </a:lnTo>
                <a:lnTo>
                  <a:pt x="478" y="286"/>
                </a:lnTo>
                <a:lnTo>
                  <a:pt x="478" y="286"/>
                </a:lnTo>
                <a:lnTo>
                  <a:pt x="470" y="276"/>
                </a:lnTo>
                <a:lnTo>
                  <a:pt x="470" y="276"/>
                </a:lnTo>
                <a:lnTo>
                  <a:pt x="462" y="266"/>
                </a:lnTo>
                <a:lnTo>
                  <a:pt x="462" y="266"/>
                </a:lnTo>
                <a:lnTo>
                  <a:pt x="458" y="262"/>
                </a:lnTo>
                <a:lnTo>
                  <a:pt x="458" y="262"/>
                </a:lnTo>
                <a:lnTo>
                  <a:pt x="416" y="216"/>
                </a:lnTo>
                <a:lnTo>
                  <a:pt x="370" y="174"/>
                </a:lnTo>
                <a:lnTo>
                  <a:pt x="370" y="174"/>
                </a:lnTo>
                <a:lnTo>
                  <a:pt x="368" y="172"/>
                </a:lnTo>
                <a:lnTo>
                  <a:pt x="368" y="172"/>
                </a:lnTo>
                <a:lnTo>
                  <a:pt x="356" y="162"/>
                </a:lnTo>
                <a:lnTo>
                  <a:pt x="356" y="162"/>
                </a:lnTo>
                <a:lnTo>
                  <a:pt x="348" y="156"/>
                </a:lnTo>
                <a:lnTo>
                  <a:pt x="348" y="156"/>
                </a:lnTo>
                <a:lnTo>
                  <a:pt x="342" y="150"/>
                </a:lnTo>
                <a:lnTo>
                  <a:pt x="342" y="150"/>
                </a:lnTo>
                <a:lnTo>
                  <a:pt x="328" y="140"/>
                </a:lnTo>
                <a:lnTo>
                  <a:pt x="328" y="140"/>
                </a:lnTo>
                <a:lnTo>
                  <a:pt x="326" y="138"/>
                </a:lnTo>
                <a:lnTo>
                  <a:pt x="326" y="138"/>
                </a:lnTo>
                <a:lnTo>
                  <a:pt x="308" y="124"/>
                </a:lnTo>
                <a:lnTo>
                  <a:pt x="308" y="124"/>
                </a:lnTo>
                <a:lnTo>
                  <a:pt x="308" y="124"/>
                </a:lnTo>
                <a:lnTo>
                  <a:pt x="308" y="124"/>
                </a:lnTo>
                <a:lnTo>
                  <a:pt x="290" y="112"/>
                </a:lnTo>
                <a:lnTo>
                  <a:pt x="290" y="112"/>
                </a:lnTo>
                <a:lnTo>
                  <a:pt x="288" y="110"/>
                </a:lnTo>
                <a:lnTo>
                  <a:pt x="288" y="110"/>
                </a:lnTo>
                <a:lnTo>
                  <a:pt x="274" y="100"/>
                </a:lnTo>
                <a:lnTo>
                  <a:pt x="274" y="100"/>
                </a:lnTo>
                <a:lnTo>
                  <a:pt x="266" y="96"/>
                </a:lnTo>
                <a:lnTo>
                  <a:pt x="266" y="96"/>
                </a:lnTo>
                <a:lnTo>
                  <a:pt x="256" y="90"/>
                </a:lnTo>
                <a:lnTo>
                  <a:pt x="256" y="90"/>
                </a:lnTo>
                <a:lnTo>
                  <a:pt x="246" y="82"/>
                </a:lnTo>
                <a:lnTo>
                  <a:pt x="246" y="82"/>
                </a:lnTo>
                <a:lnTo>
                  <a:pt x="242" y="80"/>
                </a:lnTo>
                <a:lnTo>
                  <a:pt x="242" y="80"/>
                </a:lnTo>
                <a:lnTo>
                  <a:pt x="186" y="50"/>
                </a:lnTo>
                <a:lnTo>
                  <a:pt x="130" y="24"/>
                </a:lnTo>
                <a:lnTo>
                  <a:pt x="130" y="24"/>
                </a:lnTo>
                <a:lnTo>
                  <a:pt x="126" y="22"/>
                </a:lnTo>
                <a:lnTo>
                  <a:pt x="126" y="22"/>
                </a:lnTo>
                <a:lnTo>
                  <a:pt x="112" y="16"/>
                </a:lnTo>
                <a:lnTo>
                  <a:pt x="112" y="16"/>
                </a:lnTo>
                <a:lnTo>
                  <a:pt x="102" y="12"/>
                </a:lnTo>
                <a:lnTo>
                  <a:pt x="102" y="12"/>
                </a:lnTo>
                <a:lnTo>
                  <a:pt x="94" y="10"/>
                </a:lnTo>
                <a:lnTo>
                  <a:pt x="94" y="10"/>
                </a:lnTo>
                <a:lnTo>
                  <a:pt x="78" y="4"/>
                </a:lnTo>
                <a:lnTo>
                  <a:pt x="78" y="4"/>
                </a:lnTo>
                <a:lnTo>
                  <a:pt x="76" y="2"/>
                </a:lnTo>
                <a:lnTo>
                  <a:pt x="76" y="2"/>
                </a:lnTo>
                <a:lnTo>
                  <a:pt x="70" y="0"/>
                </a:lnTo>
                <a:lnTo>
                  <a:pt x="0" y="222"/>
                </a:lnTo>
                <a:close/>
              </a:path>
            </a:pathLst>
          </a:custGeom>
          <a:solidFill>
            <a:srgbClr val="8EAADC"/>
          </a:solidFill>
          <a:ln w="3175">
            <a:noFill/>
            <a:prstDash val="solid"/>
            <a:round/>
          </a:ln>
        </p:spPr>
        <p:txBody>
          <a:bodyPr vert="horz" wrap="square" lIns="68580" tIns="34290" rIns="68580" bIns="34290" numCol="1" anchor="t" anchorCtr="0" compatLnSpc="1"/>
          <a:lstStyle/>
          <a:p>
            <a:pPr>
              <a:lnSpc>
                <a:spcPct val="120000"/>
              </a:lnSpc>
            </a:pPr>
            <a:endParaRPr lang="zh-CN" altLang="en-US" sz="1350">
              <a:latin typeface="Arial" panose="020B0604020202020204" pitchFamily="34" charset="0"/>
              <a:ea typeface="微软雅黑" panose="020B0503020204020204" pitchFamily="34" charset="-122"/>
              <a:sym typeface="Arial" panose="020B0604020202020204" pitchFamily="34" charset="0"/>
            </a:endParaRPr>
          </a:p>
        </p:txBody>
      </p:sp>
      <p:sp>
        <p:nvSpPr>
          <p:cNvPr id="57" name="Freeform 12"/>
          <p:cNvSpPr/>
          <p:nvPr>
            <p:custDataLst>
              <p:tags r:id="rId7"/>
            </p:custDataLst>
          </p:nvPr>
        </p:nvSpPr>
        <p:spPr bwMode="auto">
          <a:xfrm rot="19240499">
            <a:off x="4619283" y="4546722"/>
            <a:ext cx="812006" cy="1000125"/>
          </a:xfrm>
          <a:custGeom>
            <a:avLst/>
            <a:gdLst>
              <a:gd name="T0" fmla="*/ 522 w 682"/>
              <a:gd name="T1" fmla="*/ 498 h 840"/>
              <a:gd name="T2" fmla="*/ 532 w 682"/>
              <a:gd name="T3" fmla="*/ 482 h 840"/>
              <a:gd name="T4" fmla="*/ 550 w 682"/>
              <a:gd name="T5" fmla="*/ 454 h 840"/>
              <a:gd name="T6" fmla="*/ 610 w 682"/>
              <a:gd name="T7" fmla="*/ 338 h 840"/>
              <a:gd name="T8" fmla="*/ 616 w 682"/>
              <a:gd name="T9" fmla="*/ 322 h 840"/>
              <a:gd name="T10" fmla="*/ 630 w 682"/>
              <a:gd name="T11" fmla="*/ 288 h 840"/>
              <a:gd name="T12" fmla="*/ 638 w 682"/>
              <a:gd name="T13" fmla="*/ 264 h 840"/>
              <a:gd name="T14" fmla="*/ 644 w 682"/>
              <a:gd name="T15" fmla="*/ 242 h 840"/>
              <a:gd name="T16" fmla="*/ 650 w 682"/>
              <a:gd name="T17" fmla="*/ 222 h 840"/>
              <a:gd name="T18" fmla="*/ 658 w 682"/>
              <a:gd name="T19" fmla="*/ 190 h 840"/>
              <a:gd name="T20" fmla="*/ 678 w 682"/>
              <a:gd name="T21" fmla="*/ 62 h 840"/>
              <a:gd name="T22" fmla="*/ 680 w 682"/>
              <a:gd name="T23" fmla="*/ 44 h 840"/>
              <a:gd name="T24" fmla="*/ 682 w 682"/>
              <a:gd name="T25" fmla="*/ 8 h 840"/>
              <a:gd name="T26" fmla="*/ 450 w 682"/>
              <a:gd name="T27" fmla="*/ 0 h 840"/>
              <a:gd name="T28" fmla="*/ 448 w 682"/>
              <a:gd name="T29" fmla="*/ 32 h 840"/>
              <a:gd name="T30" fmla="*/ 446 w 682"/>
              <a:gd name="T31" fmla="*/ 64 h 840"/>
              <a:gd name="T32" fmla="*/ 444 w 682"/>
              <a:gd name="T33" fmla="*/ 72 h 840"/>
              <a:gd name="T34" fmla="*/ 440 w 682"/>
              <a:gd name="T35" fmla="*/ 96 h 840"/>
              <a:gd name="T36" fmla="*/ 438 w 682"/>
              <a:gd name="T37" fmla="*/ 108 h 840"/>
              <a:gd name="T38" fmla="*/ 434 w 682"/>
              <a:gd name="T39" fmla="*/ 126 h 840"/>
              <a:gd name="T40" fmla="*/ 426 w 682"/>
              <a:gd name="T41" fmla="*/ 160 h 840"/>
              <a:gd name="T42" fmla="*/ 412 w 682"/>
              <a:gd name="T43" fmla="*/ 208 h 840"/>
              <a:gd name="T44" fmla="*/ 400 w 682"/>
              <a:gd name="T45" fmla="*/ 238 h 840"/>
              <a:gd name="T46" fmla="*/ 388 w 682"/>
              <a:gd name="T47" fmla="*/ 268 h 840"/>
              <a:gd name="T48" fmla="*/ 384 w 682"/>
              <a:gd name="T49" fmla="*/ 274 h 840"/>
              <a:gd name="T50" fmla="*/ 374 w 682"/>
              <a:gd name="T51" fmla="*/ 296 h 840"/>
              <a:gd name="T52" fmla="*/ 366 w 682"/>
              <a:gd name="T53" fmla="*/ 308 h 840"/>
              <a:gd name="T54" fmla="*/ 358 w 682"/>
              <a:gd name="T55" fmla="*/ 324 h 840"/>
              <a:gd name="T56" fmla="*/ 340 w 682"/>
              <a:gd name="T57" fmla="*/ 352 h 840"/>
              <a:gd name="T58" fmla="*/ 312 w 682"/>
              <a:gd name="T59" fmla="*/ 394 h 840"/>
              <a:gd name="T60" fmla="*/ 292 w 682"/>
              <a:gd name="T61" fmla="*/ 418 h 840"/>
              <a:gd name="T62" fmla="*/ 270 w 682"/>
              <a:gd name="T63" fmla="*/ 442 h 840"/>
              <a:gd name="T64" fmla="*/ 264 w 682"/>
              <a:gd name="T65" fmla="*/ 448 h 840"/>
              <a:gd name="T66" fmla="*/ 248 w 682"/>
              <a:gd name="T67" fmla="*/ 466 h 840"/>
              <a:gd name="T68" fmla="*/ 238 w 682"/>
              <a:gd name="T69" fmla="*/ 474 h 840"/>
              <a:gd name="T70" fmla="*/ 224 w 682"/>
              <a:gd name="T71" fmla="*/ 488 h 840"/>
              <a:gd name="T72" fmla="*/ 198 w 682"/>
              <a:gd name="T73" fmla="*/ 508 h 840"/>
              <a:gd name="T74" fmla="*/ 158 w 682"/>
              <a:gd name="T75" fmla="*/ 540 h 840"/>
              <a:gd name="T76" fmla="*/ 132 w 682"/>
              <a:gd name="T77" fmla="*/ 556 h 840"/>
              <a:gd name="T78" fmla="*/ 102 w 682"/>
              <a:gd name="T79" fmla="*/ 574 h 840"/>
              <a:gd name="T80" fmla="*/ 96 w 682"/>
              <a:gd name="T81" fmla="*/ 578 h 840"/>
              <a:gd name="T82" fmla="*/ 74 w 682"/>
              <a:gd name="T83" fmla="*/ 588 h 840"/>
              <a:gd name="T84" fmla="*/ 62 w 682"/>
              <a:gd name="T85" fmla="*/ 594 h 840"/>
              <a:gd name="T86" fmla="*/ 46 w 682"/>
              <a:gd name="T87" fmla="*/ 602 h 840"/>
              <a:gd name="T88" fmla="*/ 16 w 682"/>
              <a:gd name="T89" fmla="*/ 614 h 840"/>
              <a:gd name="T90" fmla="*/ 76 w 682"/>
              <a:gd name="T91" fmla="*/ 840 h 840"/>
              <a:gd name="T92" fmla="*/ 102 w 682"/>
              <a:gd name="T93" fmla="*/ 830 h 840"/>
              <a:gd name="T94" fmla="*/ 126 w 682"/>
              <a:gd name="T95" fmla="*/ 820 h 840"/>
              <a:gd name="T96" fmla="*/ 242 w 682"/>
              <a:gd name="T97" fmla="*/ 762 h 840"/>
              <a:gd name="T98" fmla="*/ 266 w 682"/>
              <a:gd name="T99" fmla="*/ 746 h 840"/>
              <a:gd name="T100" fmla="*/ 288 w 682"/>
              <a:gd name="T101" fmla="*/ 732 h 840"/>
              <a:gd name="T102" fmla="*/ 308 w 682"/>
              <a:gd name="T103" fmla="*/ 718 h 840"/>
              <a:gd name="T104" fmla="*/ 326 w 682"/>
              <a:gd name="T105" fmla="*/ 704 h 840"/>
              <a:gd name="T106" fmla="*/ 348 w 682"/>
              <a:gd name="T107" fmla="*/ 686 h 840"/>
              <a:gd name="T108" fmla="*/ 368 w 682"/>
              <a:gd name="T109" fmla="*/ 670 h 840"/>
              <a:gd name="T110" fmla="*/ 458 w 682"/>
              <a:gd name="T111" fmla="*/ 580 h 840"/>
              <a:gd name="T112" fmla="*/ 478 w 682"/>
              <a:gd name="T113" fmla="*/ 556 h 840"/>
              <a:gd name="T114" fmla="*/ 494 w 682"/>
              <a:gd name="T115" fmla="*/ 536 h 840"/>
              <a:gd name="T116" fmla="*/ 508 w 682"/>
              <a:gd name="T117" fmla="*/ 51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682" h="840">
                <a:moveTo>
                  <a:pt x="508" y="516"/>
                </a:moveTo>
                <a:lnTo>
                  <a:pt x="508" y="516"/>
                </a:lnTo>
                <a:lnTo>
                  <a:pt x="508" y="516"/>
                </a:lnTo>
                <a:lnTo>
                  <a:pt x="508" y="516"/>
                </a:lnTo>
                <a:lnTo>
                  <a:pt x="522" y="498"/>
                </a:lnTo>
                <a:lnTo>
                  <a:pt x="522" y="498"/>
                </a:lnTo>
                <a:lnTo>
                  <a:pt x="524" y="496"/>
                </a:lnTo>
                <a:lnTo>
                  <a:pt x="524" y="496"/>
                </a:lnTo>
                <a:lnTo>
                  <a:pt x="532" y="482"/>
                </a:lnTo>
                <a:lnTo>
                  <a:pt x="532" y="482"/>
                </a:lnTo>
                <a:lnTo>
                  <a:pt x="538" y="474"/>
                </a:lnTo>
                <a:lnTo>
                  <a:pt x="538" y="474"/>
                </a:lnTo>
                <a:lnTo>
                  <a:pt x="544" y="466"/>
                </a:lnTo>
                <a:lnTo>
                  <a:pt x="544" y="466"/>
                </a:lnTo>
                <a:lnTo>
                  <a:pt x="550" y="454"/>
                </a:lnTo>
                <a:lnTo>
                  <a:pt x="550" y="454"/>
                </a:lnTo>
                <a:lnTo>
                  <a:pt x="552" y="450"/>
                </a:lnTo>
                <a:lnTo>
                  <a:pt x="552" y="450"/>
                </a:lnTo>
                <a:lnTo>
                  <a:pt x="584" y="394"/>
                </a:lnTo>
                <a:lnTo>
                  <a:pt x="610" y="338"/>
                </a:lnTo>
                <a:lnTo>
                  <a:pt x="610" y="338"/>
                </a:lnTo>
                <a:lnTo>
                  <a:pt x="612" y="334"/>
                </a:lnTo>
                <a:lnTo>
                  <a:pt x="612" y="334"/>
                </a:lnTo>
                <a:lnTo>
                  <a:pt x="616" y="322"/>
                </a:lnTo>
                <a:lnTo>
                  <a:pt x="616" y="322"/>
                </a:lnTo>
                <a:lnTo>
                  <a:pt x="620" y="312"/>
                </a:lnTo>
                <a:lnTo>
                  <a:pt x="620" y="312"/>
                </a:lnTo>
                <a:lnTo>
                  <a:pt x="624" y="304"/>
                </a:lnTo>
                <a:lnTo>
                  <a:pt x="624" y="304"/>
                </a:lnTo>
                <a:lnTo>
                  <a:pt x="630" y="288"/>
                </a:lnTo>
                <a:lnTo>
                  <a:pt x="630" y="288"/>
                </a:lnTo>
                <a:lnTo>
                  <a:pt x="630" y="284"/>
                </a:lnTo>
                <a:lnTo>
                  <a:pt x="630" y="284"/>
                </a:lnTo>
                <a:lnTo>
                  <a:pt x="638" y="264"/>
                </a:lnTo>
                <a:lnTo>
                  <a:pt x="638" y="264"/>
                </a:lnTo>
                <a:lnTo>
                  <a:pt x="638" y="264"/>
                </a:lnTo>
                <a:lnTo>
                  <a:pt x="638" y="264"/>
                </a:lnTo>
                <a:lnTo>
                  <a:pt x="638" y="264"/>
                </a:lnTo>
                <a:lnTo>
                  <a:pt x="638" y="264"/>
                </a:lnTo>
                <a:lnTo>
                  <a:pt x="644" y="242"/>
                </a:lnTo>
                <a:lnTo>
                  <a:pt x="644" y="242"/>
                </a:lnTo>
                <a:lnTo>
                  <a:pt x="646" y="238"/>
                </a:lnTo>
                <a:lnTo>
                  <a:pt x="646" y="238"/>
                </a:lnTo>
                <a:lnTo>
                  <a:pt x="650" y="222"/>
                </a:lnTo>
                <a:lnTo>
                  <a:pt x="650" y="222"/>
                </a:lnTo>
                <a:lnTo>
                  <a:pt x="652" y="214"/>
                </a:lnTo>
                <a:lnTo>
                  <a:pt x="652" y="214"/>
                </a:lnTo>
                <a:lnTo>
                  <a:pt x="654" y="204"/>
                </a:lnTo>
                <a:lnTo>
                  <a:pt x="654" y="204"/>
                </a:lnTo>
                <a:lnTo>
                  <a:pt x="658" y="190"/>
                </a:lnTo>
                <a:lnTo>
                  <a:pt x="658" y="190"/>
                </a:lnTo>
                <a:lnTo>
                  <a:pt x="660" y="186"/>
                </a:lnTo>
                <a:lnTo>
                  <a:pt x="660" y="186"/>
                </a:lnTo>
                <a:lnTo>
                  <a:pt x="670" y="124"/>
                </a:lnTo>
                <a:lnTo>
                  <a:pt x="678" y="62"/>
                </a:lnTo>
                <a:lnTo>
                  <a:pt x="678" y="62"/>
                </a:lnTo>
                <a:lnTo>
                  <a:pt x="680" y="58"/>
                </a:lnTo>
                <a:lnTo>
                  <a:pt x="680" y="58"/>
                </a:lnTo>
                <a:lnTo>
                  <a:pt x="680" y="44"/>
                </a:lnTo>
                <a:lnTo>
                  <a:pt x="680" y="44"/>
                </a:lnTo>
                <a:lnTo>
                  <a:pt x="680" y="34"/>
                </a:lnTo>
                <a:lnTo>
                  <a:pt x="680" y="34"/>
                </a:lnTo>
                <a:lnTo>
                  <a:pt x="682" y="24"/>
                </a:lnTo>
                <a:lnTo>
                  <a:pt x="682" y="24"/>
                </a:lnTo>
                <a:lnTo>
                  <a:pt x="682" y="8"/>
                </a:lnTo>
                <a:lnTo>
                  <a:pt x="682" y="8"/>
                </a:lnTo>
                <a:lnTo>
                  <a:pt x="682" y="4"/>
                </a:lnTo>
                <a:lnTo>
                  <a:pt x="682" y="4"/>
                </a:lnTo>
                <a:lnTo>
                  <a:pt x="682" y="0"/>
                </a:lnTo>
                <a:lnTo>
                  <a:pt x="450" y="0"/>
                </a:lnTo>
                <a:lnTo>
                  <a:pt x="450" y="0"/>
                </a:lnTo>
                <a:lnTo>
                  <a:pt x="450" y="16"/>
                </a:lnTo>
                <a:lnTo>
                  <a:pt x="450" y="16"/>
                </a:lnTo>
                <a:lnTo>
                  <a:pt x="448" y="32"/>
                </a:lnTo>
                <a:lnTo>
                  <a:pt x="448" y="32"/>
                </a:lnTo>
                <a:lnTo>
                  <a:pt x="446" y="50"/>
                </a:lnTo>
                <a:lnTo>
                  <a:pt x="446" y="50"/>
                </a:lnTo>
                <a:lnTo>
                  <a:pt x="446" y="52"/>
                </a:lnTo>
                <a:lnTo>
                  <a:pt x="446" y="52"/>
                </a:lnTo>
                <a:lnTo>
                  <a:pt x="446" y="64"/>
                </a:lnTo>
                <a:lnTo>
                  <a:pt x="446" y="64"/>
                </a:lnTo>
                <a:lnTo>
                  <a:pt x="444" y="68"/>
                </a:lnTo>
                <a:lnTo>
                  <a:pt x="444" y="68"/>
                </a:lnTo>
                <a:lnTo>
                  <a:pt x="444" y="72"/>
                </a:lnTo>
                <a:lnTo>
                  <a:pt x="444" y="72"/>
                </a:lnTo>
                <a:lnTo>
                  <a:pt x="442" y="82"/>
                </a:lnTo>
                <a:lnTo>
                  <a:pt x="442" y="82"/>
                </a:lnTo>
                <a:lnTo>
                  <a:pt x="442" y="88"/>
                </a:lnTo>
                <a:lnTo>
                  <a:pt x="442" y="88"/>
                </a:lnTo>
                <a:lnTo>
                  <a:pt x="440" y="96"/>
                </a:lnTo>
                <a:lnTo>
                  <a:pt x="440" y="96"/>
                </a:lnTo>
                <a:lnTo>
                  <a:pt x="440" y="106"/>
                </a:lnTo>
                <a:lnTo>
                  <a:pt x="440" y="106"/>
                </a:lnTo>
                <a:lnTo>
                  <a:pt x="438" y="108"/>
                </a:lnTo>
                <a:lnTo>
                  <a:pt x="438" y="108"/>
                </a:lnTo>
                <a:lnTo>
                  <a:pt x="438" y="112"/>
                </a:lnTo>
                <a:lnTo>
                  <a:pt x="438" y="112"/>
                </a:lnTo>
                <a:lnTo>
                  <a:pt x="436" y="124"/>
                </a:lnTo>
                <a:lnTo>
                  <a:pt x="436" y="124"/>
                </a:lnTo>
                <a:lnTo>
                  <a:pt x="434" y="126"/>
                </a:lnTo>
                <a:lnTo>
                  <a:pt x="434" y="126"/>
                </a:lnTo>
                <a:lnTo>
                  <a:pt x="430" y="144"/>
                </a:lnTo>
                <a:lnTo>
                  <a:pt x="430" y="144"/>
                </a:lnTo>
                <a:lnTo>
                  <a:pt x="426" y="160"/>
                </a:lnTo>
                <a:lnTo>
                  <a:pt x="426" y="160"/>
                </a:lnTo>
                <a:lnTo>
                  <a:pt x="422" y="176"/>
                </a:lnTo>
                <a:lnTo>
                  <a:pt x="422" y="176"/>
                </a:lnTo>
                <a:lnTo>
                  <a:pt x="418" y="192"/>
                </a:lnTo>
                <a:lnTo>
                  <a:pt x="418" y="192"/>
                </a:lnTo>
                <a:lnTo>
                  <a:pt x="412" y="208"/>
                </a:lnTo>
                <a:lnTo>
                  <a:pt x="412" y="208"/>
                </a:lnTo>
                <a:lnTo>
                  <a:pt x="406" y="224"/>
                </a:lnTo>
                <a:lnTo>
                  <a:pt x="406" y="224"/>
                </a:lnTo>
                <a:lnTo>
                  <a:pt x="400" y="238"/>
                </a:lnTo>
                <a:lnTo>
                  <a:pt x="400" y="238"/>
                </a:lnTo>
                <a:lnTo>
                  <a:pt x="394" y="254"/>
                </a:lnTo>
                <a:lnTo>
                  <a:pt x="394" y="254"/>
                </a:lnTo>
                <a:lnTo>
                  <a:pt x="392" y="258"/>
                </a:lnTo>
                <a:lnTo>
                  <a:pt x="392" y="258"/>
                </a:lnTo>
                <a:lnTo>
                  <a:pt x="388" y="268"/>
                </a:lnTo>
                <a:lnTo>
                  <a:pt x="388" y="268"/>
                </a:lnTo>
                <a:lnTo>
                  <a:pt x="386" y="272"/>
                </a:lnTo>
                <a:lnTo>
                  <a:pt x="386" y="272"/>
                </a:lnTo>
                <a:lnTo>
                  <a:pt x="384" y="274"/>
                </a:lnTo>
                <a:lnTo>
                  <a:pt x="384" y="274"/>
                </a:lnTo>
                <a:lnTo>
                  <a:pt x="380" y="284"/>
                </a:lnTo>
                <a:lnTo>
                  <a:pt x="380" y="284"/>
                </a:lnTo>
                <a:lnTo>
                  <a:pt x="376" y="290"/>
                </a:lnTo>
                <a:lnTo>
                  <a:pt x="376" y="290"/>
                </a:lnTo>
                <a:lnTo>
                  <a:pt x="374" y="296"/>
                </a:lnTo>
                <a:lnTo>
                  <a:pt x="374" y="296"/>
                </a:lnTo>
                <a:lnTo>
                  <a:pt x="368" y="304"/>
                </a:lnTo>
                <a:lnTo>
                  <a:pt x="368" y="304"/>
                </a:lnTo>
                <a:lnTo>
                  <a:pt x="366" y="308"/>
                </a:lnTo>
                <a:lnTo>
                  <a:pt x="366" y="308"/>
                </a:lnTo>
                <a:lnTo>
                  <a:pt x="364" y="312"/>
                </a:lnTo>
                <a:lnTo>
                  <a:pt x="364" y="312"/>
                </a:lnTo>
                <a:lnTo>
                  <a:pt x="360" y="322"/>
                </a:lnTo>
                <a:lnTo>
                  <a:pt x="360" y="322"/>
                </a:lnTo>
                <a:lnTo>
                  <a:pt x="358" y="324"/>
                </a:lnTo>
                <a:lnTo>
                  <a:pt x="358" y="324"/>
                </a:lnTo>
                <a:lnTo>
                  <a:pt x="348" y="340"/>
                </a:lnTo>
                <a:lnTo>
                  <a:pt x="348" y="340"/>
                </a:lnTo>
                <a:lnTo>
                  <a:pt x="340" y="352"/>
                </a:lnTo>
                <a:lnTo>
                  <a:pt x="340" y="352"/>
                </a:lnTo>
                <a:lnTo>
                  <a:pt x="330" y="366"/>
                </a:lnTo>
                <a:lnTo>
                  <a:pt x="330" y="366"/>
                </a:lnTo>
                <a:lnTo>
                  <a:pt x="322" y="380"/>
                </a:lnTo>
                <a:lnTo>
                  <a:pt x="322" y="380"/>
                </a:lnTo>
                <a:lnTo>
                  <a:pt x="312" y="394"/>
                </a:lnTo>
                <a:lnTo>
                  <a:pt x="312" y="394"/>
                </a:lnTo>
                <a:lnTo>
                  <a:pt x="300" y="406"/>
                </a:lnTo>
                <a:lnTo>
                  <a:pt x="300" y="406"/>
                </a:lnTo>
                <a:lnTo>
                  <a:pt x="292" y="418"/>
                </a:lnTo>
                <a:lnTo>
                  <a:pt x="292" y="418"/>
                </a:lnTo>
                <a:lnTo>
                  <a:pt x="278" y="432"/>
                </a:lnTo>
                <a:lnTo>
                  <a:pt x="278" y="432"/>
                </a:lnTo>
                <a:lnTo>
                  <a:pt x="278" y="434"/>
                </a:lnTo>
                <a:lnTo>
                  <a:pt x="278" y="434"/>
                </a:lnTo>
                <a:lnTo>
                  <a:pt x="270" y="442"/>
                </a:lnTo>
                <a:lnTo>
                  <a:pt x="270" y="442"/>
                </a:lnTo>
                <a:lnTo>
                  <a:pt x="266" y="446"/>
                </a:lnTo>
                <a:lnTo>
                  <a:pt x="266" y="446"/>
                </a:lnTo>
                <a:lnTo>
                  <a:pt x="264" y="448"/>
                </a:lnTo>
                <a:lnTo>
                  <a:pt x="264" y="448"/>
                </a:lnTo>
                <a:lnTo>
                  <a:pt x="258" y="456"/>
                </a:lnTo>
                <a:lnTo>
                  <a:pt x="258" y="456"/>
                </a:lnTo>
                <a:lnTo>
                  <a:pt x="252" y="460"/>
                </a:lnTo>
                <a:lnTo>
                  <a:pt x="252" y="460"/>
                </a:lnTo>
                <a:lnTo>
                  <a:pt x="248" y="466"/>
                </a:lnTo>
                <a:lnTo>
                  <a:pt x="248" y="466"/>
                </a:lnTo>
                <a:lnTo>
                  <a:pt x="240" y="472"/>
                </a:lnTo>
                <a:lnTo>
                  <a:pt x="240" y="472"/>
                </a:lnTo>
                <a:lnTo>
                  <a:pt x="238" y="474"/>
                </a:lnTo>
                <a:lnTo>
                  <a:pt x="238" y="474"/>
                </a:lnTo>
                <a:lnTo>
                  <a:pt x="234" y="478"/>
                </a:lnTo>
                <a:lnTo>
                  <a:pt x="234" y="478"/>
                </a:lnTo>
                <a:lnTo>
                  <a:pt x="226" y="486"/>
                </a:lnTo>
                <a:lnTo>
                  <a:pt x="226" y="486"/>
                </a:lnTo>
                <a:lnTo>
                  <a:pt x="224" y="488"/>
                </a:lnTo>
                <a:lnTo>
                  <a:pt x="224" y="488"/>
                </a:lnTo>
                <a:lnTo>
                  <a:pt x="210" y="500"/>
                </a:lnTo>
                <a:lnTo>
                  <a:pt x="210" y="500"/>
                </a:lnTo>
                <a:lnTo>
                  <a:pt x="198" y="508"/>
                </a:lnTo>
                <a:lnTo>
                  <a:pt x="198" y="508"/>
                </a:lnTo>
                <a:lnTo>
                  <a:pt x="184" y="520"/>
                </a:lnTo>
                <a:lnTo>
                  <a:pt x="184" y="520"/>
                </a:lnTo>
                <a:lnTo>
                  <a:pt x="172" y="530"/>
                </a:lnTo>
                <a:lnTo>
                  <a:pt x="172" y="530"/>
                </a:lnTo>
                <a:lnTo>
                  <a:pt x="158" y="540"/>
                </a:lnTo>
                <a:lnTo>
                  <a:pt x="158" y="540"/>
                </a:lnTo>
                <a:lnTo>
                  <a:pt x="144" y="548"/>
                </a:lnTo>
                <a:lnTo>
                  <a:pt x="144" y="548"/>
                </a:lnTo>
                <a:lnTo>
                  <a:pt x="132" y="556"/>
                </a:lnTo>
                <a:lnTo>
                  <a:pt x="132" y="556"/>
                </a:lnTo>
                <a:lnTo>
                  <a:pt x="116" y="566"/>
                </a:lnTo>
                <a:lnTo>
                  <a:pt x="116" y="566"/>
                </a:lnTo>
                <a:lnTo>
                  <a:pt x="112" y="568"/>
                </a:lnTo>
                <a:lnTo>
                  <a:pt x="112" y="568"/>
                </a:lnTo>
                <a:lnTo>
                  <a:pt x="102" y="574"/>
                </a:lnTo>
                <a:lnTo>
                  <a:pt x="102" y="574"/>
                </a:lnTo>
                <a:lnTo>
                  <a:pt x="100" y="576"/>
                </a:lnTo>
                <a:lnTo>
                  <a:pt x="100" y="576"/>
                </a:lnTo>
                <a:lnTo>
                  <a:pt x="96" y="578"/>
                </a:lnTo>
                <a:lnTo>
                  <a:pt x="96" y="578"/>
                </a:lnTo>
                <a:lnTo>
                  <a:pt x="88" y="582"/>
                </a:lnTo>
                <a:lnTo>
                  <a:pt x="88" y="582"/>
                </a:lnTo>
                <a:lnTo>
                  <a:pt x="82" y="586"/>
                </a:lnTo>
                <a:lnTo>
                  <a:pt x="82" y="586"/>
                </a:lnTo>
                <a:lnTo>
                  <a:pt x="74" y="588"/>
                </a:lnTo>
                <a:lnTo>
                  <a:pt x="74" y="588"/>
                </a:lnTo>
                <a:lnTo>
                  <a:pt x="66" y="592"/>
                </a:lnTo>
                <a:lnTo>
                  <a:pt x="66" y="592"/>
                </a:lnTo>
                <a:lnTo>
                  <a:pt x="62" y="594"/>
                </a:lnTo>
                <a:lnTo>
                  <a:pt x="62" y="594"/>
                </a:lnTo>
                <a:lnTo>
                  <a:pt x="58" y="596"/>
                </a:lnTo>
                <a:lnTo>
                  <a:pt x="58" y="596"/>
                </a:lnTo>
                <a:lnTo>
                  <a:pt x="48" y="600"/>
                </a:lnTo>
                <a:lnTo>
                  <a:pt x="48" y="600"/>
                </a:lnTo>
                <a:lnTo>
                  <a:pt x="46" y="602"/>
                </a:lnTo>
                <a:lnTo>
                  <a:pt x="46" y="602"/>
                </a:lnTo>
                <a:lnTo>
                  <a:pt x="28" y="608"/>
                </a:lnTo>
                <a:lnTo>
                  <a:pt x="28" y="608"/>
                </a:lnTo>
                <a:lnTo>
                  <a:pt x="16" y="614"/>
                </a:lnTo>
                <a:lnTo>
                  <a:pt x="16" y="614"/>
                </a:lnTo>
                <a:lnTo>
                  <a:pt x="0" y="620"/>
                </a:lnTo>
                <a:lnTo>
                  <a:pt x="70" y="840"/>
                </a:lnTo>
                <a:lnTo>
                  <a:pt x="70" y="840"/>
                </a:lnTo>
                <a:lnTo>
                  <a:pt x="76" y="840"/>
                </a:lnTo>
                <a:lnTo>
                  <a:pt x="76" y="840"/>
                </a:lnTo>
                <a:lnTo>
                  <a:pt x="78" y="838"/>
                </a:lnTo>
                <a:lnTo>
                  <a:pt x="78" y="838"/>
                </a:lnTo>
                <a:lnTo>
                  <a:pt x="94" y="832"/>
                </a:lnTo>
                <a:lnTo>
                  <a:pt x="94" y="832"/>
                </a:lnTo>
                <a:lnTo>
                  <a:pt x="102" y="830"/>
                </a:lnTo>
                <a:lnTo>
                  <a:pt x="102" y="830"/>
                </a:lnTo>
                <a:lnTo>
                  <a:pt x="112" y="826"/>
                </a:lnTo>
                <a:lnTo>
                  <a:pt x="112" y="826"/>
                </a:lnTo>
                <a:lnTo>
                  <a:pt x="126" y="820"/>
                </a:lnTo>
                <a:lnTo>
                  <a:pt x="126" y="820"/>
                </a:lnTo>
                <a:lnTo>
                  <a:pt x="130" y="818"/>
                </a:lnTo>
                <a:lnTo>
                  <a:pt x="130" y="818"/>
                </a:lnTo>
                <a:lnTo>
                  <a:pt x="186" y="792"/>
                </a:lnTo>
                <a:lnTo>
                  <a:pt x="242" y="762"/>
                </a:lnTo>
                <a:lnTo>
                  <a:pt x="242" y="762"/>
                </a:lnTo>
                <a:lnTo>
                  <a:pt x="246" y="760"/>
                </a:lnTo>
                <a:lnTo>
                  <a:pt x="246" y="760"/>
                </a:lnTo>
                <a:lnTo>
                  <a:pt x="256" y="752"/>
                </a:lnTo>
                <a:lnTo>
                  <a:pt x="256" y="752"/>
                </a:lnTo>
                <a:lnTo>
                  <a:pt x="266" y="746"/>
                </a:lnTo>
                <a:lnTo>
                  <a:pt x="266" y="746"/>
                </a:lnTo>
                <a:lnTo>
                  <a:pt x="274" y="742"/>
                </a:lnTo>
                <a:lnTo>
                  <a:pt x="274" y="742"/>
                </a:lnTo>
                <a:lnTo>
                  <a:pt x="288" y="732"/>
                </a:lnTo>
                <a:lnTo>
                  <a:pt x="288" y="732"/>
                </a:lnTo>
                <a:lnTo>
                  <a:pt x="290" y="730"/>
                </a:lnTo>
                <a:lnTo>
                  <a:pt x="290" y="730"/>
                </a:lnTo>
                <a:lnTo>
                  <a:pt x="308" y="718"/>
                </a:lnTo>
                <a:lnTo>
                  <a:pt x="308" y="718"/>
                </a:lnTo>
                <a:lnTo>
                  <a:pt x="308" y="718"/>
                </a:lnTo>
                <a:lnTo>
                  <a:pt x="308" y="718"/>
                </a:lnTo>
                <a:lnTo>
                  <a:pt x="308" y="718"/>
                </a:lnTo>
                <a:lnTo>
                  <a:pt x="308" y="718"/>
                </a:lnTo>
                <a:lnTo>
                  <a:pt x="326" y="704"/>
                </a:lnTo>
                <a:lnTo>
                  <a:pt x="326" y="704"/>
                </a:lnTo>
                <a:lnTo>
                  <a:pt x="328" y="702"/>
                </a:lnTo>
                <a:lnTo>
                  <a:pt x="328" y="702"/>
                </a:lnTo>
                <a:lnTo>
                  <a:pt x="342" y="692"/>
                </a:lnTo>
                <a:lnTo>
                  <a:pt x="342" y="692"/>
                </a:lnTo>
                <a:lnTo>
                  <a:pt x="348" y="686"/>
                </a:lnTo>
                <a:lnTo>
                  <a:pt x="348" y="686"/>
                </a:lnTo>
                <a:lnTo>
                  <a:pt x="356" y="680"/>
                </a:lnTo>
                <a:lnTo>
                  <a:pt x="356" y="680"/>
                </a:lnTo>
                <a:lnTo>
                  <a:pt x="368" y="670"/>
                </a:lnTo>
                <a:lnTo>
                  <a:pt x="368" y="670"/>
                </a:lnTo>
                <a:lnTo>
                  <a:pt x="370" y="668"/>
                </a:lnTo>
                <a:lnTo>
                  <a:pt x="370" y="668"/>
                </a:lnTo>
                <a:lnTo>
                  <a:pt x="416" y="624"/>
                </a:lnTo>
                <a:lnTo>
                  <a:pt x="458" y="580"/>
                </a:lnTo>
                <a:lnTo>
                  <a:pt x="458" y="580"/>
                </a:lnTo>
                <a:lnTo>
                  <a:pt x="462" y="576"/>
                </a:lnTo>
                <a:lnTo>
                  <a:pt x="462" y="576"/>
                </a:lnTo>
                <a:lnTo>
                  <a:pt x="470" y="566"/>
                </a:lnTo>
                <a:lnTo>
                  <a:pt x="470" y="566"/>
                </a:lnTo>
                <a:lnTo>
                  <a:pt x="478" y="556"/>
                </a:lnTo>
                <a:lnTo>
                  <a:pt x="478" y="556"/>
                </a:lnTo>
                <a:lnTo>
                  <a:pt x="484" y="550"/>
                </a:lnTo>
                <a:lnTo>
                  <a:pt x="484" y="550"/>
                </a:lnTo>
                <a:lnTo>
                  <a:pt x="494" y="536"/>
                </a:lnTo>
                <a:lnTo>
                  <a:pt x="494" y="536"/>
                </a:lnTo>
                <a:lnTo>
                  <a:pt x="496" y="534"/>
                </a:lnTo>
                <a:lnTo>
                  <a:pt x="496" y="534"/>
                </a:lnTo>
                <a:lnTo>
                  <a:pt x="508" y="516"/>
                </a:lnTo>
                <a:lnTo>
                  <a:pt x="508" y="516"/>
                </a:lnTo>
                <a:lnTo>
                  <a:pt x="508" y="516"/>
                </a:lnTo>
                <a:lnTo>
                  <a:pt x="508" y="516"/>
                </a:lnTo>
                <a:close/>
              </a:path>
            </a:pathLst>
          </a:custGeom>
          <a:solidFill>
            <a:srgbClr val="8590CA"/>
          </a:solidFill>
          <a:ln w="3175">
            <a:noFill/>
            <a:prstDash val="solid"/>
            <a:round/>
          </a:ln>
        </p:spPr>
        <p:txBody>
          <a:bodyPr vert="horz" wrap="square" lIns="68580" tIns="34290" rIns="68580" bIns="34290" numCol="1" anchor="t" anchorCtr="0" compatLnSpc="1"/>
          <a:lstStyle/>
          <a:p>
            <a:pPr>
              <a:lnSpc>
                <a:spcPct val="120000"/>
              </a:lnSpc>
            </a:pPr>
            <a:endParaRPr lang="zh-CN" altLang="en-US" sz="1350">
              <a:latin typeface="Arial" panose="020B0604020202020204" pitchFamily="34" charset="0"/>
              <a:ea typeface="微软雅黑" panose="020B0503020204020204" pitchFamily="34" charset="-122"/>
              <a:sym typeface="Arial" panose="020B0604020202020204" pitchFamily="34" charset="0"/>
            </a:endParaRPr>
          </a:p>
        </p:txBody>
      </p:sp>
      <p:cxnSp>
        <p:nvCxnSpPr>
          <p:cNvPr id="58" name="直接连接符 57"/>
          <p:cNvCxnSpPr/>
          <p:nvPr>
            <p:custDataLst>
              <p:tags r:id="rId8"/>
            </p:custDataLst>
          </p:nvPr>
        </p:nvCxnSpPr>
        <p:spPr>
          <a:xfrm flipH="1">
            <a:off x="4686948" y="3807972"/>
            <a:ext cx="309645" cy="265311"/>
          </a:xfrm>
          <a:prstGeom prst="line">
            <a:avLst/>
          </a:prstGeom>
          <a:ln w="19050" cmpd="sng">
            <a:solidFill>
              <a:srgbClr val="8EAADC"/>
            </a:solidFill>
            <a:prstDash val="sysDot"/>
            <a:headEnd type="oval" w="med" len="med"/>
            <a:tailEnd type="oval"/>
          </a:ln>
        </p:spPr>
        <p:style>
          <a:lnRef idx="1">
            <a:srgbClr val="8590CA"/>
          </a:lnRef>
          <a:fillRef idx="0">
            <a:srgbClr val="8590CA"/>
          </a:fillRef>
          <a:effectRef idx="0">
            <a:srgbClr val="8590CA"/>
          </a:effectRef>
          <a:fontRef idx="minor">
            <a:sysClr val="windowText" lastClr="000000"/>
          </a:fontRef>
        </p:style>
      </p:cxnSp>
      <p:cxnSp>
        <p:nvCxnSpPr>
          <p:cNvPr id="59" name="直接连接符 58"/>
          <p:cNvCxnSpPr/>
          <p:nvPr>
            <p:custDataLst>
              <p:tags r:id="rId9"/>
            </p:custDataLst>
          </p:nvPr>
        </p:nvCxnSpPr>
        <p:spPr>
          <a:xfrm flipH="1">
            <a:off x="5354278" y="5013612"/>
            <a:ext cx="415992" cy="4839"/>
          </a:xfrm>
          <a:prstGeom prst="line">
            <a:avLst/>
          </a:prstGeom>
          <a:ln w="19050" cmpd="sng">
            <a:prstDash val="sysDot"/>
            <a:headEnd type="oval" w="med" len="med"/>
            <a:tailEnd type="oval"/>
          </a:ln>
        </p:spPr>
        <p:style>
          <a:lnRef idx="1">
            <a:srgbClr val="8590CA"/>
          </a:lnRef>
          <a:fillRef idx="0">
            <a:srgbClr val="8590CA"/>
          </a:fillRef>
          <a:effectRef idx="0">
            <a:srgbClr val="8590CA"/>
          </a:effectRef>
          <a:fontRef idx="minor">
            <a:sysClr val="windowText" lastClr="000000"/>
          </a:fontRef>
        </p:style>
      </p:cxnSp>
      <p:cxnSp>
        <p:nvCxnSpPr>
          <p:cNvPr id="60" name="直接连接符 59"/>
          <p:cNvCxnSpPr/>
          <p:nvPr>
            <p:custDataLst>
              <p:tags r:id="rId10"/>
            </p:custDataLst>
          </p:nvPr>
        </p:nvCxnSpPr>
        <p:spPr>
          <a:xfrm flipH="1" flipV="1">
            <a:off x="4860806" y="6000042"/>
            <a:ext cx="240035" cy="235187"/>
          </a:xfrm>
          <a:prstGeom prst="line">
            <a:avLst/>
          </a:prstGeom>
          <a:ln w="19050" cmpd="sng">
            <a:solidFill>
              <a:srgbClr val="79B6D3"/>
            </a:solidFill>
            <a:prstDash val="sysDot"/>
            <a:headEnd type="oval" w="med" len="med"/>
            <a:tailEnd type="oval"/>
          </a:ln>
        </p:spPr>
        <p:style>
          <a:lnRef idx="1">
            <a:srgbClr val="8590CA"/>
          </a:lnRef>
          <a:fillRef idx="0">
            <a:srgbClr val="8590CA"/>
          </a:fillRef>
          <a:effectRef idx="0">
            <a:srgbClr val="8590CA"/>
          </a:effectRef>
          <a:fontRef idx="minor">
            <a:sysClr val="windowText" lastClr="000000"/>
          </a:fontRef>
        </p:style>
      </p:cxnSp>
      <p:cxnSp>
        <p:nvCxnSpPr>
          <p:cNvPr id="61" name="直接连接符 60"/>
          <p:cNvCxnSpPr/>
          <p:nvPr>
            <p:custDataLst>
              <p:tags r:id="rId11"/>
            </p:custDataLst>
          </p:nvPr>
        </p:nvCxnSpPr>
        <p:spPr>
          <a:xfrm flipH="1" flipV="1">
            <a:off x="2706643" y="4471323"/>
            <a:ext cx="360376" cy="112537"/>
          </a:xfrm>
          <a:prstGeom prst="line">
            <a:avLst/>
          </a:prstGeom>
          <a:ln w="19050" cmpd="sng">
            <a:prstDash val="sysDot"/>
            <a:headEnd type="oval" w="med" len="med"/>
            <a:tailEnd type="oval"/>
          </a:ln>
        </p:spPr>
        <p:style>
          <a:lnRef idx="1">
            <a:srgbClr val="8590CA"/>
          </a:lnRef>
          <a:fillRef idx="0">
            <a:srgbClr val="8590CA"/>
          </a:fillRef>
          <a:effectRef idx="0">
            <a:srgbClr val="8590CA"/>
          </a:effectRef>
          <a:fontRef idx="minor">
            <a:sysClr val="windowText" lastClr="000000"/>
          </a:fontRef>
        </p:style>
      </p:cxnSp>
      <p:cxnSp>
        <p:nvCxnSpPr>
          <p:cNvPr id="62" name="直接连接符 61"/>
          <p:cNvCxnSpPr/>
          <p:nvPr>
            <p:custDataLst>
              <p:tags r:id="rId12"/>
            </p:custDataLst>
          </p:nvPr>
        </p:nvCxnSpPr>
        <p:spPr>
          <a:xfrm flipH="1">
            <a:off x="2880371" y="5703523"/>
            <a:ext cx="286347" cy="170667"/>
          </a:xfrm>
          <a:prstGeom prst="line">
            <a:avLst/>
          </a:prstGeom>
          <a:ln w="19050" cmpd="sng">
            <a:solidFill>
              <a:srgbClr val="8EAADC"/>
            </a:solidFill>
            <a:prstDash val="sysDot"/>
            <a:headEnd type="oval" w="med" len="med"/>
            <a:tailEnd type="oval"/>
          </a:ln>
        </p:spPr>
        <p:style>
          <a:lnRef idx="1">
            <a:srgbClr val="8590CA"/>
          </a:lnRef>
          <a:fillRef idx="0">
            <a:srgbClr val="8590CA"/>
          </a:fillRef>
          <a:effectRef idx="0">
            <a:srgbClr val="8590CA"/>
          </a:effectRef>
          <a:fontRef idx="minor">
            <a:sysClr val="windowText" lastClr="000000"/>
          </a:fontRef>
        </p:style>
      </p:cxn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控制抛弃式原型的成本</a:t>
            </a:r>
          </a:p>
        </p:txBody>
      </p:sp>
      <p:sp>
        <p:nvSpPr>
          <p:cNvPr id="3" name="内容占位符 2"/>
          <p:cNvSpPr txBox="1"/>
          <p:nvPr/>
        </p:nvSpPr>
        <p:spPr>
          <a:xfrm>
            <a:off x="628650" y="1413672"/>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buFont typeface="Wingdings" panose="05000000000000000000" charset="0"/>
              <a:buChar char=""/>
            </a:pPr>
            <a:r>
              <a:rPr kumimoji="1" lang="en-US" altLang="zh-CN" sz="2400" dirty="0">
                <a:latin typeface="楷体" panose="02010609060101010101" pitchFamily="49" charset="-122"/>
                <a:ea typeface="楷体" panose="02010609060101010101" pitchFamily="49" charset="-122"/>
              </a:rPr>
              <a:t>在建立抛弃式原型时</a:t>
            </a:r>
            <a:r>
              <a:rPr kumimoji="1" lang="zh-CN" altLang="en-US" sz="2400" dirty="0">
                <a:latin typeface="楷体" panose="02010609060101010101" pitchFamily="49" charset="-122"/>
                <a:ea typeface="楷体" panose="02010609060101010101" pitchFamily="49" charset="-122"/>
              </a:rPr>
              <a:t>，</a:t>
            </a:r>
            <a:r>
              <a:rPr kumimoji="1" lang="en-US" altLang="zh-CN" sz="2400" dirty="0">
                <a:latin typeface="楷体" panose="02010609060101010101" pitchFamily="49" charset="-122"/>
                <a:ea typeface="楷体" panose="02010609060101010101" pitchFamily="49" charset="-122"/>
              </a:rPr>
              <a:t>开发者可以使用一些</a:t>
            </a:r>
            <a:r>
              <a:rPr kumimoji="1" lang="en-US" altLang="zh-CN" sz="2400" b="1" dirty="0">
                <a:solidFill>
                  <a:srgbClr val="88057A"/>
                </a:solidFill>
                <a:latin typeface="楷体" panose="02010609060101010101" pitchFamily="49" charset="-122"/>
                <a:ea typeface="楷体" panose="02010609060101010101" pitchFamily="49" charset="-122"/>
              </a:rPr>
              <a:t>简易的</a:t>
            </a:r>
            <a:r>
              <a:rPr kumimoji="1" lang="en-US" altLang="zh-CN" sz="2400" dirty="0">
                <a:latin typeface="楷体" panose="02010609060101010101" pitchFamily="49" charset="-122"/>
                <a:ea typeface="楷体" panose="02010609060101010101" pitchFamily="49" charset="-122"/>
              </a:rPr>
              <a:t>开发工具和</a:t>
            </a:r>
            <a:r>
              <a:rPr kumimoji="1" lang="en-US" altLang="zh-CN" sz="2400" b="1" dirty="0">
                <a:solidFill>
                  <a:srgbClr val="88057A"/>
                </a:solidFill>
                <a:latin typeface="楷体" panose="02010609060101010101" pitchFamily="49" charset="-122"/>
                <a:ea typeface="楷体" panose="02010609060101010101" pitchFamily="49" charset="-122"/>
              </a:rPr>
              <a:t>不成熟</a:t>
            </a:r>
            <a:r>
              <a:rPr kumimoji="1" lang="en-US" altLang="zh-CN" sz="2400" dirty="0">
                <a:latin typeface="楷体" panose="02010609060101010101" pitchFamily="49" charset="-122"/>
                <a:ea typeface="楷体" panose="02010609060101010101" pitchFamily="49" charset="-122"/>
              </a:rPr>
              <a:t>的构造技术，也可能会忽略或简化一些和原型目标不相关的功能特征。</a:t>
            </a:r>
          </a:p>
          <a:p>
            <a:pPr>
              <a:lnSpc>
                <a:spcPct val="110000"/>
              </a:lnSpc>
              <a:buFont typeface="Wingdings" panose="05000000000000000000" charset="0"/>
              <a:buChar char=""/>
            </a:pPr>
            <a:endParaRPr kumimoji="1" lang="en-US" altLang="zh-CN" sz="2400" dirty="0">
              <a:latin typeface="楷体" panose="02010609060101010101" pitchFamily="49" charset="-122"/>
              <a:ea typeface="楷体" panose="02010609060101010101" pitchFamily="49" charset="-122"/>
            </a:endParaRPr>
          </a:p>
          <a:p>
            <a:pPr>
              <a:lnSpc>
                <a:spcPct val="100000"/>
              </a:lnSpc>
              <a:buFont typeface="Wingdings" panose="05000000000000000000" charset="0"/>
              <a:buChar char=""/>
            </a:pPr>
            <a:endParaRPr kumimoji="1" lang="en-US" altLang="zh-CN" dirty="0">
              <a:latin typeface="楷体" panose="02010609060101010101" pitchFamily="49" charset="-122"/>
              <a:ea typeface="楷体" panose="02010609060101010101" pitchFamily="49" charset="-122"/>
            </a:endParaRPr>
          </a:p>
          <a:p>
            <a:pPr>
              <a:lnSpc>
                <a:spcPct val="100000"/>
              </a:lnSpc>
              <a:buFont typeface="Wingdings" panose="05000000000000000000" charset="0"/>
              <a:buChar char=""/>
            </a:pPr>
            <a:endParaRPr kumimoji="1" lang="en-US" altLang="zh-CN" dirty="0">
              <a:latin typeface="楷体" panose="02010609060101010101" pitchFamily="49" charset="-122"/>
              <a:ea typeface="楷体" panose="02010609060101010101" pitchFamily="49" charset="-122"/>
            </a:endParaRPr>
          </a:p>
          <a:p>
            <a:pPr>
              <a:lnSpc>
                <a:spcPct val="110000"/>
              </a:lnSpc>
              <a:buFont typeface="Wingdings" panose="05000000000000000000" charset="0"/>
              <a:buChar char=""/>
            </a:pPr>
            <a:r>
              <a:rPr kumimoji="1" lang="en-US" altLang="zh-CN" sz="2400" dirty="0">
                <a:latin typeface="楷体" panose="02010609060101010101" pitchFamily="49" charset="-122"/>
                <a:ea typeface="楷体" panose="02010609060101010101" pitchFamily="49" charset="-122"/>
              </a:rPr>
              <a:t>不要过于详细地构建抛弃式原型，只要它能够</a:t>
            </a:r>
            <a:r>
              <a:rPr kumimoji="1" lang="en-US" altLang="zh-CN" sz="2400" b="1" dirty="0">
                <a:solidFill>
                  <a:srgbClr val="88057A"/>
                </a:solidFill>
                <a:latin typeface="楷体" panose="02010609060101010101" pitchFamily="49" charset="-122"/>
                <a:ea typeface="楷体" panose="02010609060101010101" pitchFamily="49" charset="-122"/>
              </a:rPr>
              <a:t>满足原型制作的目标</a:t>
            </a:r>
            <a:r>
              <a:rPr kumimoji="1" lang="en-US" altLang="zh-CN" sz="2400" dirty="0">
                <a:latin typeface="楷体" panose="02010609060101010101" pitchFamily="49" charset="-122"/>
                <a:ea typeface="楷体" panose="02010609060101010101" pitchFamily="49" charset="-122"/>
              </a:rPr>
              <a:t>就足够了。要抵制住诱惑，也要顶住用户的压力，不要向抛弃式原型添加更多的功能。</a:t>
            </a:r>
          </a:p>
        </p:txBody>
      </p:sp>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原型</a:t>
            </a:r>
          </a:p>
        </p:txBody>
      </p:sp>
      <p:sp>
        <p:nvSpPr>
          <p:cNvPr id="4" name="圆角矩形 3"/>
          <p:cNvSpPr/>
          <p:nvPr/>
        </p:nvSpPr>
        <p:spPr>
          <a:xfrm>
            <a:off x="842645" y="2873375"/>
            <a:ext cx="7471410" cy="1239520"/>
          </a:xfrm>
          <a:prstGeom prst="roundRect">
            <a:avLst/>
          </a:prstGeom>
          <a:gradFill>
            <a:gsLst>
              <a:gs pos="0">
                <a:srgbClr val="7B32B2"/>
              </a:gs>
              <a:gs pos="100000">
                <a:srgbClr val="401A5D"/>
              </a:gs>
            </a:gsLst>
            <a:path path="circle">
              <a:fillToRect t="100000" r="100000"/>
            </a:path>
            <a:tileRect l="-100000" b="-10000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lvl="1">
              <a:lnSpc>
                <a:spcPct val="110000"/>
              </a:lnSpc>
            </a:pPr>
            <a:r>
              <a:rPr kumimoji="1" lang="en-US" altLang="zh-CN" sz="2000" dirty="0">
                <a:effectLst/>
                <a:latin typeface="楷体" panose="02010609060101010101" pitchFamily="49" charset="-122"/>
                <a:ea typeface="楷体" panose="02010609060101010101" pitchFamily="49" charset="-122"/>
                <a:sym typeface="+mn-ea"/>
              </a:rPr>
              <a:t>例如</a:t>
            </a:r>
            <a:r>
              <a:rPr kumimoji="1" lang="zh-CN" altLang="en-US" sz="2000" dirty="0">
                <a:effectLst/>
                <a:latin typeface="楷体" panose="02010609060101010101" pitchFamily="49" charset="-122"/>
                <a:ea typeface="楷体" panose="02010609060101010101" pitchFamily="49" charset="-122"/>
                <a:sym typeface="+mn-ea"/>
              </a:rPr>
              <a:t>：</a:t>
            </a:r>
            <a:r>
              <a:rPr kumimoji="1" lang="en-US" altLang="zh-CN" sz="2000" dirty="0">
                <a:effectLst/>
                <a:latin typeface="楷体" panose="02010609060101010101" pitchFamily="49" charset="-122"/>
                <a:ea typeface="楷体" panose="02010609060101010101" pitchFamily="49" charset="-122"/>
                <a:sym typeface="+mn-ea"/>
              </a:rPr>
              <a:t>在探索一个用户界面时可能会忽略界面内含的功能处理，在实验一个算法性能时可能会简化算法的用户界面。</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Times Regular" panose="00000500000000020000" charset="0"/>
                <a:ea typeface="微软雅黑" panose="020B0503020204020204" pitchFamily="34" charset="-122"/>
              </a:rPr>
              <a:t>控制水平原型的成本</a:t>
            </a:r>
          </a:p>
        </p:txBody>
      </p:sp>
      <p:sp>
        <p:nvSpPr>
          <p:cNvPr id="3" name="内容占位符 2"/>
          <p:cNvSpPr txBox="1"/>
          <p:nvPr/>
        </p:nvSpPr>
        <p:spPr>
          <a:xfrm>
            <a:off x="628650" y="1413672"/>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en-US" altLang="zh-CN" dirty="0">
                <a:latin typeface="Times Regular" panose="00000500000000020000" charset="0"/>
                <a:ea typeface="楷体" panose="02010609060101010101" pitchFamily="49" charset="-122"/>
              </a:rPr>
              <a:t>水平原型与垂直原型</a:t>
            </a:r>
          </a:p>
          <a:p>
            <a:endParaRPr kumimoji="1" lang="en-US" altLang="zh-CN" dirty="0">
              <a:latin typeface="Times Regular" panose="00000500000000020000" charset="0"/>
              <a:ea typeface="楷体" panose="02010609060101010101" pitchFamily="49" charset="-122"/>
            </a:endParaRPr>
          </a:p>
        </p:txBody>
      </p:sp>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Times Regular" panose="00000500000000020000" charset="0"/>
                <a:ea typeface="楷体" panose="02010609060101010101" pitchFamily="49" charset="-122"/>
              </a:rPr>
              <a:t>原型</a:t>
            </a:r>
          </a:p>
        </p:txBody>
      </p:sp>
      <p:grpSp>
        <p:nvGrpSpPr>
          <p:cNvPr id="11" name="组合 10"/>
          <p:cNvGrpSpPr/>
          <p:nvPr/>
        </p:nvGrpSpPr>
        <p:grpSpPr>
          <a:xfrm>
            <a:off x="628650" y="2060575"/>
            <a:ext cx="7963535" cy="1953895"/>
            <a:chOff x="926" y="5084"/>
            <a:chExt cx="12541" cy="2976"/>
          </a:xfrm>
        </p:grpSpPr>
        <p:sp>
          <p:nvSpPr>
            <p:cNvPr id="12" name="文本框 11"/>
            <p:cNvSpPr txBox="1"/>
            <p:nvPr>
              <p:custDataLst>
                <p:tags r:id="rId3"/>
              </p:custDataLst>
            </p:nvPr>
          </p:nvSpPr>
          <p:spPr>
            <a:xfrm>
              <a:off x="1135" y="5828"/>
              <a:ext cx="12332" cy="2232"/>
            </a:xfrm>
            <a:prstGeom prst="rect">
              <a:avLst/>
            </a:prstGeom>
            <a:noFill/>
            <a:ln w="15875" cmpd="sng">
              <a:solidFill>
                <a:srgbClr val="472680"/>
              </a:solidFill>
              <a:prstDash val="lgDashDot"/>
            </a:ln>
          </p:spPr>
          <p:txBody>
            <a:bodyPr wrap="square" rtlCol="0" anchor="t">
              <a:noAutofit/>
            </a:bodyPr>
            <a:lstStyle/>
            <a:p>
              <a:endParaRPr lang="zh-CN" altLang="en-US" dirty="0">
                <a:latin typeface="Times Regular" panose="00000500000000020000" charset="0"/>
                <a:ea typeface="楷体" panose="02010609060101010101" pitchFamily="49" charset="-122"/>
                <a:cs typeface="Times Regular" panose="00000500000000020000" charset="0"/>
              </a:endParaRPr>
            </a:p>
            <a:p>
              <a:pPr marL="285750" indent="-285750">
                <a:buFont typeface="Arial" panose="020B0604020202020204" pitchFamily="34" charset="0"/>
                <a:buChar char="•"/>
              </a:pPr>
              <a:r>
                <a:rPr lang="zh-CN" altLang="en-US" dirty="0">
                  <a:latin typeface="Times Regular" panose="00000500000000020000" charset="0"/>
                  <a:ea typeface="楷体" panose="02010609060101010101" pitchFamily="49" charset="-122"/>
                  <a:cs typeface="Times Regular" panose="00000500000000020000" charset="0"/>
                </a:rPr>
                <a:t>水平原型方法仅仅实现选定功能所有层次中的某些</a:t>
              </a:r>
              <a:r>
                <a:rPr lang="zh-CN" altLang="en-US" b="1" dirty="0">
                  <a:solidFill>
                    <a:srgbClr val="88057A"/>
                  </a:solidFill>
                  <a:latin typeface="Times Regular" panose="00000500000000020000" charset="0"/>
                  <a:ea typeface="楷体" panose="02010609060101010101" pitchFamily="49" charset="-122"/>
                  <a:cs typeface="Times Regular" panose="00000500000000020000" charset="0"/>
                </a:rPr>
                <a:t>特定层次</a:t>
              </a:r>
              <a:r>
                <a:rPr lang="zh-CN" altLang="en-US" dirty="0">
                  <a:latin typeface="Times Regular" panose="00000500000000020000" charset="0"/>
                  <a:ea typeface="楷体" panose="02010609060101010101" pitchFamily="49" charset="-122"/>
                  <a:cs typeface="Times Regular" panose="00000500000000020000" charset="0"/>
                </a:rPr>
                <a:t>，例如用户界面层，它能够处理较大范围的功能，建立的原型产品称为</a:t>
              </a:r>
              <a:r>
                <a:rPr lang="zh-CN" altLang="en-US" b="1" dirty="0">
                  <a:solidFill>
                    <a:srgbClr val="88057A"/>
                  </a:solidFill>
                  <a:latin typeface="Times Regular" panose="00000500000000020000" charset="0"/>
                  <a:ea typeface="楷体" panose="02010609060101010101" pitchFamily="49" charset="-122"/>
                  <a:cs typeface="Times Regular" panose="00000500000000020000" charset="0"/>
                </a:rPr>
                <a:t>水平原型</a:t>
              </a:r>
              <a:r>
                <a:rPr lang="zh-CN" altLang="en-US" b="1" dirty="0">
                  <a:solidFill>
                    <a:srgbClr val="88057A"/>
                  </a:solidFill>
                  <a:latin typeface="Times New Roman" panose="02020603050405020304" pitchFamily="18" charset="0"/>
                  <a:ea typeface="楷体" panose="02010609060101010101" pitchFamily="49" charset="-122"/>
                  <a:cs typeface="Times New Roman" panose="02020603050405020304" pitchFamily="18" charset="0"/>
                </a:rPr>
                <a:t>（horizontal prototype）</a:t>
              </a:r>
              <a:r>
                <a:rPr lang="zh-CN" altLang="en-US" dirty="0">
                  <a:latin typeface="Times Regular" panose="00000500000000020000" charset="0"/>
                  <a:ea typeface="楷体" panose="02010609060101010101" pitchFamily="49" charset="-122"/>
                  <a:cs typeface="Times Regular" panose="00000500000000020000" charset="0"/>
                </a:rPr>
                <a:t>。</a:t>
              </a:r>
            </a:p>
            <a:p>
              <a:pPr marL="285750" indent="-285750">
                <a:buFont typeface="Arial" panose="020B0604020202020204" pitchFamily="34" charset="0"/>
                <a:buChar char="•"/>
              </a:pPr>
              <a:r>
                <a:rPr lang="zh-CN" altLang="en-US" dirty="0">
                  <a:latin typeface="Times Regular" panose="00000500000000020000" charset="0"/>
                  <a:ea typeface="楷体" panose="02010609060101010101" pitchFamily="49" charset="-122"/>
                  <a:cs typeface="Times Regular" panose="00000500000000020000" charset="0"/>
                </a:rPr>
                <a:t>要把注意力集中在概括性需求和工作流问题上。</a:t>
              </a:r>
            </a:p>
          </p:txBody>
        </p:sp>
        <p:sp>
          <p:nvSpPr>
            <p:cNvPr id="13" name="对角圆角矩形 12"/>
            <p:cNvSpPr/>
            <p:nvPr>
              <p:custDataLst>
                <p:tags r:id="rId4"/>
              </p:custDataLst>
            </p:nvPr>
          </p:nvSpPr>
          <p:spPr>
            <a:xfrm>
              <a:off x="926" y="5084"/>
              <a:ext cx="4591" cy="1032"/>
            </a:xfrm>
            <a:prstGeom prst="round2DiagRect">
              <a:avLst/>
            </a:prstGeom>
            <a:solidFill>
              <a:srgbClr val="47268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a:latin typeface="Times Regular" panose="00000500000000020000" charset="0"/>
                  <a:ea typeface="楷体" panose="02010609060101010101" pitchFamily="49" charset="-122"/>
                  <a:cs typeface="Times Regular" panose="00000500000000020000" charset="0"/>
                </a:rPr>
                <a:t>水平原型方法</a:t>
              </a:r>
            </a:p>
            <a:p>
              <a:pPr algn="ctr"/>
              <a:r>
                <a:rPr lang="zh-CN" altLang="en-US">
                  <a:latin typeface="Times New Roman" panose="02020603050405020304" pitchFamily="18" charset="0"/>
                  <a:ea typeface="楷体" panose="02010609060101010101" pitchFamily="49" charset="-122"/>
                  <a:cs typeface="Times New Roman" panose="02020603050405020304" pitchFamily="18" charset="0"/>
                </a:rPr>
                <a:t>（horizontal prototyping）</a:t>
              </a:r>
            </a:p>
          </p:txBody>
        </p:sp>
      </p:grpSp>
      <p:grpSp>
        <p:nvGrpSpPr>
          <p:cNvPr id="5" name="组合 4"/>
          <p:cNvGrpSpPr/>
          <p:nvPr/>
        </p:nvGrpSpPr>
        <p:grpSpPr>
          <a:xfrm>
            <a:off x="628650" y="4382770"/>
            <a:ext cx="7963535" cy="1718310"/>
            <a:chOff x="926" y="5084"/>
            <a:chExt cx="12541" cy="2706"/>
          </a:xfrm>
        </p:grpSpPr>
        <p:sp>
          <p:nvSpPr>
            <p:cNvPr id="7" name="文本框 6"/>
            <p:cNvSpPr txBox="1"/>
            <p:nvPr>
              <p:custDataLst>
                <p:tags r:id="rId1"/>
              </p:custDataLst>
            </p:nvPr>
          </p:nvSpPr>
          <p:spPr>
            <a:xfrm>
              <a:off x="1135" y="5828"/>
              <a:ext cx="12332" cy="1962"/>
            </a:xfrm>
            <a:prstGeom prst="rect">
              <a:avLst/>
            </a:prstGeom>
            <a:noFill/>
            <a:ln w="15875" cmpd="sng">
              <a:solidFill>
                <a:srgbClr val="472680"/>
              </a:solidFill>
              <a:prstDash val="lgDashDot"/>
            </a:ln>
          </p:spPr>
          <p:txBody>
            <a:bodyPr wrap="square" rtlCol="0" anchor="t">
              <a:noAutofit/>
            </a:bodyPr>
            <a:lstStyle/>
            <a:p>
              <a:endParaRPr lang="zh-CN" altLang="en-US" dirty="0">
                <a:latin typeface="Times Regular" panose="00000500000000020000" charset="0"/>
                <a:ea typeface="楷体" panose="02010609060101010101" pitchFamily="49" charset="-122"/>
                <a:cs typeface="Times Regular" panose="00000500000000020000" charset="0"/>
              </a:endParaRPr>
            </a:p>
            <a:p>
              <a:pPr marL="285750" indent="-285750">
                <a:buFont typeface="Arial" panose="020B0604020202020204" pitchFamily="34" charset="0"/>
                <a:buChar char="•"/>
              </a:pPr>
              <a:r>
                <a:rPr lang="zh-CN" altLang="en-US" dirty="0">
                  <a:latin typeface="Times Regular" panose="00000500000000020000" charset="0"/>
                  <a:ea typeface="楷体" panose="02010609060101010101" pitchFamily="49" charset="-122"/>
                  <a:cs typeface="Times Regular" panose="00000500000000020000" charset="0"/>
                </a:rPr>
                <a:t>垂直原型方法会触及到选定功能实现的</a:t>
              </a:r>
              <a:r>
                <a:rPr lang="zh-CN" altLang="en-US" b="1" dirty="0">
                  <a:solidFill>
                    <a:srgbClr val="88057A"/>
                  </a:solidFill>
                  <a:latin typeface="Times Regular" panose="00000500000000020000" charset="0"/>
                  <a:ea typeface="楷体" panose="02010609060101010101" pitchFamily="49" charset="-122"/>
                  <a:cs typeface="Times Regular" panose="00000500000000020000" charset="0"/>
                </a:rPr>
                <a:t>所有层次</a:t>
              </a:r>
              <a:r>
                <a:rPr lang="zh-CN" altLang="en-US" dirty="0">
                  <a:latin typeface="Times Regular" panose="00000500000000020000" charset="0"/>
                  <a:ea typeface="楷体" panose="02010609060101010101" pitchFamily="49" charset="-122"/>
                  <a:cs typeface="Times Regular" panose="00000500000000020000" charset="0"/>
                </a:rPr>
                <a:t>，处理的功能范围通常较小，建立的原型产品称为</a:t>
              </a:r>
              <a:r>
                <a:rPr lang="zh-CN" altLang="en-US" b="1" dirty="0">
                  <a:solidFill>
                    <a:srgbClr val="88057A"/>
                  </a:solidFill>
                  <a:latin typeface="Times Regular" panose="00000500000000020000" charset="0"/>
                  <a:ea typeface="楷体" panose="02010609060101010101" pitchFamily="49" charset="-122"/>
                  <a:cs typeface="Times Regular" panose="00000500000000020000" charset="0"/>
                </a:rPr>
                <a:t>垂直原型</a:t>
              </a:r>
              <a:r>
                <a:rPr lang="zh-CN" altLang="en-US" b="1" dirty="0">
                  <a:solidFill>
                    <a:srgbClr val="88057A"/>
                  </a:solidFill>
                  <a:latin typeface="Times New Roman" panose="02020603050405020304" pitchFamily="18" charset="0"/>
                  <a:ea typeface="楷体" panose="02010609060101010101" pitchFamily="49" charset="-122"/>
                  <a:cs typeface="Times New Roman" panose="02020603050405020304" pitchFamily="18" charset="0"/>
                </a:rPr>
                <a:t>（vertical prototype）</a:t>
              </a:r>
              <a:r>
                <a:rPr lang="zh-CN" altLang="en-US" dirty="0">
                  <a:latin typeface="Times Regular" panose="00000500000000020000" charset="0"/>
                  <a:ea typeface="楷体" panose="02010609060101010101" pitchFamily="49" charset="-122"/>
                  <a:cs typeface="Times Regular" panose="00000500000000020000" charset="0"/>
                </a:rPr>
                <a:t>。</a:t>
              </a:r>
            </a:p>
            <a:p>
              <a:pPr marL="285750" indent="-285750">
                <a:buFont typeface="Arial" panose="020B0604020202020204" pitchFamily="34" charset="0"/>
                <a:buChar char="•"/>
              </a:pPr>
              <a:r>
                <a:rPr lang="zh-CN" altLang="en-US" dirty="0">
                  <a:latin typeface="Times Regular" panose="00000500000000020000" charset="0"/>
                  <a:ea typeface="楷体" panose="02010609060101010101" pitchFamily="49" charset="-122"/>
                  <a:cs typeface="Times Regular" panose="00000500000000020000" charset="0"/>
                </a:rPr>
                <a:t>要保证真实实现它的各种功能 。</a:t>
              </a:r>
            </a:p>
          </p:txBody>
        </p:sp>
        <p:sp>
          <p:nvSpPr>
            <p:cNvPr id="8" name="对角圆角矩形 7"/>
            <p:cNvSpPr/>
            <p:nvPr>
              <p:custDataLst>
                <p:tags r:id="rId2"/>
              </p:custDataLst>
            </p:nvPr>
          </p:nvSpPr>
          <p:spPr>
            <a:xfrm>
              <a:off x="926" y="5084"/>
              <a:ext cx="4591" cy="1032"/>
            </a:xfrm>
            <a:prstGeom prst="round2DiagRect">
              <a:avLst/>
            </a:prstGeom>
            <a:solidFill>
              <a:srgbClr val="47268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a:latin typeface="Times Regular" panose="00000500000000020000" charset="0"/>
                  <a:ea typeface="楷体" panose="02010609060101010101" pitchFamily="49" charset="-122"/>
                  <a:cs typeface="Times Regular" panose="00000500000000020000" charset="0"/>
                </a:rPr>
                <a:t>垂直原型方法</a:t>
              </a:r>
            </a:p>
            <a:p>
              <a:pPr algn="ctr"/>
              <a:r>
                <a:rPr lang="zh-CN" altLang="en-US">
                  <a:latin typeface="Times New Roman" panose="02020603050405020304" pitchFamily="18" charset="0"/>
                  <a:ea typeface="楷体" panose="02010609060101010101" pitchFamily="49" charset="-122"/>
                  <a:cs typeface="Times New Roman" panose="02020603050405020304" pitchFamily="18" charset="0"/>
                </a:rPr>
                <a:t>（vertical prototyping）</a:t>
              </a:r>
            </a:p>
          </p:txBody>
        </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Times Regular" panose="00000500000000020000" charset="0"/>
                <a:ea typeface="微软雅黑" panose="020B0503020204020204" pitchFamily="34" charset="-122"/>
              </a:rPr>
              <a:t>用尽可能低的成本开发水平原型</a:t>
            </a:r>
          </a:p>
        </p:txBody>
      </p:sp>
      <p:sp>
        <p:nvSpPr>
          <p:cNvPr id="3" name="内容占位符 2"/>
          <p:cNvSpPr txBox="1"/>
          <p:nvPr/>
        </p:nvSpPr>
        <p:spPr>
          <a:xfrm>
            <a:off x="628650" y="1413672"/>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buFont typeface="Wingdings" panose="05000000000000000000" charset="0"/>
              <a:buChar char=""/>
            </a:pPr>
            <a:r>
              <a:rPr kumimoji="1" lang="en-US" altLang="zh-CN" dirty="0">
                <a:solidFill>
                  <a:srgbClr val="88057A"/>
                </a:solidFill>
                <a:latin typeface="Times Bold" panose="00000500000000020000" charset="0"/>
                <a:ea typeface="楷体" panose="02010609060101010101" pitchFamily="49" charset="-122"/>
                <a:cs typeface="Times Bold" panose="00000500000000020000" charset="0"/>
              </a:rPr>
              <a:t>需求获取</a:t>
            </a:r>
            <a:r>
              <a:rPr kumimoji="1" lang="en-US" altLang="zh-CN" dirty="0">
                <a:latin typeface="Times Bold" panose="00000500000000020000" charset="0"/>
                <a:ea typeface="楷体" panose="02010609060101010101" pitchFamily="49" charset="-122"/>
                <a:cs typeface="Times Bold" panose="00000500000000020000" charset="0"/>
              </a:rPr>
              <a:t>中使用的绝大部分原型都是水平原型，构建水平原型时只需要将精力集中在它所</a:t>
            </a:r>
            <a:r>
              <a:rPr kumimoji="1" lang="en-US" altLang="zh-CN" dirty="0">
                <a:solidFill>
                  <a:srgbClr val="88057A"/>
                </a:solidFill>
                <a:latin typeface="Times Bold" panose="00000500000000020000" charset="0"/>
                <a:ea typeface="楷体" panose="02010609060101010101" pitchFamily="49" charset="-122"/>
                <a:cs typeface="Times Bold" panose="00000500000000020000" charset="0"/>
              </a:rPr>
              <a:t>关注的层次</a:t>
            </a:r>
            <a:r>
              <a:rPr kumimoji="1" lang="en-US" altLang="zh-CN" dirty="0">
                <a:latin typeface="Times Bold" panose="00000500000000020000" charset="0"/>
                <a:ea typeface="楷体" panose="02010609060101010101" pitchFamily="49" charset="-122"/>
                <a:cs typeface="Times Bold" panose="00000500000000020000" charset="0"/>
              </a:rPr>
              <a:t>，其他层次稍加处理即可，这样就可以降低原型开发成本</a:t>
            </a:r>
          </a:p>
          <a:p>
            <a:pPr>
              <a:buFont typeface="Wingdings" panose="05000000000000000000" charset="0"/>
              <a:buChar char=""/>
            </a:pPr>
            <a:endParaRPr kumimoji="1" lang="en-US" altLang="zh-CN" dirty="0">
              <a:latin typeface="Times Bold" panose="00000500000000020000" charset="0"/>
              <a:ea typeface="楷体" panose="02010609060101010101" pitchFamily="49" charset="-122"/>
              <a:cs typeface="Times Bold" panose="00000500000000020000" charset="0"/>
            </a:endParaRPr>
          </a:p>
          <a:p>
            <a:pPr>
              <a:lnSpc>
                <a:spcPct val="100000"/>
              </a:lnSpc>
              <a:buFont typeface="Wingdings" panose="05000000000000000000" charset="0"/>
              <a:buChar char=""/>
            </a:pPr>
            <a:r>
              <a:rPr kumimoji="1" lang="en-US" altLang="zh-CN" dirty="0">
                <a:latin typeface="Times Bold" panose="00000500000000020000" charset="0"/>
                <a:ea typeface="楷体" panose="02010609060101010101" pitchFamily="49" charset="-122"/>
                <a:cs typeface="Times Bold" panose="00000500000000020000" charset="0"/>
              </a:rPr>
              <a:t>需求获取水平原型关注的</a:t>
            </a:r>
            <a:r>
              <a:rPr kumimoji="1" lang="en-US" altLang="zh-CN" dirty="0">
                <a:solidFill>
                  <a:srgbClr val="88057A"/>
                </a:solidFill>
                <a:latin typeface="Times Bold" panose="00000500000000020000" charset="0"/>
                <a:ea typeface="楷体" panose="02010609060101010101" pitchFamily="49" charset="-122"/>
                <a:cs typeface="Times Bold" panose="00000500000000020000" charset="0"/>
              </a:rPr>
              <a:t>常见层次</a:t>
            </a:r>
            <a:r>
              <a:rPr kumimoji="1" lang="en-US" altLang="zh-CN" dirty="0">
                <a:latin typeface="Times Bold" panose="00000500000000020000" charset="0"/>
                <a:ea typeface="楷体" panose="02010609060101010101" pitchFamily="49" charset="-122"/>
                <a:cs typeface="Times Bold" panose="00000500000000020000" charset="0"/>
              </a:rPr>
              <a:t>有三个</a:t>
            </a:r>
          </a:p>
          <a:p>
            <a:pPr lvl="1">
              <a:lnSpc>
                <a:spcPct val="100000"/>
              </a:lnSpc>
            </a:pPr>
            <a:r>
              <a:rPr kumimoji="1" lang="en-US" altLang="zh-CN" dirty="0">
                <a:latin typeface="Times Bold" panose="00000500000000020000" charset="0"/>
                <a:ea typeface="楷体" panose="02010609060101010101" pitchFamily="49" charset="-122"/>
                <a:cs typeface="Times Bold" panose="00000500000000020000" charset="0"/>
              </a:rPr>
              <a:t>人机交互（又称之为外</a:t>
            </a:r>
            <a:r>
              <a:rPr kumimoji="1" lang="en-US" altLang="zh-CN" dirty="0">
                <a:latin typeface="Times New Roman" panose="02020603050405020304" pitchFamily="18" charset="0"/>
                <a:ea typeface="楷体" panose="02010609060101010101" pitchFamily="49" charset="-122"/>
                <a:cs typeface="Times New Roman" panose="02020603050405020304" pitchFamily="18" charset="0"/>
              </a:rPr>
              <a:t>观，Look and Feel）</a:t>
            </a:r>
          </a:p>
          <a:p>
            <a:pPr lvl="1">
              <a:lnSpc>
                <a:spcPct val="100000"/>
              </a:lnSpc>
            </a:pPr>
            <a:r>
              <a:rPr kumimoji="1" lang="en-US" altLang="zh-CN" dirty="0">
                <a:latin typeface="Times New Roman" panose="02020603050405020304" pitchFamily="18" charset="0"/>
                <a:ea typeface="楷体" panose="02010609060101010101" pitchFamily="49" charset="-122"/>
                <a:cs typeface="Times New Roman" panose="02020603050405020304" pitchFamily="18" charset="0"/>
              </a:rPr>
              <a:t>功能与任务（又称之为角色，Role）</a:t>
            </a:r>
          </a:p>
          <a:p>
            <a:pPr lvl="1">
              <a:lnSpc>
                <a:spcPct val="100000"/>
              </a:lnSpc>
            </a:pPr>
            <a:r>
              <a:rPr kumimoji="1" lang="en-US" altLang="zh-CN" dirty="0">
                <a:latin typeface="Times New Roman" panose="02020603050405020304" pitchFamily="18" charset="0"/>
                <a:ea typeface="楷体" panose="02010609060101010101" pitchFamily="49" charset="-122"/>
                <a:cs typeface="Times New Roman" panose="02020603050405020304" pitchFamily="18" charset="0"/>
              </a:rPr>
              <a:t>实现（Implementation）</a:t>
            </a:r>
          </a:p>
          <a:p>
            <a:endParaRPr kumimoji="1" lang="en-US" altLang="zh-CN"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Times Regular" panose="00000500000000020000" charset="0"/>
                <a:ea typeface="楷体" panose="02010609060101010101" pitchFamily="49" charset="-122"/>
              </a:rPr>
              <a:t>原型</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Times Regular" panose="00000500000000020000" charset="0"/>
                <a:ea typeface="微软雅黑" panose="020B0503020204020204" pitchFamily="34" charset="-122"/>
              </a:rPr>
              <a:t>三个层次的水平原型</a:t>
            </a:r>
          </a:p>
        </p:txBody>
      </p:sp>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Times Regular" panose="00000500000000020000" charset="0"/>
                <a:ea typeface="楷体" panose="02010609060101010101" pitchFamily="49" charset="-122"/>
              </a:rPr>
              <a:t>原型</a:t>
            </a:r>
          </a:p>
        </p:txBody>
      </p:sp>
      <p:grpSp>
        <p:nvGrpSpPr>
          <p:cNvPr id="48" name="组合 47"/>
          <p:cNvGrpSpPr/>
          <p:nvPr>
            <p:custDataLst>
              <p:tags r:id="rId1"/>
            </p:custDataLst>
          </p:nvPr>
        </p:nvGrpSpPr>
        <p:grpSpPr>
          <a:xfrm>
            <a:off x="255905" y="1778635"/>
            <a:ext cx="8722995" cy="4268470"/>
            <a:chOff x="403" y="2454"/>
            <a:chExt cx="13737" cy="6722"/>
          </a:xfrm>
        </p:grpSpPr>
        <p:grpSp>
          <p:nvGrpSpPr>
            <p:cNvPr id="15" name="组合 14"/>
            <p:cNvGrpSpPr/>
            <p:nvPr>
              <p:custDataLst>
                <p:tags r:id="rId2"/>
              </p:custDataLst>
            </p:nvPr>
          </p:nvGrpSpPr>
          <p:grpSpPr>
            <a:xfrm>
              <a:off x="403" y="2454"/>
              <a:ext cx="4402" cy="6591"/>
              <a:chOff x="1888" y="3861"/>
              <a:chExt cx="3028" cy="4592"/>
            </a:xfrm>
          </p:grpSpPr>
          <p:sp>
            <p:nvSpPr>
              <p:cNvPr id="13" name="圆角矩形 12"/>
              <p:cNvSpPr/>
              <p:nvPr>
                <p:custDataLst>
                  <p:tags r:id="rId15"/>
                </p:custDataLst>
              </p:nvPr>
            </p:nvSpPr>
            <p:spPr>
              <a:xfrm>
                <a:off x="1906" y="3861"/>
                <a:ext cx="3010" cy="4592"/>
              </a:xfrm>
              <a:prstGeom prst="roundRect">
                <a:avLst>
                  <a:gd name="adj" fmla="val 6452"/>
                </a:avLst>
              </a:prstGeom>
              <a:noFill/>
              <a:ln>
                <a:gradFill>
                  <a:gsLst>
                    <a:gs pos="22000">
                      <a:srgbClr val="026CD4">
                        <a:alpha val="10000"/>
                      </a:srgbClr>
                    </a:gs>
                    <a:gs pos="100000">
                      <a:srgbClr val="026CD4"/>
                    </a:gs>
                  </a:gsLst>
                  <a:lin ang="16200000" scaled="1"/>
                </a:gradFill>
              </a:ln>
              <a:effectLst/>
            </p:spPr>
            <p:style>
              <a:lnRef idx="2">
                <a:srgbClr val="026CD4">
                  <a:shade val="50000"/>
                </a:srgbClr>
              </a:lnRef>
              <a:fillRef idx="1">
                <a:srgbClr val="026CD4"/>
              </a:fillRef>
              <a:effectRef idx="0">
                <a:srgbClr val="026CD4"/>
              </a:effectRef>
              <a:fontRef idx="minor">
                <a:srgbClr val="FFFFFF"/>
              </a:fontRef>
            </p:style>
            <p:txBody>
              <a:bodyPr vertOverflow="overflow" horzOverflow="overflow" vert="horz" wrap="square" numCol="1" spcCol="0" rtlCol="0" fromWordArt="0" anchor="ctr" anchorCtr="0" forceAA="0" compatLnSpc="1">
                <a:noAutofit/>
              </a:bodyPr>
              <a:lstStyle>
                <a:defPPr>
                  <a:defRPr lang="zh-CN">
                    <a:solidFill>
                      <a:srgbClr val="FFFFFF"/>
                    </a:solidFill>
                  </a:defRPr>
                </a:defPPr>
                <a:lvl1pPr marL="0" algn="l" defTabSz="914400" rtl="0" eaLnBrk="1" latinLnBrk="0" hangingPunct="1">
                  <a:defRPr sz="1800" kern="1200">
                    <a:solidFill>
                      <a:srgbClr val="FFFFFF"/>
                    </a:solidFill>
                    <a:latin typeface="Arial" panose="020B0604020202020204" pitchFamily="34" charset="0"/>
                    <a:ea typeface="微软雅黑" panose="020B0503020204020204" pitchFamily="34" charset="-122"/>
                    <a:cs typeface="+mn-ea"/>
                  </a:defRPr>
                </a:lvl1pPr>
                <a:lvl2pPr marL="457200" algn="l" defTabSz="914400" rtl="0" eaLnBrk="1" latinLnBrk="0" hangingPunct="1">
                  <a:defRPr sz="1800" kern="1200">
                    <a:solidFill>
                      <a:srgbClr val="FFFFFF"/>
                    </a:solidFill>
                    <a:latin typeface="Arial" panose="020B0604020202020204" pitchFamily="34" charset="0"/>
                    <a:ea typeface="微软雅黑" panose="020B0503020204020204" pitchFamily="34" charset="-122"/>
                    <a:cs typeface="+mn-ea"/>
                  </a:defRPr>
                </a:lvl2pPr>
                <a:lvl3pPr marL="914400" algn="l" defTabSz="914400" rtl="0" eaLnBrk="1" latinLnBrk="0" hangingPunct="1">
                  <a:defRPr sz="1800" kern="1200">
                    <a:solidFill>
                      <a:srgbClr val="FFFFFF"/>
                    </a:solidFill>
                    <a:latin typeface="Arial" panose="020B0604020202020204" pitchFamily="34" charset="0"/>
                    <a:ea typeface="微软雅黑" panose="020B0503020204020204" pitchFamily="34" charset="-122"/>
                    <a:cs typeface="+mn-ea"/>
                  </a:defRPr>
                </a:lvl3pPr>
                <a:lvl4pPr marL="1371600" algn="l" defTabSz="914400" rtl="0" eaLnBrk="1" latinLnBrk="0" hangingPunct="1">
                  <a:defRPr sz="1800" kern="1200">
                    <a:solidFill>
                      <a:srgbClr val="FFFFFF"/>
                    </a:solidFill>
                    <a:latin typeface="Arial" panose="020B0604020202020204" pitchFamily="34" charset="0"/>
                    <a:ea typeface="微软雅黑" panose="020B0503020204020204" pitchFamily="34" charset="-122"/>
                    <a:cs typeface="+mn-ea"/>
                  </a:defRPr>
                </a:lvl4pPr>
                <a:lvl5pPr marL="1828800" algn="l" defTabSz="914400" rtl="0" eaLnBrk="1" latinLnBrk="0" hangingPunct="1">
                  <a:defRPr sz="1800" kern="1200">
                    <a:solidFill>
                      <a:srgbClr val="FFFFFF"/>
                    </a:solidFill>
                    <a:latin typeface="Arial" panose="020B0604020202020204" pitchFamily="34" charset="0"/>
                    <a:ea typeface="微软雅黑" panose="020B0503020204020204" pitchFamily="34" charset="-122"/>
                    <a:cs typeface="+mn-ea"/>
                  </a:defRPr>
                </a:lvl5pPr>
                <a:lvl6pPr marL="2286000" algn="l" defTabSz="914400" rtl="0" eaLnBrk="1" latinLnBrk="0" hangingPunct="1">
                  <a:defRPr sz="1800" kern="1200">
                    <a:solidFill>
                      <a:srgbClr val="FFFFFF"/>
                    </a:solidFill>
                    <a:latin typeface="Arial" panose="020B0604020202020204" pitchFamily="34" charset="0"/>
                    <a:ea typeface="微软雅黑" panose="020B0503020204020204" pitchFamily="34" charset="-122"/>
                    <a:cs typeface="+mn-ea"/>
                  </a:defRPr>
                </a:lvl6pPr>
                <a:lvl7pPr marL="2743200" algn="l" defTabSz="914400" rtl="0" eaLnBrk="1" latinLnBrk="0" hangingPunct="1">
                  <a:defRPr sz="1800" kern="1200">
                    <a:solidFill>
                      <a:srgbClr val="FFFFFF"/>
                    </a:solidFill>
                    <a:latin typeface="Arial" panose="020B0604020202020204" pitchFamily="34" charset="0"/>
                    <a:ea typeface="微软雅黑" panose="020B0503020204020204" pitchFamily="34" charset="-122"/>
                    <a:cs typeface="+mn-ea"/>
                  </a:defRPr>
                </a:lvl7pPr>
                <a:lvl8pPr marL="3200400" algn="l" defTabSz="914400" rtl="0" eaLnBrk="1" latinLnBrk="0" hangingPunct="1">
                  <a:defRPr sz="1800" kern="1200">
                    <a:solidFill>
                      <a:srgbClr val="FFFFFF"/>
                    </a:solidFill>
                    <a:latin typeface="Arial" panose="020B0604020202020204" pitchFamily="34" charset="0"/>
                    <a:ea typeface="微软雅黑" panose="020B0503020204020204" pitchFamily="34" charset="-122"/>
                    <a:cs typeface="+mn-ea"/>
                  </a:defRPr>
                </a:lvl8pPr>
                <a:lvl9pPr marL="3657600" algn="l" defTabSz="914400" rtl="0" eaLnBrk="1" latinLnBrk="0" hangingPunct="1">
                  <a:defRPr sz="1800" kern="1200">
                    <a:solidFill>
                      <a:srgbClr val="FFFFFF"/>
                    </a:solidFill>
                    <a:latin typeface="Arial" panose="020B0604020202020204" pitchFamily="34" charset="0"/>
                    <a:ea typeface="微软雅黑" panose="020B0503020204020204" pitchFamily="34" charset="-122"/>
                    <a:cs typeface="+mn-ea"/>
                  </a:defRPr>
                </a:lvl9pPr>
              </a:lstStyle>
              <a:p>
                <a:pPr lvl="0" algn="ctr">
                  <a:buClrTx/>
                  <a:buSzTx/>
                  <a:buFontTx/>
                </a:pPr>
                <a:endParaRPr lang="zh-CN" altLang="en-US" sz="1350">
                  <a:ln w="15875">
                    <a:gradFill>
                      <a:gsLst>
                        <a:gs pos="0">
                          <a:srgbClr val="9A0003"/>
                        </a:gs>
                        <a:gs pos="100000">
                          <a:srgbClr val="9A0003"/>
                        </a:gs>
                      </a:gsLst>
                      <a:lin ang="5400000" scaled="1"/>
                    </a:gradFill>
                  </a:ln>
                  <a:solidFill>
                    <a:srgbClr val="FFFFFF"/>
                  </a:solidFill>
                  <a:latin typeface="Arial" panose="020B0604020202020204" pitchFamily="34" charset="0"/>
                  <a:ea typeface="微软雅黑" panose="020B0503020204020204" pitchFamily="34" charset="-122"/>
                  <a:sym typeface="微软雅黑" panose="020B0503020204020204" pitchFamily="34" charset="-122"/>
                </a:endParaRPr>
              </a:p>
            </p:txBody>
          </p:sp>
          <p:cxnSp>
            <p:nvCxnSpPr>
              <p:cNvPr id="23" name="直接连接符 22"/>
              <p:cNvCxnSpPr/>
              <p:nvPr>
                <p:custDataLst>
                  <p:tags r:id="rId16"/>
                </p:custDataLst>
              </p:nvPr>
            </p:nvCxnSpPr>
            <p:spPr>
              <a:xfrm>
                <a:off x="4279" y="8453"/>
                <a:ext cx="439" cy="0"/>
              </a:xfrm>
              <a:prstGeom prst="line">
                <a:avLst/>
              </a:prstGeom>
              <a:ln w="25400">
                <a:solidFill>
                  <a:srgbClr val="026CD4"/>
                </a:solidFill>
              </a:ln>
            </p:spPr>
            <p:style>
              <a:lnRef idx="1">
                <a:srgbClr val="026CD4"/>
              </a:lnRef>
              <a:fillRef idx="0">
                <a:srgbClr val="026CD4"/>
              </a:fillRef>
              <a:effectRef idx="0">
                <a:srgbClr val="026CD4"/>
              </a:effectRef>
              <a:fontRef idx="minor">
                <a:srgbClr val="000000"/>
              </a:fontRef>
            </p:style>
          </p:cxnSp>
          <p:sp>
            <p:nvSpPr>
              <p:cNvPr id="54" name="同侧圆角矩形 53"/>
              <p:cNvSpPr/>
              <p:nvPr>
                <p:custDataLst>
                  <p:tags r:id="rId17"/>
                </p:custDataLst>
              </p:nvPr>
            </p:nvSpPr>
            <p:spPr>
              <a:xfrm>
                <a:off x="1900" y="3861"/>
                <a:ext cx="3016" cy="847"/>
              </a:xfrm>
              <a:prstGeom prst="round2SameRect">
                <a:avLst>
                  <a:gd name="adj1" fmla="val 18444"/>
                  <a:gd name="adj2" fmla="val 0"/>
                </a:avLst>
              </a:prstGeom>
              <a:gradFill>
                <a:gsLst>
                  <a:gs pos="5000">
                    <a:srgbClr val="026CD4">
                      <a:lumMod val="20000"/>
                      <a:lumOff val="80000"/>
                    </a:srgbClr>
                  </a:gs>
                  <a:gs pos="100000">
                    <a:srgbClr val="63B8F1"/>
                  </a:gs>
                </a:gsLst>
                <a:lin ang="0" scaled="0"/>
              </a:gradFill>
              <a:ln>
                <a:noFill/>
              </a:ln>
            </p:spPr>
            <p:style>
              <a:lnRef idx="2">
                <a:srgbClr val="026CD4">
                  <a:shade val="50000"/>
                </a:srgbClr>
              </a:lnRef>
              <a:fillRef idx="1">
                <a:srgbClr val="026CD4"/>
              </a:fillRef>
              <a:effectRef idx="0">
                <a:srgbClr val="026CD4"/>
              </a:effectRef>
              <a:fontRef idx="minor">
                <a:srgbClr val="FFFFFF"/>
              </a:fontRef>
            </p:style>
            <p:txBody>
              <a:bodyPr rtlCol="0" anchor="ctr"/>
              <a:lstStyle/>
              <a:p>
                <a:pPr algn="ctr"/>
                <a:endParaRPr lang="zh-CN" altLang="en-US" sz="1350">
                  <a:solidFill>
                    <a:srgbClr val="FFFFFF"/>
                  </a:solidFill>
                  <a:latin typeface="Arial" panose="020B0604020202020204" pitchFamily="34" charset="0"/>
                  <a:ea typeface="微软雅黑" panose="020B0503020204020204" pitchFamily="34" charset="-122"/>
                </a:endParaRPr>
              </a:p>
            </p:txBody>
          </p:sp>
          <p:sp>
            <p:nvSpPr>
              <p:cNvPr id="55" name="文本框 54"/>
              <p:cNvSpPr txBox="1"/>
              <p:nvPr>
                <p:custDataLst>
                  <p:tags r:id="rId18"/>
                </p:custDataLst>
              </p:nvPr>
            </p:nvSpPr>
            <p:spPr>
              <a:xfrm>
                <a:off x="2082" y="4103"/>
                <a:ext cx="2834" cy="516"/>
              </a:xfrm>
              <a:prstGeom prst="rect">
                <a:avLst/>
              </a:prstGeom>
              <a:noFill/>
            </p:spPr>
            <p:txBody>
              <a:bodyPr wrap="square" bIns="0" rtlCol="0"/>
              <a:lstStyle/>
              <a:p>
                <a:pPr algn="ctr"/>
                <a:r>
                  <a:rPr lang="zh-CN" altLang="en-US" spc="300">
                    <a:solidFill>
                      <a:srgbClr val="008BFF">
                        <a:lumMod val="50000"/>
                      </a:srgbClr>
                    </a:solidFill>
                    <a:uFillTx/>
                    <a:latin typeface="楷体" panose="02010609060101010101" pitchFamily="49" charset="-122"/>
                    <a:ea typeface="楷体" panose="02010609060101010101" pitchFamily="49" charset="-122"/>
                  </a:rPr>
                  <a:t>人机交互原型</a:t>
                </a:r>
              </a:p>
            </p:txBody>
          </p:sp>
          <p:sp>
            <p:nvSpPr>
              <p:cNvPr id="57" name="文本框 56"/>
              <p:cNvSpPr txBox="1"/>
              <p:nvPr>
                <p:custDataLst>
                  <p:tags r:id="rId19"/>
                </p:custDataLst>
              </p:nvPr>
            </p:nvSpPr>
            <p:spPr>
              <a:xfrm>
                <a:off x="1888" y="4707"/>
                <a:ext cx="3010" cy="3718"/>
              </a:xfrm>
              <a:prstGeom prst="rect">
                <a:avLst/>
              </a:prstGeom>
              <a:noFill/>
            </p:spPr>
            <p:txBody>
              <a:bodyPr wrap="square" rtlCol="0"/>
              <a:lstStyle/>
              <a:p>
                <a:pPr marL="171450" indent="-171450" algn="l" fontAlgn="auto">
                  <a:lnSpc>
                    <a:spcPct val="130000"/>
                  </a:lnSpc>
                  <a:spcAft>
                    <a:spcPts val="1000"/>
                  </a:spcAft>
                  <a:buFont typeface="Arial" panose="020B0604020202020204" pitchFamily="34" charset="0"/>
                  <a:buChar char="•"/>
                </a:pPr>
                <a:r>
                  <a:rPr lang="zh-CN" altLang="en-US" sz="1600">
                    <a:latin typeface="楷体" panose="02010609060101010101" pitchFamily="49" charset="-122"/>
                    <a:ea typeface="楷体" panose="02010609060101010101" pitchFamily="49" charset="-122"/>
                    <a:sym typeface="+mn-ea"/>
                  </a:rPr>
                  <a:t>关注用户使用时的</a:t>
                </a:r>
                <a:r>
                  <a:rPr lang="zh-CN" altLang="en-US" sz="1600" b="1">
                    <a:solidFill>
                      <a:srgbClr val="88057A"/>
                    </a:solidFill>
                    <a:latin typeface="楷体" panose="02010609060101010101" pitchFamily="49" charset="-122"/>
                    <a:ea typeface="楷体" panose="02010609060101010101" pitchFamily="49" charset="-122"/>
                    <a:sym typeface="+mn-ea"/>
                  </a:rPr>
                  <a:t>感觉体验</a:t>
                </a:r>
                <a:endParaRPr lang="zh-CN" altLang="en-US" sz="1600">
                  <a:latin typeface="楷体" panose="02010609060101010101" pitchFamily="49" charset="-122"/>
                  <a:ea typeface="楷体" panose="02010609060101010101" pitchFamily="49" charset="-122"/>
                  <a:sym typeface="+mn-ea"/>
                </a:endParaRPr>
              </a:p>
              <a:p>
                <a:pPr marL="171450" indent="-171450" algn="l" fontAlgn="auto">
                  <a:lnSpc>
                    <a:spcPct val="130000"/>
                  </a:lnSpc>
                  <a:spcAft>
                    <a:spcPts val="1000"/>
                  </a:spcAft>
                  <a:buFont typeface="Arial" panose="020B0604020202020204" pitchFamily="34" charset="0"/>
                  <a:buChar char="•"/>
                </a:pPr>
                <a:r>
                  <a:rPr lang="zh-CN" altLang="en-US" sz="1600">
                    <a:latin typeface="楷体" panose="02010609060101010101" pitchFamily="49" charset="-122"/>
                    <a:ea typeface="楷体" panose="02010609060101010101" pitchFamily="49" charset="-122"/>
                    <a:sym typeface="+mn-ea"/>
                  </a:rPr>
                  <a:t>构建人机交互的水平原型时，重点在于原型的</a:t>
                </a:r>
                <a:r>
                  <a:rPr lang="zh-CN" altLang="en-US" sz="1600" b="1">
                    <a:solidFill>
                      <a:srgbClr val="88057A"/>
                    </a:solidFill>
                    <a:latin typeface="楷体" panose="02010609060101010101" pitchFamily="49" charset="-122"/>
                    <a:ea typeface="楷体" panose="02010609060101010101" pitchFamily="49" charset="-122"/>
                    <a:sym typeface="+mn-ea"/>
                  </a:rPr>
                  <a:t>界面外观和交互方式</a:t>
                </a:r>
              </a:p>
              <a:p>
                <a:pPr marL="171450" indent="-171450" algn="l" fontAlgn="auto">
                  <a:lnSpc>
                    <a:spcPct val="130000"/>
                  </a:lnSpc>
                  <a:spcAft>
                    <a:spcPts val="1000"/>
                  </a:spcAft>
                  <a:buFont typeface="Arial" panose="020B0604020202020204" pitchFamily="34" charset="0"/>
                  <a:buChar char="•"/>
                </a:pPr>
                <a:r>
                  <a:rPr lang="zh-CN" altLang="en-US" sz="1600">
                    <a:latin typeface="楷体" panose="02010609060101010101" pitchFamily="49" charset="-122"/>
                    <a:ea typeface="楷体" panose="02010609060101010101" pitchFamily="49" charset="-122"/>
                    <a:sym typeface="+mn-ea"/>
                  </a:rPr>
                  <a:t>其功能布局和技术实现细节会被简化处理</a:t>
                </a:r>
                <a:endParaRPr lang="zh-CN" altLang="en-US" sz="1600">
                  <a:latin typeface="楷体" panose="02010609060101010101" pitchFamily="49" charset="-122"/>
                  <a:ea typeface="楷体" panose="02010609060101010101" pitchFamily="49" charset="-122"/>
                </a:endParaRPr>
              </a:p>
              <a:p>
                <a:pPr algn="l" fontAlgn="auto">
                  <a:lnSpc>
                    <a:spcPct val="130000"/>
                  </a:lnSpc>
                  <a:spcAft>
                    <a:spcPts val="1000"/>
                  </a:spcAft>
                </a:pPr>
                <a:endParaRPr lang="zh-CN" altLang="en-US" sz="1600" spc="150">
                  <a:solidFill>
                    <a:srgbClr val="000000">
                      <a:lumMod val="65000"/>
                      <a:lumOff val="35000"/>
                    </a:srgbClr>
                  </a:solidFill>
                  <a:uFillTx/>
                  <a:latin typeface="楷体" panose="02010609060101010101" pitchFamily="49" charset="-122"/>
                  <a:ea typeface="楷体" panose="02010609060101010101" pitchFamily="49" charset="-122"/>
                </a:endParaRPr>
              </a:p>
            </p:txBody>
          </p:sp>
        </p:grpSp>
        <p:grpSp>
          <p:nvGrpSpPr>
            <p:cNvPr id="35" name="组合 34"/>
            <p:cNvGrpSpPr/>
            <p:nvPr>
              <p:custDataLst>
                <p:tags r:id="rId3"/>
              </p:custDataLst>
            </p:nvPr>
          </p:nvGrpSpPr>
          <p:grpSpPr>
            <a:xfrm>
              <a:off x="5084" y="2454"/>
              <a:ext cx="4385" cy="6591"/>
              <a:chOff x="1900" y="3861"/>
              <a:chExt cx="3016" cy="4592"/>
            </a:xfrm>
          </p:grpSpPr>
          <p:sp>
            <p:nvSpPr>
              <p:cNvPr id="36" name="圆角矩形 35"/>
              <p:cNvSpPr/>
              <p:nvPr>
                <p:custDataLst>
                  <p:tags r:id="rId10"/>
                </p:custDataLst>
              </p:nvPr>
            </p:nvSpPr>
            <p:spPr>
              <a:xfrm>
                <a:off x="1906" y="3861"/>
                <a:ext cx="3010" cy="4592"/>
              </a:xfrm>
              <a:prstGeom prst="roundRect">
                <a:avLst>
                  <a:gd name="adj" fmla="val 6452"/>
                </a:avLst>
              </a:prstGeom>
              <a:noFill/>
              <a:ln>
                <a:gradFill>
                  <a:gsLst>
                    <a:gs pos="22000">
                      <a:srgbClr val="026CD4">
                        <a:alpha val="10000"/>
                      </a:srgbClr>
                    </a:gs>
                    <a:gs pos="100000">
                      <a:srgbClr val="026CD4"/>
                    </a:gs>
                  </a:gsLst>
                  <a:lin ang="16200000" scaled="1"/>
                </a:gradFill>
              </a:ln>
              <a:effectLst/>
            </p:spPr>
            <p:style>
              <a:lnRef idx="2">
                <a:srgbClr val="026CD4">
                  <a:shade val="50000"/>
                </a:srgbClr>
              </a:lnRef>
              <a:fillRef idx="1">
                <a:srgbClr val="026CD4"/>
              </a:fillRef>
              <a:effectRef idx="0">
                <a:srgbClr val="026CD4"/>
              </a:effectRef>
              <a:fontRef idx="minor">
                <a:srgbClr val="FFFFFF"/>
              </a:fontRef>
            </p:style>
            <p:txBody>
              <a:bodyPr vertOverflow="overflow" horzOverflow="overflow" vert="horz" wrap="square" numCol="1" spcCol="0" rtlCol="0" fromWordArt="0" anchor="ctr" anchorCtr="0" forceAA="0" compatLnSpc="1">
                <a:noAutofit/>
              </a:bodyPr>
              <a:lstStyle>
                <a:defPPr>
                  <a:defRPr lang="zh-CN">
                    <a:solidFill>
                      <a:srgbClr val="FFFFFF"/>
                    </a:solidFill>
                  </a:defRPr>
                </a:defPPr>
                <a:lvl1pPr marL="0" algn="l" defTabSz="914400" rtl="0" eaLnBrk="1" latinLnBrk="0" hangingPunct="1">
                  <a:defRPr sz="1800" kern="1200">
                    <a:solidFill>
                      <a:srgbClr val="FFFFFF"/>
                    </a:solidFill>
                    <a:latin typeface="Arial" panose="020B0604020202020204" pitchFamily="34" charset="0"/>
                    <a:ea typeface="微软雅黑" panose="020B0503020204020204" pitchFamily="34" charset="-122"/>
                    <a:cs typeface="+mn-ea"/>
                  </a:defRPr>
                </a:lvl1pPr>
                <a:lvl2pPr marL="457200" algn="l" defTabSz="914400" rtl="0" eaLnBrk="1" latinLnBrk="0" hangingPunct="1">
                  <a:defRPr sz="1800" kern="1200">
                    <a:solidFill>
                      <a:srgbClr val="FFFFFF"/>
                    </a:solidFill>
                    <a:latin typeface="Arial" panose="020B0604020202020204" pitchFamily="34" charset="0"/>
                    <a:ea typeface="微软雅黑" panose="020B0503020204020204" pitchFamily="34" charset="-122"/>
                    <a:cs typeface="+mn-ea"/>
                  </a:defRPr>
                </a:lvl2pPr>
                <a:lvl3pPr marL="914400" algn="l" defTabSz="914400" rtl="0" eaLnBrk="1" latinLnBrk="0" hangingPunct="1">
                  <a:defRPr sz="1800" kern="1200">
                    <a:solidFill>
                      <a:srgbClr val="FFFFFF"/>
                    </a:solidFill>
                    <a:latin typeface="Arial" panose="020B0604020202020204" pitchFamily="34" charset="0"/>
                    <a:ea typeface="微软雅黑" panose="020B0503020204020204" pitchFamily="34" charset="-122"/>
                    <a:cs typeface="+mn-ea"/>
                  </a:defRPr>
                </a:lvl3pPr>
                <a:lvl4pPr marL="1371600" algn="l" defTabSz="914400" rtl="0" eaLnBrk="1" latinLnBrk="0" hangingPunct="1">
                  <a:defRPr sz="1800" kern="1200">
                    <a:solidFill>
                      <a:srgbClr val="FFFFFF"/>
                    </a:solidFill>
                    <a:latin typeface="Arial" panose="020B0604020202020204" pitchFamily="34" charset="0"/>
                    <a:ea typeface="微软雅黑" panose="020B0503020204020204" pitchFamily="34" charset="-122"/>
                    <a:cs typeface="+mn-ea"/>
                  </a:defRPr>
                </a:lvl4pPr>
                <a:lvl5pPr marL="1828800" algn="l" defTabSz="914400" rtl="0" eaLnBrk="1" latinLnBrk="0" hangingPunct="1">
                  <a:defRPr sz="1800" kern="1200">
                    <a:solidFill>
                      <a:srgbClr val="FFFFFF"/>
                    </a:solidFill>
                    <a:latin typeface="Arial" panose="020B0604020202020204" pitchFamily="34" charset="0"/>
                    <a:ea typeface="微软雅黑" panose="020B0503020204020204" pitchFamily="34" charset="-122"/>
                    <a:cs typeface="+mn-ea"/>
                  </a:defRPr>
                </a:lvl5pPr>
                <a:lvl6pPr marL="2286000" algn="l" defTabSz="914400" rtl="0" eaLnBrk="1" latinLnBrk="0" hangingPunct="1">
                  <a:defRPr sz="1800" kern="1200">
                    <a:solidFill>
                      <a:srgbClr val="FFFFFF"/>
                    </a:solidFill>
                    <a:latin typeface="Arial" panose="020B0604020202020204" pitchFamily="34" charset="0"/>
                    <a:ea typeface="微软雅黑" panose="020B0503020204020204" pitchFamily="34" charset="-122"/>
                    <a:cs typeface="+mn-ea"/>
                  </a:defRPr>
                </a:lvl6pPr>
                <a:lvl7pPr marL="2743200" algn="l" defTabSz="914400" rtl="0" eaLnBrk="1" latinLnBrk="0" hangingPunct="1">
                  <a:defRPr sz="1800" kern="1200">
                    <a:solidFill>
                      <a:srgbClr val="FFFFFF"/>
                    </a:solidFill>
                    <a:latin typeface="Arial" panose="020B0604020202020204" pitchFamily="34" charset="0"/>
                    <a:ea typeface="微软雅黑" panose="020B0503020204020204" pitchFamily="34" charset="-122"/>
                    <a:cs typeface="+mn-ea"/>
                  </a:defRPr>
                </a:lvl7pPr>
                <a:lvl8pPr marL="3200400" algn="l" defTabSz="914400" rtl="0" eaLnBrk="1" latinLnBrk="0" hangingPunct="1">
                  <a:defRPr sz="1800" kern="1200">
                    <a:solidFill>
                      <a:srgbClr val="FFFFFF"/>
                    </a:solidFill>
                    <a:latin typeface="Arial" panose="020B0604020202020204" pitchFamily="34" charset="0"/>
                    <a:ea typeface="微软雅黑" panose="020B0503020204020204" pitchFamily="34" charset="-122"/>
                    <a:cs typeface="+mn-ea"/>
                  </a:defRPr>
                </a:lvl8pPr>
                <a:lvl9pPr marL="3657600" algn="l" defTabSz="914400" rtl="0" eaLnBrk="1" latinLnBrk="0" hangingPunct="1">
                  <a:defRPr sz="1800" kern="1200">
                    <a:solidFill>
                      <a:srgbClr val="FFFFFF"/>
                    </a:solidFill>
                    <a:latin typeface="Arial" panose="020B0604020202020204" pitchFamily="34" charset="0"/>
                    <a:ea typeface="微软雅黑" panose="020B0503020204020204" pitchFamily="34" charset="-122"/>
                    <a:cs typeface="+mn-ea"/>
                  </a:defRPr>
                </a:lvl9pPr>
              </a:lstStyle>
              <a:p>
                <a:pPr lvl="0" algn="ctr">
                  <a:buClrTx/>
                  <a:buSzTx/>
                  <a:buFontTx/>
                </a:pPr>
                <a:endParaRPr lang="zh-CN" altLang="en-US" sz="1350">
                  <a:ln w="15875">
                    <a:gradFill>
                      <a:gsLst>
                        <a:gs pos="0">
                          <a:srgbClr val="9A0003"/>
                        </a:gs>
                        <a:gs pos="100000">
                          <a:srgbClr val="9A0003"/>
                        </a:gs>
                      </a:gsLst>
                      <a:lin ang="5400000" scaled="1"/>
                    </a:gradFill>
                  </a:ln>
                  <a:solidFill>
                    <a:srgbClr val="FFFFFF"/>
                  </a:solidFill>
                  <a:latin typeface="Arial" panose="020B0604020202020204" pitchFamily="34" charset="0"/>
                  <a:ea typeface="微软雅黑" panose="020B0503020204020204" pitchFamily="34" charset="-122"/>
                  <a:sym typeface="微软雅黑" panose="020B0503020204020204" pitchFamily="34" charset="-122"/>
                </a:endParaRPr>
              </a:p>
            </p:txBody>
          </p:sp>
          <p:cxnSp>
            <p:nvCxnSpPr>
              <p:cNvPr id="37" name="直接连接符 36"/>
              <p:cNvCxnSpPr/>
              <p:nvPr>
                <p:custDataLst>
                  <p:tags r:id="rId11"/>
                </p:custDataLst>
              </p:nvPr>
            </p:nvCxnSpPr>
            <p:spPr>
              <a:xfrm>
                <a:off x="4279" y="8453"/>
                <a:ext cx="439" cy="0"/>
              </a:xfrm>
              <a:prstGeom prst="line">
                <a:avLst/>
              </a:prstGeom>
              <a:ln w="25400">
                <a:solidFill>
                  <a:srgbClr val="026CD4"/>
                </a:solidFill>
              </a:ln>
            </p:spPr>
            <p:style>
              <a:lnRef idx="1">
                <a:srgbClr val="026CD4"/>
              </a:lnRef>
              <a:fillRef idx="0">
                <a:srgbClr val="026CD4"/>
              </a:fillRef>
              <a:effectRef idx="0">
                <a:srgbClr val="026CD4"/>
              </a:effectRef>
              <a:fontRef idx="minor">
                <a:srgbClr val="000000"/>
              </a:fontRef>
            </p:style>
          </p:cxnSp>
          <p:sp>
            <p:nvSpPr>
              <p:cNvPr id="38" name="同侧圆角矩形 37"/>
              <p:cNvSpPr/>
              <p:nvPr>
                <p:custDataLst>
                  <p:tags r:id="rId12"/>
                </p:custDataLst>
              </p:nvPr>
            </p:nvSpPr>
            <p:spPr>
              <a:xfrm>
                <a:off x="1900" y="3861"/>
                <a:ext cx="3016" cy="847"/>
              </a:xfrm>
              <a:prstGeom prst="round2SameRect">
                <a:avLst>
                  <a:gd name="adj1" fmla="val 18444"/>
                  <a:gd name="adj2" fmla="val 0"/>
                </a:avLst>
              </a:prstGeom>
              <a:gradFill>
                <a:gsLst>
                  <a:gs pos="5000">
                    <a:srgbClr val="026CD4">
                      <a:lumMod val="20000"/>
                      <a:lumOff val="80000"/>
                    </a:srgbClr>
                  </a:gs>
                  <a:gs pos="100000">
                    <a:srgbClr val="63B8F1"/>
                  </a:gs>
                </a:gsLst>
                <a:lin ang="0" scaled="0"/>
              </a:gradFill>
              <a:ln>
                <a:noFill/>
              </a:ln>
            </p:spPr>
            <p:style>
              <a:lnRef idx="2">
                <a:srgbClr val="026CD4">
                  <a:shade val="50000"/>
                </a:srgbClr>
              </a:lnRef>
              <a:fillRef idx="1">
                <a:srgbClr val="026CD4"/>
              </a:fillRef>
              <a:effectRef idx="0">
                <a:srgbClr val="026CD4"/>
              </a:effectRef>
              <a:fontRef idx="minor">
                <a:srgbClr val="FFFFFF"/>
              </a:fontRef>
            </p:style>
            <p:txBody>
              <a:bodyPr rtlCol="0" anchor="ctr"/>
              <a:lstStyle/>
              <a:p>
                <a:pPr algn="ctr"/>
                <a:endParaRPr lang="zh-CN" altLang="en-US" sz="1350">
                  <a:solidFill>
                    <a:srgbClr val="FFFFFF"/>
                  </a:solidFill>
                  <a:latin typeface="Arial" panose="020B0604020202020204" pitchFamily="34" charset="0"/>
                  <a:ea typeface="微软雅黑" panose="020B0503020204020204" pitchFamily="34" charset="-122"/>
                </a:endParaRPr>
              </a:p>
            </p:txBody>
          </p:sp>
          <p:sp>
            <p:nvSpPr>
              <p:cNvPr id="39" name="文本框 38"/>
              <p:cNvSpPr txBox="1"/>
              <p:nvPr>
                <p:custDataLst>
                  <p:tags r:id="rId13"/>
                </p:custDataLst>
              </p:nvPr>
            </p:nvSpPr>
            <p:spPr>
              <a:xfrm>
                <a:off x="2082" y="4103"/>
                <a:ext cx="2834" cy="516"/>
              </a:xfrm>
              <a:prstGeom prst="rect">
                <a:avLst/>
              </a:prstGeom>
              <a:noFill/>
            </p:spPr>
            <p:txBody>
              <a:bodyPr wrap="square" bIns="0" rtlCol="0"/>
              <a:lstStyle/>
              <a:p>
                <a:pPr algn="ctr"/>
                <a:r>
                  <a:rPr lang="zh-CN" altLang="en-US" spc="300">
                    <a:solidFill>
                      <a:srgbClr val="008BFF">
                        <a:lumMod val="50000"/>
                      </a:srgbClr>
                    </a:solidFill>
                    <a:uFillTx/>
                    <a:latin typeface="楷体" panose="02010609060101010101" pitchFamily="49" charset="-122"/>
                    <a:ea typeface="楷体" panose="02010609060101010101" pitchFamily="49" charset="-122"/>
                  </a:rPr>
                  <a:t>功能与任务原型</a:t>
                </a:r>
              </a:p>
            </p:txBody>
          </p:sp>
          <p:sp>
            <p:nvSpPr>
              <p:cNvPr id="40" name="文本框 39"/>
              <p:cNvSpPr txBox="1"/>
              <p:nvPr>
                <p:custDataLst>
                  <p:tags r:id="rId14"/>
                </p:custDataLst>
              </p:nvPr>
            </p:nvSpPr>
            <p:spPr>
              <a:xfrm>
                <a:off x="2015" y="4735"/>
                <a:ext cx="2901" cy="3718"/>
              </a:xfrm>
              <a:prstGeom prst="rect">
                <a:avLst/>
              </a:prstGeom>
              <a:noFill/>
            </p:spPr>
            <p:txBody>
              <a:bodyPr wrap="square" rtlCol="0"/>
              <a:lstStyle/>
              <a:p>
                <a:pPr marL="171450" indent="-171450" algn="l" fontAlgn="auto">
                  <a:lnSpc>
                    <a:spcPct val="130000"/>
                  </a:lnSpc>
                  <a:spcAft>
                    <a:spcPts val="1000"/>
                  </a:spcAft>
                  <a:buFont typeface="Arial" panose="020B0604020202020204" pitchFamily="34" charset="0"/>
                  <a:buChar char="•"/>
                </a:pPr>
                <a:r>
                  <a:rPr lang="zh-CN" altLang="en-US" sz="1600">
                    <a:latin typeface="楷体" panose="02010609060101010101" pitchFamily="49" charset="-122"/>
                    <a:ea typeface="楷体" panose="02010609060101010101" pitchFamily="49" charset="-122"/>
                    <a:sym typeface="+mn-ea"/>
                  </a:rPr>
                  <a:t>关注用户的</a:t>
                </a:r>
                <a:r>
                  <a:rPr lang="zh-CN" altLang="en-US" sz="1600" b="1">
                    <a:solidFill>
                      <a:srgbClr val="88057A"/>
                    </a:solidFill>
                    <a:latin typeface="楷体" panose="02010609060101010101" pitchFamily="49" charset="-122"/>
                    <a:ea typeface="楷体" panose="02010609060101010101" pitchFamily="49" charset="-122"/>
                    <a:sym typeface="+mn-ea"/>
                  </a:rPr>
                  <a:t>工作任务</a:t>
                </a:r>
                <a:endParaRPr lang="zh-CN" altLang="en-US" sz="1600">
                  <a:latin typeface="楷体" panose="02010609060101010101" pitchFamily="49" charset="-122"/>
                  <a:ea typeface="楷体" panose="02010609060101010101" pitchFamily="49" charset="-122"/>
                  <a:sym typeface="+mn-ea"/>
                </a:endParaRPr>
              </a:p>
              <a:p>
                <a:pPr marL="171450" indent="-171450" algn="l" fontAlgn="auto">
                  <a:lnSpc>
                    <a:spcPct val="130000"/>
                  </a:lnSpc>
                  <a:spcAft>
                    <a:spcPts val="1000"/>
                  </a:spcAft>
                  <a:buFont typeface="Arial" panose="020B0604020202020204" pitchFamily="34" charset="0"/>
                  <a:buChar char="•"/>
                </a:pPr>
                <a:r>
                  <a:rPr lang="zh-CN" altLang="en-US" sz="1600">
                    <a:latin typeface="楷体" panose="02010609060101010101" pitchFamily="49" charset="-122"/>
                    <a:ea typeface="楷体" panose="02010609060101010101" pitchFamily="49" charset="-122"/>
                  </a:rPr>
                  <a:t>构建功能与任务水平原型时，重在搞清楚原型到底能够帮助用户完成哪些工作与任务</a:t>
                </a:r>
              </a:p>
              <a:p>
                <a:pPr marL="171450" indent="-171450" algn="l" fontAlgn="auto">
                  <a:lnSpc>
                    <a:spcPct val="130000"/>
                  </a:lnSpc>
                  <a:spcAft>
                    <a:spcPts val="1000"/>
                  </a:spcAft>
                  <a:buFont typeface="Arial" panose="020B0604020202020204" pitchFamily="34" charset="0"/>
                  <a:buChar char="•"/>
                </a:pPr>
                <a:r>
                  <a:rPr lang="zh-CN" altLang="en-US" sz="1600">
                    <a:latin typeface="楷体" panose="02010609060101010101" pitchFamily="49" charset="-122"/>
                    <a:ea typeface="楷体" panose="02010609060101010101" pitchFamily="49" charset="-122"/>
                  </a:rPr>
                  <a:t>其界面交互和技术实现细节会被简化处理</a:t>
                </a:r>
                <a:endParaRPr lang="zh-CN" altLang="en-US" sz="1600" spc="150">
                  <a:solidFill>
                    <a:srgbClr val="000000">
                      <a:lumMod val="65000"/>
                      <a:lumOff val="35000"/>
                    </a:srgbClr>
                  </a:solidFill>
                  <a:uFillTx/>
                  <a:latin typeface="楷体" panose="02010609060101010101" pitchFamily="49" charset="-122"/>
                  <a:ea typeface="楷体" panose="02010609060101010101" pitchFamily="49" charset="-122"/>
                </a:endParaRPr>
              </a:p>
            </p:txBody>
          </p:sp>
        </p:grpSp>
        <p:grpSp>
          <p:nvGrpSpPr>
            <p:cNvPr id="41" name="组合 40"/>
            <p:cNvGrpSpPr/>
            <p:nvPr>
              <p:custDataLst>
                <p:tags r:id="rId4"/>
              </p:custDataLst>
            </p:nvPr>
          </p:nvGrpSpPr>
          <p:grpSpPr>
            <a:xfrm>
              <a:off x="9748" y="2454"/>
              <a:ext cx="4392" cy="6723"/>
              <a:chOff x="1895" y="3861"/>
              <a:chExt cx="3021" cy="4684"/>
            </a:xfrm>
          </p:grpSpPr>
          <p:sp>
            <p:nvSpPr>
              <p:cNvPr id="42" name="圆角矩形 41"/>
              <p:cNvSpPr/>
              <p:nvPr>
                <p:custDataLst>
                  <p:tags r:id="rId5"/>
                </p:custDataLst>
              </p:nvPr>
            </p:nvSpPr>
            <p:spPr>
              <a:xfrm>
                <a:off x="1906" y="3861"/>
                <a:ext cx="3010" cy="4592"/>
              </a:xfrm>
              <a:prstGeom prst="roundRect">
                <a:avLst>
                  <a:gd name="adj" fmla="val 6452"/>
                </a:avLst>
              </a:prstGeom>
              <a:noFill/>
              <a:ln>
                <a:gradFill>
                  <a:gsLst>
                    <a:gs pos="22000">
                      <a:srgbClr val="026CD4">
                        <a:alpha val="10000"/>
                      </a:srgbClr>
                    </a:gs>
                    <a:gs pos="100000">
                      <a:srgbClr val="026CD4"/>
                    </a:gs>
                  </a:gsLst>
                  <a:lin ang="16200000" scaled="1"/>
                </a:gradFill>
              </a:ln>
              <a:effectLst/>
            </p:spPr>
            <p:style>
              <a:lnRef idx="2">
                <a:srgbClr val="026CD4">
                  <a:shade val="50000"/>
                </a:srgbClr>
              </a:lnRef>
              <a:fillRef idx="1">
                <a:srgbClr val="026CD4"/>
              </a:fillRef>
              <a:effectRef idx="0">
                <a:srgbClr val="026CD4"/>
              </a:effectRef>
              <a:fontRef idx="minor">
                <a:srgbClr val="FFFFFF"/>
              </a:fontRef>
            </p:style>
            <p:txBody>
              <a:bodyPr vertOverflow="overflow" horzOverflow="overflow" vert="horz" wrap="square" numCol="1" spcCol="0" rtlCol="0" fromWordArt="0" anchor="ctr" anchorCtr="0" forceAA="0" compatLnSpc="1">
                <a:noAutofit/>
              </a:bodyPr>
              <a:lstStyle>
                <a:defPPr>
                  <a:defRPr lang="zh-CN">
                    <a:solidFill>
                      <a:srgbClr val="FFFFFF"/>
                    </a:solidFill>
                  </a:defRPr>
                </a:defPPr>
                <a:lvl1pPr marL="0" algn="l" defTabSz="914400" rtl="0" eaLnBrk="1" latinLnBrk="0" hangingPunct="1">
                  <a:defRPr sz="1800" kern="1200">
                    <a:solidFill>
                      <a:srgbClr val="FFFFFF"/>
                    </a:solidFill>
                    <a:latin typeface="Arial" panose="020B0604020202020204" pitchFamily="34" charset="0"/>
                    <a:ea typeface="微软雅黑" panose="020B0503020204020204" pitchFamily="34" charset="-122"/>
                    <a:cs typeface="+mn-ea"/>
                  </a:defRPr>
                </a:lvl1pPr>
                <a:lvl2pPr marL="457200" algn="l" defTabSz="914400" rtl="0" eaLnBrk="1" latinLnBrk="0" hangingPunct="1">
                  <a:defRPr sz="1800" kern="1200">
                    <a:solidFill>
                      <a:srgbClr val="FFFFFF"/>
                    </a:solidFill>
                    <a:latin typeface="Arial" panose="020B0604020202020204" pitchFamily="34" charset="0"/>
                    <a:ea typeface="微软雅黑" panose="020B0503020204020204" pitchFamily="34" charset="-122"/>
                    <a:cs typeface="+mn-ea"/>
                  </a:defRPr>
                </a:lvl2pPr>
                <a:lvl3pPr marL="914400" algn="l" defTabSz="914400" rtl="0" eaLnBrk="1" latinLnBrk="0" hangingPunct="1">
                  <a:defRPr sz="1800" kern="1200">
                    <a:solidFill>
                      <a:srgbClr val="FFFFFF"/>
                    </a:solidFill>
                    <a:latin typeface="Arial" panose="020B0604020202020204" pitchFamily="34" charset="0"/>
                    <a:ea typeface="微软雅黑" panose="020B0503020204020204" pitchFamily="34" charset="-122"/>
                    <a:cs typeface="+mn-ea"/>
                  </a:defRPr>
                </a:lvl3pPr>
                <a:lvl4pPr marL="1371600" algn="l" defTabSz="914400" rtl="0" eaLnBrk="1" latinLnBrk="0" hangingPunct="1">
                  <a:defRPr sz="1800" kern="1200">
                    <a:solidFill>
                      <a:srgbClr val="FFFFFF"/>
                    </a:solidFill>
                    <a:latin typeface="Arial" panose="020B0604020202020204" pitchFamily="34" charset="0"/>
                    <a:ea typeface="微软雅黑" panose="020B0503020204020204" pitchFamily="34" charset="-122"/>
                    <a:cs typeface="+mn-ea"/>
                  </a:defRPr>
                </a:lvl4pPr>
                <a:lvl5pPr marL="1828800" algn="l" defTabSz="914400" rtl="0" eaLnBrk="1" latinLnBrk="0" hangingPunct="1">
                  <a:defRPr sz="1800" kern="1200">
                    <a:solidFill>
                      <a:srgbClr val="FFFFFF"/>
                    </a:solidFill>
                    <a:latin typeface="Arial" panose="020B0604020202020204" pitchFamily="34" charset="0"/>
                    <a:ea typeface="微软雅黑" panose="020B0503020204020204" pitchFamily="34" charset="-122"/>
                    <a:cs typeface="+mn-ea"/>
                  </a:defRPr>
                </a:lvl5pPr>
                <a:lvl6pPr marL="2286000" algn="l" defTabSz="914400" rtl="0" eaLnBrk="1" latinLnBrk="0" hangingPunct="1">
                  <a:defRPr sz="1800" kern="1200">
                    <a:solidFill>
                      <a:srgbClr val="FFFFFF"/>
                    </a:solidFill>
                    <a:latin typeface="Arial" panose="020B0604020202020204" pitchFamily="34" charset="0"/>
                    <a:ea typeface="微软雅黑" panose="020B0503020204020204" pitchFamily="34" charset="-122"/>
                    <a:cs typeface="+mn-ea"/>
                  </a:defRPr>
                </a:lvl6pPr>
                <a:lvl7pPr marL="2743200" algn="l" defTabSz="914400" rtl="0" eaLnBrk="1" latinLnBrk="0" hangingPunct="1">
                  <a:defRPr sz="1800" kern="1200">
                    <a:solidFill>
                      <a:srgbClr val="FFFFFF"/>
                    </a:solidFill>
                    <a:latin typeface="Arial" panose="020B0604020202020204" pitchFamily="34" charset="0"/>
                    <a:ea typeface="微软雅黑" panose="020B0503020204020204" pitchFamily="34" charset="-122"/>
                    <a:cs typeface="+mn-ea"/>
                  </a:defRPr>
                </a:lvl7pPr>
                <a:lvl8pPr marL="3200400" algn="l" defTabSz="914400" rtl="0" eaLnBrk="1" latinLnBrk="0" hangingPunct="1">
                  <a:defRPr sz="1800" kern="1200">
                    <a:solidFill>
                      <a:srgbClr val="FFFFFF"/>
                    </a:solidFill>
                    <a:latin typeface="Arial" panose="020B0604020202020204" pitchFamily="34" charset="0"/>
                    <a:ea typeface="微软雅黑" panose="020B0503020204020204" pitchFamily="34" charset="-122"/>
                    <a:cs typeface="+mn-ea"/>
                  </a:defRPr>
                </a:lvl8pPr>
                <a:lvl9pPr marL="3657600" algn="l" defTabSz="914400" rtl="0" eaLnBrk="1" latinLnBrk="0" hangingPunct="1">
                  <a:defRPr sz="1800" kern="1200">
                    <a:solidFill>
                      <a:srgbClr val="FFFFFF"/>
                    </a:solidFill>
                    <a:latin typeface="Arial" panose="020B0604020202020204" pitchFamily="34" charset="0"/>
                    <a:ea typeface="微软雅黑" panose="020B0503020204020204" pitchFamily="34" charset="-122"/>
                    <a:cs typeface="+mn-ea"/>
                  </a:defRPr>
                </a:lvl9pPr>
              </a:lstStyle>
              <a:p>
                <a:pPr lvl="0" algn="ctr">
                  <a:buClrTx/>
                  <a:buSzTx/>
                  <a:buFontTx/>
                </a:pPr>
                <a:endParaRPr lang="zh-CN" altLang="en-US" sz="1350">
                  <a:ln w="15875">
                    <a:gradFill>
                      <a:gsLst>
                        <a:gs pos="0">
                          <a:srgbClr val="9A0003"/>
                        </a:gs>
                        <a:gs pos="100000">
                          <a:srgbClr val="9A0003"/>
                        </a:gs>
                      </a:gsLst>
                      <a:lin ang="5400000" scaled="1"/>
                    </a:gradFill>
                  </a:ln>
                  <a:solidFill>
                    <a:srgbClr val="FFFFFF"/>
                  </a:solidFill>
                  <a:latin typeface="Arial" panose="020B0604020202020204" pitchFamily="34" charset="0"/>
                  <a:ea typeface="微软雅黑" panose="020B0503020204020204" pitchFamily="34" charset="-122"/>
                  <a:sym typeface="微软雅黑" panose="020B0503020204020204" pitchFamily="34" charset="-122"/>
                </a:endParaRPr>
              </a:p>
            </p:txBody>
          </p:sp>
          <p:cxnSp>
            <p:nvCxnSpPr>
              <p:cNvPr id="43" name="直接连接符 42"/>
              <p:cNvCxnSpPr/>
              <p:nvPr>
                <p:custDataLst>
                  <p:tags r:id="rId6"/>
                </p:custDataLst>
              </p:nvPr>
            </p:nvCxnSpPr>
            <p:spPr>
              <a:xfrm>
                <a:off x="4279" y="8453"/>
                <a:ext cx="439" cy="0"/>
              </a:xfrm>
              <a:prstGeom prst="line">
                <a:avLst/>
              </a:prstGeom>
              <a:ln w="25400">
                <a:solidFill>
                  <a:srgbClr val="026CD4"/>
                </a:solidFill>
              </a:ln>
            </p:spPr>
            <p:style>
              <a:lnRef idx="1">
                <a:srgbClr val="026CD4"/>
              </a:lnRef>
              <a:fillRef idx="0">
                <a:srgbClr val="026CD4"/>
              </a:fillRef>
              <a:effectRef idx="0">
                <a:srgbClr val="026CD4"/>
              </a:effectRef>
              <a:fontRef idx="minor">
                <a:srgbClr val="000000"/>
              </a:fontRef>
            </p:style>
          </p:cxnSp>
          <p:sp>
            <p:nvSpPr>
              <p:cNvPr id="44" name="同侧圆角矩形 43"/>
              <p:cNvSpPr/>
              <p:nvPr>
                <p:custDataLst>
                  <p:tags r:id="rId7"/>
                </p:custDataLst>
              </p:nvPr>
            </p:nvSpPr>
            <p:spPr>
              <a:xfrm>
                <a:off x="1900" y="3861"/>
                <a:ext cx="3016" cy="847"/>
              </a:xfrm>
              <a:prstGeom prst="round2SameRect">
                <a:avLst>
                  <a:gd name="adj1" fmla="val 18444"/>
                  <a:gd name="adj2" fmla="val 0"/>
                </a:avLst>
              </a:prstGeom>
              <a:gradFill>
                <a:gsLst>
                  <a:gs pos="5000">
                    <a:srgbClr val="026CD4">
                      <a:lumMod val="20000"/>
                      <a:lumOff val="80000"/>
                    </a:srgbClr>
                  </a:gs>
                  <a:gs pos="100000">
                    <a:srgbClr val="63B8F1"/>
                  </a:gs>
                </a:gsLst>
                <a:lin ang="0" scaled="0"/>
              </a:gradFill>
              <a:ln>
                <a:noFill/>
              </a:ln>
            </p:spPr>
            <p:style>
              <a:lnRef idx="2">
                <a:srgbClr val="026CD4">
                  <a:shade val="50000"/>
                </a:srgbClr>
              </a:lnRef>
              <a:fillRef idx="1">
                <a:srgbClr val="026CD4"/>
              </a:fillRef>
              <a:effectRef idx="0">
                <a:srgbClr val="026CD4"/>
              </a:effectRef>
              <a:fontRef idx="minor">
                <a:srgbClr val="FFFFFF"/>
              </a:fontRef>
            </p:style>
            <p:txBody>
              <a:bodyPr rtlCol="0" anchor="ctr"/>
              <a:lstStyle/>
              <a:p>
                <a:pPr algn="ctr"/>
                <a:endParaRPr lang="zh-CN" altLang="en-US" sz="1350">
                  <a:solidFill>
                    <a:srgbClr val="FFFFFF"/>
                  </a:solidFill>
                  <a:latin typeface="Arial" panose="020B0604020202020204" pitchFamily="34" charset="0"/>
                  <a:ea typeface="微软雅黑" panose="020B0503020204020204" pitchFamily="34" charset="-122"/>
                </a:endParaRPr>
              </a:p>
            </p:txBody>
          </p:sp>
          <p:sp>
            <p:nvSpPr>
              <p:cNvPr id="45" name="文本框 44"/>
              <p:cNvSpPr txBox="1"/>
              <p:nvPr>
                <p:custDataLst>
                  <p:tags r:id="rId8"/>
                </p:custDataLst>
              </p:nvPr>
            </p:nvSpPr>
            <p:spPr>
              <a:xfrm>
                <a:off x="2082" y="4103"/>
                <a:ext cx="2834" cy="516"/>
              </a:xfrm>
              <a:prstGeom prst="rect">
                <a:avLst/>
              </a:prstGeom>
              <a:noFill/>
            </p:spPr>
            <p:txBody>
              <a:bodyPr wrap="square" bIns="0" rtlCol="0"/>
              <a:lstStyle/>
              <a:p>
                <a:pPr algn="ctr"/>
                <a:r>
                  <a:rPr lang="zh-CN" altLang="en-US" spc="300">
                    <a:solidFill>
                      <a:srgbClr val="008BFF">
                        <a:lumMod val="50000"/>
                      </a:srgbClr>
                    </a:solidFill>
                    <a:uFillTx/>
                    <a:latin typeface="楷体" panose="02010609060101010101" pitchFamily="49" charset="-122"/>
                    <a:ea typeface="楷体" panose="02010609060101010101" pitchFamily="49" charset="-122"/>
                  </a:rPr>
                  <a:t>实现原型</a:t>
                </a:r>
              </a:p>
            </p:txBody>
          </p:sp>
          <p:sp>
            <p:nvSpPr>
              <p:cNvPr id="46" name="文本框 45"/>
              <p:cNvSpPr txBox="1"/>
              <p:nvPr>
                <p:custDataLst>
                  <p:tags r:id="rId9"/>
                </p:custDataLst>
              </p:nvPr>
            </p:nvSpPr>
            <p:spPr>
              <a:xfrm>
                <a:off x="1895" y="4708"/>
                <a:ext cx="2960" cy="3837"/>
              </a:xfrm>
              <a:prstGeom prst="rect">
                <a:avLst/>
              </a:prstGeom>
              <a:noFill/>
            </p:spPr>
            <p:txBody>
              <a:bodyPr wrap="square" rtlCol="0"/>
              <a:lstStyle/>
              <a:p>
                <a:pPr marL="285750" indent="-285750" algn="l" fontAlgn="auto">
                  <a:lnSpc>
                    <a:spcPct val="130000"/>
                  </a:lnSpc>
                  <a:spcAft>
                    <a:spcPts val="1000"/>
                  </a:spcAft>
                  <a:buFont typeface="Arial" panose="020B0604020202020204" pitchFamily="34" charset="0"/>
                  <a:buChar char="•"/>
                </a:pPr>
                <a:r>
                  <a:rPr lang="zh-CN" altLang="en-US" sz="1600">
                    <a:latin typeface="楷体" panose="02010609060101010101" pitchFamily="49" charset="-122"/>
                    <a:ea typeface="楷体" panose="02010609060101010101" pitchFamily="49" charset="-122"/>
                    <a:sym typeface="+mn-ea"/>
                  </a:rPr>
                  <a:t>关注特定功能实现的</a:t>
                </a:r>
                <a:r>
                  <a:rPr lang="zh-CN" altLang="en-US" sz="1600" b="1">
                    <a:solidFill>
                      <a:srgbClr val="88057A"/>
                    </a:solidFill>
                    <a:latin typeface="楷体" panose="02010609060101010101" pitchFamily="49" charset="-122"/>
                    <a:ea typeface="楷体" panose="02010609060101010101" pitchFamily="49" charset="-122"/>
                    <a:sym typeface="+mn-ea"/>
                  </a:rPr>
                  <a:t>技术细节</a:t>
                </a:r>
              </a:p>
              <a:p>
                <a:pPr marL="285750" indent="-285750" algn="l" fontAlgn="auto">
                  <a:lnSpc>
                    <a:spcPct val="130000"/>
                  </a:lnSpc>
                  <a:spcAft>
                    <a:spcPts val="1000"/>
                  </a:spcAft>
                  <a:buFont typeface="Arial" panose="020B0604020202020204" pitchFamily="34" charset="0"/>
                  <a:buChar char="•"/>
                </a:pPr>
                <a:r>
                  <a:rPr lang="zh-CN" altLang="en-US" sz="1600">
                    <a:latin typeface="楷体" panose="02010609060101010101" pitchFamily="49" charset="-122"/>
                    <a:ea typeface="楷体" panose="02010609060101010101" pitchFamily="49" charset="-122"/>
                    <a:sym typeface="+mn-ea"/>
                  </a:rPr>
                  <a:t>实现原型的开发主要考虑各种可能的</a:t>
                </a:r>
                <a:r>
                  <a:rPr lang="zh-CN" altLang="en-US" sz="1600" b="1">
                    <a:solidFill>
                      <a:srgbClr val="88057A"/>
                    </a:solidFill>
                    <a:latin typeface="楷体" panose="02010609060101010101" pitchFamily="49" charset="-122"/>
                    <a:ea typeface="楷体" panose="02010609060101010101" pitchFamily="49" charset="-122"/>
                    <a:sym typeface="+mn-ea"/>
                  </a:rPr>
                  <a:t>功能实现方法</a:t>
                </a:r>
                <a:r>
                  <a:rPr lang="zh-CN" altLang="en-US" sz="1600">
                    <a:latin typeface="楷体" panose="02010609060101010101" pitchFamily="49" charset="-122"/>
                    <a:ea typeface="楷体" panose="02010609060101010101" pitchFamily="49" charset="-122"/>
                    <a:sym typeface="+mn-ea"/>
                  </a:rPr>
                  <a:t>，验证方法的</a:t>
                </a:r>
                <a:r>
                  <a:rPr lang="zh-CN" altLang="en-US" sz="1600" b="1">
                    <a:solidFill>
                      <a:srgbClr val="88057A"/>
                    </a:solidFill>
                    <a:latin typeface="楷体" panose="02010609060101010101" pitchFamily="49" charset="-122"/>
                    <a:ea typeface="楷体" panose="02010609060101010101" pitchFamily="49" charset="-122"/>
                    <a:sym typeface="+mn-ea"/>
                  </a:rPr>
                  <a:t>技术可行性</a:t>
                </a:r>
                <a:r>
                  <a:rPr lang="zh-CN" altLang="en-US" sz="1600">
                    <a:latin typeface="楷体" panose="02010609060101010101" pitchFamily="49" charset="-122"/>
                    <a:ea typeface="楷体" panose="02010609060101010101" pitchFamily="49" charset="-122"/>
                    <a:sym typeface="+mn-ea"/>
                  </a:rPr>
                  <a:t>和观察</a:t>
                </a:r>
                <a:r>
                  <a:rPr lang="zh-CN" altLang="en-US" sz="1600" b="1">
                    <a:solidFill>
                      <a:srgbClr val="88057A"/>
                    </a:solidFill>
                    <a:latin typeface="楷体" panose="02010609060101010101" pitchFamily="49" charset="-122"/>
                    <a:ea typeface="楷体" panose="02010609060101010101" pitchFamily="49" charset="-122"/>
                    <a:sym typeface="+mn-ea"/>
                  </a:rPr>
                  <a:t>用户对原型的反应</a:t>
                </a:r>
                <a:endParaRPr lang="zh-CN" altLang="en-US" sz="1600">
                  <a:latin typeface="楷体" panose="02010609060101010101" pitchFamily="49" charset="-122"/>
                  <a:ea typeface="楷体" panose="02010609060101010101" pitchFamily="49" charset="-122"/>
                  <a:sym typeface="+mn-ea"/>
                </a:endParaRPr>
              </a:p>
              <a:p>
                <a:pPr marL="285750" indent="-285750" algn="l" fontAlgn="auto">
                  <a:lnSpc>
                    <a:spcPct val="130000"/>
                  </a:lnSpc>
                  <a:spcAft>
                    <a:spcPts val="1000"/>
                  </a:spcAft>
                  <a:buFont typeface="Arial" panose="020B0604020202020204" pitchFamily="34" charset="0"/>
                  <a:buChar char="•"/>
                </a:pPr>
                <a:r>
                  <a:rPr lang="zh-CN" altLang="en-US" sz="1600">
                    <a:latin typeface="楷体" panose="02010609060101010101" pitchFamily="49" charset="-122"/>
                    <a:ea typeface="楷体" panose="02010609060101010101" pitchFamily="49" charset="-122"/>
                    <a:sym typeface="+mn-ea"/>
                  </a:rPr>
                  <a:t>功能的内容和功能的外观表现不是非常重要的方面。</a:t>
                </a:r>
                <a:endParaRPr lang="zh-CN" altLang="en-US" sz="1600" spc="150">
                  <a:solidFill>
                    <a:srgbClr val="000000">
                      <a:lumMod val="65000"/>
                      <a:lumOff val="35000"/>
                    </a:srgbClr>
                  </a:solidFill>
                  <a:uFillTx/>
                  <a:latin typeface="楷体" panose="02010609060101010101" pitchFamily="49" charset="-122"/>
                  <a:ea typeface="楷体" panose="02010609060101010101" pitchFamily="49" charset="-122"/>
                </a:endParaRPr>
              </a:p>
            </p:txBody>
          </p:sp>
        </p:gr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使用尽量简单的介质降低原型成本</a:t>
            </a:r>
          </a:p>
        </p:txBody>
      </p:sp>
      <p:sp>
        <p:nvSpPr>
          <p:cNvPr id="3" name="内容占位符 2"/>
          <p:cNvSpPr txBox="1"/>
          <p:nvPr/>
        </p:nvSpPr>
        <p:spPr>
          <a:xfrm>
            <a:off x="628650" y="1413672"/>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en-US" altLang="zh-CN" dirty="0">
                <a:latin typeface="楷体" panose="02010609060101010101" pitchFamily="49" charset="-122"/>
                <a:ea typeface="楷体" panose="02010609060101010101" pitchFamily="49" charset="-122"/>
              </a:rPr>
              <a:t>常见的代表性介质有纸面、幻灯动画、快速工具和程序代码。</a:t>
            </a:r>
          </a:p>
        </p:txBody>
      </p:sp>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原型</a:t>
            </a:r>
          </a:p>
        </p:txBody>
      </p:sp>
      <p:graphicFrame>
        <p:nvGraphicFramePr>
          <p:cNvPr id="26628" name="Object 4"/>
          <p:cNvGraphicFramePr>
            <a:graphicFrameLocks noChangeAspect="1"/>
          </p:cNvGraphicFramePr>
          <p:nvPr>
            <p:custDataLst>
              <p:tags r:id="rId2"/>
            </p:custDataLst>
          </p:nvPr>
        </p:nvGraphicFramePr>
        <p:xfrm>
          <a:off x="838200" y="2436495"/>
          <a:ext cx="7391400" cy="3551238"/>
        </p:xfrm>
        <a:graphic>
          <a:graphicData uri="http://schemas.openxmlformats.org/presentationml/2006/ole">
            <mc:AlternateContent xmlns:mc="http://schemas.openxmlformats.org/markup-compatibility/2006">
              <mc:Choice xmlns:v="urn:schemas-microsoft-com:vml" Requires="v">
                <p:oleObj spid="_x0000_s1026" r:id="rId4" imgW="4489450" imgH="2158365" progId="Visio.Drawing.11">
                  <p:embed/>
                </p:oleObj>
              </mc:Choice>
              <mc:Fallback>
                <p:oleObj r:id="rId4" imgW="4489450" imgH="2158365" progId="Visio.Drawing.11">
                  <p:embed/>
                  <p:pic>
                    <p:nvPicPr>
                      <p:cNvPr id="26628" name="Object 4"/>
                      <p:cNvPicPr/>
                      <p:nvPr/>
                    </p:nvPicPr>
                    <p:blipFill>
                      <a:blip r:embed="rId5"/>
                      <a:stretch>
                        <a:fillRect/>
                      </a:stretch>
                    </p:blipFill>
                    <p:spPr>
                      <a:xfrm>
                        <a:off x="838200" y="2436495"/>
                        <a:ext cx="7391400" cy="3551238"/>
                      </a:xfrm>
                      <a:prstGeom prst="rect">
                        <a:avLst/>
                      </a:prstGeom>
                      <a:noFill/>
                      <a:ln w="38100">
                        <a:noFill/>
                        <a:miter/>
                      </a:ln>
                    </p:spPr>
                  </p:pic>
                </p:oleObj>
              </mc:Fallback>
            </mc:AlternateContent>
          </a:graphicData>
        </a:graphic>
      </p:graphicFrame>
      <p:sp>
        <p:nvSpPr>
          <p:cNvPr id="5" name="文本框 4"/>
          <p:cNvSpPr txBox="1"/>
          <p:nvPr/>
        </p:nvSpPr>
        <p:spPr>
          <a:xfrm>
            <a:off x="3773805" y="5988050"/>
            <a:ext cx="1787525" cy="368300"/>
          </a:xfrm>
          <a:prstGeom prst="rect">
            <a:avLst/>
          </a:prstGeom>
          <a:noFill/>
          <a:ln w="12700">
            <a:solidFill>
              <a:schemeClr val="tx1"/>
            </a:solidFill>
          </a:ln>
        </p:spPr>
        <p:txBody>
          <a:bodyPr wrap="square" rtlCol="0">
            <a:spAutoFit/>
          </a:bodyPr>
          <a:lstStyle/>
          <a:p>
            <a:pPr algn="ctr"/>
            <a:r>
              <a:rPr lang="zh-CN" altLang="en-US">
                <a:latin typeface="楷体" panose="02010609060101010101" pitchFamily="49" charset="-122"/>
                <a:ea typeface="楷体" panose="02010609060101010101" pitchFamily="49" charset="-122"/>
              </a:rPr>
              <a:t>原型的常见介质</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纸面原型</a:t>
            </a:r>
          </a:p>
        </p:txBody>
      </p:sp>
      <p:sp>
        <p:nvSpPr>
          <p:cNvPr id="3" name="内容占位符 2"/>
          <p:cNvSpPr txBox="1"/>
          <p:nvPr/>
        </p:nvSpPr>
        <p:spPr>
          <a:xfrm>
            <a:off x="628650" y="1251585"/>
            <a:ext cx="8130540" cy="492506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en-US" altLang="zh-CN" sz="2000" dirty="0">
                <a:latin typeface="楷体" panose="02010609060101010101" pitchFamily="49" charset="-122"/>
                <a:ea typeface="楷体" panose="02010609060101010101" pitchFamily="49" charset="-122"/>
              </a:rPr>
              <a:t>纸面介质包括纸、白板、活动挂图、便签、快照等。基于纸面介质建立原型方便、快捷，</a:t>
            </a:r>
            <a:r>
              <a:rPr kumimoji="1" lang="en-US" altLang="zh-CN" sz="2000" b="1" dirty="0">
                <a:solidFill>
                  <a:srgbClr val="88057A"/>
                </a:solidFill>
                <a:latin typeface="楷体" panose="02010609060101010101" pitchFamily="49" charset="-122"/>
                <a:ea typeface="楷体" panose="02010609060101010101" pitchFamily="49" charset="-122"/>
              </a:rPr>
              <a:t>成本较低</a:t>
            </a:r>
            <a:r>
              <a:rPr kumimoji="1" lang="zh-CN" altLang="en-US" sz="2000" dirty="0">
                <a:latin typeface="楷体" panose="02010609060101010101" pitchFamily="49" charset="-122"/>
                <a:ea typeface="楷体" panose="02010609060101010101" pitchFamily="49" charset="-122"/>
              </a:rPr>
              <a:t>。</a:t>
            </a:r>
            <a:endParaRPr kumimoji="1" lang="en-US" altLang="zh-CN" sz="2000" dirty="0">
              <a:latin typeface="楷体" panose="02010609060101010101" pitchFamily="49" charset="-122"/>
              <a:ea typeface="楷体" panose="02010609060101010101" pitchFamily="49" charset="-122"/>
            </a:endParaRPr>
          </a:p>
          <a:p>
            <a:r>
              <a:rPr kumimoji="1" lang="zh-CN" altLang="en-US" sz="2000" dirty="0">
                <a:latin typeface="楷体" panose="02010609060101010101" pitchFamily="49" charset="-122"/>
                <a:ea typeface="楷体" panose="02010609060101010101" pitchFamily="49" charset="-122"/>
              </a:rPr>
              <a:t>纸面原型</a:t>
            </a:r>
            <a:r>
              <a:rPr kumimoji="1" lang="en-US" altLang="zh-CN" sz="2000" b="1" dirty="0">
                <a:solidFill>
                  <a:srgbClr val="88057A"/>
                </a:solidFill>
                <a:latin typeface="楷体" panose="02010609060101010101" pitchFamily="49" charset="-122"/>
                <a:ea typeface="楷体" panose="02010609060101010101" pitchFamily="49" charset="-122"/>
              </a:rPr>
              <a:t>交互性不足</a:t>
            </a:r>
            <a:r>
              <a:rPr kumimoji="1" lang="zh-CN" altLang="en-US" sz="2000" dirty="0">
                <a:latin typeface="楷体" panose="02010609060101010101" pitchFamily="49" charset="-122"/>
                <a:ea typeface="楷体" panose="02010609060101010101" pitchFamily="49" charset="-122"/>
              </a:rPr>
              <a:t>，</a:t>
            </a:r>
            <a:r>
              <a:rPr kumimoji="1" lang="en-US" altLang="zh-CN" sz="2000" dirty="0">
                <a:latin typeface="楷体" panose="02010609060101010101" pitchFamily="49" charset="-122"/>
                <a:ea typeface="楷体" panose="02010609060101010101" pitchFamily="49" charset="-122"/>
              </a:rPr>
              <a:t>和其他几种介质相比</a:t>
            </a:r>
            <a:r>
              <a:rPr kumimoji="1" lang="en-US" altLang="zh-CN" sz="2000" b="1" dirty="0">
                <a:solidFill>
                  <a:srgbClr val="88057A"/>
                </a:solidFill>
                <a:latin typeface="楷体" panose="02010609060101010101" pitchFamily="49" charset="-122"/>
                <a:ea typeface="楷体" panose="02010609060101010101" pitchFamily="49" charset="-122"/>
              </a:rPr>
              <a:t>真实感最低</a:t>
            </a:r>
            <a:r>
              <a:rPr kumimoji="1" lang="en-US" altLang="zh-CN" sz="2000" dirty="0">
                <a:latin typeface="楷体" panose="02010609060101010101" pitchFamily="49" charset="-122"/>
                <a:ea typeface="楷体" panose="02010609060101010101" pitchFamily="49" charset="-122"/>
              </a:rPr>
              <a:t>。最常被用来表达</a:t>
            </a:r>
            <a:r>
              <a:rPr kumimoji="1" lang="en-US" altLang="zh-CN" sz="2000" b="1" dirty="0">
                <a:solidFill>
                  <a:srgbClr val="88057A"/>
                </a:solidFill>
                <a:latin typeface="楷体" panose="02010609060101010101" pitchFamily="49" charset="-122"/>
                <a:ea typeface="楷体" panose="02010609060101010101" pitchFamily="49" charset="-122"/>
              </a:rPr>
              <a:t>静态</a:t>
            </a:r>
            <a:r>
              <a:rPr kumimoji="1" lang="en-US" altLang="zh-CN" sz="2000" dirty="0">
                <a:latin typeface="楷体" panose="02010609060101010101" pitchFamily="49" charset="-122"/>
                <a:ea typeface="楷体" panose="02010609060101010101" pitchFamily="49" charset="-122"/>
              </a:rPr>
              <a:t>的物件，例如用户界面</a:t>
            </a:r>
            <a:r>
              <a:rPr kumimoji="1" lang="zh-CN" altLang="en-US" sz="2000" dirty="0">
                <a:latin typeface="楷体" panose="02010609060101010101" pitchFamily="49" charset="-122"/>
                <a:ea typeface="楷体" panose="02010609060101010101" pitchFamily="49" charset="-122"/>
              </a:rPr>
              <a:t>。</a:t>
            </a:r>
          </a:p>
          <a:p>
            <a:endParaRPr kumimoji="1" lang="zh-CN" altLang="en-US" sz="2000" dirty="0">
              <a:latin typeface="楷体" panose="02010609060101010101" pitchFamily="49" charset="-122"/>
              <a:ea typeface="楷体" panose="02010609060101010101" pitchFamily="49" charset="-122"/>
            </a:endParaRPr>
          </a:p>
        </p:txBody>
      </p:sp>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原型</a:t>
            </a:r>
          </a:p>
        </p:txBody>
      </p:sp>
      <p:sp>
        <p:nvSpPr>
          <p:cNvPr id="5" name="文本框 4"/>
          <p:cNvSpPr txBox="1"/>
          <p:nvPr/>
        </p:nvSpPr>
        <p:spPr>
          <a:xfrm>
            <a:off x="6903720" y="4429125"/>
            <a:ext cx="1855470" cy="1198880"/>
          </a:xfrm>
          <a:prstGeom prst="rect">
            <a:avLst/>
          </a:prstGeom>
          <a:noFill/>
          <a:ln w="25400" cmpd="sng">
            <a:solidFill>
              <a:srgbClr val="88057A"/>
            </a:solidFill>
            <a:prstDash val="dashDot"/>
          </a:ln>
        </p:spPr>
        <p:txBody>
          <a:bodyPr wrap="square" rtlCol="0">
            <a:spAutoFit/>
          </a:bodyPr>
          <a:lstStyle/>
          <a:p>
            <a:r>
              <a:rPr kumimoji="1" lang="en-US" altLang="zh-CN" dirty="0">
                <a:latin typeface="楷体" panose="02010609060101010101" pitchFamily="49" charset="-122"/>
                <a:ea typeface="楷体" panose="02010609060101010101" pitchFamily="49" charset="-122"/>
                <a:sym typeface="+mn-ea"/>
              </a:rPr>
              <a:t>多个纸面原型联合起来的话，也能够表达少量的交互。</a:t>
            </a:r>
            <a:endParaRPr lang="zh-CN" altLang="en-US"/>
          </a:p>
        </p:txBody>
      </p:sp>
      <p:pic>
        <p:nvPicPr>
          <p:cNvPr id="7" name="图片 6" descr="截屏2024-12-03 17.45.34"/>
          <p:cNvPicPr>
            <a:picLocks noChangeAspect="1"/>
          </p:cNvPicPr>
          <p:nvPr/>
        </p:nvPicPr>
        <p:blipFill>
          <a:blip r:embed="rId2"/>
          <a:stretch>
            <a:fillRect/>
          </a:stretch>
        </p:blipFill>
        <p:spPr>
          <a:xfrm>
            <a:off x="1841500" y="2531110"/>
            <a:ext cx="4934585" cy="3645535"/>
          </a:xfrm>
          <a:prstGeom prst="rect">
            <a:avLst/>
          </a:prstGeom>
        </p:spPr>
      </p:pic>
      <p:sp>
        <p:nvSpPr>
          <p:cNvPr id="8" name="文本框 7"/>
          <p:cNvSpPr txBox="1"/>
          <p:nvPr/>
        </p:nvSpPr>
        <p:spPr>
          <a:xfrm>
            <a:off x="3155315" y="6112510"/>
            <a:ext cx="2644775" cy="399415"/>
          </a:xfrm>
          <a:prstGeom prst="rect">
            <a:avLst/>
          </a:prstGeom>
          <a:noFill/>
        </p:spPr>
        <p:txBody>
          <a:bodyPr wrap="square" rtlCol="0">
            <a:noAutofit/>
          </a:bodyPr>
          <a:lstStyle/>
          <a:p>
            <a:r>
              <a:rPr kumimoji="1" lang="en-US" altLang="zh-CN" dirty="0">
                <a:latin typeface="楷体" panose="02010609060101010101" pitchFamily="49" charset="-122"/>
                <a:ea typeface="楷体" panose="02010609060101010101" pitchFamily="49" charset="-122"/>
                <a:sym typeface="+mn-ea"/>
              </a:rPr>
              <a:t>纸面介质的原型示例</a:t>
            </a:r>
            <a:endParaRPr kumimoji="1" lang="en-US" altLang="zh-CN" dirty="0">
              <a:latin typeface="楷体" panose="02010609060101010101" pitchFamily="49" charset="-122"/>
              <a:ea typeface="楷体" panose="02010609060101010101" pitchFamily="49" charset="-122"/>
            </a:endParaRPr>
          </a:p>
          <a:p>
            <a:endParaRPr lang="zh-CN" altLang="en-US"/>
          </a:p>
        </p:txBody>
      </p:sp>
      <p:pic>
        <p:nvPicPr>
          <p:cNvPr id="9" name="图片 8" descr="星标"/>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03720" y="4016375"/>
            <a:ext cx="497840" cy="49784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幻灯动画原型</a:t>
            </a:r>
          </a:p>
        </p:txBody>
      </p:sp>
      <p:sp>
        <p:nvSpPr>
          <p:cNvPr id="3" name="内容占位符 2"/>
          <p:cNvSpPr txBox="1"/>
          <p:nvPr/>
        </p:nvSpPr>
        <p:spPr>
          <a:xfrm>
            <a:off x="628650" y="1251585"/>
            <a:ext cx="8130540" cy="492506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r>
              <a:rPr kumimoji="1" lang="en-US" altLang="zh-CN" sz="2400" dirty="0">
                <a:latin typeface="楷体" panose="02010609060101010101" pitchFamily="49" charset="-122"/>
                <a:ea typeface="楷体" panose="02010609060101010101" pitchFamily="49" charset="-122"/>
              </a:rPr>
              <a:t>幻灯动画介质包括连续的幻灯片和用</a:t>
            </a:r>
            <a:r>
              <a:rPr kumimoji="1" lang="en-US" altLang="zh-CN" sz="2400" dirty="0">
                <a:latin typeface="Times New Roman" panose="02020603050405020304" pitchFamily="18" charset="0"/>
                <a:ea typeface="楷体" panose="02010609060101010101" pitchFamily="49" charset="-122"/>
                <a:cs typeface="Times New Roman" panose="02020603050405020304" pitchFamily="18" charset="0"/>
              </a:rPr>
              <a:t>flash</a:t>
            </a:r>
            <a:r>
              <a:rPr kumimoji="1" lang="en-US" altLang="zh-CN" sz="2400" dirty="0">
                <a:latin typeface="楷体" panose="02010609060101010101" pitchFamily="49" charset="-122"/>
                <a:ea typeface="楷体" panose="02010609060101010101" pitchFamily="49" charset="-122"/>
              </a:rPr>
              <a:t>等工具快速开发的动画。</a:t>
            </a:r>
          </a:p>
          <a:p>
            <a:pPr lvl="2">
              <a:lnSpc>
                <a:spcPct val="110000"/>
              </a:lnSpc>
            </a:pPr>
            <a:endParaRPr kumimoji="1" lang="en-US" altLang="zh-CN" sz="1710" dirty="0">
              <a:latin typeface="楷体" panose="02010609060101010101" pitchFamily="49" charset="-122"/>
              <a:ea typeface="楷体" panose="02010609060101010101" pitchFamily="49" charset="-122"/>
            </a:endParaRPr>
          </a:p>
          <a:p>
            <a:pPr>
              <a:lnSpc>
                <a:spcPct val="110000"/>
              </a:lnSpc>
            </a:pPr>
            <a:r>
              <a:rPr kumimoji="1" lang="en-US" altLang="zh-CN" sz="2400" dirty="0">
                <a:latin typeface="楷体" panose="02010609060101010101" pitchFamily="49" charset="-122"/>
                <a:ea typeface="楷体" panose="02010609060101010101" pitchFamily="49" charset="-122"/>
              </a:rPr>
              <a:t>使用幻灯动画建立原型的</a:t>
            </a:r>
            <a:r>
              <a:rPr kumimoji="1" lang="en-US" altLang="zh-CN" sz="2400" b="1" dirty="0">
                <a:solidFill>
                  <a:srgbClr val="88057A"/>
                </a:solidFill>
                <a:latin typeface="楷体" panose="02010609060101010101" pitchFamily="49" charset="-122"/>
                <a:ea typeface="楷体" panose="02010609060101010101" pitchFamily="49" charset="-122"/>
              </a:rPr>
              <a:t>成本</a:t>
            </a:r>
            <a:r>
              <a:rPr kumimoji="1" lang="en-US" altLang="zh-CN" sz="2400" dirty="0">
                <a:latin typeface="楷体" panose="02010609060101010101" pitchFamily="49" charset="-122"/>
                <a:ea typeface="楷体" panose="02010609060101010101" pitchFamily="49" charset="-122"/>
              </a:rPr>
              <a:t>稍高于纸面介质原型，但是它的</a:t>
            </a:r>
            <a:r>
              <a:rPr kumimoji="1" lang="en-US" altLang="zh-CN" sz="2400" b="1" dirty="0">
                <a:solidFill>
                  <a:srgbClr val="88057A"/>
                </a:solidFill>
                <a:latin typeface="楷体" panose="02010609060101010101" pitchFamily="49" charset="-122"/>
                <a:ea typeface="楷体" panose="02010609060101010101" pitchFamily="49" charset="-122"/>
              </a:rPr>
              <a:t>交互表达能力</a:t>
            </a:r>
            <a:r>
              <a:rPr kumimoji="1" lang="en-US" altLang="zh-CN" sz="2400" dirty="0">
                <a:latin typeface="楷体" panose="02010609060101010101" pitchFamily="49" charset="-122"/>
                <a:ea typeface="楷体" panose="02010609060101010101" pitchFamily="49" charset="-122"/>
              </a:rPr>
              <a:t>也稍强于纸面介质原型。</a:t>
            </a:r>
          </a:p>
          <a:p>
            <a:pPr lvl="2">
              <a:lnSpc>
                <a:spcPct val="110000"/>
              </a:lnSpc>
            </a:pPr>
            <a:endParaRPr kumimoji="1" lang="en-US" altLang="zh-CN" sz="1710" dirty="0">
              <a:latin typeface="楷体" panose="02010609060101010101" pitchFamily="49" charset="-122"/>
              <a:ea typeface="楷体" panose="02010609060101010101" pitchFamily="49" charset="-122"/>
            </a:endParaRPr>
          </a:p>
          <a:p>
            <a:pPr>
              <a:lnSpc>
                <a:spcPct val="110000"/>
              </a:lnSpc>
            </a:pPr>
            <a:r>
              <a:rPr kumimoji="1" lang="en-US" altLang="zh-CN" sz="2400" dirty="0">
                <a:latin typeface="楷体" panose="02010609060101010101" pitchFamily="49" charset="-122"/>
                <a:ea typeface="楷体" panose="02010609060101010101" pitchFamily="49" charset="-122"/>
              </a:rPr>
              <a:t>在一定程度上，幻灯动画介质原型可以被看作是多个纸面介质原型的</a:t>
            </a:r>
            <a:r>
              <a:rPr kumimoji="1" lang="en-US" altLang="zh-CN" sz="2400" b="1" dirty="0">
                <a:solidFill>
                  <a:srgbClr val="88057A"/>
                </a:solidFill>
                <a:latin typeface="楷体" panose="02010609060101010101" pitchFamily="49" charset="-122"/>
                <a:ea typeface="楷体" panose="02010609060101010101" pitchFamily="49" charset="-122"/>
              </a:rPr>
              <a:t>集成</a:t>
            </a:r>
            <a:r>
              <a:rPr kumimoji="1" lang="en-US" altLang="zh-CN" sz="2400" dirty="0">
                <a:latin typeface="楷体" panose="02010609060101010101" pitchFamily="49" charset="-122"/>
                <a:ea typeface="楷体" panose="02010609060101010101" pitchFamily="49" charset="-122"/>
              </a:rPr>
              <a:t>。</a:t>
            </a:r>
            <a:r>
              <a:rPr kumimoji="1" lang="zh-CN" altLang="en-US" sz="2400" dirty="0">
                <a:latin typeface="楷体" panose="02010609060101010101" pitchFamily="49" charset="-122"/>
                <a:ea typeface="楷体" panose="02010609060101010101" pitchFamily="49" charset="-122"/>
              </a:rPr>
              <a:t>它们</a:t>
            </a:r>
            <a:r>
              <a:rPr kumimoji="1" lang="en-US" altLang="zh-CN" sz="2400" dirty="0">
                <a:latin typeface="楷体" panose="02010609060101010101" pitchFamily="49" charset="-122"/>
                <a:ea typeface="楷体" panose="02010609060101010101" pitchFamily="49" charset="-122"/>
              </a:rPr>
              <a:t>看起来和实际的软件产品有着很大的区别，因此又被称为</a:t>
            </a:r>
            <a:r>
              <a:rPr kumimoji="1" lang="en-US" altLang="zh-CN" sz="2400" b="1" dirty="0">
                <a:solidFill>
                  <a:srgbClr val="88057A"/>
                </a:solidFill>
                <a:latin typeface="楷体" panose="02010609060101010101" pitchFamily="49" charset="-122"/>
                <a:ea typeface="楷体" panose="02010609060101010101" pitchFamily="49" charset="-122"/>
              </a:rPr>
              <a:t>低保真原型</a:t>
            </a:r>
            <a:r>
              <a:rPr kumimoji="1" lang="en-US" altLang="zh-CN" sz="2400" dirty="0">
                <a:latin typeface="楷体" panose="02010609060101010101" pitchFamily="49" charset="-122"/>
                <a:ea typeface="楷体" panose="02010609060101010101" pitchFamily="49" charset="-122"/>
              </a:rPr>
              <a:t>。</a:t>
            </a:r>
          </a:p>
          <a:p>
            <a:endParaRPr kumimoji="1" lang="en-US" altLang="zh-CN" sz="2400" dirty="0">
              <a:latin typeface="楷体" panose="02010609060101010101" pitchFamily="49" charset="-122"/>
              <a:ea typeface="楷体" panose="02010609060101010101" pitchFamily="49" charset="-122"/>
            </a:endParaRPr>
          </a:p>
        </p:txBody>
      </p:sp>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原型</a:t>
            </a:r>
          </a:p>
        </p:txBody>
      </p:sp>
      <p:sp>
        <p:nvSpPr>
          <p:cNvPr id="4" name="文本框 3"/>
          <p:cNvSpPr txBox="1"/>
          <p:nvPr>
            <p:custDataLst>
              <p:tags r:id="rId1"/>
            </p:custDataLst>
          </p:nvPr>
        </p:nvSpPr>
        <p:spPr>
          <a:xfrm>
            <a:off x="1018540" y="5460365"/>
            <a:ext cx="7571740" cy="368300"/>
          </a:xfrm>
          <a:prstGeom prst="rect">
            <a:avLst/>
          </a:prstGeom>
          <a:noFill/>
          <a:ln w="25400" cmpd="sng">
            <a:solidFill>
              <a:srgbClr val="88057A"/>
            </a:solidFill>
            <a:prstDash val="dashDot"/>
          </a:ln>
        </p:spPr>
        <p:txBody>
          <a:bodyPr wrap="square" rtlCol="0">
            <a:spAutoFit/>
          </a:bodyPr>
          <a:lstStyle/>
          <a:p>
            <a:r>
              <a:rPr lang="zh-CN" altLang="en-US">
                <a:latin typeface="楷体" panose="02010609060101010101" pitchFamily="49" charset="-122"/>
                <a:ea typeface="楷体" panose="02010609060101010101" pitchFamily="49" charset="-122"/>
              </a:rPr>
              <a:t>在开发的</a:t>
            </a:r>
            <a:r>
              <a:rPr lang="zh-CN" altLang="en-US" b="1">
                <a:solidFill>
                  <a:srgbClr val="88057A"/>
                </a:solidFill>
                <a:latin typeface="楷体" panose="02010609060101010101" pitchFamily="49" charset="-122"/>
                <a:ea typeface="楷体" panose="02010609060101010101" pitchFamily="49" charset="-122"/>
              </a:rPr>
              <a:t>早期阶段</a:t>
            </a:r>
            <a:r>
              <a:rPr lang="zh-CN" altLang="en-US">
                <a:latin typeface="楷体" panose="02010609060101010101" pitchFamily="49" charset="-122"/>
                <a:ea typeface="楷体" panose="02010609060101010101" pitchFamily="49" charset="-122"/>
              </a:rPr>
              <a:t>使用低保真的原型，往往能带来很好的效果。</a:t>
            </a:r>
          </a:p>
        </p:txBody>
      </p:sp>
      <p:pic>
        <p:nvPicPr>
          <p:cNvPr id="7" name="图片 6" descr="星标"/>
          <p:cNvPicPr>
            <a:picLocks noChangeAspect="1"/>
          </p:cNvPicPr>
          <p:nvPr>
            <p:custDataLst>
              <p:tags r:id="rId2"/>
            </p:custDataLst>
          </p:nvPr>
        </p:nvPicPr>
        <p:blipFill>
          <a:blip r:embed="rId4">
            <a:extLst>
              <a:ext uri="{96DAC541-7B7A-43D3-8B79-37D633B846F1}">
                <asvg:svgBlip xmlns:asvg="http://schemas.microsoft.com/office/drawing/2016/SVG/main" r:embed="rId5"/>
              </a:ext>
            </a:extLst>
          </a:blip>
          <a:stretch>
            <a:fillRect/>
          </a:stretch>
        </p:blipFill>
        <p:spPr>
          <a:xfrm>
            <a:off x="628650" y="5330825"/>
            <a:ext cx="497840" cy="49784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高保真原型</a:t>
            </a:r>
          </a:p>
        </p:txBody>
      </p:sp>
      <p:sp>
        <p:nvSpPr>
          <p:cNvPr id="3" name="内容占位符 2"/>
          <p:cNvSpPr txBox="1"/>
          <p:nvPr/>
        </p:nvSpPr>
        <p:spPr>
          <a:xfrm>
            <a:off x="628650" y="1251585"/>
            <a:ext cx="8130540" cy="492506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buFont typeface="Wingdings" panose="05000000000000000000" charset="0"/>
              <a:buChar char=""/>
            </a:pPr>
            <a:r>
              <a:rPr kumimoji="1" lang="en-US" altLang="zh-CN" sz="2400" dirty="0">
                <a:latin typeface="楷体" panose="02010609060101010101" pitchFamily="49" charset="-122"/>
                <a:ea typeface="楷体" panose="02010609060101010101" pitchFamily="49" charset="-122"/>
              </a:rPr>
              <a:t>基于快速语言工具和程序语言建立的原型具备相当的真实感，所以又被称为</a:t>
            </a:r>
            <a:r>
              <a:rPr kumimoji="1" lang="en-US" altLang="zh-CN" sz="2400" b="1" dirty="0">
                <a:solidFill>
                  <a:srgbClr val="88057A"/>
                </a:solidFill>
                <a:latin typeface="楷体" panose="02010609060101010101" pitchFamily="49" charset="-122"/>
                <a:ea typeface="楷体" panose="02010609060101010101" pitchFamily="49" charset="-122"/>
              </a:rPr>
              <a:t>高保真原型</a:t>
            </a:r>
            <a:r>
              <a:rPr kumimoji="1" lang="en-US" altLang="zh-CN" sz="2400" dirty="0">
                <a:latin typeface="楷体" panose="02010609060101010101" pitchFamily="49" charset="-122"/>
                <a:ea typeface="楷体" panose="02010609060101010101" pitchFamily="49" charset="-122"/>
              </a:rPr>
              <a:t>。</a:t>
            </a:r>
          </a:p>
          <a:p>
            <a:pPr lvl="1">
              <a:lnSpc>
                <a:spcPct val="110000"/>
              </a:lnSpc>
            </a:pPr>
            <a:r>
              <a:rPr kumimoji="1" lang="zh-CN" altLang="en-US" sz="2055" dirty="0">
                <a:latin typeface="楷体" panose="02010609060101010101" pitchFamily="49" charset="-122"/>
                <a:ea typeface="楷体" panose="02010609060101010101" pitchFamily="49" charset="-122"/>
              </a:rPr>
              <a:t>例如：</a:t>
            </a:r>
            <a:r>
              <a:rPr kumimoji="1" lang="en-US" altLang="zh-CN" sz="2055" dirty="0">
                <a:latin typeface="Times New Roman" panose="02020603050405020304" pitchFamily="18" charset="0"/>
                <a:ea typeface="楷体" panose="02010609060101010101" pitchFamily="49" charset="-122"/>
                <a:cs typeface="Times New Roman" panose="02020603050405020304" pitchFamily="18" charset="0"/>
              </a:rPr>
              <a:t>Visual Basic</a:t>
            </a:r>
            <a:r>
              <a:rPr kumimoji="1" lang="en-US" altLang="zh-CN" sz="2055" dirty="0">
                <a:latin typeface="楷体" panose="02010609060101010101" pitchFamily="49" charset="-122"/>
                <a:ea typeface="楷体" panose="02010609060101010101" pitchFamily="49" charset="-122"/>
              </a:rPr>
              <a:t>具有快速开发交互界面的能力，是最常被采用的原型建立语言。</a:t>
            </a:r>
          </a:p>
          <a:p>
            <a:pPr>
              <a:lnSpc>
                <a:spcPct val="110000"/>
              </a:lnSpc>
              <a:buFont typeface="Wingdings" panose="05000000000000000000" charset="0"/>
              <a:buChar char=""/>
            </a:pPr>
            <a:r>
              <a:rPr kumimoji="1" lang="en-US" altLang="zh-CN" sz="2400" dirty="0">
                <a:latin typeface="楷体" panose="02010609060101010101" pitchFamily="49" charset="-122"/>
                <a:ea typeface="楷体" panose="02010609060101010101" pitchFamily="49" charset="-122"/>
              </a:rPr>
              <a:t>高保真原型</a:t>
            </a:r>
            <a:r>
              <a:rPr kumimoji="1" lang="zh-CN" altLang="en-US" sz="2400" dirty="0">
                <a:latin typeface="楷体" panose="02010609060101010101" pitchFamily="49" charset="-122"/>
                <a:ea typeface="楷体" panose="02010609060101010101" pitchFamily="49" charset="-122"/>
              </a:rPr>
              <a:t>的优点：</a:t>
            </a:r>
          </a:p>
          <a:p>
            <a:pPr lvl="1">
              <a:lnSpc>
                <a:spcPct val="110000"/>
              </a:lnSpc>
            </a:pPr>
            <a:r>
              <a:rPr kumimoji="1" lang="zh-CN" altLang="en-US" sz="2055" dirty="0">
                <a:latin typeface="楷体" panose="02010609060101010101" pitchFamily="49" charset="-122"/>
                <a:ea typeface="楷体" panose="02010609060101010101" pitchFamily="49" charset="-122"/>
              </a:rPr>
              <a:t>交互表达能力强</a:t>
            </a:r>
          </a:p>
          <a:p>
            <a:pPr lvl="1">
              <a:lnSpc>
                <a:spcPct val="110000"/>
              </a:lnSpc>
            </a:pPr>
            <a:r>
              <a:rPr kumimoji="1" lang="zh-CN" altLang="en-US" sz="2055" dirty="0">
                <a:latin typeface="楷体" panose="02010609060101010101" pitchFamily="49" charset="-122"/>
                <a:ea typeface="楷体" panose="02010609060101010101" pitchFamily="49" charset="-122"/>
              </a:rPr>
              <a:t>能提高用户的评估和参与意识</a:t>
            </a:r>
          </a:p>
          <a:p>
            <a:pPr lvl="1">
              <a:lnSpc>
                <a:spcPct val="110000"/>
              </a:lnSpc>
            </a:pPr>
            <a:r>
              <a:rPr kumimoji="1" lang="zh-CN" altLang="en-US" sz="2055" dirty="0">
                <a:latin typeface="楷体" panose="02010609060101010101" pitchFamily="49" charset="-122"/>
                <a:ea typeface="楷体" panose="02010609060101010101" pitchFamily="49" charset="-122"/>
              </a:rPr>
              <a:t>能根据用户的反馈及时</a:t>
            </a:r>
            <a:r>
              <a:rPr kumimoji="1" lang="zh-CN" altLang="en-US" sz="2055" b="1" dirty="0">
                <a:solidFill>
                  <a:srgbClr val="88057A"/>
                </a:solidFill>
                <a:latin typeface="楷体" panose="02010609060101010101" pitchFamily="49" charset="-122"/>
                <a:ea typeface="楷体" panose="02010609060101010101" pitchFamily="49" charset="-122"/>
              </a:rPr>
              <a:t>调整原型</a:t>
            </a:r>
            <a:endParaRPr kumimoji="1" lang="zh-CN" altLang="en-US" sz="2055" dirty="0">
              <a:latin typeface="楷体" panose="02010609060101010101" pitchFamily="49" charset="-122"/>
              <a:ea typeface="楷体" panose="02010609060101010101" pitchFamily="49" charset="-122"/>
            </a:endParaRPr>
          </a:p>
          <a:p>
            <a:pPr>
              <a:lnSpc>
                <a:spcPct val="110000"/>
              </a:lnSpc>
              <a:buFont typeface="Wingdings" panose="05000000000000000000" charset="0"/>
              <a:buChar char=""/>
            </a:pPr>
            <a:r>
              <a:rPr kumimoji="1" lang="en-US" altLang="zh-CN" sz="2400" dirty="0">
                <a:latin typeface="楷体" panose="02010609060101010101" pitchFamily="49" charset="-122"/>
                <a:ea typeface="楷体" panose="02010609060101010101" pitchFamily="49" charset="-122"/>
              </a:rPr>
              <a:t>高保真原型</a:t>
            </a:r>
            <a:r>
              <a:rPr kumimoji="1" lang="zh-CN" altLang="en-US" sz="2400" dirty="0">
                <a:latin typeface="楷体" panose="02010609060101010101" pitchFamily="49" charset="-122"/>
                <a:ea typeface="楷体" panose="02010609060101010101" pitchFamily="49" charset="-122"/>
              </a:rPr>
              <a:t>的</a:t>
            </a:r>
            <a:r>
              <a:rPr kumimoji="1" lang="en-US" altLang="zh-CN" sz="2400" dirty="0">
                <a:latin typeface="楷体" panose="02010609060101010101" pitchFamily="49" charset="-122"/>
                <a:ea typeface="楷体" panose="02010609060101010101" pitchFamily="49" charset="-122"/>
              </a:rPr>
              <a:t>缺点</a:t>
            </a:r>
            <a:r>
              <a:rPr kumimoji="1" lang="zh-CN" altLang="en-US" sz="2400" dirty="0">
                <a:latin typeface="楷体" panose="02010609060101010101" pitchFamily="49" charset="-122"/>
                <a:ea typeface="楷体" panose="02010609060101010101" pitchFamily="49" charset="-122"/>
              </a:rPr>
              <a:t>：</a:t>
            </a:r>
          </a:p>
          <a:p>
            <a:pPr lvl="1">
              <a:lnSpc>
                <a:spcPct val="110000"/>
              </a:lnSpc>
            </a:pPr>
            <a:r>
              <a:rPr kumimoji="1" lang="en-US" altLang="zh-CN" sz="2055" dirty="0">
                <a:latin typeface="楷体" panose="02010609060101010101" pitchFamily="49" charset="-122"/>
                <a:ea typeface="楷体" panose="02010609060101010101" pitchFamily="49" charset="-122"/>
              </a:rPr>
              <a:t>开发的成本较高、工作量较大</a:t>
            </a:r>
          </a:p>
          <a:p>
            <a:pPr lvl="1">
              <a:lnSpc>
                <a:spcPct val="110000"/>
              </a:lnSpc>
            </a:pPr>
            <a:r>
              <a:rPr kumimoji="1" lang="en-US" altLang="zh-CN" sz="2055" dirty="0">
                <a:latin typeface="楷体" panose="02010609060101010101" pitchFamily="49" charset="-122"/>
                <a:ea typeface="楷体" panose="02010609060101010101" pitchFamily="49" charset="-122"/>
              </a:rPr>
              <a:t>用户容易将其和真正的产品混淆起来，进而</a:t>
            </a:r>
            <a:r>
              <a:rPr kumimoji="1" lang="en-US" altLang="zh-CN" sz="2055" b="1" dirty="0">
                <a:solidFill>
                  <a:srgbClr val="88057A"/>
                </a:solidFill>
                <a:latin typeface="楷体" panose="02010609060101010101" pitchFamily="49" charset="-122"/>
                <a:ea typeface="楷体" panose="02010609060101010101" pitchFamily="49" charset="-122"/>
              </a:rPr>
              <a:t>产生不必要的风险</a:t>
            </a:r>
          </a:p>
        </p:txBody>
      </p:sp>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原型</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原型的表现方式</a:t>
            </a:r>
          </a:p>
        </p:txBody>
      </p:sp>
      <p:sp>
        <p:nvSpPr>
          <p:cNvPr id="3" name="内容占位符 2"/>
          <p:cNvSpPr txBox="1"/>
          <p:nvPr/>
        </p:nvSpPr>
        <p:spPr>
          <a:xfrm>
            <a:off x="628650" y="1338742"/>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buFont typeface="Wingdings" panose="05000000000000000000" charset="0"/>
              <a:buChar char=""/>
            </a:pPr>
            <a:r>
              <a:rPr kumimoji="1" lang="en-US" altLang="zh-CN" sz="2400" b="1" dirty="0">
                <a:solidFill>
                  <a:srgbClr val="88057A"/>
                </a:solidFill>
                <a:latin typeface="楷体" panose="02010609060101010101" pitchFamily="49" charset="-122"/>
                <a:ea typeface="楷体" panose="02010609060101010101" pitchFamily="49" charset="-122"/>
              </a:rPr>
              <a:t>静态画面</a:t>
            </a:r>
            <a:r>
              <a:rPr kumimoji="1" lang="en-US" altLang="zh-CN" sz="2400" dirty="0">
                <a:latin typeface="楷体" panose="02010609060101010101" pitchFamily="49" charset="-122"/>
                <a:ea typeface="楷体" panose="02010609060101010101" pitchFamily="49" charset="-122"/>
              </a:rPr>
              <a:t>表现出来的是静态的结构</a:t>
            </a:r>
          </a:p>
          <a:p>
            <a:pPr lvl="1">
              <a:lnSpc>
                <a:spcPct val="110000"/>
              </a:lnSpc>
            </a:pPr>
            <a:r>
              <a:rPr kumimoji="1" lang="en-US" altLang="zh-CN" sz="2055" dirty="0">
                <a:latin typeface="楷体" panose="02010609060101010101" pitchFamily="49" charset="-122"/>
                <a:ea typeface="楷体" panose="02010609060101010101" pitchFamily="49" charset="-122"/>
              </a:rPr>
              <a:t>例如图形界面，它本身不具有动态性，不能和它的评估者形成明显的互动。</a:t>
            </a:r>
          </a:p>
          <a:p>
            <a:pPr>
              <a:lnSpc>
                <a:spcPct val="110000"/>
              </a:lnSpc>
              <a:buFont typeface="Wingdings" panose="05000000000000000000" charset="0"/>
              <a:buChar char=""/>
            </a:pPr>
            <a:r>
              <a:rPr kumimoji="1" lang="en-US" altLang="zh-CN" sz="2400" b="1" dirty="0">
                <a:solidFill>
                  <a:srgbClr val="88057A"/>
                </a:solidFill>
                <a:latin typeface="楷体" panose="02010609060101010101" pitchFamily="49" charset="-122"/>
                <a:ea typeface="楷体" panose="02010609060101010101" pitchFamily="49" charset="-122"/>
              </a:rPr>
              <a:t>动态程序</a:t>
            </a:r>
            <a:r>
              <a:rPr kumimoji="1" lang="en-US" altLang="zh-CN" sz="2400" dirty="0">
                <a:latin typeface="楷体" panose="02010609060101010101" pitchFamily="49" charset="-122"/>
                <a:ea typeface="楷体" panose="02010609060101010101" pitchFamily="49" charset="-122"/>
              </a:rPr>
              <a:t>本身就是软件系统</a:t>
            </a:r>
          </a:p>
          <a:p>
            <a:pPr lvl="1">
              <a:lnSpc>
                <a:spcPct val="110000"/>
              </a:lnSpc>
            </a:pPr>
            <a:r>
              <a:rPr kumimoji="1" lang="en-US" altLang="zh-CN" sz="2055" dirty="0">
                <a:latin typeface="楷体" panose="02010609060101010101" pitchFamily="49" charset="-122"/>
                <a:ea typeface="楷体" panose="02010609060101010101" pitchFamily="49" charset="-122"/>
              </a:rPr>
              <a:t>它能够表现所有软件可以表现的一切，所有类型的人机互动在动态程序这里都能够看到。</a:t>
            </a:r>
          </a:p>
          <a:p>
            <a:pPr>
              <a:lnSpc>
                <a:spcPct val="110000"/>
              </a:lnSpc>
              <a:buFont typeface="Wingdings" panose="05000000000000000000" charset="0"/>
              <a:buChar char=""/>
            </a:pPr>
            <a:r>
              <a:rPr kumimoji="1" lang="en-US" altLang="zh-CN" sz="2400" b="1" dirty="0">
                <a:solidFill>
                  <a:srgbClr val="88057A"/>
                </a:solidFill>
                <a:latin typeface="楷体" panose="02010609060101010101" pitchFamily="49" charset="-122"/>
                <a:ea typeface="楷体" panose="02010609060101010101" pitchFamily="49" charset="-122"/>
              </a:rPr>
              <a:t>故事板</a:t>
            </a:r>
            <a:r>
              <a:rPr kumimoji="1" lang="en-US" altLang="zh-CN" sz="2400" dirty="0">
                <a:latin typeface="楷体" panose="02010609060101010101" pitchFamily="49" charset="-122"/>
                <a:ea typeface="楷体" panose="02010609060101010101" pitchFamily="49" charset="-122"/>
              </a:rPr>
              <a:t>是交互性介于静态画面和动态程序之间的一种原型表现形式，它能够表现</a:t>
            </a:r>
            <a:r>
              <a:rPr kumimoji="1" lang="en-US" altLang="zh-CN" sz="2400" b="1" dirty="0">
                <a:solidFill>
                  <a:srgbClr val="88057A"/>
                </a:solidFill>
                <a:latin typeface="楷体" panose="02010609060101010101" pitchFamily="49" charset="-122"/>
                <a:ea typeface="楷体" panose="02010609060101010101" pitchFamily="49" charset="-122"/>
              </a:rPr>
              <a:t>场景式的互动</a:t>
            </a:r>
            <a:r>
              <a:rPr kumimoji="1" lang="en-US" altLang="zh-CN" dirty="0">
                <a:latin typeface="楷体" panose="02010609060101010101" pitchFamily="49" charset="-122"/>
                <a:ea typeface="楷体" panose="02010609060101010101" pitchFamily="49" charset="-122"/>
              </a:rPr>
              <a:t>。</a:t>
            </a:r>
          </a:p>
        </p:txBody>
      </p:sp>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原型</a:t>
            </a:r>
          </a:p>
        </p:txBody>
      </p:sp>
      <p:graphicFrame>
        <p:nvGraphicFramePr>
          <p:cNvPr id="29700" name="Object 4"/>
          <p:cNvGraphicFramePr>
            <a:graphicFrameLocks noChangeAspect="1"/>
          </p:cNvGraphicFramePr>
          <p:nvPr>
            <p:custDataLst>
              <p:tags r:id="rId2"/>
            </p:custDataLst>
          </p:nvPr>
        </p:nvGraphicFramePr>
        <p:xfrm>
          <a:off x="389890" y="4907280"/>
          <a:ext cx="8364220" cy="1270000"/>
        </p:xfrm>
        <a:graphic>
          <a:graphicData uri="http://schemas.openxmlformats.org/presentationml/2006/ole">
            <mc:AlternateContent xmlns:mc="http://schemas.openxmlformats.org/markup-compatibility/2006">
              <mc:Choice xmlns:v="urn:schemas-microsoft-com:vml" Requires="v">
                <p:oleObj spid="_x0000_s2050" r:id="rId4" imgW="4333240" imgH="659130" progId="Visio.Drawing.11">
                  <p:embed/>
                </p:oleObj>
              </mc:Choice>
              <mc:Fallback>
                <p:oleObj r:id="rId4" imgW="4333240" imgH="659130" progId="Visio.Drawing.11">
                  <p:embed/>
                  <p:pic>
                    <p:nvPicPr>
                      <p:cNvPr id="29700" name="Object 4"/>
                      <p:cNvPicPr/>
                      <p:nvPr/>
                    </p:nvPicPr>
                    <p:blipFill>
                      <a:blip r:embed="rId5"/>
                      <a:stretch>
                        <a:fillRect/>
                      </a:stretch>
                    </p:blipFill>
                    <p:spPr>
                      <a:xfrm>
                        <a:off x="389890" y="4907280"/>
                        <a:ext cx="8364220" cy="1270000"/>
                      </a:xfrm>
                      <a:prstGeom prst="rect">
                        <a:avLst/>
                      </a:prstGeom>
                      <a:gradFill>
                        <a:gsLst>
                          <a:gs pos="0">
                            <a:srgbClr val="F3F9FF">
                              <a:lumMod val="20000"/>
                              <a:lumOff val="80000"/>
                            </a:srgbClr>
                          </a:gs>
                          <a:gs pos="100000">
                            <a:srgbClr val="472680"/>
                          </a:gs>
                        </a:gsLst>
                        <a:lin ang="0" scaled="0"/>
                      </a:gradFill>
                      <a:ln w="38100">
                        <a:noFill/>
                        <a:miter/>
                      </a:ln>
                    </p:spPr>
                  </p:pic>
                </p:oleObj>
              </mc:Fallback>
            </mc:AlternateContent>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故事板原型</a:t>
            </a:r>
          </a:p>
        </p:txBody>
      </p:sp>
      <p:sp>
        <p:nvSpPr>
          <p:cNvPr id="3" name="内容占位符 2"/>
          <p:cNvSpPr txBox="1"/>
          <p:nvPr/>
        </p:nvSpPr>
        <p:spPr>
          <a:xfrm>
            <a:off x="628650" y="1413672"/>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en-US" altLang="zh-CN" dirty="0">
              <a:latin typeface="楷体" panose="02010609060101010101" pitchFamily="49" charset="-122"/>
              <a:ea typeface="楷体" panose="02010609060101010101" pitchFamily="49" charset="-122"/>
            </a:endParaRPr>
          </a:p>
          <a:p>
            <a:endParaRPr kumimoji="1" lang="en-US" altLang="zh-CN" dirty="0">
              <a:latin typeface="楷体" panose="02010609060101010101" pitchFamily="49" charset="-122"/>
              <a:ea typeface="楷体" panose="02010609060101010101" pitchFamily="49" charset="-122"/>
            </a:endParaRPr>
          </a:p>
          <a:p>
            <a:endParaRPr kumimoji="1" lang="en-US" altLang="zh-CN" dirty="0">
              <a:latin typeface="楷体" panose="02010609060101010101" pitchFamily="49" charset="-122"/>
              <a:ea typeface="楷体" panose="02010609060101010101" pitchFamily="49" charset="-122"/>
            </a:endParaRPr>
          </a:p>
          <a:p>
            <a:endParaRPr kumimoji="1" lang="en-US" altLang="zh-CN" dirty="0">
              <a:latin typeface="楷体" panose="02010609060101010101" pitchFamily="49" charset="-122"/>
              <a:ea typeface="楷体" panose="02010609060101010101" pitchFamily="49" charset="-122"/>
            </a:endParaRPr>
          </a:p>
          <a:p>
            <a:endParaRPr kumimoji="1" lang="en-US" altLang="zh-CN" dirty="0">
              <a:latin typeface="楷体" panose="02010609060101010101" pitchFamily="49" charset="-122"/>
              <a:ea typeface="楷体" panose="02010609060101010101" pitchFamily="49" charset="-122"/>
            </a:endParaRPr>
          </a:p>
          <a:p>
            <a:endParaRPr kumimoji="1" lang="en-US" altLang="zh-CN" dirty="0">
              <a:latin typeface="楷体" panose="02010609060101010101" pitchFamily="49" charset="-122"/>
              <a:ea typeface="楷体" panose="02010609060101010101" pitchFamily="49" charset="-122"/>
            </a:endParaRPr>
          </a:p>
          <a:p>
            <a:pPr marL="0" indent="0">
              <a:buNone/>
            </a:pPr>
            <a:endParaRPr kumimoji="1" lang="en-US" altLang="zh-CN" dirty="0">
              <a:latin typeface="楷体" panose="02010609060101010101" pitchFamily="49" charset="-122"/>
              <a:ea typeface="楷体" panose="02010609060101010101" pitchFamily="49" charset="-122"/>
            </a:endParaRPr>
          </a:p>
          <a:p>
            <a:pPr marL="0" indent="0">
              <a:buNone/>
            </a:pPr>
            <a:endParaRPr kumimoji="1" lang="en-US" altLang="zh-CN" dirty="0">
              <a:latin typeface="楷体" panose="02010609060101010101" pitchFamily="49" charset="-122"/>
              <a:ea typeface="楷体" panose="02010609060101010101" pitchFamily="49" charset="-122"/>
            </a:endParaRPr>
          </a:p>
          <a:p>
            <a:pPr marL="0" indent="0">
              <a:lnSpc>
                <a:spcPct val="100000"/>
              </a:lnSpc>
              <a:buNone/>
            </a:pPr>
            <a:r>
              <a:rPr kumimoji="1" lang="en-US" altLang="zh-CN" sz="2400" dirty="0">
                <a:latin typeface="楷体" panose="02010609060101010101" pitchFamily="49" charset="-122"/>
                <a:ea typeface="楷体" panose="02010609060101010101" pitchFamily="49" charset="-122"/>
              </a:rPr>
              <a:t>故事板原型将原来分散的功能与步骤</a:t>
            </a:r>
            <a:r>
              <a:rPr kumimoji="1" lang="en-US" altLang="zh-CN" sz="2400" b="1" dirty="0">
                <a:solidFill>
                  <a:srgbClr val="88057A"/>
                </a:solidFill>
                <a:latin typeface="楷体" panose="02010609060101010101" pitchFamily="49" charset="-122"/>
                <a:ea typeface="楷体" panose="02010609060101010101" pitchFamily="49" charset="-122"/>
              </a:rPr>
              <a:t>组织成故事</a:t>
            </a:r>
            <a:r>
              <a:rPr kumimoji="1" lang="en-US" altLang="zh-CN" sz="2400" dirty="0">
                <a:latin typeface="楷体" panose="02010609060101010101" pitchFamily="49" charset="-122"/>
                <a:ea typeface="楷体" panose="02010609060101010101" pitchFamily="49" charset="-122"/>
              </a:rPr>
              <a:t>，让普通人能够更好地体验与评估。</a:t>
            </a:r>
          </a:p>
        </p:txBody>
      </p:sp>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原型</a:t>
            </a:r>
          </a:p>
        </p:txBody>
      </p:sp>
      <p:sp>
        <p:nvSpPr>
          <p:cNvPr id="4" name="圆角矩形 3"/>
          <p:cNvSpPr/>
          <p:nvPr/>
        </p:nvSpPr>
        <p:spPr>
          <a:xfrm>
            <a:off x="478155" y="1431925"/>
            <a:ext cx="4574540" cy="3794125"/>
          </a:xfrm>
          <a:prstGeom prst="roundRect">
            <a:avLst/>
          </a:prstGeom>
          <a:gradFill>
            <a:gsLst>
              <a:gs pos="24000">
                <a:schemeClr val="bg2">
                  <a:lumMod val="75000"/>
                </a:schemeClr>
              </a:gs>
              <a:gs pos="55000">
                <a:schemeClr val="bg2">
                  <a:lumMod val="50000"/>
                </a:schemeClr>
              </a:gs>
              <a:gs pos="0">
                <a:schemeClr val="bg2">
                  <a:lumMod val="90000"/>
                </a:schemeClr>
              </a:gs>
              <a:gs pos="82000">
                <a:schemeClr val="bg2">
                  <a:lumMod val="50000"/>
                </a:schemeClr>
              </a:gs>
            </a:gsLst>
            <a:path path="circle">
              <a:fillToRect t="100000" r="100000"/>
            </a:path>
            <a:tileRect l="-100000" b="-100000"/>
          </a:gradFill>
          <a:ln>
            <a:solidFill>
              <a:srgbClr val="231240"/>
            </a:solidFill>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lnSpc>
                <a:spcPct val="140000"/>
              </a:lnSpc>
            </a:pPr>
            <a:r>
              <a:rPr kumimoji="1" lang="en-US" altLang="zh-CN" sz="2000" dirty="0">
                <a:solidFill>
                  <a:schemeClr val="bg1"/>
                </a:solidFill>
                <a:latin typeface="楷体" panose="02010609060101010101" pitchFamily="49" charset="-122"/>
                <a:ea typeface="楷体" panose="02010609060101010101" pitchFamily="49" charset="-122"/>
                <a:sym typeface="+mn-ea"/>
              </a:rPr>
              <a:t>故事板最早是好莱坞在设计电影场景和卡通故事时使用的，卡通制作者通过勾画出一系列相连的图片来展示一个卡通故事，具有更直观、可视化的故事叙述能力。在需求获取中，可以按照故事板的思想建立故事板原型，实践中体现出了非常好的效果</a:t>
            </a:r>
            <a:r>
              <a:rPr kumimoji="1" lang="zh-CN" altLang="en-US" sz="2000" dirty="0">
                <a:solidFill>
                  <a:schemeClr val="bg1"/>
                </a:solidFill>
                <a:latin typeface="楷体" panose="02010609060101010101" pitchFamily="49" charset="-122"/>
                <a:ea typeface="楷体" panose="02010609060101010101" pitchFamily="49" charset="-122"/>
                <a:sym typeface="+mn-ea"/>
              </a:rPr>
              <a:t>。</a:t>
            </a:r>
          </a:p>
        </p:txBody>
      </p:sp>
      <p:pic>
        <p:nvPicPr>
          <p:cNvPr id="9" name="图片 8" descr="制品原型定义"/>
          <p:cNvPicPr>
            <a:picLocks noChangeAspect="1"/>
          </p:cNvPicPr>
          <p:nvPr/>
        </p:nvPicPr>
        <p:blipFill>
          <a:blip r:embed="rId2"/>
          <a:stretch>
            <a:fillRect/>
          </a:stretch>
        </p:blipFill>
        <p:spPr>
          <a:xfrm>
            <a:off x="5200650" y="1494790"/>
            <a:ext cx="3641090" cy="364109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故事板原型示例</a:t>
            </a:r>
          </a:p>
        </p:txBody>
      </p:sp>
      <p:sp>
        <p:nvSpPr>
          <p:cNvPr id="3" name="内容占位符 2"/>
          <p:cNvSpPr txBox="1"/>
          <p:nvPr/>
        </p:nvSpPr>
        <p:spPr>
          <a:xfrm>
            <a:off x="628650" y="1413672"/>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en-US" altLang="zh-CN" dirty="0">
              <a:latin typeface="楷体" panose="02010609060101010101" pitchFamily="49" charset="-122"/>
              <a:ea typeface="楷体" panose="02010609060101010101" pitchFamily="49" charset="-122"/>
            </a:endParaRPr>
          </a:p>
        </p:txBody>
      </p:sp>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原型</a:t>
            </a:r>
          </a:p>
        </p:txBody>
      </p:sp>
      <p:pic>
        <p:nvPicPr>
          <p:cNvPr id="31748" name="Picture 5"/>
          <p:cNvPicPr>
            <a:picLocks noChangeAspect="1"/>
          </p:cNvPicPr>
          <p:nvPr>
            <p:custDataLst>
              <p:tags r:id="rId1"/>
            </p:custDataLst>
          </p:nvPr>
        </p:nvPicPr>
        <p:blipFill>
          <a:blip r:embed="rId3"/>
          <a:stretch>
            <a:fillRect/>
          </a:stretch>
        </p:blipFill>
        <p:spPr>
          <a:xfrm>
            <a:off x="842645" y="1386840"/>
            <a:ext cx="7476490" cy="4040505"/>
          </a:xfrm>
          <a:prstGeom prst="rect">
            <a:avLst/>
          </a:prstGeom>
          <a:noFill/>
          <a:ln w="9525">
            <a:noFill/>
          </a:ln>
        </p:spPr>
      </p:pic>
      <p:sp>
        <p:nvSpPr>
          <p:cNvPr id="4" name="文本框 3"/>
          <p:cNvSpPr txBox="1"/>
          <p:nvPr/>
        </p:nvSpPr>
        <p:spPr>
          <a:xfrm>
            <a:off x="842010" y="5630545"/>
            <a:ext cx="7477125" cy="645160"/>
          </a:xfrm>
          <a:prstGeom prst="rect">
            <a:avLst/>
          </a:prstGeom>
          <a:noFill/>
        </p:spPr>
        <p:txBody>
          <a:bodyPr wrap="square" rtlCol="0">
            <a:spAutoFit/>
          </a:bodyPr>
          <a:lstStyle/>
          <a:p>
            <a:r>
              <a:rPr lang="zh-CN" altLang="en-US">
                <a:latin typeface="Times Regular" panose="00000500000000020000" charset="0"/>
                <a:ea typeface="楷体" panose="02010609060101010101" pitchFamily="49" charset="-122"/>
                <a:cs typeface="Times Regular" panose="00000500000000020000" charset="0"/>
              </a:rPr>
              <a:t>使用图中故事板原型来展示一个政府办公系统中的交易许可审批功能，它比只为评估者提供8个表单的静态界面原型要生动得多。</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原型与用例/场景的结合</a:t>
            </a:r>
          </a:p>
        </p:txBody>
      </p:sp>
      <p:sp>
        <p:nvSpPr>
          <p:cNvPr id="3" name="内容占位符 2"/>
          <p:cNvSpPr txBox="1"/>
          <p:nvPr/>
        </p:nvSpPr>
        <p:spPr>
          <a:xfrm>
            <a:off x="628650" y="1413672"/>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pPr>
            <a:r>
              <a:rPr kumimoji="1" lang="en-US" altLang="zh-CN" dirty="0">
                <a:latin typeface="楷体" panose="02010609060101010101" pitchFamily="49" charset="-122"/>
                <a:ea typeface="楷体" panose="02010609060101010101" pitchFamily="49" charset="-122"/>
              </a:rPr>
              <a:t>原型（尤其是故事板原型）的特长是</a:t>
            </a:r>
            <a:r>
              <a:rPr kumimoji="1" lang="en-US" altLang="zh-CN" b="1" dirty="0">
                <a:solidFill>
                  <a:srgbClr val="88057A"/>
                </a:solidFill>
                <a:latin typeface="楷体" panose="02010609060101010101" pitchFamily="49" charset="-122"/>
                <a:ea typeface="楷体" panose="02010609060101010101" pitchFamily="49" charset="-122"/>
              </a:rPr>
              <a:t>组织能力</a:t>
            </a:r>
            <a:r>
              <a:rPr kumimoji="1" lang="en-US" altLang="zh-CN" dirty="0">
                <a:latin typeface="楷体" panose="02010609060101010101" pitchFamily="49" charset="-122"/>
                <a:ea typeface="楷体" panose="02010609060101010101" pitchFamily="49" charset="-122"/>
              </a:rPr>
              <a:t>，用例/场景的特长也是组织能力，所以它们通常结合使用</a:t>
            </a:r>
            <a:r>
              <a:rPr kumimoji="1" lang="zh-CN" altLang="en-US" dirty="0">
                <a:latin typeface="楷体" panose="02010609060101010101" pitchFamily="49" charset="-122"/>
                <a:ea typeface="楷体" panose="02010609060101010101" pitchFamily="49" charset="-122"/>
              </a:rPr>
              <a:t>。</a:t>
            </a:r>
          </a:p>
          <a:p>
            <a:pPr>
              <a:lnSpc>
                <a:spcPct val="130000"/>
              </a:lnSpc>
            </a:pPr>
            <a:r>
              <a:rPr kumimoji="1" lang="en-US" altLang="zh-CN" dirty="0">
                <a:latin typeface="楷体" panose="02010609060101010101" pitchFamily="49" charset="-122"/>
                <a:ea typeface="楷体" panose="02010609060101010101" pitchFamily="49" charset="-122"/>
              </a:rPr>
              <a:t>为需要探索和澄清的用例/场景</a:t>
            </a:r>
            <a:r>
              <a:rPr kumimoji="1" lang="en-US" altLang="zh-CN" b="1" dirty="0">
                <a:solidFill>
                  <a:srgbClr val="88057A"/>
                </a:solidFill>
                <a:latin typeface="楷体" panose="02010609060101010101" pitchFamily="49" charset="-122"/>
                <a:ea typeface="楷体" panose="02010609060101010101" pitchFamily="49" charset="-122"/>
              </a:rPr>
              <a:t>建立故事板原型</a:t>
            </a:r>
            <a:r>
              <a:rPr kumimoji="1" lang="zh-CN" altLang="en-US" dirty="0">
                <a:latin typeface="楷体" panose="02010609060101010101" pitchFamily="49" charset="-122"/>
                <a:ea typeface="楷体" panose="02010609060101010101" pitchFamily="49" charset="-122"/>
              </a:rPr>
              <a:t>。</a:t>
            </a:r>
            <a:endParaRPr kumimoji="1" lang="en-US" altLang="zh-CN" dirty="0">
              <a:latin typeface="楷体" panose="02010609060101010101" pitchFamily="49" charset="-122"/>
              <a:ea typeface="楷体" panose="02010609060101010101" pitchFamily="49" charset="-122"/>
            </a:endParaRPr>
          </a:p>
          <a:p>
            <a:pPr>
              <a:lnSpc>
                <a:spcPct val="130000"/>
              </a:lnSpc>
            </a:pPr>
            <a:r>
              <a:rPr kumimoji="1" lang="en-US" altLang="zh-CN" dirty="0">
                <a:latin typeface="楷体" panose="02010609060101010101" pitchFamily="49" charset="-122"/>
                <a:ea typeface="楷体" panose="02010609060101010101" pitchFamily="49" charset="-122"/>
              </a:rPr>
              <a:t>依据故事板原型的评估结果</a:t>
            </a:r>
            <a:r>
              <a:rPr kumimoji="1" lang="en-US" altLang="zh-CN" b="1" dirty="0">
                <a:solidFill>
                  <a:srgbClr val="88057A"/>
                </a:solidFill>
                <a:latin typeface="楷体" panose="02010609060101010101" pitchFamily="49" charset="-122"/>
                <a:ea typeface="楷体" panose="02010609060101010101" pitchFamily="49" charset="-122"/>
              </a:rPr>
              <a:t>建立清晰、明确的用例/场景描述</a:t>
            </a:r>
            <a:r>
              <a:rPr kumimoji="1" lang="en-US" altLang="zh-CN" dirty="0">
                <a:latin typeface="楷体" panose="02010609060101010101" pitchFamily="49" charset="-122"/>
                <a:ea typeface="楷体" panose="02010609060101010101" pitchFamily="49" charset="-122"/>
              </a:rPr>
              <a:t>。</a:t>
            </a:r>
          </a:p>
          <a:p>
            <a:endParaRPr kumimoji="1" lang="en-US" altLang="zh-CN" dirty="0">
              <a:latin typeface="楷体" panose="02010609060101010101" pitchFamily="49" charset="-122"/>
              <a:ea typeface="楷体" panose="02010609060101010101" pitchFamily="49" charset="-122"/>
            </a:endParaRPr>
          </a:p>
          <a:p>
            <a:endParaRPr kumimoji="1" lang="en-US" altLang="zh-CN" dirty="0">
              <a:latin typeface="楷体" panose="02010609060101010101" pitchFamily="49" charset="-122"/>
              <a:ea typeface="楷体" panose="02010609060101010101" pitchFamily="49" charset="-122"/>
            </a:endParaRPr>
          </a:p>
        </p:txBody>
      </p:sp>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原型</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为场景描述建立故事板原型</a:t>
            </a:r>
          </a:p>
        </p:txBody>
      </p:sp>
      <p:sp>
        <p:nvSpPr>
          <p:cNvPr id="3" name="内容占位符 2"/>
          <p:cNvSpPr txBox="1"/>
          <p:nvPr/>
        </p:nvSpPr>
        <p:spPr>
          <a:xfrm>
            <a:off x="628650" y="1413672"/>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en-US" altLang="zh-CN" dirty="0">
              <a:latin typeface="楷体" panose="02010609060101010101" pitchFamily="49" charset="-122"/>
              <a:ea typeface="楷体" panose="02010609060101010101" pitchFamily="49" charset="-122"/>
            </a:endParaRPr>
          </a:p>
        </p:txBody>
      </p:sp>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原型</a:t>
            </a:r>
          </a:p>
        </p:txBody>
      </p:sp>
      <p:sp>
        <p:nvSpPr>
          <p:cNvPr id="4" name="文本框 3"/>
          <p:cNvSpPr txBox="1"/>
          <p:nvPr/>
        </p:nvSpPr>
        <p:spPr>
          <a:xfrm>
            <a:off x="268605" y="1840230"/>
            <a:ext cx="3651250" cy="3588385"/>
          </a:xfrm>
          <a:prstGeom prst="rect">
            <a:avLst/>
          </a:prstGeom>
          <a:noFill/>
          <a:ln w="12700">
            <a:solidFill>
              <a:srgbClr val="231240"/>
            </a:solidFill>
          </a:ln>
        </p:spPr>
        <p:txBody>
          <a:bodyPr wrap="square" rtlCol="0">
            <a:noAutofit/>
          </a:bodyPr>
          <a:lstStyle/>
          <a:p>
            <a:r>
              <a:rPr lang="zh-CN" altLang="en-US">
                <a:latin typeface="Times Regular" panose="00000500000000020000" charset="0"/>
                <a:ea typeface="楷体" panose="02010609060101010101" pitchFamily="49" charset="-122"/>
                <a:cs typeface="Times Regular" panose="00000500000000020000" charset="0"/>
              </a:rPr>
              <a:t>1. 系统生成专家名单，并按照相关性排序</a:t>
            </a:r>
          </a:p>
          <a:p>
            <a:r>
              <a:rPr lang="zh-CN" altLang="en-US">
                <a:latin typeface="Times Regular" panose="00000500000000020000" charset="0"/>
                <a:ea typeface="楷体" panose="02010609060101010101" pitchFamily="49" charset="-122"/>
                <a:cs typeface="Times Regular" panose="00000500000000020000" charset="0"/>
              </a:rPr>
              <a:t>2. 系统提供了各个专家的信息</a:t>
            </a:r>
          </a:p>
          <a:p>
            <a:r>
              <a:rPr lang="zh-CN" altLang="en-US">
                <a:latin typeface="Times Regular" panose="00000500000000020000" charset="0"/>
                <a:ea typeface="楷体" panose="02010609060101010101" pitchFamily="49" charset="-122"/>
                <a:cs typeface="Times Regular" panose="00000500000000020000" charset="0"/>
              </a:rPr>
              <a:t>3. 用户查询专家名单</a:t>
            </a:r>
          </a:p>
          <a:p>
            <a:pPr lvl="1"/>
            <a:r>
              <a:rPr lang="zh-CN" altLang="en-US">
                <a:latin typeface="Times Regular" panose="00000500000000020000" charset="0"/>
                <a:ea typeface="楷体" panose="02010609060101010101" pitchFamily="49" charset="-122"/>
                <a:cs typeface="Times Regular" panose="00000500000000020000" charset="0"/>
              </a:rPr>
              <a:t>3a) 用户查询专家的特征信息</a:t>
            </a:r>
          </a:p>
          <a:p>
            <a:pPr lvl="1"/>
            <a:r>
              <a:rPr lang="zh-CN" altLang="en-US">
                <a:latin typeface="Times Regular" panose="00000500000000020000" charset="0"/>
                <a:ea typeface="楷体" panose="02010609060101010101" pitchFamily="49" charset="-122"/>
                <a:cs typeface="Times Regular" panose="00000500000000020000" charset="0"/>
              </a:rPr>
              <a:t>3b) 用户查询专家的相关因素</a:t>
            </a:r>
          </a:p>
          <a:p>
            <a:pPr lvl="1"/>
            <a:r>
              <a:rPr lang="zh-CN" altLang="en-US">
                <a:latin typeface="Times Regular" panose="00000500000000020000" charset="0"/>
                <a:ea typeface="楷体" panose="02010609060101010101" pitchFamily="49" charset="-122"/>
                <a:cs typeface="Times Regular" panose="00000500000000020000" charset="0"/>
              </a:rPr>
              <a:t>3c) 用户查询相关因素的详细解释</a:t>
            </a:r>
          </a:p>
          <a:p>
            <a:pPr lvl="1"/>
            <a:r>
              <a:rPr lang="zh-CN" altLang="en-US">
                <a:latin typeface="Times Regular" panose="00000500000000020000" charset="0"/>
                <a:ea typeface="楷体" panose="02010609060101010101" pitchFamily="49" charset="-122"/>
                <a:cs typeface="Times Regular" panose="00000500000000020000" charset="0"/>
              </a:rPr>
              <a:t>3d) 用户查询专家的在线状态</a:t>
            </a:r>
          </a:p>
          <a:p>
            <a:pPr lvl="1"/>
            <a:r>
              <a:rPr lang="zh-CN" altLang="en-US">
                <a:latin typeface="Times Regular" panose="00000500000000020000" charset="0"/>
                <a:ea typeface="楷体" panose="02010609060101010101" pitchFamily="49" charset="-122"/>
                <a:cs typeface="Times Regular" panose="00000500000000020000" charset="0"/>
              </a:rPr>
              <a:t>3e) 用户选择一个专家</a:t>
            </a:r>
          </a:p>
          <a:p>
            <a:r>
              <a:rPr lang="zh-CN" altLang="en-US">
                <a:latin typeface="Times Regular" panose="00000500000000020000" charset="0"/>
                <a:ea typeface="楷体" panose="02010609060101010101" pitchFamily="49" charset="-122"/>
                <a:cs typeface="Times Regular" panose="00000500000000020000" charset="0"/>
              </a:rPr>
              <a:t>4. 用户请求与选中的专家互动</a:t>
            </a:r>
          </a:p>
          <a:p>
            <a:r>
              <a:rPr lang="zh-CN" altLang="en-US">
                <a:latin typeface="Times Regular" panose="00000500000000020000" charset="0"/>
                <a:ea typeface="楷体" panose="02010609060101010101" pitchFamily="49" charset="-122"/>
                <a:cs typeface="Times Regular" panose="00000500000000020000" charset="0"/>
              </a:rPr>
              <a:t>5. 系统向选中的专家发送一个请求</a:t>
            </a:r>
          </a:p>
        </p:txBody>
      </p:sp>
      <p:sp>
        <p:nvSpPr>
          <p:cNvPr id="5" name="文本框 4"/>
          <p:cNvSpPr txBox="1"/>
          <p:nvPr/>
        </p:nvSpPr>
        <p:spPr>
          <a:xfrm>
            <a:off x="1006475" y="5521325"/>
            <a:ext cx="2175510" cy="368300"/>
          </a:xfrm>
          <a:prstGeom prst="rect">
            <a:avLst/>
          </a:prstGeom>
          <a:noFill/>
        </p:spPr>
        <p:txBody>
          <a:bodyPr wrap="square" rtlCol="0">
            <a:spAutoFit/>
          </a:bodyPr>
          <a:lstStyle/>
          <a:p>
            <a:r>
              <a:rPr lang="zh-CN" altLang="en-US">
                <a:latin typeface="楷体" panose="02010609060101010101" pitchFamily="49" charset="-122"/>
                <a:ea typeface="楷体" panose="02010609060101010101" pitchFamily="49" charset="-122"/>
              </a:rPr>
              <a:t>场景文本描述示例</a:t>
            </a:r>
          </a:p>
        </p:txBody>
      </p:sp>
      <p:pic>
        <p:nvPicPr>
          <p:cNvPr id="32772" name="Picture 4" descr="未命名"/>
          <p:cNvPicPr>
            <a:picLocks noChangeAspect="1"/>
          </p:cNvPicPr>
          <p:nvPr>
            <p:custDataLst>
              <p:tags r:id="rId1"/>
            </p:custDataLst>
          </p:nvPr>
        </p:nvPicPr>
        <p:blipFill>
          <a:blip r:embed="rId3"/>
          <a:stretch>
            <a:fillRect/>
          </a:stretch>
        </p:blipFill>
        <p:spPr>
          <a:xfrm>
            <a:off x="4028440" y="1250950"/>
            <a:ext cx="4743450" cy="4766945"/>
          </a:xfrm>
          <a:prstGeom prst="rect">
            <a:avLst/>
          </a:prstGeom>
          <a:noFill/>
          <a:ln w="9525">
            <a:noFill/>
          </a:ln>
        </p:spPr>
      </p:pic>
      <p:sp>
        <p:nvSpPr>
          <p:cNvPr id="7" name="文本框 6"/>
          <p:cNvSpPr txBox="1"/>
          <p:nvPr/>
        </p:nvSpPr>
        <p:spPr>
          <a:xfrm>
            <a:off x="5625465" y="6053455"/>
            <a:ext cx="2889885" cy="368300"/>
          </a:xfrm>
          <a:prstGeom prst="rect">
            <a:avLst/>
          </a:prstGeom>
          <a:noFill/>
        </p:spPr>
        <p:txBody>
          <a:bodyPr wrap="square" rtlCol="0">
            <a:spAutoFit/>
          </a:bodyPr>
          <a:lstStyle/>
          <a:p>
            <a:r>
              <a:rPr lang="zh-CN" altLang="en-US">
                <a:latin typeface="楷体" panose="02010609060101010101" pitchFamily="49" charset="-122"/>
                <a:ea typeface="楷体" panose="02010609060101010101" pitchFamily="49" charset="-122"/>
              </a:rPr>
              <a:t>故事板原型示例</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故事板原型构建</a:t>
            </a:r>
          </a:p>
        </p:txBody>
      </p:sp>
      <p:sp>
        <p:nvSpPr>
          <p:cNvPr id="3" name="内容占位符 2"/>
          <p:cNvSpPr txBox="1"/>
          <p:nvPr/>
        </p:nvSpPr>
        <p:spPr>
          <a:xfrm>
            <a:off x="628650" y="1166495"/>
            <a:ext cx="7886700" cy="51892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charset="0"/>
              <a:buChar char=""/>
            </a:pPr>
            <a:r>
              <a:rPr kumimoji="1" lang="en-US" altLang="zh-CN" sz="2000" dirty="0">
                <a:latin typeface="楷体" panose="02010609060101010101" pitchFamily="49" charset="-122"/>
                <a:ea typeface="楷体" panose="02010609060101010101" pitchFamily="49" charset="-122"/>
                <a:cs typeface="楷体" panose="02010609060101010101" pitchFamily="49" charset="-122"/>
              </a:rPr>
              <a:t>明确故事板原型要素</a:t>
            </a:r>
          </a:p>
          <a:p>
            <a:pPr lvl="1">
              <a:lnSpc>
                <a:spcPct val="120000"/>
              </a:lnSpc>
            </a:pPr>
            <a:r>
              <a:rPr kumimoji="1" lang="en-US" altLang="zh-CN" sz="1800" b="1" dirty="0">
                <a:solidFill>
                  <a:srgbClr val="88057A"/>
                </a:solidFill>
                <a:latin typeface="楷体" panose="02010609060101010101" pitchFamily="49" charset="-122"/>
                <a:ea typeface="楷体" panose="02010609060101010101" pitchFamily="49" charset="-122"/>
                <a:cs typeface="楷体" panose="02010609060101010101" pitchFamily="49" charset="-122"/>
              </a:rPr>
              <a:t>角色</a:t>
            </a:r>
            <a:r>
              <a:rPr kumimoji="1" lang="en-US" altLang="zh-CN" sz="1800" b="1" dirty="0">
                <a:solidFill>
                  <a:srgbClr val="88057A"/>
                </a:solidFill>
                <a:latin typeface="Times New Roman" panose="02020603050405020304" pitchFamily="18" charset="0"/>
                <a:ea typeface="楷体" panose="02010609060101010101" pitchFamily="49" charset="-122"/>
                <a:cs typeface="Times New Roman" panose="02020603050405020304" pitchFamily="18" charset="0"/>
              </a:rPr>
              <a:t>（Who）</a:t>
            </a:r>
            <a:r>
              <a:rPr kumimoji="1" lang="en-US" altLang="zh-CN" sz="1800" dirty="0">
                <a:latin typeface="楷体" panose="02010609060101010101" pitchFamily="49" charset="-122"/>
                <a:ea typeface="楷体" panose="02010609060101010101" pitchFamily="49" charset="-122"/>
                <a:cs typeface="楷体" panose="02010609060101010101" pitchFamily="49" charset="-122"/>
              </a:rPr>
              <a:t>：是谁需要使用系统，常见角色包括用户、设备、其他系统等</a:t>
            </a:r>
            <a:r>
              <a:rPr kumimoji="1" lang="zh-CN" altLang="en-US" sz="1800" dirty="0">
                <a:latin typeface="楷体" panose="02010609060101010101" pitchFamily="49" charset="-122"/>
                <a:ea typeface="楷体" panose="02010609060101010101" pitchFamily="49" charset="-122"/>
                <a:cs typeface="楷体" panose="02010609060101010101" pitchFamily="49" charset="-122"/>
              </a:rPr>
              <a:t>；</a:t>
            </a:r>
            <a:endParaRPr kumimoji="1" lang="en-US" altLang="zh-CN" sz="1800" dirty="0">
              <a:latin typeface="楷体" panose="02010609060101010101" pitchFamily="49" charset="-122"/>
              <a:ea typeface="楷体" panose="02010609060101010101" pitchFamily="49" charset="-122"/>
              <a:cs typeface="楷体" panose="02010609060101010101" pitchFamily="49" charset="-122"/>
            </a:endParaRPr>
          </a:p>
          <a:p>
            <a:pPr lvl="1">
              <a:lnSpc>
                <a:spcPct val="120000"/>
              </a:lnSpc>
            </a:pPr>
            <a:r>
              <a:rPr kumimoji="1" lang="en-US" altLang="zh-CN" sz="1800" b="1" dirty="0">
                <a:solidFill>
                  <a:srgbClr val="88057A"/>
                </a:solidFill>
                <a:latin typeface="楷体" panose="02010609060101010101" pitchFamily="49" charset="-122"/>
                <a:ea typeface="楷体" panose="02010609060101010101" pitchFamily="49" charset="-122"/>
                <a:cs typeface="楷体" panose="02010609060101010101" pitchFamily="49" charset="-122"/>
              </a:rPr>
              <a:t>内容</a:t>
            </a:r>
            <a:r>
              <a:rPr kumimoji="1" lang="en-US" altLang="zh-CN" sz="1800" b="1" dirty="0">
                <a:solidFill>
                  <a:srgbClr val="88057A"/>
                </a:solidFill>
                <a:latin typeface="Times New Roman" panose="02020603050405020304" pitchFamily="18" charset="0"/>
                <a:ea typeface="楷体" panose="02010609060101010101" pitchFamily="49" charset="-122"/>
                <a:cs typeface="Times New Roman" panose="02020603050405020304" pitchFamily="18" charset="0"/>
              </a:rPr>
              <a:t>（What）</a:t>
            </a:r>
            <a:r>
              <a:rPr kumimoji="1" lang="en-US" altLang="zh-CN" sz="1800" dirty="0">
                <a:latin typeface="楷体" panose="02010609060101010101" pitchFamily="49" charset="-122"/>
                <a:ea typeface="楷体" panose="02010609060101010101" pitchFamily="49" charset="-122"/>
                <a:cs typeface="楷体" panose="02010609060101010101" pitchFamily="49" charset="-122"/>
              </a:rPr>
              <a:t>：用户与系统交互时执行的行为；</a:t>
            </a:r>
          </a:p>
          <a:p>
            <a:pPr lvl="1">
              <a:lnSpc>
                <a:spcPct val="120000"/>
              </a:lnSpc>
            </a:pPr>
            <a:r>
              <a:rPr kumimoji="1" lang="en-US" altLang="zh-CN" sz="1800" b="1" dirty="0">
                <a:solidFill>
                  <a:srgbClr val="88057A"/>
                </a:solidFill>
                <a:latin typeface="楷体" panose="02010609060101010101" pitchFamily="49" charset="-122"/>
                <a:ea typeface="楷体" panose="02010609060101010101" pitchFamily="49" charset="-122"/>
                <a:cs typeface="楷体" panose="02010609060101010101" pitchFamily="49" charset="-122"/>
              </a:rPr>
              <a:t>方法</a:t>
            </a:r>
            <a:r>
              <a:rPr kumimoji="1" lang="en-US" altLang="zh-CN" sz="1800" b="1" dirty="0">
                <a:solidFill>
                  <a:srgbClr val="88057A"/>
                </a:solidFill>
                <a:latin typeface="Times New Roman" panose="02020603050405020304" pitchFamily="18" charset="0"/>
                <a:ea typeface="楷体" panose="02010609060101010101" pitchFamily="49" charset="-122"/>
                <a:cs typeface="Times New Roman" panose="02020603050405020304" pitchFamily="18" charset="0"/>
              </a:rPr>
              <a:t>（How）</a:t>
            </a:r>
            <a:r>
              <a:rPr kumimoji="1" lang="en-US" altLang="zh-CN" sz="1800" dirty="0">
                <a:latin typeface="楷体" panose="02010609060101010101" pitchFamily="49" charset="-122"/>
                <a:ea typeface="楷体" panose="02010609060101010101" pitchFamily="49" charset="-122"/>
                <a:cs typeface="楷体" panose="02010609060101010101" pitchFamily="49" charset="-122"/>
              </a:rPr>
              <a:t>：描述交互的发生过程，包括触发事件、状态、状态转移过程。</a:t>
            </a:r>
          </a:p>
          <a:p>
            <a:pPr>
              <a:lnSpc>
                <a:spcPct val="120000"/>
              </a:lnSpc>
              <a:buFont typeface="Wingdings" panose="05000000000000000000" charset="0"/>
              <a:buChar char=""/>
            </a:pPr>
            <a:r>
              <a:rPr kumimoji="1" lang="en-US" altLang="zh-CN" sz="2000" dirty="0">
                <a:latin typeface="楷体" panose="02010609060101010101" pitchFamily="49" charset="-122"/>
                <a:ea typeface="楷体" panose="02010609060101010101" pitchFamily="49" charset="-122"/>
                <a:cs typeface="楷体" panose="02010609060101010101" pitchFamily="49" charset="-122"/>
              </a:rPr>
              <a:t>构建不同类型的故事板原型</a:t>
            </a:r>
          </a:p>
          <a:p>
            <a:pPr lvl="1">
              <a:lnSpc>
                <a:spcPct val="120000"/>
              </a:lnSpc>
            </a:pPr>
            <a:r>
              <a:rPr kumimoji="1" lang="en-US" altLang="zh-CN" sz="1800" b="1" dirty="0">
                <a:solidFill>
                  <a:srgbClr val="88057A"/>
                </a:solidFill>
                <a:latin typeface="楷体" panose="02010609060101010101" pitchFamily="49" charset="-122"/>
                <a:ea typeface="楷体" panose="02010609060101010101" pitchFamily="49" charset="-122"/>
                <a:cs typeface="楷体" panose="02010609060101010101" pitchFamily="49" charset="-122"/>
              </a:rPr>
              <a:t>被动</a:t>
            </a:r>
            <a:r>
              <a:rPr kumimoji="1" lang="en-US" altLang="zh-CN" sz="1800" b="1" dirty="0">
                <a:solidFill>
                  <a:srgbClr val="88057A"/>
                </a:solidFill>
                <a:latin typeface="Times New Roman" panose="02020603050405020304" pitchFamily="18" charset="0"/>
                <a:ea typeface="楷体" panose="02010609060101010101" pitchFamily="49" charset="-122"/>
                <a:cs typeface="Times New Roman" panose="02020603050405020304" pitchFamily="18" charset="0"/>
              </a:rPr>
              <a:t>（Passive）</a:t>
            </a:r>
            <a:r>
              <a:rPr kumimoji="1" lang="en-US" altLang="zh-CN" sz="1800" b="1" dirty="0">
                <a:solidFill>
                  <a:srgbClr val="88057A"/>
                </a:solidFill>
                <a:latin typeface="楷体" panose="02010609060101010101" pitchFamily="49" charset="-122"/>
                <a:ea typeface="楷体" panose="02010609060101010101" pitchFamily="49" charset="-122"/>
                <a:cs typeface="楷体" panose="02010609060101010101" pitchFamily="49" charset="-122"/>
              </a:rPr>
              <a:t>故事板原型</a:t>
            </a:r>
            <a:r>
              <a:rPr kumimoji="1" lang="en-US" altLang="zh-CN" sz="1800" dirty="0">
                <a:latin typeface="楷体" panose="02010609060101010101" pitchFamily="49" charset="-122"/>
                <a:ea typeface="楷体" panose="02010609060101010101" pitchFamily="49" charset="-122"/>
                <a:cs typeface="楷体" panose="02010609060101010101" pitchFamily="49" charset="-122"/>
              </a:rPr>
              <a:t>：特点是给评估者</a:t>
            </a:r>
            <a:r>
              <a:rPr kumimoji="1" lang="zh-CN" altLang="en-US" sz="1800" dirty="0">
                <a:solidFill>
                  <a:srgbClr val="88057A"/>
                </a:solidFill>
                <a:latin typeface="楷体" panose="02010609060101010101" pitchFamily="49" charset="-122"/>
                <a:ea typeface="楷体" panose="02010609060101010101" pitchFamily="49" charset="-122"/>
                <a:cs typeface="楷体" panose="02010609060101010101" pitchFamily="49" charset="-122"/>
              </a:rPr>
              <a:t>“讲</a:t>
            </a:r>
            <a:r>
              <a:rPr kumimoji="1" lang="en-US" altLang="zh-CN" sz="1800" dirty="0">
                <a:solidFill>
                  <a:srgbClr val="88057A"/>
                </a:solidFill>
                <a:latin typeface="楷体" panose="02010609060101010101" pitchFamily="49" charset="-122"/>
                <a:ea typeface="楷体" panose="02010609060101010101" pitchFamily="49" charset="-122"/>
                <a:cs typeface="楷体" panose="02010609060101010101" pitchFamily="49" charset="-122"/>
              </a:rPr>
              <a:t>“故事</a:t>
            </a:r>
            <a:r>
              <a:rPr kumimoji="1" lang="zh-CN" altLang="en-US" sz="1800" dirty="0">
                <a:latin typeface="楷体" panose="02010609060101010101" pitchFamily="49" charset="-122"/>
                <a:ea typeface="楷体" panose="02010609060101010101" pitchFamily="49" charset="-122"/>
                <a:cs typeface="楷体" panose="02010609060101010101" pitchFamily="49" charset="-122"/>
              </a:rPr>
              <a:t>。</a:t>
            </a:r>
            <a:r>
              <a:rPr kumimoji="1" lang="en-US" altLang="zh-CN" sz="1800" dirty="0">
                <a:latin typeface="楷体" panose="02010609060101010101" pitchFamily="49" charset="-122"/>
                <a:ea typeface="楷体" panose="02010609060101010101" pitchFamily="49" charset="-122"/>
                <a:cs typeface="楷体" panose="02010609060101010101" pitchFamily="49" charset="-122"/>
              </a:rPr>
              <a:t>适合功能展示，在通读故事板过程中获得用户对原型的评估</a:t>
            </a:r>
            <a:r>
              <a:rPr kumimoji="1" lang="zh-CN" altLang="en-US" sz="1800" dirty="0">
                <a:latin typeface="楷体" panose="02010609060101010101" pitchFamily="49" charset="-122"/>
                <a:ea typeface="楷体" panose="02010609060101010101" pitchFamily="49" charset="-122"/>
                <a:cs typeface="楷体" panose="02010609060101010101" pitchFamily="49" charset="-122"/>
              </a:rPr>
              <a:t>。</a:t>
            </a:r>
            <a:endParaRPr kumimoji="1" lang="en-US" altLang="zh-CN" sz="1800" dirty="0">
              <a:latin typeface="楷体" panose="02010609060101010101" pitchFamily="49" charset="-122"/>
              <a:ea typeface="楷体" panose="02010609060101010101" pitchFamily="49" charset="-122"/>
              <a:cs typeface="楷体" panose="02010609060101010101" pitchFamily="49" charset="-122"/>
            </a:endParaRPr>
          </a:p>
          <a:p>
            <a:pPr lvl="1">
              <a:lnSpc>
                <a:spcPct val="120000"/>
              </a:lnSpc>
            </a:pPr>
            <a:r>
              <a:rPr kumimoji="1" lang="en-US" altLang="zh-CN" sz="1800" b="1" dirty="0">
                <a:solidFill>
                  <a:srgbClr val="88057A"/>
                </a:solidFill>
                <a:latin typeface="楷体" panose="02010609060101010101" pitchFamily="49" charset="-122"/>
                <a:ea typeface="楷体" panose="02010609060101010101" pitchFamily="49" charset="-122"/>
                <a:cs typeface="楷体" panose="02010609060101010101" pitchFamily="49" charset="-122"/>
              </a:rPr>
              <a:t>主动</a:t>
            </a:r>
            <a:r>
              <a:rPr kumimoji="1" lang="en-US" altLang="zh-CN" sz="1800" b="1" dirty="0">
                <a:solidFill>
                  <a:srgbClr val="88057A"/>
                </a:solidFill>
                <a:latin typeface="Times New Roman" panose="02020603050405020304" pitchFamily="18" charset="0"/>
                <a:ea typeface="楷体" panose="02010609060101010101" pitchFamily="49" charset="-122"/>
                <a:cs typeface="Times New Roman" panose="02020603050405020304" pitchFamily="18" charset="0"/>
              </a:rPr>
              <a:t>（Active）</a:t>
            </a:r>
            <a:r>
              <a:rPr kumimoji="1" lang="en-US" altLang="zh-CN" sz="1800" b="1" dirty="0">
                <a:solidFill>
                  <a:srgbClr val="88057A"/>
                </a:solidFill>
                <a:latin typeface="楷体" panose="02010609060101010101" pitchFamily="49" charset="-122"/>
                <a:ea typeface="楷体" panose="02010609060101010101" pitchFamily="49" charset="-122"/>
                <a:cs typeface="楷体" panose="02010609060101010101" pitchFamily="49" charset="-122"/>
              </a:rPr>
              <a:t>故事板原型</a:t>
            </a:r>
            <a:r>
              <a:rPr kumimoji="1" lang="en-US" altLang="zh-CN" sz="1800" dirty="0">
                <a:latin typeface="楷体" panose="02010609060101010101" pitchFamily="49" charset="-122"/>
                <a:ea typeface="楷体" panose="02010609060101010101" pitchFamily="49" charset="-122"/>
                <a:cs typeface="楷体" panose="02010609060101010101" pitchFamily="49" charset="-122"/>
              </a:rPr>
              <a:t>：特点</a:t>
            </a:r>
            <a:r>
              <a:rPr kumimoji="1" lang="zh-CN" altLang="en-US" sz="1800" dirty="0">
                <a:latin typeface="楷体" panose="02010609060101010101" pitchFamily="49" charset="-122"/>
                <a:ea typeface="楷体" panose="02010609060101010101" pitchFamily="49" charset="-122"/>
                <a:cs typeface="楷体" panose="02010609060101010101" pitchFamily="49" charset="-122"/>
              </a:rPr>
              <a:t>是</a:t>
            </a:r>
            <a:r>
              <a:rPr kumimoji="1" lang="en-US" altLang="zh-CN" sz="1800" dirty="0">
                <a:latin typeface="楷体" panose="02010609060101010101" pitchFamily="49" charset="-122"/>
                <a:ea typeface="楷体" panose="02010609060101010101" pitchFamily="49" charset="-122"/>
                <a:cs typeface="楷体" panose="02010609060101010101" pitchFamily="49" charset="-122"/>
              </a:rPr>
              <a:t>让评估者</a:t>
            </a:r>
            <a:r>
              <a:rPr kumimoji="1" lang="en-US" altLang="zh-CN" sz="1800" dirty="0">
                <a:solidFill>
                  <a:srgbClr val="88057A"/>
                </a:solidFill>
                <a:latin typeface="楷体" panose="02010609060101010101" pitchFamily="49" charset="-122"/>
                <a:ea typeface="楷体" panose="02010609060101010101" pitchFamily="49" charset="-122"/>
                <a:cs typeface="楷体" panose="02010609060101010101" pitchFamily="49" charset="-122"/>
              </a:rPr>
              <a:t>“看”故事</a:t>
            </a:r>
            <a:r>
              <a:rPr kumimoji="1" lang="zh-CN" altLang="en-US" sz="1800" dirty="0">
                <a:latin typeface="楷体" panose="02010609060101010101" pitchFamily="49" charset="-122"/>
                <a:ea typeface="楷体" panose="02010609060101010101" pitchFamily="49" charset="-122"/>
                <a:cs typeface="楷体" panose="02010609060101010101" pitchFamily="49" charset="-122"/>
              </a:rPr>
              <a:t>。</a:t>
            </a:r>
            <a:r>
              <a:rPr kumimoji="1" lang="en-US" altLang="zh-CN" sz="1800" dirty="0">
                <a:latin typeface="楷体" panose="02010609060101010101" pitchFamily="49" charset="-122"/>
                <a:ea typeface="楷体" panose="02010609060101010101" pitchFamily="49" charset="-122"/>
                <a:cs typeface="楷体" panose="02010609060101010101" pitchFamily="49" charset="-122"/>
              </a:rPr>
              <a:t>适合用于创意展示，生动展示功能的典型使用场景，让评估者体会并评估其中的细节</a:t>
            </a:r>
            <a:r>
              <a:rPr kumimoji="1" lang="zh-CN" altLang="en-US" sz="1800" dirty="0">
                <a:latin typeface="楷体" panose="02010609060101010101" pitchFamily="49" charset="-122"/>
                <a:ea typeface="楷体" panose="02010609060101010101" pitchFamily="49" charset="-122"/>
                <a:cs typeface="楷体" panose="02010609060101010101" pitchFamily="49" charset="-122"/>
              </a:rPr>
              <a:t>。</a:t>
            </a:r>
            <a:endParaRPr kumimoji="1" lang="en-US" altLang="zh-CN" sz="1800" dirty="0">
              <a:latin typeface="楷体" panose="02010609060101010101" pitchFamily="49" charset="-122"/>
              <a:ea typeface="楷体" panose="02010609060101010101" pitchFamily="49" charset="-122"/>
              <a:cs typeface="楷体" panose="02010609060101010101" pitchFamily="49" charset="-122"/>
            </a:endParaRPr>
          </a:p>
          <a:p>
            <a:pPr lvl="1">
              <a:lnSpc>
                <a:spcPct val="120000"/>
              </a:lnSpc>
            </a:pPr>
            <a:r>
              <a:rPr kumimoji="1" lang="en-US" altLang="zh-CN" sz="1800" b="1" dirty="0">
                <a:solidFill>
                  <a:srgbClr val="88057A"/>
                </a:solidFill>
                <a:latin typeface="楷体" panose="02010609060101010101" pitchFamily="49" charset="-122"/>
                <a:ea typeface="楷体" panose="02010609060101010101" pitchFamily="49" charset="-122"/>
                <a:cs typeface="楷体" panose="02010609060101010101" pitchFamily="49" charset="-122"/>
              </a:rPr>
              <a:t>交互</a:t>
            </a:r>
            <a:r>
              <a:rPr kumimoji="1" lang="en-US" altLang="zh-CN" sz="1800" b="1" dirty="0">
                <a:solidFill>
                  <a:srgbClr val="88057A"/>
                </a:solidFill>
                <a:latin typeface="Times New Roman" panose="02020603050405020304" pitchFamily="18" charset="0"/>
                <a:ea typeface="楷体" panose="02010609060101010101" pitchFamily="49" charset="-122"/>
                <a:cs typeface="Times New Roman" panose="02020603050405020304" pitchFamily="18" charset="0"/>
              </a:rPr>
              <a:t>（Interactive）</a:t>
            </a:r>
            <a:r>
              <a:rPr kumimoji="1" lang="en-US" altLang="zh-CN" sz="1800" b="1" dirty="0">
                <a:solidFill>
                  <a:srgbClr val="88057A"/>
                </a:solidFill>
                <a:latin typeface="楷体" panose="02010609060101010101" pitchFamily="49" charset="-122"/>
                <a:ea typeface="楷体" panose="02010609060101010101" pitchFamily="49" charset="-122"/>
                <a:cs typeface="楷体" panose="02010609060101010101" pitchFamily="49" charset="-122"/>
              </a:rPr>
              <a:t>故事板原型</a:t>
            </a:r>
            <a:r>
              <a:rPr kumimoji="1" lang="en-US" altLang="zh-CN" sz="1800" dirty="0">
                <a:latin typeface="楷体" panose="02010609060101010101" pitchFamily="49" charset="-122"/>
                <a:ea typeface="楷体" panose="02010609060101010101" pitchFamily="49" charset="-122"/>
                <a:cs typeface="楷体" panose="02010609060101010101" pitchFamily="49" charset="-122"/>
              </a:rPr>
              <a:t>：特点是让评估者</a:t>
            </a:r>
            <a:r>
              <a:rPr kumimoji="1" lang="en-US" altLang="zh-CN" sz="1800" dirty="0">
                <a:solidFill>
                  <a:srgbClr val="88057A"/>
                </a:solidFill>
                <a:latin typeface="楷体" panose="02010609060101010101" pitchFamily="49" charset="-122"/>
                <a:ea typeface="楷体" panose="02010609060101010101" pitchFamily="49" charset="-122"/>
                <a:cs typeface="楷体" panose="02010609060101010101" pitchFamily="49" charset="-122"/>
              </a:rPr>
              <a:t>“体验”故事</a:t>
            </a:r>
            <a:r>
              <a:rPr kumimoji="1" lang="en-US" altLang="zh-CN" sz="1800" dirty="0">
                <a:latin typeface="楷体" panose="02010609060101010101" pitchFamily="49" charset="-122"/>
                <a:ea typeface="楷体" panose="02010609060101010101" pitchFamily="49" charset="-122"/>
                <a:cs typeface="楷体" panose="02010609060101010101" pitchFamily="49" charset="-122"/>
              </a:rPr>
              <a:t>，它让用户以近似真实的方式使用和体验原型。</a:t>
            </a:r>
          </a:p>
        </p:txBody>
      </p:sp>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原型</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426085" y="597132"/>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原型方法的风险</a:t>
            </a:r>
          </a:p>
        </p:txBody>
      </p:sp>
      <p:sp>
        <p:nvSpPr>
          <p:cNvPr id="3" name="内容占位符 2"/>
          <p:cNvSpPr txBox="1"/>
          <p:nvPr>
            <p:custDataLst>
              <p:tags r:id="rId1"/>
            </p:custDataLst>
          </p:nvPr>
        </p:nvSpPr>
        <p:spPr>
          <a:xfrm>
            <a:off x="426085" y="1413510"/>
            <a:ext cx="8611235" cy="476313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kumimoji="1" lang="en-US" altLang="zh-CN" dirty="0">
              <a:latin typeface="楷体" panose="02010609060101010101" pitchFamily="49" charset="-122"/>
              <a:ea typeface="楷体" panose="02010609060101010101" pitchFamily="49" charset="-122"/>
            </a:endParaRPr>
          </a:p>
        </p:txBody>
      </p:sp>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原型</a:t>
            </a:r>
          </a:p>
        </p:txBody>
      </p:sp>
      <p:grpSp>
        <p:nvGrpSpPr>
          <p:cNvPr id="11" name="组合 10"/>
          <p:cNvGrpSpPr/>
          <p:nvPr/>
        </p:nvGrpSpPr>
        <p:grpSpPr>
          <a:xfrm>
            <a:off x="479425" y="1475105"/>
            <a:ext cx="7963535" cy="1953895"/>
            <a:chOff x="926" y="5084"/>
            <a:chExt cx="12541" cy="2976"/>
          </a:xfrm>
        </p:grpSpPr>
        <p:sp>
          <p:nvSpPr>
            <p:cNvPr id="12" name="文本框 11"/>
            <p:cNvSpPr txBox="1"/>
            <p:nvPr>
              <p:custDataLst>
                <p:tags r:id="rId4"/>
              </p:custDataLst>
            </p:nvPr>
          </p:nvSpPr>
          <p:spPr>
            <a:xfrm>
              <a:off x="1135" y="5828"/>
              <a:ext cx="12332" cy="2232"/>
            </a:xfrm>
            <a:prstGeom prst="rect">
              <a:avLst/>
            </a:prstGeom>
            <a:noFill/>
            <a:ln w="15875" cmpd="sng">
              <a:solidFill>
                <a:srgbClr val="472680"/>
              </a:solidFill>
              <a:prstDash val="lgDashDot"/>
            </a:ln>
          </p:spPr>
          <p:txBody>
            <a:bodyPr wrap="square" rtlCol="0" anchor="t">
              <a:noAutofit/>
            </a:bodyPr>
            <a:lstStyle/>
            <a:p>
              <a:pPr>
                <a:lnSpc>
                  <a:spcPct val="130000"/>
                </a:lnSpc>
              </a:pPr>
              <a:endParaRPr kumimoji="1" lang="en-US" altLang="zh-CN" sz="2000" dirty="0">
                <a:latin typeface="楷体" panose="02010609060101010101" pitchFamily="49" charset="-122"/>
                <a:ea typeface="楷体" panose="02010609060101010101" pitchFamily="49" charset="-122"/>
              </a:endParaRPr>
            </a:p>
            <a:p>
              <a:pPr>
                <a:lnSpc>
                  <a:spcPct val="130000"/>
                </a:lnSpc>
              </a:pPr>
              <a:r>
                <a:rPr kumimoji="1" lang="en-US" altLang="zh-CN" sz="2000" dirty="0">
                  <a:latin typeface="楷体" panose="02010609060101010101" pitchFamily="49" charset="-122"/>
                  <a:ea typeface="楷体" panose="02010609060101010101" pitchFamily="49" charset="-122"/>
                </a:rPr>
                <a:t>原型方法最大的风险是</a:t>
              </a:r>
              <a:r>
                <a:rPr kumimoji="1" lang="en-US" altLang="zh-CN" sz="2000" b="1" dirty="0">
                  <a:solidFill>
                    <a:srgbClr val="88057A"/>
                  </a:solidFill>
                  <a:latin typeface="楷体" panose="02010609060101010101" pitchFamily="49" charset="-122"/>
                  <a:ea typeface="楷体" panose="02010609060101010101" pitchFamily="49" charset="-122"/>
                </a:rPr>
                <a:t>成本失控</a:t>
              </a:r>
              <a:r>
                <a:rPr kumimoji="1" lang="en-US" altLang="zh-CN" sz="2000" dirty="0">
                  <a:latin typeface="楷体" panose="02010609060101010101" pitchFamily="49" charset="-122"/>
                  <a:ea typeface="楷体" panose="02010609060101010101" pitchFamily="49" charset="-122"/>
                </a:rPr>
                <a:t>。可能会被迫匆忙实现一个产品，甚至于只是交付一个原型。</a:t>
              </a:r>
              <a:endParaRPr kumimoji="1" lang="en-US" altLang="zh-CN" sz="2000" dirty="0">
                <a:latin typeface="楷体" panose="02010609060101010101" pitchFamily="49" charset="-122"/>
                <a:ea typeface="楷体" panose="02010609060101010101" pitchFamily="49" charset="-122"/>
                <a:cs typeface="Times Regular" panose="00000500000000020000" charset="0"/>
              </a:endParaRPr>
            </a:p>
          </p:txBody>
        </p:sp>
        <p:sp>
          <p:nvSpPr>
            <p:cNvPr id="13" name="对角圆角矩形 12"/>
            <p:cNvSpPr/>
            <p:nvPr>
              <p:custDataLst>
                <p:tags r:id="rId5"/>
              </p:custDataLst>
            </p:nvPr>
          </p:nvSpPr>
          <p:spPr>
            <a:xfrm>
              <a:off x="926" y="5084"/>
              <a:ext cx="2932" cy="998"/>
            </a:xfrm>
            <a:prstGeom prst="round2DiagRect">
              <a:avLst/>
            </a:prstGeom>
            <a:solidFill>
              <a:srgbClr val="47268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400">
                  <a:latin typeface="Times Regular" panose="00000500000000020000" charset="0"/>
                  <a:ea typeface="楷体" panose="02010609060101010101" pitchFamily="49" charset="-122"/>
                  <a:cs typeface="Times Regular" panose="00000500000000020000" charset="0"/>
                </a:rPr>
                <a:t>风险一</a:t>
              </a:r>
            </a:p>
          </p:txBody>
        </p:sp>
      </p:grpSp>
      <p:grpSp>
        <p:nvGrpSpPr>
          <p:cNvPr id="4" name="组合 3"/>
          <p:cNvGrpSpPr/>
          <p:nvPr/>
        </p:nvGrpSpPr>
        <p:grpSpPr>
          <a:xfrm>
            <a:off x="479425" y="3763010"/>
            <a:ext cx="7963535" cy="1953895"/>
            <a:chOff x="926" y="5084"/>
            <a:chExt cx="12541" cy="2976"/>
          </a:xfrm>
        </p:grpSpPr>
        <p:sp>
          <p:nvSpPr>
            <p:cNvPr id="5" name="文本框 4"/>
            <p:cNvSpPr txBox="1"/>
            <p:nvPr>
              <p:custDataLst>
                <p:tags r:id="rId2"/>
              </p:custDataLst>
            </p:nvPr>
          </p:nvSpPr>
          <p:spPr>
            <a:xfrm>
              <a:off x="1135" y="5828"/>
              <a:ext cx="12332" cy="2232"/>
            </a:xfrm>
            <a:prstGeom prst="rect">
              <a:avLst/>
            </a:prstGeom>
            <a:noFill/>
            <a:ln w="15875" cmpd="sng">
              <a:solidFill>
                <a:srgbClr val="472680"/>
              </a:solidFill>
              <a:prstDash val="lgDashDot"/>
            </a:ln>
          </p:spPr>
          <p:txBody>
            <a:bodyPr wrap="square" rtlCol="0" anchor="t">
              <a:noAutofit/>
            </a:bodyPr>
            <a:lstStyle/>
            <a:p>
              <a:pPr>
                <a:lnSpc>
                  <a:spcPct val="130000"/>
                </a:lnSpc>
              </a:pPr>
              <a:endParaRPr kumimoji="1" lang="en-US" altLang="zh-CN" sz="2000" dirty="0">
                <a:latin typeface="楷体" panose="02010609060101010101" pitchFamily="49" charset="-122"/>
                <a:ea typeface="楷体" panose="02010609060101010101" pitchFamily="49" charset="-122"/>
              </a:endParaRPr>
            </a:p>
            <a:p>
              <a:pPr>
                <a:lnSpc>
                  <a:spcPct val="130000"/>
                </a:lnSpc>
              </a:pPr>
              <a:r>
                <a:rPr kumimoji="1" lang="en-US" altLang="zh-CN" sz="2000" dirty="0">
                  <a:latin typeface="楷体" panose="02010609060101010101" pitchFamily="49" charset="-122"/>
                  <a:ea typeface="楷体" panose="02010609060101010101" pitchFamily="49" charset="-122"/>
                </a:rPr>
                <a:t>开发者要认识到原型只是一种</a:t>
              </a:r>
              <a:r>
                <a:rPr kumimoji="1" lang="en-US" altLang="zh-CN" sz="2000" b="1" dirty="0">
                  <a:solidFill>
                    <a:srgbClr val="88057A"/>
                  </a:solidFill>
                  <a:latin typeface="楷体" panose="02010609060101010101" pitchFamily="49" charset="-122"/>
                  <a:ea typeface="楷体" panose="02010609060101010101" pitchFamily="49" charset="-122"/>
                </a:rPr>
                <a:t>探索工具</a:t>
              </a:r>
              <a:r>
                <a:rPr kumimoji="1" lang="zh-CN" altLang="en-US" sz="2000" dirty="0">
                  <a:latin typeface="楷体" panose="02010609060101010101" pitchFamily="49" charset="-122"/>
                  <a:ea typeface="楷体" panose="02010609060101010101" pitchFamily="49" charset="-122"/>
                </a:rPr>
                <a:t>。</a:t>
              </a:r>
              <a:r>
                <a:rPr kumimoji="1" lang="en-US" altLang="zh-CN" sz="2000" dirty="0">
                  <a:latin typeface="楷体" panose="02010609060101010101" pitchFamily="49" charset="-122"/>
                  <a:ea typeface="楷体" panose="02010609060101010101" pitchFamily="49" charset="-122"/>
                  <a:sym typeface="+mn-ea"/>
                </a:rPr>
                <a:t>对于明确的需求</a:t>
              </a:r>
              <a:r>
                <a:rPr kumimoji="1" lang="zh-CN" altLang="en-US" sz="2000" dirty="0">
                  <a:latin typeface="楷体" panose="02010609060101010101" pitchFamily="49" charset="-122"/>
                  <a:ea typeface="楷体" panose="02010609060101010101" pitchFamily="49" charset="-122"/>
                  <a:sym typeface="+mn-ea"/>
                </a:rPr>
                <a:t>不需要</a:t>
              </a:r>
              <a:r>
                <a:rPr kumimoji="1" lang="en-US" altLang="zh-CN" sz="2000" dirty="0">
                  <a:latin typeface="楷体" panose="02010609060101010101" pitchFamily="49" charset="-122"/>
                  <a:ea typeface="楷体" panose="02010609060101010101" pitchFamily="49" charset="-122"/>
                  <a:sym typeface="+mn-ea"/>
                </a:rPr>
                <a:t>使用原型方法，对</a:t>
              </a:r>
              <a:r>
                <a:rPr kumimoji="1" lang="zh-CN" altLang="en-US" sz="2000" dirty="0">
                  <a:latin typeface="楷体" panose="02010609060101010101" pitchFamily="49" charset="-122"/>
                  <a:ea typeface="楷体" panose="02010609060101010101" pitchFamily="49" charset="-122"/>
                  <a:sym typeface="+mn-ea"/>
                </a:rPr>
                <a:t>于</a:t>
              </a:r>
              <a:r>
                <a:rPr kumimoji="1" lang="en-US" altLang="zh-CN" sz="2000" dirty="0">
                  <a:latin typeface="楷体" panose="02010609060101010101" pitchFamily="49" charset="-122"/>
                  <a:ea typeface="楷体" panose="02010609060101010101" pitchFamily="49" charset="-122"/>
                  <a:sym typeface="+mn-ea"/>
                </a:rPr>
                <a:t>不确定需求控制原型的成本</a:t>
              </a:r>
              <a:r>
                <a:rPr kumimoji="1" lang="zh-CN" altLang="en-US" sz="2000" dirty="0">
                  <a:latin typeface="楷体" panose="02010609060101010101" pitchFamily="49" charset="-122"/>
                  <a:ea typeface="楷体" panose="02010609060101010101" pitchFamily="49" charset="-122"/>
                  <a:sym typeface="+mn-ea"/>
                </a:rPr>
                <a:t>。</a:t>
              </a:r>
              <a:endParaRPr kumimoji="1" lang="zh-CN" altLang="en-US" sz="2000" dirty="0">
                <a:latin typeface="楷体" panose="02010609060101010101" pitchFamily="49" charset="-122"/>
                <a:ea typeface="楷体" panose="02010609060101010101" pitchFamily="49" charset="-122"/>
                <a:cs typeface="Times Regular" panose="00000500000000020000" charset="0"/>
                <a:sym typeface="+mn-ea"/>
              </a:endParaRPr>
            </a:p>
          </p:txBody>
        </p:sp>
        <p:sp>
          <p:nvSpPr>
            <p:cNvPr id="7" name="对角圆角矩形 6"/>
            <p:cNvSpPr/>
            <p:nvPr>
              <p:custDataLst>
                <p:tags r:id="rId3"/>
              </p:custDataLst>
            </p:nvPr>
          </p:nvSpPr>
          <p:spPr>
            <a:xfrm>
              <a:off x="926" y="5084"/>
              <a:ext cx="2932" cy="998"/>
            </a:xfrm>
            <a:prstGeom prst="round2DiagRect">
              <a:avLst/>
            </a:prstGeom>
            <a:solidFill>
              <a:srgbClr val="47268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400">
                  <a:latin typeface="Times Regular" panose="00000500000000020000" charset="0"/>
                  <a:ea typeface="楷体" panose="02010609060101010101" pitchFamily="49" charset="-122"/>
                  <a:cs typeface="Times Regular" panose="00000500000000020000" charset="0"/>
                </a:rPr>
                <a:t>避免风险</a:t>
              </a:r>
            </a:p>
          </p:txBody>
        </p:sp>
      </p:gr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426085" y="597132"/>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原型方法的风险</a:t>
            </a:r>
          </a:p>
        </p:txBody>
      </p:sp>
      <p:sp>
        <p:nvSpPr>
          <p:cNvPr id="3" name="内容占位符 2"/>
          <p:cNvSpPr txBox="1"/>
          <p:nvPr>
            <p:custDataLst>
              <p:tags r:id="rId1"/>
            </p:custDataLst>
          </p:nvPr>
        </p:nvSpPr>
        <p:spPr>
          <a:xfrm>
            <a:off x="426085" y="1413510"/>
            <a:ext cx="8611235" cy="476313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kumimoji="1" lang="en-US" altLang="zh-CN" dirty="0">
              <a:latin typeface="楷体" panose="02010609060101010101" pitchFamily="49" charset="-122"/>
              <a:ea typeface="楷体" panose="02010609060101010101" pitchFamily="49" charset="-122"/>
            </a:endParaRPr>
          </a:p>
        </p:txBody>
      </p:sp>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原型</a:t>
            </a:r>
          </a:p>
        </p:txBody>
      </p:sp>
      <p:grpSp>
        <p:nvGrpSpPr>
          <p:cNvPr id="11" name="组合 10"/>
          <p:cNvGrpSpPr/>
          <p:nvPr/>
        </p:nvGrpSpPr>
        <p:grpSpPr>
          <a:xfrm>
            <a:off x="479425" y="1475105"/>
            <a:ext cx="7963535" cy="1735455"/>
            <a:chOff x="926" y="5084"/>
            <a:chExt cx="12541" cy="2572"/>
          </a:xfrm>
        </p:grpSpPr>
        <p:sp>
          <p:nvSpPr>
            <p:cNvPr id="12" name="文本框 11"/>
            <p:cNvSpPr txBox="1"/>
            <p:nvPr>
              <p:custDataLst>
                <p:tags r:id="rId4"/>
              </p:custDataLst>
            </p:nvPr>
          </p:nvSpPr>
          <p:spPr>
            <a:xfrm>
              <a:off x="1135" y="5828"/>
              <a:ext cx="12332" cy="1828"/>
            </a:xfrm>
            <a:prstGeom prst="rect">
              <a:avLst/>
            </a:prstGeom>
            <a:noFill/>
            <a:ln w="15875" cmpd="sng">
              <a:solidFill>
                <a:srgbClr val="472680"/>
              </a:solidFill>
              <a:prstDash val="lgDashDot"/>
            </a:ln>
          </p:spPr>
          <p:txBody>
            <a:bodyPr wrap="square" rtlCol="0" anchor="t">
              <a:noAutofit/>
            </a:bodyPr>
            <a:lstStyle/>
            <a:p>
              <a:pPr>
                <a:lnSpc>
                  <a:spcPct val="130000"/>
                </a:lnSpc>
              </a:pPr>
              <a:endParaRPr kumimoji="1" lang="en-US" altLang="zh-CN" sz="2000" dirty="0">
                <a:latin typeface="楷体" panose="02010609060101010101" pitchFamily="49" charset="-122"/>
                <a:ea typeface="楷体" panose="02010609060101010101" pitchFamily="49" charset="-122"/>
                <a:sym typeface="+mn-ea"/>
              </a:endParaRPr>
            </a:p>
            <a:p>
              <a:pPr>
                <a:lnSpc>
                  <a:spcPct val="130000"/>
                </a:lnSpc>
              </a:pPr>
              <a:r>
                <a:rPr kumimoji="1" lang="en-US" altLang="zh-CN" sz="2000" dirty="0">
                  <a:latin typeface="楷体" panose="02010609060101010101" pitchFamily="49" charset="-122"/>
                  <a:ea typeface="楷体" panose="02010609060101010101" pitchFamily="49" charset="-122"/>
                  <a:sym typeface="+mn-ea"/>
                </a:rPr>
                <a:t>给客户造成</a:t>
              </a:r>
              <a:r>
                <a:rPr kumimoji="1" lang="en-US" altLang="zh-CN" sz="2000" b="1" dirty="0">
                  <a:solidFill>
                    <a:srgbClr val="88057A"/>
                  </a:solidFill>
                  <a:latin typeface="楷体" panose="02010609060101010101" pitchFamily="49" charset="-122"/>
                  <a:ea typeface="楷体" panose="02010609060101010101" pitchFamily="49" charset="-122"/>
                  <a:sym typeface="+mn-ea"/>
                </a:rPr>
                <a:t>错误印象</a:t>
              </a:r>
              <a:r>
                <a:rPr kumimoji="1" lang="zh-CN" altLang="en-US" sz="2000" b="1" dirty="0">
                  <a:solidFill>
                    <a:srgbClr val="88057A"/>
                  </a:solidFill>
                  <a:latin typeface="楷体" panose="02010609060101010101" pitchFamily="49" charset="-122"/>
                  <a:ea typeface="楷体" panose="02010609060101010101" pitchFamily="49" charset="-122"/>
                  <a:sym typeface="+mn-ea"/>
                </a:rPr>
                <a:t>。</a:t>
              </a:r>
              <a:endParaRPr kumimoji="1" lang="zh-CN" altLang="en-US" sz="2000" b="1" dirty="0">
                <a:solidFill>
                  <a:srgbClr val="88057A"/>
                </a:solidFill>
                <a:latin typeface="楷体" panose="02010609060101010101" pitchFamily="49" charset="-122"/>
                <a:ea typeface="楷体" panose="02010609060101010101" pitchFamily="49" charset="-122"/>
                <a:cs typeface="Times Regular" panose="00000500000000020000" charset="0"/>
                <a:sym typeface="+mn-ea"/>
              </a:endParaRPr>
            </a:p>
          </p:txBody>
        </p:sp>
        <p:sp>
          <p:nvSpPr>
            <p:cNvPr id="13" name="对角圆角矩形 12"/>
            <p:cNvSpPr/>
            <p:nvPr>
              <p:custDataLst>
                <p:tags r:id="rId5"/>
              </p:custDataLst>
            </p:nvPr>
          </p:nvSpPr>
          <p:spPr>
            <a:xfrm>
              <a:off x="926" y="5084"/>
              <a:ext cx="2932" cy="998"/>
            </a:xfrm>
            <a:prstGeom prst="round2DiagRect">
              <a:avLst/>
            </a:prstGeom>
            <a:solidFill>
              <a:srgbClr val="47268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400">
                  <a:latin typeface="Times Regular" panose="00000500000000020000" charset="0"/>
                  <a:ea typeface="楷体" panose="02010609060101010101" pitchFamily="49" charset="-122"/>
                  <a:cs typeface="Times Regular" panose="00000500000000020000" charset="0"/>
                </a:rPr>
                <a:t>风险二</a:t>
              </a:r>
            </a:p>
          </p:txBody>
        </p:sp>
      </p:grpSp>
      <p:grpSp>
        <p:nvGrpSpPr>
          <p:cNvPr id="4" name="组合 3"/>
          <p:cNvGrpSpPr/>
          <p:nvPr/>
        </p:nvGrpSpPr>
        <p:grpSpPr>
          <a:xfrm>
            <a:off x="479425" y="3763010"/>
            <a:ext cx="7963535" cy="1953895"/>
            <a:chOff x="926" y="5084"/>
            <a:chExt cx="12541" cy="2976"/>
          </a:xfrm>
        </p:grpSpPr>
        <p:sp>
          <p:nvSpPr>
            <p:cNvPr id="5" name="文本框 4"/>
            <p:cNvSpPr txBox="1"/>
            <p:nvPr>
              <p:custDataLst>
                <p:tags r:id="rId2"/>
              </p:custDataLst>
            </p:nvPr>
          </p:nvSpPr>
          <p:spPr>
            <a:xfrm>
              <a:off x="1135" y="5828"/>
              <a:ext cx="12332" cy="2232"/>
            </a:xfrm>
            <a:prstGeom prst="rect">
              <a:avLst/>
            </a:prstGeom>
            <a:noFill/>
            <a:ln w="15875" cmpd="sng">
              <a:solidFill>
                <a:srgbClr val="472680"/>
              </a:solidFill>
              <a:prstDash val="lgDashDot"/>
            </a:ln>
          </p:spPr>
          <p:txBody>
            <a:bodyPr wrap="square" rtlCol="0" anchor="t">
              <a:noAutofit/>
            </a:bodyPr>
            <a:lstStyle/>
            <a:p>
              <a:pPr>
                <a:lnSpc>
                  <a:spcPct val="130000"/>
                </a:lnSpc>
              </a:pPr>
              <a:endParaRPr kumimoji="1" lang="en-US" altLang="zh-CN" sz="2000" dirty="0">
                <a:latin typeface="楷体" panose="02010609060101010101" pitchFamily="49" charset="-122"/>
                <a:ea typeface="楷体" panose="02010609060101010101" pitchFamily="49" charset="-122"/>
                <a:sym typeface="+mn-ea"/>
              </a:endParaRPr>
            </a:p>
            <a:p>
              <a:pPr>
                <a:lnSpc>
                  <a:spcPct val="130000"/>
                </a:lnSpc>
              </a:pPr>
              <a:r>
                <a:rPr kumimoji="1" lang="en-US" altLang="zh-CN" sz="2000" dirty="0">
                  <a:latin typeface="楷体" panose="02010609060101010101" pitchFamily="49" charset="-122"/>
                  <a:ea typeface="楷体" panose="02010609060101010101" pitchFamily="49" charset="-122"/>
                  <a:sym typeface="+mn-ea"/>
                </a:rPr>
                <a:t>提醒客户</a:t>
              </a:r>
              <a:r>
                <a:rPr kumimoji="1" lang="en-US" altLang="zh-CN" sz="2000" b="1" dirty="0">
                  <a:solidFill>
                    <a:srgbClr val="88057A"/>
                  </a:solidFill>
                  <a:latin typeface="楷体" panose="02010609060101010101" pitchFamily="49" charset="-122"/>
                  <a:ea typeface="楷体" panose="02010609060101010101" pitchFamily="49" charset="-122"/>
                  <a:sym typeface="+mn-ea"/>
                </a:rPr>
                <a:t>原型是不完整的</a:t>
              </a:r>
              <a:r>
                <a:rPr kumimoji="1" lang="en-US" altLang="zh-CN" sz="2000" dirty="0">
                  <a:latin typeface="楷体" panose="02010609060101010101" pitchFamily="49" charset="-122"/>
                  <a:ea typeface="楷体" panose="02010609060101010101" pitchFamily="49" charset="-122"/>
                  <a:sym typeface="+mn-ea"/>
                </a:rPr>
                <a:t>，不要对其有太高的期望。决不要将抛弃式原型用于生产</a:t>
              </a:r>
              <a:r>
                <a:rPr kumimoji="1" lang="zh-CN" altLang="en-US" sz="2000" dirty="0">
                  <a:latin typeface="楷体" panose="02010609060101010101" pitchFamily="49" charset="-122"/>
                  <a:ea typeface="楷体" panose="02010609060101010101" pitchFamily="49" charset="-122"/>
                  <a:sym typeface="+mn-ea"/>
                </a:rPr>
                <a:t>，</a:t>
              </a:r>
              <a:r>
                <a:rPr kumimoji="1" lang="en-US" altLang="zh-CN" sz="2000" dirty="0">
                  <a:latin typeface="楷体" panose="02010609060101010101" pitchFamily="49" charset="-122"/>
                  <a:ea typeface="楷体" panose="02010609060101010101" pitchFamily="49" charset="-122"/>
                  <a:sym typeface="+mn-ea"/>
                </a:rPr>
                <a:t>除非出于迫不得已的业务动机</a:t>
              </a:r>
              <a:r>
                <a:rPr kumimoji="1" lang="zh-CN" altLang="en-US" sz="2000" dirty="0">
                  <a:latin typeface="楷体" panose="02010609060101010101" pitchFamily="49" charset="-122"/>
                  <a:ea typeface="楷体" panose="02010609060101010101" pitchFamily="49" charset="-122"/>
                  <a:sym typeface="+mn-ea"/>
                </a:rPr>
                <a:t>。</a:t>
              </a:r>
              <a:endParaRPr kumimoji="1" lang="zh-CN" altLang="en-US" sz="2000" dirty="0">
                <a:latin typeface="楷体" panose="02010609060101010101" pitchFamily="49" charset="-122"/>
                <a:ea typeface="楷体" panose="02010609060101010101" pitchFamily="49" charset="-122"/>
                <a:cs typeface="Times Regular" panose="00000500000000020000" charset="0"/>
                <a:sym typeface="+mn-ea"/>
              </a:endParaRPr>
            </a:p>
          </p:txBody>
        </p:sp>
        <p:sp>
          <p:nvSpPr>
            <p:cNvPr id="7" name="对角圆角矩形 6"/>
            <p:cNvSpPr/>
            <p:nvPr>
              <p:custDataLst>
                <p:tags r:id="rId3"/>
              </p:custDataLst>
            </p:nvPr>
          </p:nvSpPr>
          <p:spPr>
            <a:xfrm>
              <a:off x="926" y="5084"/>
              <a:ext cx="2932" cy="998"/>
            </a:xfrm>
            <a:prstGeom prst="round2DiagRect">
              <a:avLst/>
            </a:prstGeom>
            <a:solidFill>
              <a:srgbClr val="47268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400">
                  <a:latin typeface="Times Regular" panose="00000500000000020000" charset="0"/>
                  <a:ea typeface="楷体" panose="02010609060101010101" pitchFamily="49" charset="-122"/>
                  <a:cs typeface="Times Regular" panose="00000500000000020000" charset="0"/>
                </a:rPr>
                <a:t>避免风险</a:t>
              </a:r>
            </a:p>
          </p:txBody>
        </p:sp>
      </p:gr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426085" y="597132"/>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原型方法的风险</a:t>
            </a:r>
          </a:p>
        </p:txBody>
      </p:sp>
      <p:sp>
        <p:nvSpPr>
          <p:cNvPr id="3" name="内容占位符 2"/>
          <p:cNvSpPr txBox="1"/>
          <p:nvPr>
            <p:custDataLst>
              <p:tags r:id="rId1"/>
            </p:custDataLst>
          </p:nvPr>
        </p:nvSpPr>
        <p:spPr>
          <a:xfrm>
            <a:off x="426085" y="1413510"/>
            <a:ext cx="8611235" cy="476313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kumimoji="1" lang="en-US" altLang="zh-CN" dirty="0">
              <a:latin typeface="楷体" panose="02010609060101010101" pitchFamily="49" charset="-122"/>
              <a:ea typeface="楷体" panose="02010609060101010101" pitchFamily="49" charset="-122"/>
            </a:endParaRPr>
          </a:p>
        </p:txBody>
      </p:sp>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原型</a:t>
            </a:r>
          </a:p>
        </p:txBody>
      </p:sp>
      <p:grpSp>
        <p:nvGrpSpPr>
          <p:cNvPr id="11" name="组合 10"/>
          <p:cNvGrpSpPr/>
          <p:nvPr/>
        </p:nvGrpSpPr>
        <p:grpSpPr>
          <a:xfrm>
            <a:off x="479425" y="1475105"/>
            <a:ext cx="7963535" cy="1953895"/>
            <a:chOff x="926" y="5084"/>
            <a:chExt cx="12541" cy="2976"/>
          </a:xfrm>
        </p:grpSpPr>
        <p:sp>
          <p:nvSpPr>
            <p:cNvPr id="12" name="文本框 11"/>
            <p:cNvSpPr txBox="1"/>
            <p:nvPr>
              <p:custDataLst>
                <p:tags r:id="rId4"/>
              </p:custDataLst>
            </p:nvPr>
          </p:nvSpPr>
          <p:spPr>
            <a:xfrm>
              <a:off x="1135" y="5828"/>
              <a:ext cx="12332" cy="2232"/>
            </a:xfrm>
            <a:prstGeom prst="rect">
              <a:avLst/>
            </a:prstGeom>
            <a:noFill/>
            <a:ln w="15875" cmpd="sng">
              <a:solidFill>
                <a:srgbClr val="472680"/>
              </a:solidFill>
              <a:prstDash val="lgDashDot"/>
            </a:ln>
          </p:spPr>
          <p:txBody>
            <a:bodyPr wrap="square" rtlCol="0" anchor="t">
              <a:noAutofit/>
            </a:bodyPr>
            <a:lstStyle/>
            <a:p>
              <a:pPr>
                <a:lnSpc>
                  <a:spcPct val="130000"/>
                </a:lnSpc>
              </a:pPr>
              <a:endParaRPr kumimoji="1" lang="en-US" altLang="zh-CN" sz="2000" dirty="0">
                <a:latin typeface="楷体" panose="02010609060101010101" pitchFamily="49" charset="-122"/>
                <a:ea typeface="楷体" panose="02010609060101010101" pitchFamily="49" charset="-122"/>
                <a:sym typeface="+mn-ea"/>
              </a:endParaRPr>
            </a:p>
            <a:p>
              <a:pPr>
                <a:lnSpc>
                  <a:spcPct val="130000"/>
                </a:lnSpc>
              </a:pPr>
              <a:r>
                <a:rPr kumimoji="1" lang="en-US" altLang="zh-CN" sz="2000" dirty="0">
                  <a:latin typeface="楷体" panose="02010609060101010101" pitchFamily="49" charset="-122"/>
                  <a:ea typeface="楷体" panose="02010609060101010101" pitchFamily="49" charset="-122"/>
                  <a:sym typeface="+mn-ea"/>
                </a:rPr>
                <a:t>原用户可能会被原型所表现出来的非功能特性遮蔽了眼睛，从而忽略了他们更应该重视的</a:t>
              </a:r>
              <a:r>
                <a:rPr kumimoji="1" lang="en-US" altLang="zh-CN" sz="2000" b="1" dirty="0">
                  <a:solidFill>
                    <a:srgbClr val="88057A"/>
                  </a:solidFill>
                  <a:latin typeface="楷体" panose="02010609060101010101" pitchFamily="49" charset="-122"/>
                  <a:ea typeface="楷体" panose="02010609060101010101" pitchFamily="49" charset="-122"/>
                  <a:sym typeface="+mn-ea"/>
                </a:rPr>
                <a:t>功能特性</a:t>
              </a:r>
              <a:r>
                <a:rPr kumimoji="1" lang="zh-CN" altLang="en-US" sz="2000" b="1" dirty="0">
                  <a:solidFill>
                    <a:srgbClr val="88057A"/>
                  </a:solidFill>
                  <a:latin typeface="楷体" panose="02010609060101010101" pitchFamily="49" charset="-122"/>
                  <a:ea typeface="楷体" panose="02010609060101010101" pitchFamily="49" charset="-122"/>
                  <a:sym typeface="+mn-ea"/>
                </a:rPr>
                <a:t>。</a:t>
              </a:r>
              <a:endParaRPr kumimoji="1" lang="zh-CN" altLang="en-US" sz="2000" b="1" dirty="0">
                <a:solidFill>
                  <a:srgbClr val="88057A"/>
                </a:solidFill>
                <a:latin typeface="楷体" panose="02010609060101010101" pitchFamily="49" charset="-122"/>
                <a:ea typeface="楷体" panose="02010609060101010101" pitchFamily="49" charset="-122"/>
                <a:cs typeface="Times Regular" panose="00000500000000020000" charset="0"/>
                <a:sym typeface="+mn-ea"/>
              </a:endParaRPr>
            </a:p>
          </p:txBody>
        </p:sp>
        <p:sp>
          <p:nvSpPr>
            <p:cNvPr id="13" name="对角圆角矩形 12"/>
            <p:cNvSpPr/>
            <p:nvPr>
              <p:custDataLst>
                <p:tags r:id="rId5"/>
              </p:custDataLst>
            </p:nvPr>
          </p:nvSpPr>
          <p:spPr>
            <a:xfrm>
              <a:off x="926" y="5084"/>
              <a:ext cx="2932" cy="998"/>
            </a:xfrm>
            <a:prstGeom prst="round2DiagRect">
              <a:avLst/>
            </a:prstGeom>
            <a:solidFill>
              <a:srgbClr val="47268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400">
                  <a:latin typeface="Times Regular" panose="00000500000000020000" charset="0"/>
                  <a:ea typeface="楷体" panose="02010609060101010101" pitchFamily="49" charset="-122"/>
                  <a:cs typeface="Times Regular" panose="00000500000000020000" charset="0"/>
                </a:rPr>
                <a:t>风险三</a:t>
              </a:r>
            </a:p>
          </p:txBody>
        </p:sp>
      </p:grpSp>
      <p:grpSp>
        <p:nvGrpSpPr>
          <p:cNvPr id="4" name="组合 3"/>
          <p:cNvGrpSpPr/>
          <p:nvPr/>
        </p:nvGrpSpPr>
        <p:grpSpPr>
          <a:xfrm>
            <a:off x="479425" y="3763010"/>
            <a:ext cx="7963535" cy="2219798"/>
            <a:chOff x="926" y="5084"/>
            <a:chExt cx="12541" cy="3381"/>
          </a:xfrm>
        </p:grpSpPr>
        <p:sp>
          <p:nvSpPr>
            <p:cNvPr id="5" name="文本框 4"/>
            <p:cNvSpPr txBox="1"/>
            <p:nvPr>
              <p:custDataLst>
                <p:tags r:id="rId2"/>
              </p:custDataLst>
            </p:nvPr>
          </p:nvSpPr>
          <p:spPr>
            <a:xfrm>
              <a:off x="1135" y="5828"/>
              <a:ext cx="12332" cy="2637"/>
            </a:xfrm>
            <a:prstGeom prst="rect">
              <a:avLst/>
            </a:prstGeom>
            <a:noFill/>
            <a:ln w="15875" cmpd="sng">
              <a:solidFill>
                <a:srgbClr val="472680"/>
              </a:solidFill>
              <a:prstDash val="lgDashDot"/>
            </a:ln>
          </p:spPr>
          <p:txBody>
            <a:bodyPr wrap="square" rtlCol="0" anchor="t">
              <a:noAutofit/>
            </a:bodyPr>
            <a:lstStyle/>
            <a:p>
              <a:pPr>
                <a:lnSpc>
                  <a:spcPct val="130000"/>
                </a:lnSpc>
              </a:pPr>
              <a:endParaRPr kumimoji="1" lang="en-US" altLang="zh-CN" sz="2000" dirty="0">
                <a:latin typeface="楷体" panose="02010609060101010101" pitchFamily="49" charset="-122"/>
                <a:ea typeface="楷体" panose="02010609060101010101" pitchFamily="49" charset="-122"/>
              </a:endParaRPr>
            </a:p>
            <a:p>
              <a:pPr>
                <a:lnSpc>
                  <a:spcPct val="130000"/>
                </a:lnSpc>
              </a:pPr>
              <a:r>
                <a:rPr kumimoji="1" lang="zh-CN" altLang="en-US" sz="2000" dirty="0">
                  <a:latin typeface="楷体" panose="02010609060101010101" pitchFamily="49" charset="-122"/>
                  <a:ea typeface="楷体" panose="02010609060101010101" pitchFamily="49" charset="-122"/>
                  <a:cs typeface="Times Regular" panose="00000500000000020000" charset="0"/>
                  <a:sym typeface="+mn-ea"/>
                </a:rPr>
                <a:t>用户在感受一个原型时，可能会将主要的注意力都放在的界面元素摆放是否协调、消息提示是否准确等易用性主题，忽视了界面元素是否</a:t>
              </a:r>
            </a:p>
            <a:p>
              <a:pPr>
                <a:lnSpc>
                  <a:spcPct val="130000"/>
                </a:lnSpc>
              </a:pPr>
              <a:r>
                <a:rPr kumimoji="1" lang="zh-CN" altLang="en-US" sz="2000" b="1" dirty="0">
                  <a:solidFill>
                    <a:srgbClr val="88057A"/>
                  </a:solidFill>
                  <a:latin typeface="楷体" panose="02010609060101010101" pitchFamily="49" charset="-122"/>
                  <a:ea typeface="楷体" panose="02010609060101010101" pitchFamily="49" charset="-122"/>
                  <a:cs typeface="Times Regular" panose="00000500000000020000" charset="0"/>
                  <a:sym typeface="+mn-ea"/>
                </a:rPr>
                <a:t>完备</a:t>
              </a:r>
              <a:r>
                <a:rPr kumimoji="1" lang="zh-CN" altLang="en-US" sz="2000" dirty="0">
                  <a:latin typeface="楷体" panose="02010609060101010101" pitchFamily="49" charset="-122"/>
                  <a:ea typeface="楷体" panose="02010609060101010101" pitchFamily="49" charset="-122"/>
                  <a:cs typeface="Times Regular" panose="00000500000000020000" charset="0"/>
                  <a:sym typeface="+mn-ea"/>
                </a:rPr>
                <a:t>、消息提示是否有</a:t>
              </a:r>
              <a:r>
                <a:rPr kumimoji="1" lang="zh-CN" altLang="en-US" sz="2000" b="1" dirty="0">
                  <a:solidFill>
                    <a:srgbClr val="88057A"/>
                  </a:solidFill>
                  <a:latin typeface="楷体" panose="02010609060101010101" pitchFamily="49" charset="-122"/>
                  <a:ea typeface="楷体" panose="02010609060101010101" pitchFamily="49" charset="-122"/>
                  <a:cs typeface="Times Regular" panose="00000500000000020000" charset="0"/>
                  <a:sym typeface="+mn-ea"/>
                </a:rPr>
                <a:t>指导性</a:t>
              </a:r>
              <a:r>
                <a:rPr kumimoji="1" lang="zh-CN" altLang="en-US" sz="2000" dirty="0">
                  <a:latin typeface="楷体" panose="02010609060101010101" pitchFamily="49" charset="-122"/>
                  <a:ea typeface="楷体" panose="02010609060101010101" pitchFamily="49" charset="-122"/>
                  <a:cs typeface="Times Regular" panose="00000500000000020000" charset="0"/>
                  <a:sym typeface="+mn-ea"/>
                </a:rPr>
                <a:t>等功能性问题。</a:t>
              </a:r>
            </a:p>
          </p:txBody>
        </p:sp>
        <p:sp>
          <p:nvSpPr>
            <p:cNvPr id="7" name="对角圆角矩形 6"/>
            <p:cNvSpPr/>
            <p:nvPr>
              <p:custDataLst>
                <p:tags r:id="rId3"/>
              </p:custDataLst>
            </p:nvPr>
          </p:nvSpPr>
          <p:spPr>
            <a:xfrm>
              <a:off x="926" y="5084"/>
              <a:ext cx="2932" cy="998"/>
            </a:xfrm>
            <a:prstGeom prst="round2DiagRect">
              <a:avLst/>
            </a:prstGeom>
            <a:solidFill>
              <a:srgbClr val="47268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400">
                  <a:latin typeface="Times Regular" panose="00000500000000020000" charset="0"/>
                  <a:ea typeface="楷体" panose="02010609060101010101" pitchFamily="49" charset="-122"/>
                  <a:cs typeface="Times Regular" panose="00000500000000020000" charset="0"/>
                </a:rPr>
                <a:t>风险解释</a:t>
              </a:r>
            </a:p>
          </p:txBody>
        </p:sp>
      </p:gr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426085" y="597132"/>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原型方法的风险</a:t>
            </a:r>
          </a:p>
        </p:txBody>
      </p:sp>
      <p:sp>
        <p:nvSpPr>
          <p:cNvPr id="3" name="内容占位符 2"/>
          <p:cNvSpPr txBox="1"/>
          <p:nvPr>
            <p:custDataLst>
              <p:tags r:id="rId1"/>
            </p:custDataLst>
          </p:nvPr>
        </p:nvSpPr>
        <p:spPr>
          <a:xfrm>
            <a:off x="426085" y="1413510"/>
            <a:ext cx="8611235" cy="476313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kumimoji="1" lang="en-US" altLang="zh-CN" dirty="0">
              <a:latin typeface="楷体" panose="02010609060101010101" pitchFamily="49" charset="-122"/>
              <a:ea typeface="楷体" panose="02010609060101010101" pitchFamily="49" charset="-122"/>
            </a:endParaRPr>
          </a:p>
        </p:txBody>
      </p:sp>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原型</a:t>
            </a:r>
          </a:p>
        </p:txBody>
      </p:sp>
      <p:grpSp>
        <p:nvGrpSpPr>
          <p:cNvPr id="11" name="组合 10"/>
          <p:cNvGrpSpPr/>
          <p:nvPr/>
        </p:nvGrpSpPr>
        <p:grpSpPr>
          <a:xfrm>
            <a:off x="479425" y="1475105"/>
            <a:ext cx="7963535" cy="1953895"/>
            <a:chOff x="926" y="5084"/>
            <a:chExt cx="12541" cy="2976"/>
          </a:xfrm>
        </p:grpSpPr>
        <p:sp>
          <p:nvSpPr>
            <p:cNvPr id="12" name="文本框 11"/>
            <p:cNvSpPr txBox="1"/>
            <p:nvPr>
              <p:custDataLst>
                <p:tags r:id="rId4"/>
              </p:custDataLst>
            </p:nvPr>
          </p:nvSpPr>
          <p:spPr>
            <a:xfrm>
              <a:off x="1135" y="5828"/>
              <a:ext cx="12332" cy="2232"/>
            </a:xfrm>
            <a:prstGeom prst="rect">
              <a:avLst/>
            </a:prstGeom>
            <a:noFill/>
            <a:ln w="15875" cmpd="sng">
              <a:solidFill>
                <a:srgbClr val="472680"/>
              </a:solidFill>
              <a:prstDash val="lgDashDot"/>
            </a:ln>
          </p:spPr>
          <p:txBody>
            <a:bodyPr wrap="square" rtlCol="0" anchor="t">
              <a:noAutofit/>
            </a:bodyPr>
            <a:lstStyle/>
            <a:p>
              <a:pPr>
                <a:lnSpc>
                  <a:spcPct val="130000"/>
                </a:lnSpc>
              </a:pPr>
              <a:endParaRPr kumimoji="1" lang="en-US" altLang="zh-CN" sz="2000" dirty="0">
                <a:latin typeface="楷体" panose="02010609060101010101" pitchFamily="49" charset="-122"/>
                <a:ea typeface="楷体" panose="02010609060101010101" pitchFamily="49" charset="-122"/>
                <a:sym typeface="+mn-ea"/>
              </a:endParaRPr>
            </a:p>
            <a:p>
              <a:pPr>
                <a:lnSpc>
                  <a:spcPct val="130000"/>
                </a:lnSpc>
              </a:pPr>
              <a:r>
                <a:rPr kumimoji="1" lang="en-US" altLang="zh-CN" sz="2000" dirty="0">
                  <a:latin typeface="楷体" panose="02010609060101010101" pitchFamily="49" charset="-122"/>
                  <a:ea typeface="楷体" panose="02010609060101010101" pitchFamily="49" charset="-122"/>
                  <a:sym typeface="+mn-ea"/>
                </a:rPr>
                <a:t>在澄清需求不确定性的同时也可能会掩盖一些</a:t>
              </a:r>
              <a:r>
                <a:rPr kumimoji="1" lang="en-US" altLang="zh-CN" sz="2000" b="1" dirty="0">
                  <a:solidFill>
                    <a:srgbClr val="88057A"/>
                  </a:solidFill>
                  <a:latin typeface="楷体" panose="02010609060101010101" pitchFamily="49" charset="-122"/>
                  <a:ea typeface="楷体" panose="02010609060101010101" pitchFamily="49" charset="-122"/>
                  <a:sym typeface="+mn-ea"/>
                </a:rPr>
                <a:t>用户假设</a:t>
              </a:r>
              <a:r>
                <a:rPr kumimoji="1" lang="en-US" altLang="zh-CN" sz="2000" dirty="0">
                  <a:latin typeface="楷体" panose="02010609060101010101" pitchFamily="49" charset="-122"/>
                  <a:ea typeface="楷体" panose="02010609060101010101" pitchFamily="49" charset="-122"/>
                  <a:sym typeface="+mn-ea"/>
                </a:rPr>
                <a:t>，这些假设将会无从发现</a:t>
              </a:r>
              <a:r>
                <a:rPr kumimoji="1" lang="zh-CN" altLang="en-US" sz="2000" dirty="0">
                  <a:latin typeface="楷体" panose="02010609060101010101" pitchFamily="49" charset="-122"/>
                  <a:ea typeface="楷体" panose="02010609060101010101" pitchFamily="49" charset="-122"/>
                  <a:sym typeface="+mn-ea"/>
                </a:rPr>
                <a:t>。</a:t>
              </a:r>
              <a:endParaRPr kumimoji="1" lang="en-US" altLang="zh-CN" sz="2000" dirty="0">
                <a:latin typeface="楷体" panose="02010609060101010101" pitchFamily="49" charset="-122"/>
                <a:ea typeface="楷体" panose="02010609060101010101" pitchFamily="49" charset="-122"/>
              </a:endParaRPr>
            </a:p>
            <a:p>
              <a:pPr>
                <a:lnSpc>
                  <a:spcPct val="130000"/>
                </a:lnSpc>
              </a:pPr>
              <a:endParaRPr kumimoji="1" lang="en-US" altLang="zh-CN" sz="2000" dirty="0">
                <a:latin typeface="楷体" panose="02010609060101010101" pitchFamily="49" charset="-122"/>
                <a:ea typeface="楷体" panose="02010609060101010101" pitchFamily="49" charset="-122"/>
                <a:cs typeface="Times Regular" panose="00000500000000020000" charset="0"/>
              </a:endParaRPr>
            </a:p>
          </p:txBody>
        </p:sp>
        <p:sp>
          <p:nvSpPr>
            <p:cNvPr id="13" name="对角圆角矩形 12"/>
            <p:cNvSpPr/>
            <p:nvPr>
              <p:custDataLst>
                <p:tags r:id="rId5"/>
              </p:custDataLst>
            </p:nvPr>
          </p:nvSpPr>
          <p:spPr>
            <a:xfrm>
              <a:off x="926" y="5084"/>
              <a:ext cx="2932" cy="998"/>
            </a:xfrm>
            <a:prstGeom prst="round2DiagRect">
              <a:avLst/>
            </a:prstGeom>
            <a:solidFill>
              <a:srgbClr val="47268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400">
                  <a:latin typeface="Times Regular" panose="00000500000000020000" charset="0"/>
                  <a:ea typeface="楷体" panose="02010609060101010101" pitchFamily="49" charset="-122"/>
                  <a:cs typeface="Times Regular" panose="00000500000000020000" charset="0"/>
                </a:rPr>
                <a:t>风险四</a:t>
              </a:r>
            </a:p>
          </p:txBody>
        </p:sp>
      </p:grpSp>
      <p:grpSp>
        <p:nvGrpSpPr>
          <p:cNvPr id="4" name="组合 3"/>
          <p:cNvGrpSpPr/>
          <p:nvPr/>
        </p:nvGrpSpPr>
        <p:grpSpPr>
          <a:xfrm>
            <a:off x="479425" y="3763010"/>
            <a:ext cx="7963535" cy="2152830"/>
            <a:chOff x="926" y="5084"/>
            <a:chExt cx="12541" cy="3279"/>
          </a:xfrm>
        </p:grpSpPr>
        <p:sp>
          <p:nvSpPr>
            <p:cNvPr id="5" name="文本框 4"/>
            <p:cNvSpPr txBox="1"/>
            <p:nvPr>
              <p:custDataLst>
                <p:tags r:id="rId2"/>
              </p:custDataLst>
            </p:nvPr>
          </p:nvSpPr>
          <p:spPr>
            <a:xfrm>
              <a:off x="1135" y="5658"/>
              <a:ext cx="12332" cy="2705"/>
            </a:xfrm>
            <a:prstGeom prst="rect">
              <a:avLst/>
            </a:prstGeom>
            <a:noFill/>
            <a:ln w="15875" cmpd="sng">
              <a:solidFill>
                <a:srgbClr val="472680"/>
              </a:solidFill>
              <a:prstDash val="lgDashDot"/>
            </a:ln>
          </p:spPr>
          <p:txBody>
            <a:bodyPr wrap="square" rtlCol="0" anchor="t">
              <a:noAutofit/>
            </a:bodyPr>
            <a:lstStyle/>
            <a:p>
              <a:pPr>
                <a:lnSpc>
                  <a:spcPct val="130000"/>
                </a:lnSpc>
              </a:pPr>
              <a:endParaRPr kumimoji="1" lang="zh-CN" altLang="en-US" sz="2000" dirty="0">
                <a:latin typeface="楷体" panose="02010609060101010101" pitchFamily="49" charset="-122"/>
                <a:ea typeface="楷体" panose="02010609060101010101" pitchFamily="49" charset="-122"/>
                <a:cs typeface="Times Regular" panose="00000500000000020000" charset="0"/>
                <a:sym typeface="+mn-ea"/>
              </a:endParaRPr>
            </a:p>
            <a:p>
              <a:pPr>
                <a:lnSpc>
                  <a:spcPct val="130000"/>
                </a:lnSpc>
              </a:pPr>
              <a:r>
                <a:rPr kumimoji="1" lang="zh-CN" altLang="en-US" sz="2000" dirty="0">
                  <a:latin typeface="楷体" panose="02010609060101010101" pitchFamily="49" charset="-122"/>
                  <a:ea typeface="楷体" panose="02010609060101010101" pitchFamily="49" charset="-122"/>
                  <a:cs typeface="Times Regular" panose="00000500000000020000" charset="0"/>
                  <a:sym typeface="+mn-ea"/>
                </a:rPr>
                <a:t>开发者要仔细的分析原型的目的和需求内容，并据此设置原型的</a:t>
              </a:r>
            </a:p>
            <a:p>
              <a:pPr>
                <a:lnSpc>
                  <a:spcPct val="130000"/>
                </a:lnSpc>
              </a:pPr>
              <a:r>
                <a:rPr kumimoji="1" lang="zh-CN" altLang="en-US" sz="2000" dirty="0">
                  <a:latin typeface="楷体" panose="02010609060101010101" pitchFamily="49" charset="-122"/>
                  <a:ea typeface="楷体" panose="02010609060101010101" pitchFamily="49" charset="-122"/>
                  <a:cs typeface="Times Regular" panose="00000500000000020000" charset="0"/>
                  <a:sym typeface="+mn-ea"/>
                </a:rPr>
                <a:t>反馈收集机制，选择合适的原型开发方法和原型构建技术，</a:t>
              </a:r>
              <a:r>
                <a:rPr kumimoji="1" lang="zh-CN" altLang="en-US" sz="2000" b="1" dirty="0">
                  <a:solidFill>
                    <a:srgbClr val="88057A"/>
                  </a:solidFill>
                  <a:latin typeface="楷体" panose="02010609060101010101" pitchFamily="49" charset="-122"/>
                  <a:ea typeface="楷体" panose="02010609060101010101" pitchFamily="49" charset="-122"/>
                  <a:cs typeface="Times Regular" panose="00000500000000020000" charset="0"/>
                  <a:sym typeface="+mn-ea"/>
                </a:rPr>
                <a:t>让重要的需求特征明确化</a:t>
              </a:r>
              <a:r>
                <a:rPr kumimoji="1" lang="zh-CN" altLang="en-US" sz="2000" dirty="0">
                  <a:latin typeface="楷体" panose="02010609060101010101" pitchFamily="49" charset="-122"/>
                  <a:ea typeface="楷体" panose="02010609060101010101" pitchFamily="49" charset="-122"/>
                  <a:cs typeface="Times Regular" panose="00000500000000020000" charset="0"/>
                  <a:sym typeface="+mn-ea"/>
                </a:rPr>
                <a:t>。</a:t>
              </a:r>
            </a:p>
          </p:txBody>
        </p:sp>
        <p:sp>
          <p:nvSpPr>
            <p:cNvPr id="7" name="对角圆角矩形 6"/>
            <p:cNvSpPr/>
            <p:nvPr>
              <p:custDataLst>
                <p:tags r:id="rId3"/>
              </p:custDataLst>
            </p:nvPr>
          </p:nvSpPr>
          <p:spPr>
            <a:xfrm>
              <a:off x="926" y="5084"/>
              <a:ext cx="2932" cy="998"/>
            </a:xfrm>
            <a:prstGeom prst="round2DiagRect">
              <a:avLst/>
            </a:prstGeom>
            <a:solidFill>
              <a:srgbClr val="47268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400">
                  <a:latin typeface="Times Regular" panose="00000500000000020000" charset="0"/>
                  <a:ea typeface="楷体" panose="02010609060101010101" pitchFamily="49" charset="-122"/>
                  <a:cs typeface="Times Regular" panose="00000500000000020000" charset="0"/>
                </a:rPr>
                <a:t>避免风险</a:t>
              </a:r>
            </a:p>
          </p:txBody>
        </p:sp>
      </p:gr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目录</a:t>
            </a:r>
          </a:p>
        </p:txBody>
      </p:sp>
      <p:sp>
        <p:nvSpPr>
          <p:cNvPr id="7" name="内容占位符 2"/>
          <p:cNvSpPr txBox="1"/>
          <p:nvPr/>
        </p:nvSpPr>
        <p:spPr>
          <a:xfrm>
            <a:off x="628650" y="1459230"/>
            <a:ext cx="7886700" cy="452691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dirty="0">
                <a:latin typeface="楷体" panose="02010609060101010101" pitchFamily="49" charset="-122"/>
                <a:ea typeface="楷体" panose="02010609060101010101" pitchFamily="49" charset="-122"/>
              </a:rPr>
              <a:t>概述</a:t>
            </a:r>
            <a:endParaRPr kumimoji="1" lang="en-US" altLang="zh-CN" dirty="0">
              <a:latin typeface="楷体" panose="02010609060101010101" pitchFamily="49" charset="-122"/>
              <a:ea typeface="楷体" panose="02010609060101010101" pitchFamily="49" charset="-122"/>
            </a:endParaRPr>
          </a:p>
          <a:p>
            <a:r>
              <a:rPr kumimoji="1" lang="zh-CN" altLang="en-US" dirty="0">
                <a:solidFill>
                  <a:schemeClr val="tx1"/>
                </a:solidFill>
                <a:latin typeface="楷体" panose="02010609060101010101" pitchFamily="49" charset="-122"/>
                <a:ea typeface="楷体" panose="02010609060101010101" pitchFamily="49" charset="-122"/>
              </a:rPr>
              <a:t>面谈</a:t>
            </a:r>
          </a:p>
          <a:p>
            <a:r>
              <a:rPr kumimoji="1" lang="zh-CN" altLang="en-US" dirty="0">
                <a:latin typeface="楷体" panose="02010609060101010101" pitchFamily="49" charset="-122"/>
                <a:ea typeface="楷体" panose="02010609060101010101" pitchFamily="49" charset="-122"/>
              </a:rPr>
              <a:t>原型</a:t>
            </a:r>
          </a:p>
          <a:p>
            <a:r>
              <a:rPr kumimoji="1" lang="zh-CN" altLang="en-US" dirty="0">
                <a:solidFill>
                  <a:srgbClr val="FF0000"/>
                </a:solidFill>
                <a:latin typeface="楷体" panose="02010609060101010101" pitchFamily="49" charset="-122"/>
                <a:ea typeface="楷体" panose="02010609060101010101" pitchFamily="49" charset="-122"/>
              </a:rPr>
              <a:t>观察</a:t>
            </a:r>
          </a:p>
          <a:p>
            <a:pPr lvl="1"/>
            <a:r>
              <a:rPr kumimoji="1" lang="zh-CN" altLang="en-US" sz="2400" dirty="0">
                <a:solidFill>
                  <a:srgbClr val="FF0000"/>
                </a:solidFill>
                <a:latin typeface="楷体" panose="02010609060101010101" pitchFamily="49" charset="-122"/>
                <a:ea typeface="楷体" panose="02010609060101010101" pitchFamily="49" charset="-122"/>
              </a:rPr>
              <a:t>情景性</a:t>
            </a:r>
          </a:p>
          <a:p>
            <a:pPr lvl="1"/>
            <a:r>
              <a:rPr kumimoji="1" lang="zh-CN" altLang="en-US" sz="2400" dirty="0">
                <a:solidFill>
                  <a:srgbClr val="FF0000"/>
                </a:solidFill>
                <a:latin typeface="楷体" panose="02010609060101010101" pitchFamily="49" charset="-122"/>
                <a:ea typeface="楷体" panose="02010609060101010101" pitchFamily="49" charset="-122"/>
              </a:rPr>
              <a:t>观察法</a:t>
            </a:r>
          </a:p>
          <a:p>
            <a:pPr lvl="1"/>
            <a:r>
              <a:rPr kumimoji="1" lang="zh-CN" altLang="en-US" sz="2400" dirty="0">
                <a:solidFill>
                  <a:srgbClr val="FF0000"/>
                </a:solidFill>
                <a:latin typeface="楷体" panose="02010609060101010101" pitchFamily="49" charset="-122"/>
                <a:ea typeface="楷体" panose="02010609060101010101" pitchFamily="49" charset="-122"/>
              </a:rPr>
              <a:t>观察法的应用场景</a:t>
            </a:r>
          </a:p>
          <a:p>
            <a:pPr lvl="1"/>
            <a:r>
              <a:rPr kumimoji="1" lang="zh-CN" altLang="en-US" sz="2400" dirty="0">
                <a:solidFill>
                  <a:srgbClr val="FF0000"/>
                </a:solidFill>
                <a:latin typeface="楷体" panose="02010609060101010101" pitchFamily="49" charset="-122"/>
                <a:ea typeface="楷体" panose="02010609060101010101" pitchFamily="49" charset="-122"/>
              </a:rPr>
              <a:t>采样观察</a:t>
            </a:r>
          </a:p>
          <a:p>
            <a:pPr lvl="1"/>
            <a:r>
              <a:rPr kumimoji="1" lang="zh-CN" altLang="en-US" sz="2400" dirty="0">
                <a:solidFill>
                  <a:srgbClr val="FF0000"/>
                </a:solidFill>
                <a:latin typeface="楷体" panose="02010609060101010101" pitchFamily="49" charset="-122"/>
                <a:ea typeface="楷体" panose="02010609060101010101" pitchFamily="49" charset="-122"/>
              </a:rPr>
              <a:t>民族志</a:t>
            </a:r>
            <a:endParaRPr kumimoji="1" lang="zh-CN" altLang="en-US" dirty="0">
              <a:solidFill>
                <a:srgbClr val="FF0000"/>
              </a:solidFill>
              <a:latin typeface="楷体" panose="02010609060101010101" pitchFamily="49" charset="-122"/>
              <a:ea typeface="楷体" panose="02010609060101010101" pitchFamily="49" charset="-122"/>
            </a:endParaRPr>
          </a:p>
          <a:p>
            <a:r>
              <a:rPr kumimoji="1" lang="zh-CN" altLang="en-US" dirty="0">
                <a:latin typeface="楷体" panose="02010609060101010101" pitchFamily="49" charset="-122"/>
                <a:ea typeface="楷体" panose="02010609060101010101" pitchFamily="49" charset="-122"/>
              </a:rPr>
              <a:t>文档审查</a:t>
            </a:r>
            <a:endParaRPr kumimoji="1" lang="en-US" altLang="zh-CN" dirty="0">
              <a:latin typeface="楷体" panose="02010609060101010101" pitchFamily="49" charset="-122"/>
              <a:ea typeface="楷体" panose="02010609060101010101" pitchFamily="49" charset="-122"/>
            </a:endParaRPr>
          </a:p>
          <a:p>
            <a:pPr marL="0" indent="0">
              <a:buNone/>
            </a:pPr>
            <a:endParaRPr kumimoji="1" lang="en-US" altLang="zh-CN" dirty="0">
              <a:latin typeface="楷体" panose="02010609060101010101" pitchFamily="49" charset="-122"/>
              <a:ea typeface="楷体" panose="02010609060101010101" pitchFamily="49" charset="-122"/>
            </a:endParaRPr>
          </a:p>
        </p:txBody>
      </p:sp>
      <p:sp>
        <p:nvSpPr>
          <p:cNvPr id="8" name="文本框 7"/>
          <p:cNvSpPr txBox="1"/>
          <p:nvPr/>
        </p:nvSpPr>
        <p:spPr>
          <a:xfrm>
            <a:off x="151596" y="16999"/>
            <a:ext cx="697627" cy="40011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目录</a:t>
            </a:r>
            <a:endParaRPr kumimoji="1" lang="en-US" altLang="zh-CN" sz="2000" dirty="0">
              <a:solidFill>
                <a:schemeClr val="bg1"/>
              </a:solidFill>
              <a:latin typeface="楷体" panose="02010609060101010101" pitchFamily="49" charset="-122"/>
              <a:ea typeface="楷体" panose="02010609060101010101" pitchFamily="49"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观察法：情景性</a:t>
            </a:r>
          </a:p>
        </p:txBody>
      </p:sp>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观察</a:t>
            </a:r>
          </a:p>
        </p:txBody>
      </p:sp>
      <p:sp>
        <p:nvSpPr>
          <p:cNvPr id="3" name="文本框 2"/>
          <p:cNvSpPr txBox="1"/>
          <p:nvPr/>
        </p:nvSpPr>
        <p:spPr>
          <a:xfrm>
            <a:off x="628015" y="1431925"/>
            <a:ext cx="7552690" cy="829945"/>
          </a:xfrm>
          <a:prstGeom prst="rect">
            <a:avLst/>
          </a:prstGeom>
          <a:noFill/>
          <a:ln>
            <a:solidFill>
              <a:schemeClr val="accent1"/>
            </a:solidFill>
          </a:ln>
        </p:spPr>
        <p:txBody>
          <a:bodyPr wrap="square" rtlCol="0">
            <a:spAutoFit/>
          </a:bodyPr>
          <a:lstStyle/>
          <a:p>
            <a:r>
              <a:rPr lang="zh-CN" altLang="en-US" sz="2400">
                <a:latin typeface="楷体" panose="02010609060101010101" pitchFamily="49" charset="-122"/>
                <a:ea typeface="楷体" panose="02010609060101010101" pitchFamily="49" charset="-122"/>
              </a:rPr>
              <a:t>情景性是指某些事件的理解必须依赖于特定的环境或情境，单独的信息或事件描述往往无法完全表达其意义。</a:t>
            </a:r>
          </a:p>
        </p:txBody>
      </p:sp>
      <p:grpSp>
        <p:nvGrpSpPr>
          <p:cNvPr id="9" name="组合 8"/>
          <p:cNvGrpSpPr/>
          <p:nvPr/>
        </p:nvGrpSpPr>
        <p:grpSpPr>
          <a:xfrm>
            <a:off x="628015" y="2785110"/>
            <a:ext cx="7552690" cy="2793365"/>
            <a:chOff x="989" y="4101"/>
            <a:chExt cx="11894" cy="4399"/>
          </a:xfrm>
        </p:grpSpPr>
        <p:sp>
          <p:nvSpPr>
            <p:cNvPr id="4" name="文本框 3"/>
            <p:cNvSpPr txBox="1"/>
            <p:nvPr/>
          </p:nvSpPr>
          <p:spPr>
            <a:xfrm>
              <a:off x="989" y="4101"/>
              <a:ext cx="5279" cy="725"/>
            </a:xfrm>
            <a:prstGeom prst="rect">
              <a:avLst/>
            </a:prstGeom>
            <a:noFill/>
            <a:ln>
              <a:solidFill>
                <a:schemeClr val="accent1"/>
              </a:solidFill>
            </a:ln>
          </p:spPr>
          <p:txBody>
            <a:bodyPr wrap="square" rtlCol="0">
              <a:spAutoFit/>
            </a:bodyPr>
            <a:lstStyle/>
            <a:p>
              <a:r>
                <a:rPr lang="zh-CN" altLang="en-US" sz="2400">
                  <a:latin typeface="楷体" panose="02010609060101010101" pitchFamily="49" charset="-122"/>
                  <a:ea typeface="楷体" panose="02010609060101010101" pitchFamily="49" charset="-122"/>
                </a:rPr>
                <a:t>情景性的重要性质：</a:t>
              </a:r>
            </a:p>
          </p:txBody>
        </p:sp>
        <p:sp>
          <p:nvSpPr>
            <p:cNvPr id="8" name="文本框 7"/>
            <p:cNvSpPr txBox="1"/>
            <p:nvPr/>
          </p:nvSpPr>
          <p:spPr>
            <a:xfrm>
              <a:off x="990" y="4826"/>
              <a:ext cx="11893" cy="3674"/>
            </a:xfrm>
            <a:prstGeom prst="rect">
              <a:avLst/>
            </a:prstGeom>
            <a:noFill/>
            <a:ln>
              <a:solidFill>
                <a:schemeClr val="accent1"/>
              </a:solidFill>
            </a:ln>
          </p:spPr>
          <p:txBody>
            <a:bodyPr wrap="square" rtlCol="0">
              <a:noAutofit/>
            </a:bodyPr>
            <a:lstStyle/>
            <a:p>
              <a:r>
                <a:rPr lang="zh-CN" altLang="en-US" sz="2000">
                  <a:latin typeface="楷体" panose="02010609060101010101" pitchFamily="49" charset="-122"/>
                  <a:ea typeface="楷体" panose="02010609060101010101" pitchFamily="49" charset="-122"/>
                  <a:cs typeface="楷体" panose="02010609060101010101" pitchFamily="49" charset="-122"/>
                </a:rPr>
                <a:t>突现（</a:t>
              </a:r>
              <a:r>
                <a:rPr lang="en-US" altLang="zh-CN" sz="2000">
                  <a:latin typeface="Times New Roman" panose="02020603050405020304" pitchFamily="18" charset="0"/>
                  <a:ea typeface="楷体" panose="02010609060101010101" pitchFamily="49" charset="-122"/>
                  <a:cs typeface="Times New Roman" panose="02020603050405020304" pitchFamily="18" charset="0"/>
                </a:rPr>
                <a:t>Emergent</a:t>
              </a:r>
              <a:r>
                <a:rPr lang="zh-CN" altLang="en-US" sz="2000">
                  <a:latin typeface="楷体" panose="02010609060101010101" pitchFamily="49" charset="-122"/>
                  <a:ea typeface="楷体" panose="02010609060101010101" pitchFamily="49" charset="-122"/>
                  <a:cs typeface="楷体" panose="02010609060101010101" pitchFamily="49" charset="-122"/>
                </a:rPr>
                <a:t>）</a:t>
              </a:r>
            </a:p>
            <a:p>
              <a:r>
                <a:rPr lang="zh-CN" altLang="en-US" sz="2000">
                  <a:latin typeface="楷体" panose="02010609060101010101" pitchFamily="49" charset="-122"/>
                  <a:ea typeface="楷体" panose="02010609060101010101" pitchFamily="49" charset="-122"/>
                  <a:cs typeface="楷体" panose="02010609060101010101" pitchFamily="49" charset="-122"/>
                </a:rPr>
                <a:t>特点：某些事件是团队成员集体互动的结果，仅通过个体视角难以理解。事件的发生依赖于多方的互动和协作。</a:t>
              </a:r>
            </a:p>
            <a:p>
              <a:endParaRPr lang="zh-CN" altLang="en-US" sz="2000">
                <a:latin typeface="楷体" panose="02010609060101010101" pitchFamily="49" charset="-122"/>
                <a:ea typeface="楷体" panose="02010609060101010101" pitchFamily="49" charset="-122"/>
                <a:cs typeface="楷体" panose="02010609060101010101" pitchFamily="49" charset="-122"/>
              </a:endParaRPr>
            </a:p>
            <a:p>
              <a:r>
                <a:rPr lang="zh-CN" altLang="en-US" sz="2000">
                  <a:latin typeface="楷体" panose="02010609060101010101" pitchFamily="49" charset="-122"/>
                  <a:ea typeface="楷体" panose="02010609060101010101" pitchFamily="49" charset="-122"/>
                  <a:cs typeface="楷体" panose="02010609060101010101" pitchFamily="49" charset="-122"/>
                </a:rPr>
                <a:t>实例：单个学生的行为容易理解，但一个学校的校风、一个地方的民俗文化则难以清晰描述。社会性因素（如商业规则、组织文化、行业约定）往往是突现的表现。</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3" grpId="1"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观察</a:t>
            </a:r>
          </a:p>
        </p:txBody>
      </p:sp>
      <p:sp>
        <p:nvSpPr>
          <p:cNvPr id="8" name="文本框 7"/>
          <p:cNvSpPr txBox="1"/>
          <p:nvPr/>
        </p:nvSpPr>
        <p:spPr>
          <a:xfrm>
            <a:off x="628650" y="781050"/>
            <a:ext cx="6383655" cy="2729230"/>
          </a:xfrm>
          <a:prstGeom prst="rect">
            <a:avLst/>
          </a:prstGeom>
          <a:noFill/>
          <a:ln>
            <a:solidFill>
              <a:schemeClr val="accent1"/>
            </a:solidFill>
          </a:ln>
        </p:spPr>
        <p:txBody>
          <a:bodyPr wrap="square" rtlCol="0">
            <a:noAutofit/>
          </a:bodyPr>
          <a:lstStyle/>
          <a:p>
            <a:r>
              <a:rPr lang="zh-CN" altLang="en-US" sz="2400">
                <a:latin typeface="楷体" panose="02010609060101010101" pitchFamily="49" charset="-122"/>
                <a:ea typeface="楷体" panose="02010609060101010101" pitchFamily="49" charset="-122"/>
                <a:cs typeface="楷体" panose="02010609060101010101" pitchFamily="49" charset="-122"/>
              </a:rPr>
              <a:t>局部（</a:t>
            </a:r>
            <a:r>
              <a:rPr lang="en-US" altLang="zh-CN" sz="2400">
                <a:latin typeface="Times New Roman" panose="02020603050405020304" pitchFamily="18" charset="0"/>
                <a:ea typeface="楷体" panose="02010609060101010101" pitchFamily="49" charset="-122"/>
                <a:cs typeface="Times New Roman" panose="02020603050405020304" pitchFamily="18" charset="0"/>
              </a:rPr>
              <a:t>Local</a:t>
            </a:r>
            <a:r>
              <a:rPr lang="zh-CN" altLang="en-US" sz="2400">
                <a:latin typeface="楷体" panose="02010609060101010101" pitchFamily="49" charset="-122"/>
                <a:ea typeface="楷体" panose="02010609060101010101" pitchFamily="49" charset="-122"/>
                <a:cs typeface="楷体" panose="02010609060101010101" pitchFamily="49" charset="-122"/>
              </a:rPr>
              <a:t>）</a:t>
            </a:r>
            <a:endParaRPr lang="zh-CN" altLang="en-US" sz="2000">
              <a:latin typeface="楷体" panose="02010609060101010101" pitchFamily="49" charset="-122"/>
              <a:ea typeface="楷体" panose="02010609060101010101" pitchFamily="49" charset="-122"/>
              <a:cs typeface="楷体" panose="02010609060101010101" pitchFamily="49" charset="-122"/>
            </a:endParaRPr>
          </a:p>
          <a:p>
            <a:r>
              <a:rPr lang="zh-CN" altLang="en-US" sz="2000">
                <a:latin typeface="楷体" panose="02010609060101010101" pitchFamily="49" charset="-122"/>
                <a:ea typeface="楷体" panose="02010609060101010101" pitchFamily="49" charset="-122"/>
                <a:cs typeface="楷体" panose="02010609060101010101" pitchFamily="49" charset="-122"/>
              </a:rPr>
              <a:t>特点：事件及其解释只能在特定的上下文环境下成立，脱离了时间和地点的信息，用户可能无法意识到这些事件的存在或正确理解它们。</a:t>
            </a:r>
          </a:p>
          <a:p>
            <a:endParaRPr lang="zh-CN" altLang="en-US" sz="2000">
              <a:latin typeface="楷体" panose="02010609060101010101" pitchFamily="49" charset="-122"/>
              <a:ea typeface="楷体" panose="02010609060101010101" pitchFamily="49" charset="-122"/>
              <a:cs typeface="楷体" panose="02010609060101010101" pitchFamily="49" charset="-122"/>
            </a:endParaRPr>
          </a:p>
          <a:p>
            <a:r>
              <a:rPr lang="zh-CN" altLang="en-US" sz="2000">
                <a:latin typeface="楷体" panose="02010609060101010101" pitchFamily="49" charset="-122"/>
                <a:ea typeface="楷体" panose="02010609060101010101" pitchFamily="49" charset="-122"/>
                <a:cs typeface="楷体" panose="02010609060101010101" pitchFamily="49" charset="-122"/>
              </a:rPr>
              <a:t>实例：收银员在面对商品价格标错或找零时给了假币等异常情况时，只有明确提到这些特定场景，收银员才能准确回忆并采取措施。</a:t>
            </a:r>
          </a:p>
        </p:txBody>
      </p:sp>
      <p:sp>
        <p:nvSpPr>
          <p:cNvPr id="4" name="文本框 3"/>
          <p:cNvSpPr txBox="1"/>
          <p:nvPr/>
        </p:nvSpPr>
        <p:spPr>
          <a:xfrm>
            <a:off x="628650" y="3926205"/>
            <a:ext cx="6383655" cy="2046605"/>
          </a:xfrm>
          <a:prstGeom prst="rect">
            <a:avLst/>
          </a:prstGeom>
          <a:noFill/>
          <a:ln>
            <a:solidFill>
              <a:schemeClr val="accent1"/>
            </a:solidFill>
          </a:ln>
        </p:spPr>
        <p:txBody>
          <a:bodyPr wrap="square" rtlCol="0">
            <a:noAutofit/>
          </a:bodyPr>
          <a:lstStyle/>
          <a:p>
            <a:r>
              <a:rPr lang="zh-CN" altLang="en-US" sz="2400">
                <a:latin typeface="楷体" panose="02010609060101010101" pitchFamily="49" charset="-122"/>
                <a:ea typeface="楷体" panose="02010609060101010101" pitchFamily="49" charset="-122"/>
                <a:cs typeface="楷体" panose="02010609060101010101" pitchFamily="49" charset="-122"/>
              </a:rPr>
              <a:t>暂时</a:t>
            </a:r>
            <a:r>
              <a:rPr lang="zh-CN" altLang="en-US" sz="240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a:latin typeface="Times New Roman" panose="02020603050405020304" pitchFamily="18" charset="0"/>
                <a:ea typeface="楷体" panose="02010609060101010101" pitchFamily="49" charset="-122"/>
                <a:cs typeface="Times New Roman" panose="02020603050405020304" pitchFamily="18" charset="0"/>
              </a:rPr>
              <a:t>Contingent</a:t>
            </a:r>
            <a:r>
              <a:rPr lang="zh-CN" altLang="en-US" sz="2400">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400">
              <a:latin typeface="楷体" panose="02010609060101010101" pitchFamily="49" charset="-122"/>
              <a:ea typeface="楷体" panose="02010609060101010101" pitchFamily="49" charset="-122"/>
              <a:cs typeface="楷体" panose="02010609060101010101" pitchFamily="49" charset="-122"/>
            </a:endParaRPr>
          </a:p>
          <a:p>
            <a:r>
              <a:rPr lang="zh-CN" altLang="en-US" sz="2000">
                <a:latin typeface="楷体" panose="02010609060101010101" pitchFamily="49" charset="-122"/>
                <a:ea typeface="楷体" panose="02010609060101010101" pitchFamily="49" charset="-122"/>
                <a:cs typeface="楷体" panose="02010609060101010101" pitchFamily="49" charset="-122"/>
              </a:rPr>
              <a:t>特点：事件及其解释依赖于特定时间的情境，不同时刻可能有不同的解释。</a:t>
            </a:r>
          </a:p>
          <a:p>
            <a:endParaRPr lang="zh-CN" altLang="en-US" sz="2000">
              <a:latin typeface="楷体" panose="02010609060101010101" pitchFamily="49" charset="-122"/>
              <a:ea typeface="楷体" panose="02010609060101010101" pitchFamily="49" charset="-122"/>
              <a:cs typeface="楷体" panose="02010609060101010101" pitchFamily="49" charset="-122"/>
            </a:endParaRPr>
          </a:p>
          <a:p>
            <a:r>
              <a:rPr lang="zh-CN" altLang="en-US" sz="2000">
                <a:latin typeface="楷体" panose="02010609060101010101" pitchFamily="49" charset="-122"/>
                <a:ea typeface="楷体" panose="02010609060101010101" pitchFamily="49" charset="-122"/>
                <a:cs typeface="楷体" panose="02010609060101010101" pitchFamily="49" charset="-122"/>
              </a:rPr>
              <a:t>实例：公司发布新规范，但员工仍依赖旧规范，导致对新规则的理解出现偏差。</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8" grpId="1" animBg="1"/>
      <p:bldP spid="4" grpId="0" bldLvl="0" animBg="1"/>
      <p:bldP spid="4" grpId="1"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观察</a:t>
            </a:r>
          </a:p>
        </p:txBody>
      </p:sp>
      <p:sp>
        <p:nvSpPr>
          <p:cNvPr id="8" name="文本框 7"/>
          <p:cNvSpPr txBox="1"/>
          <p:nvPr/>
        </p:nvSpPr>
        <p:spPr>
          <a:xfrm>
            <a:off x="628650" y="642620"/>
            <a:ext cx="7685405" cy="1648460"/>
          </a:xfrm>
          <a:prstGeom prst="rect">
            <a:avLst/>
          </a:prstGeom>
          <a:noFill/>
          <a:ln>
            <a:solidFill>
              <a:schemeClr val="accent1"/>
            </a:solidFill>
          </a:ln>
        </p:spPr>
        <p:txBody>
          <a:bodyPr wrap="square" rtlCol="0">
            <a:noAutofit/>
          </a:bodyPr>
          <a:lstStyle/>
          <a:p>
            <a:r>
              <a:rPr lang="zh-CN" altLang="en-US" sz="2000">
                <a:latin typeface="楷体" panose="02010609060101010101" pitchFamily="49" charset="-122"/>
                <a:ea typeface="楷体" panose="02010609060101010101" pitchFamily="49" charset="-122"/>
                <a:cs typeface="楷体" panose="02010609060101010101" pitchFamily="49" charset="-122"/>
              </a:rPr>
              <a:t>涉身</a:t>
            </a:r>
            <a:r>
              <a:rPr lang="zh-CN" altLang="en-US" sz="200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a:latin typeface="Times New Roman" panose="02020603050405020304" pitchFamily="18" charset="0"/>
                <a:ea typeface="楷体" panose="02010609060101010101" pitchFamily="49" charset="-122"/>
                <a:cs typeface="Times New Roman" panose="02020603050405020304" pitchFamily="18" charset="0"/>
              </a:rPr>
              <a:t>Embodied</a:t>
            </a:r>
            <a:r>
              <a:rPr lang="zh-CN" altLang="en-US" sz="2000">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000">
              <a:latin typeface="楷体" panose="02010609060101010101" pitchFamily="49" charset="-122"/>
              <a:ea typeface="楷体" panose="02010609060101010101" pitchFamily="49" charset="-122"/>
              <a:cs typeface="楷体" panose="02010609060101010101" pitchFamily="49" charset="-122"/>
            </a:endParaRPr>
          </a:p>
          <a:p>
            <a:r>
              <a:rPr lang="zh-CN" altLang="en-US" sz="2000">
                <a:latin typeface="楷体" panose="02010609060101010101" pitchFamily="49" charset="-122"/>
                <a:ea typeface="楷体" panose="02010609060101010101" pitchFamily="49" charset="-122"/>
                <a:cs typeface="楷体" panose="02010609060101010101" pitchFamily="49" charset="-122"/>
              </a:rPr>
              <a:t>特点：事件的解释依赖于特定参与者的感知，这些参与者具备对周围环境的直接体验。</a:t>
            </a:r>
          </a:p>
          <a:p>
            <a:r>
              <a:rPr lang="zh-CN" altLang="en-US" sz="2000">
                <a:latin typeface="楷体" panose="02010609060101010101" pitchFamily="49" charset="-122"/>
                <a:ea typeface="楷体" panose="02010609060101010101" pitchFamily="49" charset="-122"/>
                <a:cs typeface="楷体" panose="02010609060101010101" pitchFamily="49" charset="-122"/>
              </a:rPr>
              <a:t>实例：医生通过症状判断病情，但这种判断难以完全传达给需求工程师，因为他们无法直接体验这些症状。</a:t>
            </a:r>
          </a:p>
        </p:txBody>
      </p:sp>
      <p:sp>
        <p:nvSpPr>
          <p:cNvPr id="4" name="文本框 3"/>
          <p:cNvSpPr txBox="1"/>
          <p:nvPr/>
        </p:nvSpPr>
        <p:spPr>
          <a:xfrm>
            <a:off x="628650" y="2491105"/>
            <a:ext cx="7685405" cy="1667510"/>
          </a:xfrm>
          <a:prstGeom prst="rect">
            <a:avLst/>
          </a:prstGeom>
          <a:noFill/>
          <a:ln>
            <a:solidFill>
              <a:schemeClr val="accent1"/>
            </a:solidFill>
          </a:ln>
        </p:spPr>
        <p:txBody>
          <a:bodyPr wrap="square" rtlCol="0">
            <a:noAutofit/>
          </a:bodyPr>
          <a:lstStyle/>
          <a:p>
            <a:r>
              <a:rPr lang="zh-CN" altLang="en-US" sz="2000">
                <a:latin typeface="楷体" panose="02010609060101010101" pitchFamily="49" charset="-122"/>
                <a:ea typeface="楷体" panose="02010609060101010101" pitchFamily="49" charset="-122"/>
                <a:cs typeface="楷体" panose="02010609060101010101" pitchFamily="49" charset="-122"/>
              </a:rPr>
              <a:t>开放</a:t>
            </a:r>
            <a:r>
              <a:rPr lang="zh-CN" altLang="en-US" sz="200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a:latin typeface="Times New Roman" panose="02020603050405020304" pitchFamily="18" charset="0"/>
                <a:ea typeface="楷体" panose="02010609060101010101" pitchFamily="49" charset="-122"/>
                <a:cs typeface="Times New Roman" panose="02020603050405020304" pitchFamily="18" charset="0"/>
              </a:rPr>
              <a:t>Open</a:t>
            </a:r>
            <a:r>
              <a:rPr lang="zh-CN" altLang="en-US" sz="2000">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000">
              <a:latin typeface="楷体" panose="02010609060101010101" pitchFamily="49" charset="-122"/>
              <a:ea typeface="楷体" panose="02010609060101010101" pitchFamily="49" charset="-122"/>
              <a:cs typeface="楷体" panose="02010609060101010101" pitchFamily="49" charset="-122"/>
            </a:endParaRPr>
          </a:p>
          <a:p>
            <a:r>
              <a:rPr lang="zh-CN" altLang="en-US" sz="2000">
                <a:latin typeface="楷体" panose="02010609060101010101" pitchFamily="49" charset="-122"/>
                <a:ea typeface="楷体" panose="02010609060101010101" pitchFamily="49" charset="-122"/>
                <a:cs typeface="楷体" panose="02010609060101010101" pitchFamily="49" charset="-122"/>
              </a:rPr>
              <a:t>特点：某些事件无法仅通过现有信息给出最终的解释，必须保持开放性，随着进一步分析和数据收集，解释才会更为完整。</a:t>
            </a:r>
          </a:p>
          <a:p>
            <a:r>
              <a:rPr lang="zh-CN" altLang="en-US" sz="2000">
                <a:latin typeface="楷体" panose="02010609060101010101" pitchFamily="49" charset="-122"/>
                <a:ea typeface="楷体" panose="02010609060101010101" pitchFamily="49" charset="-122"/>
                <a:cs typeface="楷体" panose="02010609060101010101" pitchFamily="49" charset="-122"/>
              </a:rPr>
              <a:t>实例：科研工作通常是开放的，每个新课题都会基于已有的知识进行扩展，难以预见所有的可能性。</a:t>
            </a:r>
          </a:p>
        </p:txBody>
      </p:sp>
      <p:sp>
        <p:nvSpPr>
          <p:cNvPr id="3" name="文本框 2"/>
          <p:cNvSpPr txBox="1"/>
          <p:nvPr/>
        </p:nvSpPr>
        <p:spPr>
          <a:xfrm>
            <a:off x="628650" y="4358640"/>
            <a:ext cx="7685405" cy="1878965"/>
          </a:xfrm>
          <a:prstGeom prst="rect">
            <a:avLst/>
          </a:prstGeom>
          <a:noFill/>
          <a:ln>
            <a:solidFill>
              <a:schemeClr val="accent1"/>
            </a:solidFill>
          </a:ln>
        </p:spPr>
        <p:txBody>
          <a:bodyPr wrap="square" rtlCol="0">
            <a:noAutofit/>
          </a:bodyPr>
          <a:lstStyle/>
          <a:p>
            <a:r>
              <a:rPr lang="zh-CN" altLang="en-US" sz="2000">
                <a:latin typeface="楷体" panose="02010609060101010101" pitchFamily="49" charset="-122"/>
                <a:ea typeface="楷体" panose="02010609060101010101" pitchFamily="49" charset="-122"/>
                <a:cs typeface="楷体" panose="02010609060101010101" pitchFamily="49" charset="-122"/>
              </a:rPr>
              <a:t>模糊</a:t>
            </a:r>
            <a:r>
              <a:rPr lang="zh-CN" altLang="en-US" sz="200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a:latin typeface="Times New Roman" panose="02020603050405020304" pitchFamily="18" charset="0"/>
                <a:ea typeface="楷体" panose="02010609060101010101" pitchFamily="49" charset="-122"/>
                <a:cs typeface="Times New Roman" panose="02020603050405020304" pitchFamily="18" charset="0"/>
              </a:rPr>
              <a:t>Vague</a:t>
            </a:r>
            <a:r>
              <a:rPr lang="zh-CN" altLang="en-US" sz="2000">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000">
              <a:latin typeface="楷体" panose="02010609060101010101" pitchFamily="49" charset="-122"/>
              <a:ea typeface="楷体" panose="02010609060101010101" pitchFamily="49" charset="-122"/>
              <a:cs typeface="楷体" panose="02010609060101010101" pitchFamily="49" charset="-122"/>
            </a:endParaRPr>
          </a:p>
          <a:p>
            <a:r>
              <a:rPr lang="zh-CN" altLang="en-US" sz="2000">
                <a:latin typeface="楷体" panose="02010609060101010101" pitchFamily="49" charset="-122"/>
                <a:ea typeface="楷体" panose="02010609060101010101" pitchFamily="49" charset="-122"/>
                <a:cs typeface="楷体" panose="02010609060101010101" pitchFamily="49" charset="-122"/>
              </a:rPr>
              <a:t>特点：为了实用目的，事件的解释通常不会极为精确，而是基于默会知识展开。由于需求工程师不具备相同的默会知识，可能难以理解用户的模糊描述。</a:t>
            </a:r>
          </a:p>
          <a:p>
            <a:r>
              <a:rPr lang="zh-CN" altLang="en-US" sz="2000">
                <a:latin typeface="楷体" panose="02010609060101010101" pitchFamily="49" charset="-122"/>
                <a:ea typeface="楷体" panose="02010609060101010101" pitchFamily="49" charset="-122"/>
                <a:cs typeface="楷体" panose="02010609060101010101" pitchFamily="49" charset="-122"/>
              </a:rPr>
              <a:t>实例：用户可能会描述</a:t>
            </a:r>
            <a:r>
              <a:rPr lang="en-US" altLang="zh-CN" sz="2000">
                <a:latin typeface="楷体" panose="02010609060101010101" pitchFamily="49" charset="-122"/>
                <a:ea typeface="楷体" panose="02010609060101010101" pitchFamily="49" charset="-122"/>
                <a:cs typeface="楷体" panose="02010609060101010101" pitchFamily="49" charset="-122"/>
              </a:rPr>
              <a:t>“</a:t>
            </a:r>
            <a:r>
              <a:rPr lang="zh-CN" altLang="en-US" sz="2000">
                <a:latin typeface="楷体" panose="02010609060101010101" pitchFamily="49" charset="-122"/>
                <a:ea typeface="楷体" panose="02010609060101010101" pitchFamily="49" charset="-122"/>
                <a:cs typeface="楷体" panose="02010609060101010101" pitchFamily="49" charset="-122"/>
              </a:rPr>
              <a:t>系统慢</a:t>
            </a:r>
            <a:r>
              <a:rPr lang="en-US" altLang="zh-CN" sz="2000">
                <a:latin typeface="楷体" panose="02010609060101010101" pitchFamily="49" charset="-122"/>
                <a:ea typeface="楷体" panose="02010609060101010101" pitchFamily="49" charset="-122"/>
                <a:cs typeface="楷体" panose="02010609060101010101" pitchFamily="49" charset="-122"/>
              </a:rPr>
              <a:t>”</a:t>
            </a:r>
            <a:r>
              <a:rPr lang="zh-CN" altLang="en-US" sz="2000">
                <a:latin typeface="楷体" panose="02010609060101010101" pitchFamily="49" charset="-122"/>
                <a:ea typeface="楷体" panose="02010609060101010101" pitchFamily="49" charset="-122"/>
                <a:cs typeface="楷体" panose="02010609060101010101" pitchFamily="49" charset="-122"/>
              </a:rPr>
              <a:t>或</a:t>
            </a:r>
            <a:r>
              <a:rPr lang="en-US" altLang="zh-CN" sz="2000">
                <a:latin typeface="楷体" panose="02010609060101010101" pitchFamily="49" charset="-122"/>
                <a:ea typeface="楷体" panose="02010609060101010101" pitchFamily="49" charset="-122"/>
                <a:cs typeface="楷体" panose="02010609060101010101" pitchFamily="49" charset="-122"/>
              </a:rPr>
              <a:t>“</a:t>
            </a:r>
            <a:r>
              <a:rPr lang="zh-CN" altLang="en-US" sz="2000">
                <a:latin typeface="楷体" panose="02010609060101010101" pitchFamily="49" charset="-122"/>
                <a:ea typeface="楷体" panose="02010609060101010101" pitchFamily="49" charset="-122"/>
                <a:cs typeface="楷体" panose="02010609060101010101" pitchFamily="49" charset="-122"/>
              </a:rPr>
              <a:t>界面不直观</a:t>
            </a:r>
            <a:r>
              <a:rPr lang="en-US" altLang="zh-CN" sz="2000">
                <a:latin typeface="楷体" panose="02010609060101010101" pitchFamily="49" charset="-122"/>
                <a:ea typeface="楷体" panose="02010609060101010101" pitchFamily="49" charset="-122"/>
                <a:cs typeface="楷体" panose="02010609060101010101" pitchFamily="49" charset="-122"/>
              </a:rPr>
              <a:t>”</a:t>
            </a:r>
            <a:r>
              <a:rPr lang="zh-CN" altLang="en-US" sz="2000">
                <a:latin typeface="楷体" panose="02010609060101010101" pitchFamily="49" charset="-122"/>
                <a:ea typeface="楷体" panose="02010609060101010101" pitchFamily="49" charset="-122"/>
                <a:cs typeface="楷体" panose="02010609060101010101" pitchFamily="49" charset="-122"/>
              </a:rPr>
              <a:t>等模糊事件，而没有明确的标准或指标。</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8" grpId="1" animBg="1"/>
      <p:bldP spid="4" grpId="0" bldLvl="0" animBg="1"/>
      <p:bldP spid="4" grpId="1" animBg="1"/>
      <p:bldP spid="3" grpId="0" bldLvl="0" animBg="1"/>
      <p:bldP spid="3" grpId="1"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观察法</a:t>
            </a:r>
          </a:p>
        </p:txBody>
      </p:sp>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观察</a:t>
            </a:r>
          </a:p>
        </p:txBody>
      </p:sp>
      <p:sp>
        <p:nvSpPr>
          <p:cNvPr id="3" name="文本框 2"/>
          <p:cNvSpPr txBox="1"/>
          <p:nvPr/>
        </p:nvSpPr>
        <p:spPr>
          <a:xfrm>
            <a:off x="534035" y="1251585"/>
            <a:ext cx="6972935" cy="2306955"/>
          </a:xfrm>
          <a:prstGeom prst="rect">
            <a:avLst/>
          </a:prstGeom>
          <a:noFill/>
        </p:spPr>
        <p:txBody>
          <a:bodyPr wrap="square" rtlCol="0">
            <a:spAutoFit/>
          </a:bodyPr>
          <a:lstStyle/>
          <a:p>
            <a:pPr indent="457200"/>
            <a:r>
              <a:rPr lang="zh-CN" altLang="en-US" sz="2400">
                <a:latin typeface="楷体" panose="02010609060101010101" pitchFamily="49" charset="-122"/>
                <a:ea typeface="楷体" panose="02010609060101010101" pitchFamily="49" charset="-122"/>
              </a:rPr>
              <a:t>情景性使得用户无法有效的主动进行事件的解释和告知，因此，需要利用观察方法来部分地缓解情景性问题。</a:t>
            </a:r>
          </a:p>
          <a:p>
            <a:pPr indent="457200"/>
            <a:r>
              <a:rPr lang="zh-CN" altLang="en-US" sz="2400">
                <a:latin typeface="楷体" panose="02010609060101010101" pitchFamily="49" charset="-122"/>
                <a:ea typeface="楷体" panose="02010609060101010101" pitchFamily="49" charset="-122"/>
              </a:rPr>
              <a:t>通过对上下文环境的理解，观察方法可以帮助需求工程师更好的理解问题发生的情景，进而</a:t>
            </a:r>
            <a:r>
              <a:rPr lang="zh-CN" altLang="en-US" sz="2400" b="1">
                <a:solidFill>
                  <a:srgbClr val="472680"/>
                </a:solidFill>
                <a:latin typeface="楷体" panose="02010609060101010101" pitchFamily="49" charset="-122"/>
                <a:ea typeface="楷体" panose="02010609060101010101" pitchFamily="49" charset="-122"/>
              </a:rPr>
              <a:t>更透彻的理解情景性问题</a:t>
            </a:r>
            <a:r>
              <a:rPr lang="zh-CN" altLang="en-US" sz="2400">
                <a:latin typeface="楷体" panose="02010609060101010101" pitchFamily="49" charset="-122"/>
                <a:ea typeface="楷体" panose="02010609060101010101" pitchFamily="49" charset="-122"/>
              </a:rPr>
              <a:t>。</a:t>
            </a:r>
          </a:p>
        </p:txBody>
      </p:sp>
      <p:sp>
        <p:nvSpPr>
          <p:cNvPr id="4" name="文本框 3"/>
          <p:cNvSpPr txBox="1"/>
          <p:nvPr/>
        </p:nvSpPr>
        <p:spPr>
          <a:xfrm>
            <a:off x="629920" y="3867150"/>
            <a:ext cx="6877685" cy="1938020"/>
          </a:xfrm>
          <a:prstGeom prst="rect">
            <a:avLst/>
          </a:prstGeom>
          <a:noFill/>
        </p:spPr>
        <p:txBody>
          <a:bodyPr wrap="square" rtlCol="0">
            <a:spAutoFit/>
          </a:bodyPr>
          <a:lstStyle/>
          <a:p>
            <a:r>
              <a:rPr lang="zh-CN" altLang="en-US" sz="2400">
                <a:latin typeface="Times New Roman" panose="02020603050405020304" pitchFamily="18" charset="0"/>
                <a:ea typeface="楷体" panose="02010609060101010101" pitchFamily="49" charset="-122"/>
                <a:cs typeface="Times New Roman" panose="02020603050405020304" pitchFamily="18" charset="0"/>
              </a:rPr>
              <a:t>常见的观察方法：</a:t>
            </a:r>
          </a:p>
          <a:p>
            <a:r>
              <a:rPr lang="zh-CN" altLang="en-US" sz="2400">
                <a:latin typeface="Times New Roman" panose="02020603050405020304" pitchFamily="18" charset="0"/>
                <a:ea typeface="楷体" panose="02010609060101010101" pitchFamily="49" charset="-122"/>
                <a:cs typeface="Times New Roman" panose="02020603050405020304" pitchFamily="18" charset="0"/>
              </a:rPr>
              <a:t>采样观察（</a:t>
            </a:r>
            <a:r>
              <a:rPr lang="en-US" altLang="zh-CN" sz="2400">
                <a:latin typeface="Times New Roman" panose="02020603050405020304" pitchFamily="18" charset="0"/>
                <a:ea typeface="楷体" panose="02010609060101010101" pitchFamily="49" charset="-122"/>
                <a:cs typeface="Times New Roman" panose="02020603050405020304" pitchFamily="18" charset="0"/>
              </a:rPr>
              <a:t>Sampling Observation</a:t>
            </a:r>
            <a:r>
              <a:rPr lang="zh-CN" altLang="en-US" sz="2400">
                <a:latin typeface="Times New Roman" panose="02020603050405020304" pitchFamily="18" charset="0"/>
                <a:ea typeface="楷体" panose="02010609060101010101" pitchFamily="49" charset="-122"/>
                <a:cs typeface="Times New Roman" panose="02020603050405020304" pitchFamily="18" charset="0"/>
              </a:rPr>
              <a:t>）</a:t>
            </a:r>
          </a:p>
          <a:p>
            <a:r>
              <a:rPr lang="zh-CN" altLang="en-US" sz="2400">
                <a:latin typeface="Times New Roman" panose="02020603050405020304" pitchFamily="18" charset="0"/>
                <a:ea typeface="楷体" panose="02010609060101010101" pitchFamily="49" charset="-122"/>
                <a:cs typeface="Times New Roman" panose="02020603050405020304" pitchFamily="18" charset="0"/>
              </a:rPr>
              <a:t>民族志（</a:t>
            </a:r>
            <a:r>
              <a:rPr lang="en-US" altLang="zh-CN" sz="2400">
                <a:latin typeface="Times New Roman" panose="02020603050405020304" pitchFamily="18" charset="0"/>
                <a:ea typeface="楷体" panose="02010609060101010101" pitchFamily="49" charset="-122"/>
                <a:cs typeface="Times New Roman" panose="02020603050405020304" pitchFamily="18" charset="0"/>
              </a:rPr>
              <a:t>Ethnography</a:t>
            </a:r>
            <a:r>
              <a:rPr lang="zh-CN" altLang="en-US" sz="2400">
                <a:latin typeface="Times New Roman" panose="02020603050405020304" pitchFamily="18" charset="0"/>
                <a:ea typeface="楷体" panose="02010609060101010101" pitchFamily="49" charset="-122"/>
                <a:cs typeface="Times New Roman" panose="02020603050405020304" pitchFamily="18" charset="0"/>
              </a:rPr>
              <a:t>）</a:t>
            </a:r>
          </a:p>
          <a:p>
            <a:r>
              <a:rPr lang="zh-CN" altLang="en-US" sz="2400">
                <a:latin typeface="Times New Roman" panose="02020603050405020304" pitchFamily="18" charset="0"/>
                <a:ea typeface="楷体" panose="02010609060101010101" pitchFamily="49" charset="-122"/>
                <a:cs typeface="Times New Roman" panose="02020603050405020304" pitchFamily="18" charset="0"/>
              </a:rPr>
              <a:t>话语分析（</a:t>
            </a:r>
            <a:r>
              <a:rPr lang="en-US" altLang="zh-CN" sz="2400">
                <a:latin typeface="Times New Roman" panose="02020603050405020304" pitchFamily="18" charset="0"/>
                <a:ea typeface="楷体" panose="02010609060101010101" pitchFamily="49" charset="-122"/>
                <a:cs typeface="Times New Roman" panose="02020603050405020304" pitchFamily="18" charset="0"/>
              </a:rPr>
              <a:t>Discourse Analysis</a:t>
            </a:r>
            <a:r>
              <a:rPr lang="zh-CN" altLang="en-US" sz="2400">
                <a:latin typeface="Times New Roman" panose="02020603050405020304" pitchFamily="18" charset="0"/>
                <a:ea typeface="楷体" panose="02010609060101010101" pitchFamily="49" charset="-122"/>
                <a:cs typeface="Times New Roman" panose="02020603050405020304" pitchFamily="18" charset="0"/>
              </a:rPr>
              <a:t>）</a:t>
            </a:r>
          </a:p>
          <a:p>
            <a:r>
              <a:rPr lang="zh-CN" altLang="en-US" sz="2400">
                <a:latin typeface="Times New Roman" panose="02020603050405020304" pitchFamily="18" charset="0"/>
                <a:ea typeface="楷体" panose="02010609060101010101" pitchFamily="49" charset="-122"/>
                <a:cs typeface="Times New Roman" panose="02020603050405020304" pitchFamily="18" charset="0"/>
              </a:rPr>
              <a:t>协议分析（</a:t>
            </a:r>
            <a:r>
              <a:rPr lang="en-US" altLang="zh-CN" sz="2400">
                <a:latin typeface="Times New Roman" panose="02020603050405020304" pitchFamily="18" charset="0"/>
                <a:ea typeface="楷体" panose="02010609060101010101" pitchFamily="49" charset="-122"/>
                <a:cs typeface="Times New Roman" panose="02020603050405020304" pitchFamily="18" charset="0"/>
              </a:rPr>
              <a:t>Protocol Analysis</a:t>
            </a:r>
            <a:r>
              <a:rPr lang="zh-CN" altLang="en-US" sz="2400">
                <a:latin typeface="Times New Roman" panose="02020603050405020304" pitchFamily="18" charset="0"/>
                <a:ea typeface="楷体" panose="02010609060101010101" pitchFamily="49" charset="-122"/>
                <a:cs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观察法的应用场景</a:t>
            </a:r>
          </a:p>
        </p:txBody>
      </p:sp>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观察</a:t>
            </a:r>
          </a:p>
        </p:txBody>
      </p:sp>
      <p:sp>
        <p:nvSpPr>
          <p:cNvPr id="11" name="文本框 10"/>
          <p:cNvSpPr txBox="1"/>
          <p:nvPr/>
        </p:nvSpPr>
        <p:spPr>
          <a:xfrm>
            <a:off x="628650" y="1354455"/>
            <a:ext cx="6359525" cy="1938020"/>
          </a:xfrm>
          <a:prstGeom prst="rect">
            <a:avLst/>
          </a:prstGeom>
          <a:noFill/>
          <a:ln>
            <a:solidFill>
              <a:schemeClr val="accent1"/>
            </a:solidFill>
          </a:ln>
        </p:spPr>
        <p:txBody>
          <a:bodyPr wrap="square" rtlCol="0">
            <a:spAutoFit/>
          </a:bodyPr>
          <a:lstStyle/>
          <a:p>
            <a:pPr marL="342900" indent="-342900">
              <a:buFont typeface="Arial" panose="020B0604020202020204" pitchFamily="34" charset="0"/>
              <a:buChar char="•"/>
            </a:pPr>
            <a:r>
              <a:rPr lang="zh-CN" altLang="en-US" sz="2400">
                <a:latin typeface="Times New Roman" panose="02020603050405020304" pitchFamily="18" charset="0"/>
                <a:ea typeface="楷体" panose="02010609060101010101" pitchFamily="49" charset="-122"/>
                <a:cs typeface="Times New Roman" panose="02020603050405020304" pitchFamily="18" charset="0"/>
              </a:rPr>
              <a:t>理解复杂的协同事件</a:t>
            </a:r>
          </a:p>
          <a:p>
            <a:pPr marL="342900" indent="-342900">
              <a:buFont typeface="Arial" panose="020B0604020202020204" pitchFamily="34" charset="0"/>
              <a:buChar char="•"/>
            </a:pPr>
            <a:r>
              <a:rPr lang="zh-CN" altLang="en-US" sz="2400">
                <a:latin typeface="Times New Roman" panose="02020603050405020304" pitchFamily="18" charset="0"/>
                <a:ea typeface="楷体" panose="02010609060101010101" pitchFamily="49" charset="-122"/>
                <a:cs typeface="Times New Roman" panose="02020603050405020304" pitchFamily="18" charset="0"/>
              </a:rPr>
              <a:t>获取工作中的异常处理</a:t>
            </a:r>
          </a:p>
          <a:p>
            <a:pPr marL="342900" indent="-342900">
              <a:buFont typeface="Arial" panose="020B0604020202020204" pitchFamily="34" charset="0"/>
              <a:buChar char="•"/>
            </a:pPr>
            <a:r>
              <a:rPr lang="zh-CN" altLang="en-US" sz="2400">
                <a:latin typeface="Times New Roman" panose="02020603050405020304" pitchFamily="18" charset="0"/>
                <a:ea typeface="楷体" panose="02010609060101010101" pitchFamily="49" charset="-122"/>
                <a:cs typeface="Times New Roman" panose="02020603050405020304" pitchFamily="18" charset="0"/>
              </a:rPr>
              <a:t>获取与用用户认知不一致的实际知识</a:t>
            </a:r>
          </a:p>
          <a:p>
            <a:pPr marL="342900" indent="-342900">
              <a:buFont typeface="Arial" panose="020B0604020202020204" pitchFamily="34" charset="0"/>
              <a:buChar char="•"/>
            </a:pPr>
            <a:r>
              <a:rPr lang="zh-CN" altLang="en-US" sz="2400">
                <a:latin typeface="Times New Roman" panose="02020603050405020304" pitchFamily="18" charset="0"/>
                <a:ea typeface="楷体" panose="02010609060101010101" pitchFamily="49" charset="-122"/>
                <a:cs typeface="Times New Roman" panose="02020603050405020304" pitchFamily="18" charset="0"/>
              </a:rPr>
              <a:t>了解用户的认知</a:t>
            </a:r>
          </a:p>
          <a:p>
            <a:pPr marL="342900" indent="-342900">
              <a:buFont typeface="Arial" panose="020B0604020202020204" pitchFamily="34" charset="0"/>
              <a:buChar char="•"/>
            </a:pPr>
            <a:r>
              <a:rPr lang="zh-CN" altLang="en-US" sz="2400">
                <a:latin typeface="Times New Roman" panose="02020603050405020304" pitchFamily="18" charset="0"/>
                <a:ea typeface="楷体" panose="02010609060101010101" pitchFamily="49" charset="-122"/>
                <a:cs typeface="Times New Roman" panose="02020603050405020304" pitchFamily="18" charset="0"/>
              </a:rPr>
              <a:t>获取默会（</a:t>
            </a:r>
            <a:r>
              <a:rPr lang="en-US" altLang="zh-CN" sz="2400">
                <a:latin typeface="Times New Roman" panose="02020603050405020304" pitchFamily="18" charset="0"/>
                <a:ea typeface="楷体" panose="02010609060101010101" pitchFamily="49" charset="-122"/>
                <a:cs typeface="Times New Roman" panose="02020603050405020304" pitchFamily="18" charset="0"/>
              </a:rPr>
              <a:t>tactic</a:t>
            </a:r>
            <a:r>
              <a:rPr lang="zh-CN" altLang="en-US" sz="2400">
                <a:latin typeface="Times New Roman" panose="02020603050405020304" pitchFamily="18" charset="0"/>
                <a:ea typeface="楷体" panose="02010609060101010101" pitchFamily="49" charset="-122"/>
                <a:cs typeface="Times New Roman" panose="02020603050405020304" pitchFamily="18" charset="0"/>
              </a:rPr>
              <a:t>）知识</a:t>
            </a:r>
          </a:p>
        </p:txBody>
      </p:sp>
      <p:sp>
        <p:nvSpPr>
          <p:cNvPr id="12" name="文本框 11"/>
          <p:cNvSpPr txBox="1"/>
          <p:nvPr/>
        </p:nvSpPr>
        <p:spPr>
          <a:xfrm>
            <a:off x="662940" y="3820795"/>
            <a:ext cx="6325235" cy="1938020"/>
          </a:xfrm>
          <a:prstGeom prst="rect">
            <a:avLst/>
          </a:prstGeom>
          <a:noFill/>
          <a:ln>
            <a:solidFill>
              <a:schemeClr val="accent1"/>
            </a:solidFill>
          </a:ln>
        </p:spPr>
        <p:txBody>
          <a:bodyPr wrap="square" rtlCol="0">
            <a:spAutoFit/>
          </a:bodyPr>
          <a:lstStyle/>
          <a:p>
            <a:pPr indent="457200"/>
            <a:r>
              <a:rPr lang="zh-CN" altLang="en-US" sz="2000">
                <a:latin typeface="楷体" panose="02010609060101010101" pitchFamily="49" charset="-122"/>
                <a:ea typeface="楷体" panose="02010609060101010101" pitchFamily="49" charset="-122"/>
              </a:rPr>
              <a:t>观察方法特别适用于解决情景性问题，</a:t>
            </a:r>
            <a:r>
              <a:rPr lang="zh-CN" altLang="en-US" sz="2000" b="1">
                <a:solidFill>
                  <a:srgbClr val="7030A0"/>
                </a:solidFill>
                <a:latin typeface="楷体" panose="02010609060101010101" pitchFamily="49" charset="-122"/>
                <a:ea typeface="楷体" panose="02010609060101010101" pitchFamily="49" charset="-122"/>
              </a:rPr>
              <a:t>尤其是那些需要理解复杂协同事件、异常处理流程、用户认知与实际差异</a:t>
            </a:r>
            <a:r>
              <a:rPr lang="zh-CN" altLang="en-US" sz="2000">
                <a:latin typeface="楷体" panose="02010609060101010101" pitchFamily="49" charset="-122"/>
                <a:ea typeface="楷体" panose="02010609060101010101" pitchFamily="49" charset="-122"/>
              </a:rPr>
              <a:t>等问题。</a:t>
            </a:r>
          </a:p>
          <a:p>
            <a:pPr indent="457200"/>
            <a:r>
              <a:rPr lang="zh-CN" altLang="en-US" sz="2000">
                <a:latin typeface="楷体" panose="02010609060101010101" pitchFamily="49" charset="-122"/>
                <a:ea typeface="楷体" panose="02010609060101010101" pitchFamily="49" charset="-122"/>
              </a:rPr>
              <a:t>通过长时间、系统的观察，需求工程师能够深入了解工作环境、工作实践和用户行为，从而获得那些用户不易主动表达或意识不到的需求信息。</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1" grpId="1" animBg="1"/>
      <p:bldP spid="12" grpId="0" bldLvl="0" animBg="1"/>
      <p:bldP spid="12" grpId="1"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观察</a:t>
            </a:r>
          </a:p>
        </p:txBody>
      </p:sp>
      <p:graphicFrame>
        <p:nvGraphicFramePr>
          <p:cNvPr id="8" name="表格 7"/>
          <p:cNvGraphicFramePr/>
          <p:nvPr>
            <p:custDataLst>
              <p:tags r:id="rId1"/>
            </p:custDataLst>
          </p:nvPr>
        </p:nvGraphicFramePr>
        <p:xfrm>
          <a:off x="791210" y="763270"/>
          <a:ext cx="7579995" cy="5063490"/>
        </p:xfrm>
        <a:graphic>
          <a:graphicData uri="http://schemas.openxmlformats.org/drawingml/2006/table">
            <a:tbl>
              <a:tblPr firstRow="1" bandRow="1">
                <a:tableStyleId>{5C22544A-7EE6-4342-B048-85BDC9FD1C3A}</a:tableStyleId>
              </a:tblPr>
              <a:tblGrid>
                <a:gridCol w="1082040">
                  <a:extLst>
                    <a:ext uri="{9D8B030D-6E8A-4147-A177-3AD203B41FA5}">
                      <a16:colId xmlns:a16="http://schemas.microsoft.com/office/drawing/2014/main" val="20000"/>
                    </a:ext>
                  </a:extLst>
                </a:gridCol>
                <a:gridCol w="1210945">
                  <a:extLst>
                    <a:ext uri="{9D8B030D-6E8A-4147-A177-3AD203B41FA5}">
                      <a16:colId xmlns:a16="http://schemas.microsoft.com/office/drawing/2014/main" val="20001"/>
                    </a:ext>
                  </a:extLst>
                </a:gridCol>
                <a:gridCol w="5287010">
                  <a:extLst>
                    <a:ext uri="{9D8B030D-6E8A-4147-A177-3AD203B41FA5}">
                      <a16:colId xmlns:a16="http://schemas.microsoft.com/office/drawing/2014/main" val="20002"/>
                    </a:ext>
                  </a:extLst>
                </a:gridCol>
              </a:tblGrid>
              <a:tr h="406400">
                <a:tc>
                  <a:txBody>
                    <a:bodyPr/>
                    <a:lstStyle/>
                    <a:p>
                      <a:pPr algn="ctr">
                        <a:buNone/>
                      </a:pPr>
                      <a:r>
                        <a:rPr lang="zh-CN" altLang="en-US" sz="1600">
                          <a:latin typeface="楷体" panose="02010609060101010101" pitchFamily="49" charset="-122"/>
                          <a:ea typeface="楷体" panose="02010609060101010101" pitchFamily="49" charset="-122"/>
                        </a:rPr>
                        <a:t>方法</a:t>
                      </a:r>
                    </a:p>
                  </a:txBody>
                  <a:tcPr anchor="ctr"/>
                </a:tc>
                <a:tc>
                  <a:txBody>
                    <a:bodyPr/>
                    <a:lstStyle/>
                    <a:p>
                      <a:pPr algn="ctr">
                        <a:buNone/>
                      </a:pPr>
                      <a:r>
                        <a:rPr lang="zh-CN" altLang="en-US" sz="1600">
                          <a:latin typeface="楷体" panose="02010609060101010101" pitchFamily="49" charset="-122"/>
                          <a:ea typeface="楷体" panose="02010609060101010101" pitchFamily="49" charset="-122"/>
                        </a:rPr>
                        <a:t>情境性性质</a:t>
                      </a:r>
                    </a:p>
                  </a:txBody>
                  <a:tcPr anchor="ctr"/>
                </a:tc>
                <a:tc>
                  <a:txBody>
                    <a:bodyPr/>
                    <a:lstStyle/>
                    <a:p>
                      <a:pPr algn="ctr">
                        <a:buNone/>
                      </a:pPr>
                      <a:r>
                        <a:rPr lang="zh-CN" altLang="en-US" sz="1600">
                          <a:latin typeface="楷体" panose="02010609060101010101" pitchFamily="49" charset="-122"/>
                          <a:ea typeface="楷体" panose="02010609060101010101" pitchFamily="49" charset="-122"/>
                        </a:rPr>
                        <a:t>描述</a:t>
                      </a:r>
                    </a:p>
                  </a:txBody>
                  <a:tcPr anchor="ctr"/>
                </a:tc>
                <a:extLst>
                  <a:ext uri="{0D108BD9-81ED-4DB2-BD59-A6C34878D82A}">
                    <a16:rowId xmlns:a16="http://schemas.microsoft.com/office/drawing/2014/main" val="10000"/>
                  </a:ext>
                </a:extLst>
              </a:tr>
              <a:tr h="381000">
                <a:tc rowSpan="3">
                  <a:txBody>
                    <a:bodyPr/>
                    <a:lstStyle/>
                    <a:p>
                      <a:pPr algn="l">
                        <a:buNone/>
                      </a:pPr>
                      <a:r>
                        <a:rPr lang="zh-CN" altLang="en-US" sz="1600">
                          <a:latin typeface="楷体" panose="02010609060101010101" pitchFamily="49" charset="-122"/>
                          <a:ea typeface="楷体" panose="02010609060101010101" pitchFamily="49" charset="-122"/>
                        </a:rPr>
                        <a:t>采样观察</a:t>
                      </a:r>
                    </a:p>
                  </a:txBody>
                  <a:tcPr anchor="ctr"/>
                </a:tc>
                <a:tc>
                  <a:txBody>
                    <a:bodyPr/>
                    <a:lstStyle/>
                    <a:p>
                      <a:pPr algn="ctr">
                        <a:buNone/>
                      </a:pPr>
                      <a:r>
                        <a:rPr lang="zh-CN" altLang="en-US" sz="1600">
                          <a:latin typeface="楷体" panose="02010609060101010101" pitchFamily="49" charset="-122"/>
                          <a:ea typeface="楷体" panose="02010609060101010101" pitchFamily="49" charset="-122"/>
                        </a:rPr>
                        <a:t>局部</a:t>
                      </a:r>
                    </a:p>
                  </a:txBody>
                  <a:tcPr anchor="ctr"/>
                </a:tc>
                <a:tc>
                  <a:txBody>
                    <a:bodyPr/>
                    <a:lstStyle/>
                    <a:p>
                      <a:pPr algn="l">
                        <a:buNone/>
                      </a:pPr>
                      <a:r>
                        <a:rPr lang="zh-CN" altLang="en-US" sz="1600">
                          <a:latin typeface="楷体" panose="02010609060101010101" pitchFamily="49" charset="-122"/>
                          <a:ea typeface="楷体" panose="02010609060101010101" pitchFamily="49" charset="-122"/>
                        </a:rPr>
                        <a:t>对工作进行一段时间的观察，发现其中的异常处理</a:t>
                      </a:r>
                    </a:p>
                  </a:txBody>
                  <a:tcPr anchor="ctr"/>
                </a:tc>
                <a:extLst>
                  <a:ext uri="{0D108BD9-81ED-4DB2-BD59-A6C34878D82A}">
                    <a16:rowId xmlns:a16="http://schemas.microsoft.com/office/drawing/2014/main" val="10001"/>
                  </a:ext>
                </a:extLst>
              </a:tr>
              <a:tr h="640080">
                <a:tc vMerge="1">
                  <a:txBody>
                    <a:bodyPr/>
                    <a:lstStyle/>
                    <a:p>
                      <a:endParaRPr lang="zh-CN"/>
                    </a:p>
                  </a:txBody>
                  <a:tcPr/>
                </a:tc>
                <a:tc>
                  <a:txBody>
                    <a:bodyPr/>
                    <a:lstStyle/>
                    <a:p>
                      <a:pPr algn="ctr">
                        <a:buNone/>
                      </a:pPr>
                      <a:r>
                        <a:rPr lang="zh-CN" altLang="en-US" sz="1600">
                          <a:latin typeface="楷体" panose="02010609060101010101" pitchFamily="49" charset="-122"/>
                          <a:ea typeface="楷体" panose="02010609060101010101" pitchFamily="49" charset="-122"/>
                        </a:rPr>
                        <a:t>暂时</a:t>
                      </a:r>
                    </a:p>
                  </a:txBody>
                  <a:tcPr anchor="ctr"/>
                </a:tc>
                <a:tc>
                  <a:txBody>
                    <a:bodyPr/>
                    <a:lstStyle/>
                    <a:p>
                      <a:pPr algn="l">
                        <a:buNone/>
                      </a:pPr>
                      <a:r>
                        <a:rPr lang="zh-CN" altLang="en-US" sz="1600">
                          <a:latin typeface="楷体" panose="02010609060101010101" pitchFamily="49" charset="-122"/>
                          <a:ea typeface="楷体" panose="02010609060101010101" pitchFamily="49" charset="-122"/>
                        </a:rPr>
                        <a:t>对实际工作进行观察，发现并纠正其与规章、手册或者用户意识中的不一致</a:t>
                      </a:r>
                    </a:p>
                  </a:txBody>
                  <a:tcPr anchor="ctr"/>
                </a:tc>
                <a:extLst>
                  <a:ext uri="{0D108BD9-81ED-4DB2-BD59-A6C34878D82A}">
                    <a16:rowId xmlns:a16="http://schemas.microsoft.com/office/drawing/2014/main" val="10002"/>
                  </a:ext>
                </a:extLst>
              </a:tr>
              <a:tr h="409575">
                <a:tc vMerge="1">
                  <a:txBody>
                    <a:bodyPr/>
                    <a:lstStyle/>
                    <a:p>
                      <a:endParaRPr lang="zh-CN"/>
                    </a:p>
                  </a:txBody>
                  <a:tcPr/>
                </a:tc>
                <a:tc>
                  <a:txBody>
                    <a:bodyPr/>
                    <a:lstStyle/>
                    <a:p>
                      <a:pPr algn="ctr">
                        <a:buNone/>
                      </a:pPr>
                      <a:r>
                        <a:rPr lang="zh-CN" altLang="en-US" sz="1600">
                          <a:latin typeface="楷体" panose="02010609060101010101" pitchFamily="49" charset="-122"/>
                          <a:ea typeface="楷体" panose="02010609060101010101" pitchFamily="49" charset="-122"/>
                        </a:rPr>
                        <a:t>模糊</a:t>
                      </a:r>
                    </a:p>
                  </a:txBody>
                  <a:tcPr anchor="ctr"/>
                </a:tc>
                <a:tc>
                  <a:txBody>
                    <a:bodyPr/>
                    <a:lstStyle/>
                    <a:p>
                      <a:pPr algn="l">
                        <a:buNone/>
                      </a:pPr>
                      <a:r>
                        <a:rPr lang="zh-CN" altLang="en-US" sz="1600">
                          <a:latin typeface="楷体" panose="02010609060101010101" pitchFamily="49" charset="-122"/>
                          <a:ea typeface="楷体" panose="02010609060101010101" pitchFamily="49" charset="-122"/>
                        </a:rPr>
                        <a:t>观察特殊事件的进行，发现用户工作中的默会知识</a:t>
                      </a:r>
                    </a:p>
                  </a:txBody>
                  <a:tcPr anchor="ctr"/>
                </a:tc>
                <a:extLst>
                  <a:ext uri="{0D108BD9-81ED-4DB2-BD59-A6C34878D82A}">
                    <a16:rowId xmlns:a16="http://schemas.microsoft.com/office/drawing/2014/main" val="10003"/>
                  </a:ext>
                </a:extLst>
              </a:tr>
              <a:tr h="381635">
                <a:tc rowSpan="5">
                  <a:txBody>
                    <a:bodyPr/>
                    <a:lstStyle/>
                    <a:p>
                      <a:pPr algn="l">
                        <a:buNone/>
                      </a:pPr>
                      <a:r>
                        <a:rPr lang="zh-CN" altLang="en-US" sz="1600">
                          <a:latin typeface="楷体" panose="02010609060101010101" pitchFamily="49" charset="-122"/>
                          <a:ea typeface="楷体" panose="02010609060101010101" pitchFamily="49" charset="-122"/>
                        </a:rPr>
                        <a:t>民族志</a:t>
                      </a:r>
                    </a:p>
                  </a:txBody>
                  <a:tcPr anchor="ctr"/>
                </a:tc>
                <a:tc>
                  <a:txBody>
                    <a:bodyPr/>
                    <a:lstStyle/>
                    <a:p>
                      <a:pPr algn="ctr">
                        <a:buNone/>
                      </a:pPr>
                      <a:r>
                        <a:rPr lang="zh-CN" altLang="en-US" sz="1600">
                          <a:latin typeface="楷体" panose="02010609060101010101" pitchFamily="49" charset="-122"/>
                          <a:ea typeface="楷体" panose="02010609060101010101" pitchFamily="49" charset="-122"/>
                        </a:rPr>
                        <a:t>突现</a:t>
                      </a:r>
                    </a:p>
                  </a:txBody>
                  <a:tcPr anchor="ctr"/>
                </a:tc>
                <a:tc>
                  <a:txBody>
                    <a:bodyPr/>
                    <a:lstStyle/>
                    <a:p>
                      <a:pPr algn="l">
                        <a:buNone/>
                      </a:pPr>
                      <a:r>
                        <a:rPr lang="zh-CN" altLang="en-US" sz="1600">
                          <a:latin typeface="楷体" panose="02010609060101010101" pitchFamily="49" charset="-122"/>
                          <a:ea typeface="楷体" panose="02010609060101010101" pitchFamily="49" charset="-122"/>
                        </a:rPr>
                        <a:t>通过观察，分析群体的互动，理解复杂的协同事件</a:t>
                      </a:r>
                    </a:p>
                  </a:txBody>
                  <a:tcPr anchor="ctr"/>
                </a:tc>
                <a:extLst>
                  <a:ext uri="{0D108BD9-81ED-4DB2-BD59-A6C34878D82A}">
                    <a16:rowId xmlns:a16="http://schemas.microsoft.com/office/drawing/2014/main" val="10004"/>
                  </a:ext>
                </a:extLst>
              </a:tr>
              <a:tr h="640080">
                <a:tc vMerge="1">
                  <a:txBody>
                    <a:bodyPr/>
                    <a:lstStyle/>
                    <a:p>
                      <a:endParaRPr lang="zh-CN"/>
                    </a:p>
                  </a:txBody>
                  <a:tcPr/>
                </a:tc>
                <a:tc>
                  <a:txBody>
                    <a:bodyPr/>
                    <a:lstStyle/>
                    <a:p>
                      <a:pPr algn="ctr">
                        <a:buNone/>
                      </a:pPr>
                      <a:r>
                        <a:rPr lang="zh-CN" altLang="en-US" sz="1600">
                          <a:latin typeface="楷体" panose="02010609060101010101" pitchFamily="49" charset="-122"/>
                          <a:ea typeface="楷体" panose="02010609060101010101" pitchFamily="49" charset="-122"/>
                        </a:rPr>
                        <a:t>局部</a:t>
                      </a:r>
                    </a:p>
                  </a:txBody>
                  <a:tcPr anchor="ctr"/>
                </a:tc>
                <a:tc>
                  <a:txBody>
                    <a:bodyPr/>
                    <a:lstStyle/>
                    <a:p>
                      <a:pPr algn="l">
                        <a:buNone/>
                      </a:pPr>
                      <a:r>
                        <a:rPr lang="zh-CN" altLang="en-US" sz="1600">
                          <a:latin typeface="楷体" panose="02010609060101010101" pitchFamily="49" charset="-122"/>
                          <a:ea typeface="楷体" panose="02010609060101010101" pitchFamily="49" charset="-122"/>
                        </a:rPr>
                        <a:t>长时间的观察，可以发现各种情况下的异常处理和特殊情况处理</a:t>
                      </a:r>
                    </a:p>
                  </a:txBody>
                  <a:tcPr anchor="ctr"/>
                </a:tc>
                <a:extLst>
                  <a:ext uri="{0D108BD9-81ED-4DB2-BD59-A6C34878D82A}">
                    <a16:rowId xmlns:a16="http://schemas.microsoft.com/office/drawing/2014/main" val="10005"/>
                  </a:ext>
                </a:extLst>
              </a:tr>
              <a:tr h="405765">
                <a:tc vMerge="1">
                  <a:txBody>
                    <a:bodyPr/>
                    <a:lstStyle/>
                    <a:p>
                      <a:endParaRPr lang="zh-CN"/>
                    </a:p>
                  </a:txBody>
                  <a:tcPr/>
                </a:tc>
                <a:tc>
                  <a:txBody>
                    <a:bodyPr/>
                    <a:lstStyle/>
                    <a:p>
                      <a:pPr algn="ctr">
                        <a:buNone/>
                      </a:pPr>
                      <a:r>
                        <a:rPr lang="zh-CN" altLang="en-US" sz="1600">
                          <a:latin typeface="楷体" panose="02010609060101010101" pitchFamily="49" charset="-122"/>
                          <a:ea typeface="楷体" panose="02010609060101010101" pitchFamily="49" charset="-122"/>
                        </a:rPr>
                        <a:t>暂时</a:t>
                      </a:r>
                    </a:p>
                  </a:txBody>
                  <a:tcPr anchor="ctr"/>
                </a:tc>
                <a:tc>
                  <a:txBody>
                    <a:bodyPr/>
                    <a:lstStyle/>
                    <a:p>
                      <a:pPr algn="l">
                        <a:buNone/>
                      </a:pPr>
                      <a:r>
                        <a:rPr lang="zh-CN" altLang="en-US" sz="1600">
                          <a:latin typeface="楷体" panose="02010609060101010101" pitchFamily="49" charset="-122"/>
                          <a:ea typeface="楷体" panose="02010609060101010101" pitchFamily="49" charset="-122"/>
                        </a:rPr>
                        <a:t>对实际工作进行观察，发现并纠正其与规章、手册或者用户意识中的不一致</a:t>
                      </a:r>
                    </a:p>
                  </a:txBody>
                  <a:tcPr anchor="ctr"/>
                </a:tc>
                <a:extLst>
                  <a:ext uri="{0D108BD9-81ED-4DB2-BD59-A6C34878D82A}">
                    <a16:rowId xmlns:a16="http://schemas.microsoft.com/office/drawing/2014/main" val="10006"/>
                  </a:ext>
                </a:extLst>
              </a:tr>
              <a:tr h="406400">
                <a:tc vMerge="1">
                  <a:txBody>
                    <a:bodyPr/>
                    <a:lstStyle/>
                    <a:p>
                      <a:endParaRPr lang="zh-CN"/>
                    </a:p>
                  </a:txBody>
                  <a:tcPr/>
                </a:tc>
                <a:tc>
                  <a:txBody>
                    <a:bodyPr/>
                    <a:lstStyle/>
                    <a:p>
                      <a:pPr algn="ctr">
                        <a:buNone/>
                      </a:pPr>
                      <a:r>
                        <a:rPr lang="zh-CN" altLang="en-US" sz="1600">
                          <a:latin typeface="楷体" panose="02010609060101010101" pitchFamily="49" charset="-122"/>
                          <a:ea typeface="楷体" panose="02010609060101010101" pitchFamily="49" charset="-122"/>
                        </a:rPr>
                        <a:t>涉身</a:t>
                      </a:r>
                    </a:p>
                  </a:txBody>
                  <a:tcPr anchor="ctr"/>
                </a:tc>
                <a:tc>
                  <a:txBody>
                    <a:bodyPr/>
                    <a:lstStyle/>
                    <a:p>
                      <a:pPr algn="l">
                        <a:buNone/>
                      </a:pPr>
                      <a:r>
                        <a:rPr lang="zh-CN" altLang="en-US" sz="1600">
                          <a:latin typeface="楷体" panose="02010609060101010101" pitchFamily="49" charset="-122"/>
                          <a:ea typeface="楷体" panose="02010609060101010101" pitchFamily="49" charset="-122"/>
                        </a:rPr>
                        <a:t>在观察中学习，了解用户本身的认知和能力</a:t>
                      </a:r>
                    </a:p>
                  </a:txBody>
                  <a:tcPr anchor="ctr"/>
                </a:tc>
                <a:extLst>
                  <a:ext uri="{0D108BD9-81ED-4DB2-BD59-A6C34878D82A}">
                    <a16:rowId xmlns:a16="http://schemas.microsoft.com/office/drawing/2014/main" val="10007"/>
                  </a:ext>
                </a:extLst>
              </a:tr>
              <a:tr h="406400">
                <a:tc vMerge="1">
                  <a:txBody>
                    <a:bodyPr/>
                    <a:lstStyle/>
                    <a:p>
                      <a:endParaRPr lang="zh-CN"/>
                    </a:p>
                  </a:txBody>
                  <a:tcPr/>
                </a:tc>
                <a:tc>
                  <a:txBody>
                    <a:bodyPr/>
                    <a:lstStyle/>
                    <a:p>
                      <a:pPr algn="ctr">
                        <a:buNone/>
                      </a:pPr>
                      <a:r>
                        <a:rPr lang="zh-CN" altLang="en-US" sz="1600">
                          <a:latin typeface="楷体" panose="02010609060101010101" pitchFamily="49" charset="-122"/>
                          <a:ea typeface="楷体" panose="02010609060101010101" pitchFamily="49" charset="-122"/>
                        </a:rPr>
                        <a:t>模糊</a:t>
                      </a:r>
                    </a:p>
                  </a:txBody>
                  <a:tcPr anchor="ctr"/>
                </a:tc>
                <a:tc>
                  <a:txBody>
                    <a:bodyPr/>
                    <a:lstStyle/>
                    <a:p>
                      <a:pPr algn="l">
                        <a:buNone/>
                      </a:pPr>
                      <a:r>
                        <a:rPr lang="zh-CN" altLang="en-US" sz="1600">
                          <a:latin typeface="楷体" panose="02010609060101010101" pitchFamily="49" charset="-122"/>
                          <a:ea typeface="楷体" panose="02010609060101010101" pitchFamily="49" charset="-122"/>
                        </a:rPr>
                        <a:t>了解各种基础的细节，能够发现用户工作中的默会知识</a:t>
                      </a:r>
                    </a:p>
                  </a:txBody>
                  <a:tcPr anchor="ctr"/>
                </a:tc>
                <a:extLst>
                  <a:ext uri="{0D108BD9-81ED-4DB2-BD59-A6C34878D82A}">
                    <a16:rowId xmlns:a16="http://schemas.microsoft.com/office/drawing/2014/main" val="10008"/>
                  </a:ext>
                </a:extLst>
              </a:tr>
              <a:tr h="406400">
                <a:tc>
                  <a:txBody>
                    <a:bodyPr/>
                    <a:lstStyle/>
                    <a:p>
                      <a:pPr algn="l">
                        <a:buNone/>
                      </a:pPr>
                      <a:r>
                        <a:rPr lang="zh-CN" altLang="en-US" sz="1600">
                          <a:latin typeface="楷体" panose="02010609060101010101" pitchFamily="49" charset="-122"/>
                          <a:ea typeface="楷体" panose="02010609060101010101" pitchFamily="49" charset="-122"/>
                        </a:rPr>
                        <a:t>会话分析</a:t>
                      </a:r>
                    </a:p>
                  </a:txBody>
                  <a:tcPr anchor="ctr"/>
                </a:tc>
                <a:tc>
                  <a:txBody>
                    <a:bodyPr/>
                    <a:lstStyle/>
                    <a:p>
                      <a:pPr algn="ctr">
                        <a:buNone/>
                      </a:pPr>
                      <a:r>
                        <a:rPr lang="zh-CN" altLang="en-US" sz="1600">
                          <a:latin typeface="楷体" panose="02010609060101010101" pitchFamily="49" charset="-122"/>
                          <a:ea typeface="楷体" panose="02010609060101010101" pitchFamily="49" charset="-122"/>
                        </a:rPr>
                        <a:t>涉身</a:t>
                      </a:r>
                    </a:p>
                  </a:txBody>
                  <a:tcPr anchor="ctr"/>
                </a:tc>
                <a:tc>
                  <a:txBody>
                    <a:bodyPr/>
                    <a:lstStyle/>
                    <a:p>
                      <a:pPr algn="l">
                        <a:buNone/>
                      </a:pPr>
                      <a:r>
                        <a:rPr lang="zh-CN" altLang="en-US" sz="1600">
                          <a:latin typeface="楷体" panose="02010609060101010101" pitchFamily="49" charset="-122"/>
                          <a:ea typeface="楷体" panose="02010609060101010101" pitchFamily="49" charset="-122"/>
                        </a:rPr>
                        <a:t>通过分析用户交谈发现用户的认知和能力</a:t>
                      </a:r>
                    </a:p>
                  </a:txBody>
                  <a:tcPr anchor="ctr"/>
                </a:tc>
                <a:extLst>
                  <a:ext uri="{0D108BD9-81ED-4DB2-BD59-A6C34878D82A}">
                    <a16:rowId xmlns:a16="http://schemas.microsoft.com/office/drawing/2014/main" val="10009"/>
                  </a:ext>
                </a:extLst>
              </a:tr>
              <a:tr h="406400">
                <a:tc>
                  <a:txBody>
                    <a:bodyPr/>
                    <a:lstStyle/>
                    <a:p>
                      <a:pPr algn="l">
                        <a:buNone/>
                      </a:pPr>
                      <a:r>
                        <a:rPr lang="zh-CN" altLang="en-US" sz="1600">
                          <a:latin typeface="楷体" panose="02010609060101010101" pitchFamily="49" charset="-122"/>
                          <a:ea typeface="楷体" panose="02010609060101010101" pitchFamily="49" charset="-122"/>
                        </a:rPr>
                        <a:t>协议分析</a:t>
                      </a:r>
                    </a:p>
                  </a:txBody>
                  <a:tcPr anchor="ctr"/>
                </a:tc>
                <a:tc>
                  <a:txBody>
                    <a:bodyPr/>
                    <a:lstStyle/>
                    <a:p>
                      <a:pPr algn="ctr">
                        <a:buNone/>
                      </a:pPr>
                      <a:r>
                        <a:rPr lang="zh-CN" altLang="en-US" sz="1600">
                          <a:latin typeface="楷体" panose="02010609060101010101" pitchFamily="49" charset="-122"/>
                          <a:ea typeface="楷体" panose="02010609060101010101" pitchFamily="49" charset="-122"/>
                        </a:rPr>
                        <a:t>模糊</a:t>
                      </a:r>
                    </a:p>
                  </a:txBody>
                  <a:tcPr anchor="ctr"/>
                </a:tc>
                <a:tc>
                  <a:txBody>
                    <a:bodyPr/>
                    <a:lstStyle/>
                    <a:p>
                      <a:pPr algn="l">
                        <a:buNone/>
                      </a:pPr>
                      <a:r>
                        <a:rPr lang="zh-CN" altLang="en-US" sz="1600">
                          <a:latin typeface="楷体" panose="02010609060101010101" pitchFamily="49" charset="-122"/>
                          <a:ea typeface="楷体" panose="02010609060101010101" pitchFamily="49" charset="-122"/>
                        </a:rPr>
                        <a:t>发现用户工作中的默会知识</a:t>
                      </a:r>
                    </a:p>
                  </a:txBody>
                  <a:tcPr anchor="ctr"/>
                </a:tc>
                <a:extLst>
                  <a:ext uri="{0D108BD9-81ED-4DB2-BD59-A6C34878D82A}">
                    <a16:rowId xmlns:a16="http://schemas.microsoft.com/office/drawing/2014/main" val="10010"/>
                  </a:ext>
                </a:extLst>
              </a:tr>
            </a:tbl>
          </a:graphicData>
        </a:graphic>
      </p:graphicFrame>
      <p:sp>
        <p:nvSpPr>
          <p:cNvPr id="3" name="文本框 2"/>
          <p:cNvSpPr txBox="1"/>
          <p:nvPr/>
        </p:nvSpPr>
        <p:spPr>
          <a:xfrm>
            <a:off x="2527300" y="5908675"/>
            <a:ext cx="4108450" cy="368300"/>
          </a:xfrm>
          <a:prstGeom prst="rect">
            <a:avLst/>
          </a:prstGeom>
          <a:noFill/>
        </p:spPr>
        <p:txBody>
          <a:bodyPr wrap="square" rtlCol="0">
            <a:spAutoFit/>
          </a:bodyPr>
          <a:lstStyle/>
          <a:p>
            <a:r>
              <a:rPr lang="zh-CN" altLang="en-US">
                <a:latin typeface="楷体" panose="02010609060101010101" pitchFamily="49" charset="-122"/>
                <a:ea typeface="楷体" panose="02010609060101010101" pitchFamily="49" charset="-122"/>
                <a:cs typeface="楷体" panose="02010609060101010101" pitchFamily="49" charset="-122"/>
              </a:rPr>
              <a:t>表</a:t>
            </a:r>
            <a:r>
              <a:rPr lang="en-US" altLang="zh-CN">
                <a:latin typeface="楷体" panose="02010609060101010101" pitchFamily="49" charset="-122"/>
                <a:ea typeface="楷体" panose="02010609060101010101" pitchFamily="49" charset="-122"/>
                <a:cs typeface="楷体" panose="02010609060101010101" pitchFamily="49" charset="-122"/>
              </a:rPr>
              <a:t>10-3 </a:t>
            </a:r>
            <a:r>
              <a:rPr lang="zh-CN" altLang="en-US">
                <a:latin typeface="楷体" panose="02010609060101010101" pitchFamily="49" charset="-122"/>
                <a:ea typeface="楷体" panose="02010609060101010101" pitchFamily="49" charset="-122"/>
                <a:cs typeface="楷体" panose="02010609060101010101" pitchFamily="49" charset="-122"/>
              </a:rPr>
              <a:t>观察方法对情景性问题的解决</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采样观察</a:t>
            </a:r>
          </a:p>
        </p:txBody>
      </p:sp>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观察</a:t>
            </a:r>
          </a:p>
        </p:txBody>
      </p:sp>
      <p:grpSp>
        <p:nvGrpSpPr>
          <p:cNvPr id="11" name="组合 10"/>
          <p:cNvGrpSpPr/>
          <p:nvPr>
            <p:custDataLst>
              <p:tags r:id="rId1"/>
            </p:custDataLst>
          </p:nvPr>
        </p:nvGrpSpPr>
        <p:grpSpPr>
          <a:xfrm>
            <a:off x="628650" y="1284605"/>
            <a:ext cx="7115175" cy="2017395"/>
            <a:chOff x="990" y="2668"/>
            <a:chExt cx="11852" cy="3177"/>
          </a:xfrm>
        </p:grpSpPr>
        <p:sp>
          <p:nvSpPr>
            <p:cNvPr id="3" name="文本框 2"/>
            <p:cNvSpPr txBox="1"/>
            <p:nvPr>
              <p:custDataLst>
                <p:tags r:id="rId5"/>
              </p:custDataLst>
            </p:nvPr>
          </p:nvSpPr>
          <p:spPr>
            <a:xfrm>
              <a:off x="1559" y="3181"/>
              <a:ext cx="11283" cy="2664"/>
            </a:xfrm>
            <a:prstGeom prst="rect">
              <a:avLst/>
            </a:prstGeom>
            <a:noFill/>
            <a:ln>
              <a:solidFill>
                <a:schemeClr val="accent1"/>
              </a:solidFill>
            </a:ln>
          </p:spPr>
          <p:txBody>
            <a:bodyPr wrap="square" rtlCol="0">
              <a:spAutoFit/>
            </a:bodyPr>
            <a:lstStyle/>
            <a:p>
              <a:endParaRPr lang="zh-CN" altLang="en-US" sz="2400">
                <a:latin typeface="楷体" panose="02010609060101010101" pitchFamily="49" charset="-122"/>
                <a:ea typeface="楷体" panose="02010609060101010101" pitchFamily="49" charset="-122"/>
                <a:cs typeface="楷体" panose="02010609060101010101" pitchFamily="49" charset="-122"/>
              </a:endParaRPr>
            </a:p>
            <a:p>
              <a:pPr marL="342900" indent="-342900">
                <a:buFont typeface="Arial" panose="020B0604020202020204" pitchFamily="34" charset="0"/>
                <a:buChar char="•"/>
              </a:pPr>
              <a:r>
                <a:rPr lang="zh-CN" altLang="en-US" sz="2000">
                  <a:latin typeface="楷体" panose="02010609060101010101" pitchFamily="49" charset="-122"/>
                  <a:ea typeface="楷体" panose="02010609060101010101" pitchFamily="49" charset="-122"/>
                  <a:cs typeface="楷体" panose="02010609060101010101" pitchFamily="49" charset="-122"/>
                </a:rPr>
                <a:t>时间采样方法是通过设定</a:t>
              </a:r>
              <a:r>
                <a:rPr lang="zh-CN" altLang="en-US" sz="2000" b="1">
                  <a:solidFill>
                    <a:srgbClr val="7030A0"/>
                  </a:solidFill>
                  <a:latin typeface="楷体" panose="02010609060101010101" pitchFamily="49" charset="-122"/>
                  <a:ea typeface="楷体" panose="02010609060101010101" pitchFamily="49" charset="-122"/>
                  <a:cs typeface="楷体" panose="02010609060101010101" pitchFamily="49" charset="-122"/>
                </a:rPr>
                <a:t>时间间隔</a:t>
              </a:r>
              <a:r>
                <a:rPr lang="zh-CN" altLang="en-US" sz="2000">
                  <a:latin typeface="楷体" panose="02010609060101010101" pitchFamily="49" charset="-122"/>
                  <a:ea typeface="楷体" panose="02010609060101010101" pitchFamily="49" charset="-122"/>
                  <a:cs typeface="楷体" panose="02010609060101010101" pitchFamily="49" charset="-122"/>
                </a:rPr>
                <a:t>来观察用户活动。</a:t>
              </a:r>
            </a:p>
            <a:p>
              <a:pPr marL="342900" indent="-342900">
                <a:buFont typeface="Arial" panose="020B0604020202020204" pitchFamily="34" charset="0"/>
                <a:buChar char="•"/>
              </a:pPr>
              <a:endParaRPr lang="zh-CN" altLang="en-US" sz="2000">
                <a:latin typeface="楷体" panose="02010609060101010101" pitchFamily="49" charset="-122"/>
                <a:ea typeface="楷体" panose="02010609060101010101" pitchFamily="49" charset="-122"/>
                <a:cs typeface="楷体" panose="02010609060101010101" pitchFamily="49" charset="-122"/>
              </a:endParaRPr>
            </a:p>
            <a:p>
              <a:pPr marL="342900" indent="-342900">
                <a:buFont typeface="Arial" panose="020B0604020202020204" pitchFamily="34" charset="0"/>
                <a:buChar char="•"/>
              </a:pPr>
              <a:r>
                <a:rPr lang="zh-CN" altLang="en-US" sz="2000">
                  <a:latin typeface="楷体" panose="02010609060101010101" pitchFamily="49" charset="-122"/>
                  <a:ea typeface="楷体" panose="02010609060101010101" pitchFamily="49" charset="-122"/>
                  <a:cs typeface="楷体" panose="02010609060101010101" pitchFamily="49" charset="-122"/>
                </a:rPr>
                <a:t>举例来说，需求工程师可以在</a:t>
              </a:r>
              <a:r>
                <a:rPr lang="en-US" altLang="zh-CN" sz="2000">
                  <a:latin typeface="楷体" panose="02010609060101010101" pitchFamily="49" charset="-122"/>
                  <a:ea typeface="楷体" panose="02010609060101010101" pitchFamily="49" charset="-122"/>
                  <a:cs typeface="楷体" panose="02010609060101010101" pitchFamily="49" charset="-122"/>
                </a:rPr>
                <a:t>5</a:t>
              </a:r>
              <a:r>
                <a:rPr lang="zh-CN" altLang="en-US" sz="2000">
                  <a:latin typeface="楷体" panose="02010609060101010101" pitchFamily="49" charset="-122"/>
                  <a:ea typeface="楷体" panose="02010609060101010101" pitchFamily="49" charset="-122"/>
                  <a:cs typeface="楷体" panose="02010609060101010101" pitchFamily="49" charset="-122"/>
                </a:rPr>
                <a:t>个</a:t>
              </a:r>
              <a:r>
                <a:rPr lang="en-US" altLang="zh-CN" sz="2000">
                  <a:latin typeface="楷体" panose="02010609060101010101" pitchFamily="49" charset="-122"/>
                  <a:ea typeface="楷体" panose="02010609060101010101" pitchFamily="49" charset="-122"/>
                  <a:cs typeface="楷体" panose="02010609060101010101" pitchFamily="49" charset="-122"/>
                </a:rPr>
                <a:t>8</a:t>
              </a:r>
              <a:r>
                <a:rPr lang="zh-CN" altLang="en-US" sz="2000">
                  <a:latin typeface="楷体" panose="02010609060101010101" pitchFamily="49" charset="-122"/>
                  <a:ea typeface="楷体" panose="02010609060101010101" pitchFamily="49" charset="-122"/>
                  <a:cs typeface="楷体" panose="02010609060101010101" pitchFamily="49" charset="-122"/>
                </a:rPr>
                <a:t>小时的工作日内，随机设定</a:t>
              </a:r>
              <a:r>
                <a:rPr lang="en-US" altLang="zh-CN" sz="2000">
                  <a:latin typeface="楷体" panose="02010609060101010101" pitchFamily="49" charset="-122"/>
                  <a:ea typeface="楷体" panose="02010609060101010101" pitchFamily="49" charset="-122"/>
                  <a:cs typeface="楷体" panose="02010609060101010101" pitchFamily="49" charset="-122"/>
                </a:rPr>
                <a:t>15</a:t>
              </a:r>
              <a:r>
                <a:rPr lang="zh-CN" altLang="en-US" sz="2000">
                  <a:latin typeface="楷体" panose="02010609060101010101" pitchFamily="49" charset="-122"/>
                  <a:ea typeface="楷体" panose="02010609060101010101" pitchFamily="49" charset="-122"/>
                  <a:cs typeface="楷体" panose="02010609060101010101" pitchFamily="49" charset="-122"/>
                </a:rPr>
                <a:t>个</a:t>
              </a:r>
              <a:r>
                <a:rPr lang="en-US" altLang="zh-CN" sz="2000">
                  <a:latin typeface="楷体" panose="02010609060101010101" pitchFamily="49" charset="-122"/>
                  <a:ea typeface="楷体" panose="02010609060101010101" pitchFamily="49" charset="-122"/>
                  <a:cs typeface="楷体" panose="02010609060101010101" pitchFamily="49" charset="-122"/>
                </a:rPr>
                <a:t>20</a:t>
              </a:r>
              <a:r>
                <a:rPr lang="zh-CN" altLang="en-US" sz="2000">
                  <a:latin typeface="楷体" panose="02010609060101010101" pitchFamily="49" charset="-122"/>
                  <a:ea typeface="楷体" panose="02010609060101010101" pitchFamily="49" charset="-122"/>
                  <a:cs typeface="楷体" panose="02010609060101010101" pitchFamily="49" charset="-122"/>
                </a:rPr>
                <a:t>分钟的时间段进行观察。</a:t>
              </a:r>
            </a:p>
          </p:txBody>
        </p:sp>
        <p:sp>
          <p:nvSpPr>
            <p:cNvPr id="4" name="圆角矩形 3"/>
            <p:cNvSpPr/>
            <p:nvPr>
              <p:custDataLst>
                <p:tags r:id="rId6"/>
              </p:custDataLst>
            </p:nvPr>
          </p:nvSpPr>
          <p:spPr>
            <a:xfrm>
              <a:off x="990" y="2668"/>
              <a:ext cx="2503" cy="1023"/>
            </a:xfrm>
            <a:prstGeom prst="roundRect">
              <a:avLst/>
            </a:prstGeom>
            <a:solidFill>
              <a:schemeClr val="bg1"/>
            </a:solidFill>
          </p:spPr>
          <p:style>
            <a:lnRef idx="2">
              <a:schemeClr val="accent1"/>
            </a:lnRef>
            <a:fillRef idx="0">
              <a:srgbClr val="FFFFFF"/>
            </a:fillRef>
            <a:effectRef idx="0">
              <a:srgbClr val="FFFFFF"/>
            </a:effectRef>
            <a:fontRef idx="minor">
              <a:schemeClr val="tx1"/>
            </a:fontRef>
          </p:style>
          <p:txBody>
            <a:bodyPr rtlCol="0" anchor="ctr"/>
            <a:lstStyle/>
            <a:p>
              <a:pPr algn="ctr"/>
              <a:r>
                <a:rPr lang="zh-CN" altLang="en-US" sz="2400">
                  <a:solidFill>
                    <a:schemeClr val="tx1"/>
                  </a:solidFill>
                  <a:latin typeface="楷体" panose="02010609060101010101" pitchFamily="49" charset="-122"/>
                  <a:ea typeface="楷体" panose="02010609060101010101" pitchFamily="49" charset="-122"/>
                </a:rPr>
                <a:t>时间采样</a:t>
              </a:r>
            </a:p>
          </p:txBody>
        </p:sp>
      </p:grpSp>
      <p:grpSp>
        <p:nvGrpSpPr>
          <p:cNvPr id="12" name="组合 11"/>
          <p:cNvGrpSpPr/>
          <p:nvPr>
            <p:custDataLst>
              <p:tags r:id="rId2"/>
            </p:custDataLst>
          </p:nvPr>
        </p:nvGrpSpPr>
        <p:grpSpPr>
          <a:xfrm>
            <a:off x="628650" y="3825875"/>
            <a:ext cx="7115175" cy="2325370"/>
            <a:chOff x="990" y="2668"/>
            <a:chExt cx="11205" cy="3662"/>
          </a:xfrm>
        </p:grpSpPr>
        <p:sp>
          <p:nvSpPr>
            <p:cNvPr id="13" name="文本框 12"/>
            <p:cNvSpPr txBox="1"/>
            <p:nvPr>
              <p:custDataLst>
                <p:tags r:id="rId3"/>
              </p:custDataLst>
            </p:nvPr>
          </p:nvSpPr>
          <p:spPr>
            <a:xfrm>
              <a:off x="1559" y="3181"/>
              <a:ext cx="10636" cy="3149"/>
            </a:xfrm>
            <a:prstGeom prst="rect">
              <a:avLst/>
            </a:prstGeom>
            <a:noFill/>
            <a:ln>
              <a:solidFill>
                <a:schemeClr val="accent1"/>
              </a:solidFill>
            </a:ln>
          </p:spPr>
          <p:txBody>
            <a:bodyPr wrap="square" rtlCol="0">
              <a:spAutoFit/>
            </a:bodyPr>
            <a:lstStyle/>
            <a:p>
              <a:endParaRPr lang="zh-CN" altLang="en-US" sz="2400">
                <a:latin typeface="楷体" panose="02010609060101010101" pitchFamily="49" charset="-122"/>
                <a:ea typeface="楷体" panose="02010609060101010101" pitchFamily="49" charset="-122"/>
                <a:cs typeface="楷体" panose="02010609060101010101" pitchFamily="49" charset="-122"/>
              </a:endParaRPr>
            </a:p>
            <a:p>
              <a:pPr marL="342900" indent="-342900">
                <a:buFont typeface="Arial" panose="020B0604020202020204" pitchFamily="34" charset="0"/>
                <a:buChar char="•"/>
              </a:pPr>
              <a:r>
                <a:rPr lang="zh-CN" altLang="en-US" sz="2000">
                  <a:latin typeface="楷体" panose="02010609060101010101" pitchFamily="49" charset="-122"/>
                  <a:ea typeface="楷体" panose="02010609060101010101" pitchFamily="49" charset="-122"/>
                  <a:cs typeface="楷体" panose="02010609060101010101" pitchFamily="49" charset="-122"/>
                </a:rPr>
                <a:t>事件采样方法是通过选择</a:t>
              </a:r>
              <a:r>
                <a:rPr lang="zh-CN" altLang="en-US" sz="2000" b="1">
                  <a:solidFill>
                    <a:srgbClr val="7030A0"/>
                  </a:solidFill>
                  <a:latin typeface="楷体" panose="02010609060101010101" pitchFamily="49" charset="-122"/>
                  <a:ea typeface="楷体" panose="02010609060101010101" pitchFamily="49" charset="-122"/>
                  <a:cs typeface="楷体" panose="02010609060101010101" pitchFamily="49" charset="-122"/>
                </a:rPr>
                <a:t>特定的事件</a:t>
              </a:r>
              <a:r>
                <a:rPr lang="zh-CN" altLang="en-US" sz="2000">
                  <a:latin typeface="楷体" panose="02010609060101010101" pitchFamily="49" charset="-122"/>
                  <a:ea typeface="楷体" panose="02010609060101010101" pitchFamily="49" charset="-122"/>
                  <a:cs typeface="楷体" panose="02010609060101010101" pitchFamily="49" charset="-122"/>
                </a:rPr>
                <a:t>进行观察，而不是根据固定时间间隔来采样。</a:t>
              </a:r>
            </a:p>
            <a:p>
              <a:pPr marL="342900" indent="-342900">
                <a:buFont typeface="Arial" panose="020B0604020202020204" pitchFamily="34" charset="0"/>
                <a:buChar char="•"/>
              </a:pPr>
              <a:endParaRPr lang="zh-CN" altLang="en-US" sz="2000">
                <a:latin typeface="楷体" panose="02010609060101010101" pitchFamily="49" charset="-122"/>
                <a:ea typeface="楷体" panose="02010609060101010101" pitchFamily="49" charset="-122"/>
                <a:cs typeface="楷体" panose="02010609060101010101" pitchFamily="49" charset="-122"/>
              </a:endParaRPr>
            </a:p>
            <a:p>
              <a:pPr marL="342900" indent="-342900">
                <a:buFont typeface="Arial" panose="020B0604020202020204" pitchFamily="34" charset="0"/>
                <a:buChar char="•"/>
              </a:pPr>
              <a:r>
                <a:rPr lang="zh-CN" altLang="en-US" sz="2000">
                  <a:latin typeface="楷体" panose="02010609060101010101" pitchFamily="49" charset="-122"/>
                  <a:ea typeface="楷体" panose="02010609060101010101" pitchFamily="49" charset="-122"/>
                  <a:cs typeface="楷体" panose="02010609060101010101" pitchFamily="49" charset="-122"/>
                </a:rPr>
                <a:t>举例来说，可以选择观察</a:t>
              </a:r>
              <a:r>
                <a:rPr lang="en-US" altLang="zh-CN" sz="2000">
                  <a:latin typeface="楷体" panose="02010609060101010101" pitchFamily="49" charset="-122"/>
                  <a:ea typeface="楷体" panose="02010609060101010101" pitchFamily="49" charset="-122"/>
                  <a:cs typeface="楷体" panose="02010609060101010101" pitchFamily="49" charset="-122"/>
                </a:rPr>
                <a:t>“</a:t>
              </a:r>
              <a:r>
                <a:rPr lang="zh-CN" altLang="en-US" sz="2000">
                  <a:latin typeface="楷体" panose="02010609060101010101" pitchFamily="49" charset="-122"/>
                  <a:ea typeface="楷体" panose="02010609060101010101" pitchFamily="49" charset="-122"/>
                  <a:cs typeface="楷体" panose="02010609060101010101" pitchFamily="49" charset="-122"/>
                </a:rPr>
                <a:t>董事会会议</a:t>
              </a:r>
              <a:r>
                <a:rPr lang="en-US" altLang="zh-CN" sz="2000">
                  <a:latin typeface="楷体" panose="02010609060101010101" pitchFamily="49" charset="-122"/>
                  <a:ea typeface="楷体" panose="02010609060101010101" pitchFamily="49" charset="-122"/>
                  <a:cs typeface="楷体" panose="02010609060101010101" pitchFamily="49" charset="-122"/>
                </a:rPr>
                <a:t>”</a:t>
              </a:r>
              <a:r>
                <a:rPr lang="zh-CN" altLang="en-US" sz="2000">
                  <a:latin typeface="楷体" panose="02010609060101010101" pitchFamily="49" charset="-122"/>
                  <a:ea typeface="楷体" panose="02010609060101010101" pitchFamily="49" charset="-122"/>
                  <a:cs typeface="楷体" panose="02010609060101010101" pitchFamily="49" charset="-122"/>
                </a:rPr>
                <a:t>或</a:t>
              </a:r>
              <a:r>
                <a:rPr lang="en-US" altLang="zh-CN" sz="2000">
                  <a:latin typeface="楷体" panose="02010609060101010101" pitchFamily="49" charset="-122"/>
                  <a:ea typeface="楷体" panose="02010609060101010101" pitchFamily="49" charset="-122"/>
                  <a:cs typeface="楷体" panose="02010609060101010101" pitchFamily="49" charset="-122"/>
                </a:rPr>
                <a:t>“</a:t>
              </a:r>
              <a:r>
                <a:rPr lang="zh-CN" altLang="en-US" sz="2000">
                  <a:latin typeface="楷体" panose="02010609060101010101" pitchFamily="49" charset="-122"/>
                  <a:ea typeface="楷体" panose="02010609060101010101" pitchFamily="49" charset="-122"/>
                  <a:cs typeface="楷体" panose="02010609060101010101" pitchFamily="49" charset="-122"/>
                </a:rPr>
                <a:t>用户培训会</a:t>
              </a:r>
              <a:r>
                <a:rPr lang="en-US" altLang="zh-CN" sz="2000">
                  <a:latin typeface="楷体" panose="02010609060101010101" pitchFamily="49" charset="-122"/>
                  <a:ea typeface="楷体" panose="02010609060101010101" pitchFamily="49" charset="-122"/>
                  <a:cs typeface="楷体" panose="02010609060101010101" pitchFamily="49" charset="-122"/>
                </a:rPr>
                <a:t>”</a:t>
              </a:r>
              <a:r>
                <a:rPr lang="zh-CN" altLang="en-US" sz="2000">
                  <a:latin typeface="楷体" panose="02010609060101010101" pitchFamily="49" charset="-122"/>
                  <a:ea typeface="楷体" panose="02010609060101010101" pitchFamily="49" charset="-122"/>
                  <a:cs typeface="楷体" panose="02010609060101010101" pitchFamily="49" charset="-122"/>
                </a:rPr>
                <a:t>，而不是通过随机时间段进行采样。</a:t>
              </a:r>
            </a:p>
          </p:txBody>
        </p:sp>
        <p:sp>
          <p:nvSpPr>
            <p:cNvPr id="14" name="圆角矩形 13"/>
            <p:cNvSpPr/>
            <p:nvPr>
              <p:custDataLst>
                <p:tags r:id="rId4"/>
              </p:custDataLst>
            </p:nvPr>
          </p:nvSpPr>
          <p:spPr>
            <a:xfrm>
              <a:off x="990" y="2668"/>
              <a:ext cx="2367" cy="1023"/>
            </a:xfrm>
            <a:prstGeom prst="roundRect">
              <a:avLst/>
            </a:prstGeom>
            <a:solidFill>
              <a:schemeClr val="bg1"/>
            </a:solidFill>
          </p:spPr>
          <p:style>
            <a:lnRef idx="2">
              <a:schemeClr val="accent1"/>
            </a:lnRef>
            <a:fillRef idx="0">
              <a:srgbClr val="FFFFFF"/>
            </a:fillRef>
            <a:effectRef idx="0">
              <a:srgbClr val="FFFFFF"/>
            </a:effectRef>
            <a:fontRef idx="minor">
              <a:schemeClr val="tx1"/>
            </a:fontRef>
          </p:style>
          <p:txBody>
            <a:bodyPr rtlCol="0" anchor="ctr"/>
            <a:lstStyle/>
            <a:p>
              <a:pPr algn="ctr"/>
              <a:r>
                <a:rPr lang="zh-CN" altLang="en-US" sz="2400">
                  <a:solidFill>
                    <a:schemeClr val="tx1"/>
                  </a:solidFill>
                  <a:latin typeface="楷体" panose="02010609060101010101" pitchFamily="49" charset="-122"/>
                  <a:ea typeface="楷体" panose="02010609060101010101" pitchFamily="49" charset="-122"/>
                </a:rPr>
                <a:t>事件采样</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观察</a:t>
            </a:r>
          </a:p>
        </p:txBody>
      </p:sp>
      <p:graphicFrame>
        <p:nvGraphicFramePr>
          <p:cNvPr id="7" name="表格 6"/>
          <p:cNvGraphicFramePr/>
          <p:nvPr>
            <p:custDataLst>
              <p:tags r:id="rId1"/>
            </p:custDataLst>
          </p:nvPr>
        </p:nvGraphicFramePr>
        <p:xfrm>
          <a:off x="638175" y="1801495"/>
          <a:ext cx="8009890" cy="3867785"/>
        </p:xfrm>
        <a:graphic>
          <a:graphicData uri="http://schemas.openxmlformats.org/drawingml/2006/table">
            <a:tbl>
              <a:tblPr firstRow="1" bandRow="1">
                <a:tableStyleId>{5C22544A-7EE6-4342-B048-85BDC9FD1C3A}</a:tableStyleId>
              </a:tblPr>
              <a:tblGrid>
                <a:gridCol w="688340">
                  <a:extLst>
                    <a:ext uri="{9D8B030D-6E8A-4147-A177-3AD203B41FA5}">
                      <a16:colId xmlns:a16="http://schemas.microsoft.com/office/drawing/2014/main" val="20000"/>
                    </a:ext>
                  </a:extLst>
                </a:gridCol>
                <a:gridCol w="3640455">
                  <a:extLst>
                    <a:ext uri="{9D8B030D-6E8A-4147-A177-3AD203B41FA5}">
                      <a16:colId xmlns:a16="http://schemas.microsoft.com/office/drawing/2014/main" val="20001"/>
                    </a:ext>
                  </a:extLst>
                </a:gridCol>
                <a:gridCol w="3681095">
                  <a:extLst>
                    <a:ext uri="{9D8B030D-6E8A-4147-A177-3AD203B41FA5}">
                      <a16:colId xmlns:a16="http://schemas.microsoft.com/office/drawing/2014/main" val="20002"/>
                    </a:ext>
                  </a:extLst>
                </a:gridCol>
              </a:tblGrid>
              <a:tr h="433705">
                <a:tc>
                  <a:txBody>
                    <a:bodyPr/>
                    <a:lstStyle/>
                    <a:p>
                      <a:pPr>
                        <a:buNone/>
                      </a:pPr>
                      <a:endParaRPr lang="zh-CN" altLang="en-US" sz="1800">
                        <a:latin typeface="楷体" panose="02010609060101010101" pitchFamily="49" charset="-122"/>
                        <a:ea typeface="楷体" panose="02010609060101010101" pitchFamily="49" charset="-122"/>
                      </a:endParaRPr>
                    </a:p>
                  </a:txBody>
                  <a:tcPr anchor="ctr"/>
                </a:tc>
                <a:tc>
                  <a:txBody>
                    <a:bodyPr/>
                    <a:lstStyle/>
                    <a:p>
                      <a:pPr algn="ctr">
                        <a:buNone/>
                      </a:pPr>
                      <a:r>
                        <a:rPr lang="zh-CN" altLang="en-US" sz="1800">
                          <a:latin typeface="楷体" panose="02010609060101010101" pitchFamily="49" charset="-122"/>
                          <a:ea typeface="楷体" panose="02010609060101010101" pitchFamily="49" charset="-122"/>
                        </a:rPr>
                        <a:t>时间采样</a:t>
                      </a:r>
                    </a:p>
                  </a:txBody>
                  <a:tcPr anchor="ctr"/>
                </a:tc>
                <a:tc>
                  <a:txBody>
                    <a:bodyPr/>
                    <a:lstStyle/>
                    <a:p>
                      <a:pPr algn="ctr">
                        <a:buNone/>
                      </a:pPr>
                      <a:r>
                        <a:rPr lang="zh-CN" altLang="en-US" sz="1800">
                          <a:latin typeface="楷体" panose="02010609060101010101" pitchFamily="49" charset="-122"/>
                          <a:ea typeface="楷体" panose="02010609060101010101" pitchFamily="49" charset="-122"/>
                        </a:rPr>
                        <a:t>事件采样</a:t>
                      </a:r>
                    </a:p>
                  </a:txBody>
                  <a:tcPr anchor="ctr"/>
                </a:tc>
                <a:extLst>
                  <a:ext uri="{0D108BD9-81ED-4DB2-BD59-A6C34878D82A}">
                    <a16:rowId xmlns:a16="http://schemas.microsoft.com/office/drawing/2014/main" val="10000"/>
                  </a:ext>
                </a:extLst>
              </a:tr>
              <a:tr h="428625">
                <a:tc rowSpan="2">
                  <a:txBody>
                    <a:bodyPr/>
                    <a:lstStyle/>
                    <a:p>
                      <a:pPr>
                        <a:buNone/>
                      </a:pPr>
                      <a:r>
                        <a:rPr lang="zh-CN" altLang="en-US" sz="1800">
                          <a:latin typeface="楷体" panose="02010609060101010101" pitchFamily="49" charset="-122"/>
                          <a:ea typeface="楷体" panose="02010609060101010101" pitchFamily="49" charset="-122"/>
                        </a:rPr>
                        <a:t>优点</a:t>
                      </a:r>
                    </a:p>
                  </a:txBody>
                  <a:tcPr anchor="ctr"/>
                </a:tc>
                <a:tc>
                  <a:txBody>
                    <a:bodyPr/>
                    <a:lstStyle/>
                    <a:p>
                      <a:pPr>
                        <a:buNone/>
                      </a:pPr>
                      <a:r>
                        <a:rPr lang="zh-CN" altLang="en-US" sz="1800">
                          <a:latin typeface="楷体" panose="02010609060101010101" pitchFamily="49" charset="-122"/>
                          <a:ea typeface="楷体" panose="02010609060101010101" pitchFamily="49" charset="-122"/>
                        </a:rPr>
                        <a:t>通过随机的观察减少偏差</a:t>
                      </a:r>
                    </a:p>
                  </a:txBody>
                  <a:tcPr anchor="ctr"/>
                </a:tc>
                <a:tc>
                  <a:txBody>
                    <a:bodyPr/>
                    <a:lstStyle/>
                    <a:p>
                      <a:pPr>
                        <a:buNone/>
                      </a:pPr>
                      <a:r>
                        <a:rPr lang="zh-CN" altLang="en-US" sz="1800">
                          <a:latin typeface="楷体" panose="02010609060101010101" pitchFamily="49" charset="-122"/>
                          <a:ea typeface="楷体" panose="02010609060101010101" pitchFamily="49" charset="-122"/>
                        </a:rPr>
                        <a:t>允许在行为展开过程中观察</a:t>
                      </a:r>
                    </a:p>
                  </a:txBody>
                  <a:tcPr anchor="ctr"/>
                </a:tc>
                <a:extLst>
                  <a:ext uri="{0D108BD9-81ED-4DB2-BD59-A6C34878D82A}">
                    <a16:rowId xmlns:a16="http://schemas.microsoft.com/office/drawing/2014/main" val="10001"/>
                  </a:ext>
                </a:extLst>
              </a:tr>
              <a:tr h="739140">
                <a:tc vMerge="1">
                  <a:txBody>
                    <a:bodyPr/>
                    <a:lstStyle/>
                    <a:p>
                      <a:endParaRPr lang="zh-CN"/>
                    </a:p>
                  </a:txBody>
                  <a:tcPr/>
                </a:tc>
                <a:tc>
                  <a:txBody>
                    <a:bodyPr/>
                    <a:lstStyle/>
                    <a:p>
                      <a:pPr>
                        <a:buNone/>
                      </a:pPr>
                      <a:r>
                        <a:rPr lang="zh-CN" altLang="en-US" sz="1800">
                          <a:latin typeface="楷体" panose="02010609060101010101" pitchFamily="49" charset="-122"/>
                          <a:ea typeface="楷体" panose="02010609060101010101" pitchFamily="49" charset="-122"/>
                        </a:rPr>
                        <a:t>对频繁发生事件取代表性事件进行观察</a:t>
                      </a:r>
                    </a:p>
                  </a:txBody>
                  <a:tcPr anchor="ctr"/>
                </a:tc>
                <a:tc>
                  <a:txBody>
                    <a:bodyPr/>
                    <a:lstStyle/>
                    <a:p>
                      <a:pPr>
                        <a:buNone/>
                      </a:pPr>
                      <a:r>
                        <a:rPr lang="zh-CN" altLang="en-US" sz="1800">
                          <a:latin typeface="楷体" panose="02010609060101010101" pitchFamily="49" charset="-122"/>
                          <a:ea typeface="楷体" panose="02010609060101010101" pitchFamily="49" charset="-122"/>
                        </a:rPr>
                        <a:t>允许对指定的重要事件进行观察</a:t>
                      </a:r>
                    </a:p>
                  </a:txBody>
                  <a:tcPr anchor="ctr"/>
                </a:tc>
                <a:extLst>
                  <a:ext uri="{0D108BD9-81ED-4DB2-BD59-A6C34878D82A}">
                    <a16:rowId xmlns:a16="http://schemas.microsoft.com/office/drawing/2014/main" val="10002"/>
                  </a:ext>
                </a:extLst>
              </a:tr>
              <a:tr h="651510">
                <a:tc rowSpan="2">
                  <a:txBody>
                    <a:bodyPr/>
                    <a:lstStyle/>
                    <a:p>
                      <a:pPr>
                        <a:buNone/>
                      </a:pPr>
                      <a:r>
                        <a:rPr lang="zh-CN" altLang="en-US" sz="1800">
                          <a:latin typeface="楷体" panose="02010609060101010101" pitchFamily="49" charset="-122"/>
                          <a:ea typeface="楷体" panose="02010609060101010101" pitchFamily="49" charset="-122"/>
                        </a:rPr>
                        <a:t>缺点</a:t>
                      </a:r>
                    </a:p>
                  </a:txBody>
                  <a:tcPr anchor="ctr"/>
                </a:tc>
                <a:tc>
                  <a:txBody>
                    <a:bodyPr/>
                    <a:lstStyle/>
                    <a:p>
                      <a:pPr>
                        <a:buNone/>
                      </a:pPr>
                      <a:r>
                        <a:rPr lang="zh-CN" altLang="en-US" sz="1800">
                          <a:latin typeface="楷体" panose="02010609060101010101" pitchFamily="49" charset="-122"/>
                          <a:ea typeface="楷体" panose="02010609060101010101" pitchFamily="49" charset="-122"/>
                        </a:rPr>
                        <a:t>用分段的方式来收集数据不能提供全面信息的时间</a:t>
                      </a:r>
                    </a:p>
                  </a:txBody>
                  <a:tcPr anchor="ctr"/>
                </a:tc>
                <a:tc>
                  <a:txBody>
                    <a:bodyPr/>
                    <a:lstStyle/>
                    <a:p>
                      <a:pPr>
                        <a:buNone/>
                      </a:pPr>
                      <a:r>
                        <a:rPr lang="zh-CN" altLang="en-US" sz="1800">
                          <a:latin typeface="楷体" panose="02010609060101010101" pitchFamily="49" charset="-122"/>
                          <a:ea typeface="楷体" panose="02010609060101010101" pitchFamily="49" charset="-122"/>
                        </a:rPr>
                        <a:t>消耗大量时间</a:t>
                      </a:r>
                    </a:p>
                  </a:txBody>
                  <a:tcPr anchor="ctr"/>
                </a:tc>
                <a:extLst>
                  <a:ext uri="{0D108BD9-81ED-4DB2-BD59-A6C34878D82A}">
                    <a16:rowId xmlns:a16="http://schemas.microsoft.com/office/drawing/2014/main" val="10003"/>
                  </a:ext>
                </a:extLst>
              </a:tr>
              <a:tr h="434340">
                <a:tc vMerge="1">
                  <a:txBody>
                    <a:bodyPr/>
                    <a:lstStyle/>
                    <a:p>
                      <a:endParaRPr lang="zh-CN"/>
                    </a:p>
                  </a:txBody>
                  <a:tcPr/>
                </a:tc>
                <a:tc>
                  <a:txBody>
                    <a:bodyPr/>
                    <a:lstStyle/>
                    <a:p>
                      <a:pPr>
                        <a:buNone/>
                      </a:pPr>
                      <a:r>
                        <a:rPr lang="zh-CN" altLang="en-US" sz="1800">
                          <a:latin typeface="楷体" panose="02010609060101010101" pitchFamily="49" charset="-122"/>
                          <a:ea typeface="楷体" panose="02010609060101010101" pitchFamily="49" charset="-122"/>
                        </a:rPr>
                        <a:t>漏掉不经常发生却很重要的事件</a:t>
                      </a:r>
                    </a:p>
                  </a:txBody>
                  <a:tcPr anchor="ctr"/>
                </a:tc>
                <a:tc>
                  <a:txBody>
                    <a:bodyPr/>
                    <a:lstStyle/>
                    <a:p>
                      <a:pPr>
                        <a:buNone/>
                      </a:pPr>
                      <a:r>
                        <a:rPr lang="zh-CN" altLang="en-US" sz="1800">
                          <a:latin typeface="楷体" panose="02010609060101010101" pitchFamily="49" charset="-122"/>
                          <a:ea typeface="楷体" panose="02010609060101010101" pitchFamily="49" charset="-122"/>
                        </a:rPr>
                        <a:t>漏掉频繁发生事件的代表性样本</a:t>
                      </a:r>
                    </a:p>
                  </a:txBody>
                  <a:tcPr anchor="ctr"/>
                </a:tc>
                <a:extLst>
                  <a:ext uri="{0D108BD9-81ED-4DB2-BD59-A6C34878D82A}">
                    <a16:rowId xmlns:a16="http://schemas.microsoft.com/office/drawing/2014/main" val="10004"/>
                  </a:ext>
                </a:extLst>
              </a:tr>
              <a:tr h="434340">
                <a:tc rowSpan="2">
                  <a:txBody>
                    <a:bodyPr/>
                    <a:lstStyle/>
                    <a:p>
                      <a:pPr>
                        <a:buNone/>
                      </a:pPr>
                      <a:r>
                        <a:rPr lang="zh-CN" altLang="en-US" sz="1800">
                          <a:latin typeface="楷体" panose="02010609060101010101" pitchFamily="49" charset="-122"/>
                          <a:ea typeface="楷体" panose="02010609060101010101" pitchFamily="49" charset="-122"/>
                        </a:rPr>
                        <a:t>适用场景</a:t>
                      </a:r>
                    </a:p>
                  </a:txBody>
                  <a:tcPr anchor="ctr"/>
                </a:tc>
                <a:tc>
                  <a:txBody>
                    <a:bodyPr/>
                    <a:lstStyle/>
                    <a:p>
                      <a:pPr>
                        <a:buNone/>
                      </a:pPr>
                      <a:r>
                        <a:rPr lang="zh-CN" altLang="en-US" sz="1800">
                          <a:latin typeface="楷体" panose="02010609060101010101" pitchFamily="49" charset="-122"/>
                          <a:ea typeface="楷体" panose="02010609060101010101" pitchFamily="49" charset="-122"/>
                        </a:rPr>
                        <a:t>发现异常流程</a:t>
                      </a:r>
                    </a:p>
                  </a:txBody>
                  <a:tcPr anchor="ctr"/>
                </a:tc>
                <a:tc>
                  <a:txBody>
                    <a:bodyPr/>
                    <a:lstStyle/>
                    <a:p>
                      <a:pPr>
                        <a:buNone/>
                      </a:pPr>
                      <a:r>
                        <a:rPr lang="zh-CN" altLang="en-US" sz="1800">
                          <a:latin typeface="楷体" panose="02010609060101010101" pitchFamily="49" charset="-122"/>
                          <a:ea typeface="楷体" panose="02010609060101010101" pitchFamily="49" charset="-122"/>
                        </a:rPr>
                        <a:t>获取默会知识</a:t>
                      </a:r>
                    </a:p>
                  </a:txBody>
                  <a:tcPr anchor="ctr"/>
                </a:tc>
                <a:extLst>
                  <a:ext uri="{0D108BD9-81ED-4DB2-BD59-A6C34878D82A}">
                    <a16:rowId xmlns:a16="http://schemas.microsoft.com/office/drawing/2014/main" val="10005"/>
                  </a:ext>
                </a:extLst>
              </a:tr>
              <a:tr h="746125">
                <a:tc vMerge="1">
                  <a:txBody>
                    <a:bodyPr/>
                    <a:lstStyle/>
                    <a:p>
                      <a:endParaRPr lang="zh-CN"/>
                    </a:p>
                  </a:txBody>
                  <a:tcPr/>
                </a:tc>
                <a:tc>
                  <a:txBody>
                    <a:bodyPr/>
                    <a:lstStyle/>
                    <a:p>
                      <a:pPr>
                        <a:buNone/>
                      </a:pPr>
                      <a:r>
                        <a:rPr lang="zh-CN" altLang="en-US" sz="1800">
                          <a:latin typeface="楷体" panose="02010609060101010101" pitchFamily="49" charset="-122"/>
                          <a:ea typeface="楷体" panose="02010609060101010101" pitchFamily="49" charset="-122"/>
                        </a:rPr>
                        <a:t>验证用户知识和实际工作的一致性</a:t>
                      </a:r>
                    </a:p>
                  </a:txBody>
                  <a:tcPr anchor="ctr"/>
                </a:tc>
                <a:tc>
                  <a:txBody>
                    <a:bodyPr/>
                    <a:lstStyle/>
                    <a:p>
                      <a:pPr>
                        <a:buNone/>
                      </a:pPr>
                      <a:r>
                        <a:rPr lang="zh-CN" altLang="en-US" sz="1800">
                          <a:latin typeface="楷体" panose="02010609060101010101" pitchFamily="49" charset="-122"/>
                          <a:ea typeface="楷体" panose="02010609060101010101" pitchFamily="49" charset="-122"/>
                        </a:rPr>
                        <a:t>验证用户知识和实际工作的一致性</a:t>
                      </a:r>
                    </a:p>
                  </a:txBody>
                  <a:tcPr anchor="ctr"/>
                </a:tc>
                <a:extLst>
                  <a:ext uri="{0D108BD9-81ED-4DB2-BD59-A6C34878D82A}">
                    <a16:rowId xmlns:a16="http://schemas.microsoft.com/office/drawing/2014/main" val="10006"/>
                  </a:ext>
                </a:extLst>
              </a:tr>
            </a:tbl>
          </a:graphicData>
        </a:graphic>
      </p:graphicFrame>
      <p:sp>
        <p:nvSpPr>
          <p:cNvPr id="8" name="文本框 7"/>
          <p:cNvSpPr txBox="1"/>
          <p:nvPr/>
        </p:nvSpPr>
        <p:spPr>
          <a:xfrm>
            <a:off x="2503170" y="5820410"/>
            <a:ext cx="4279900" cy="368300"/>
          </a:xfrm>
          <a:prstGeom prst="rect">
            <a:avLst/>
          </a:prstGeom>
          <a:noFill/>
        </p:spPr>
        <p:txBody>
          <a:bodyPr wrap="square" rtlCol="0">
            <a:spAutoFit/>
          </a:bodyPr>
          <a:lstStyle/>
          <a:p>
            <a:r>
              <a:rPr lang="zh-CN" altLang="en-US">
                <a:latin typeface="楷体" panose="02010609060101010101" pitchFamily="49" charset="-122"/>
                <a:ea typeface="楷体" panose="02010609060101010101" pitchFamily="49" charset="-122"/>
                <a:cs typeface="楷体" panose="02010609060101010101" pitchFamily="49" charset="-122"/>
              </a:rPr>
              <a:t>表</a:t>
            </a:r>
            <a:r>
              <a:rPr lang="en-US" altLang="zh-CN">
                <a:latin typeface="楷体" panose="02010609060101010101" pitchFamily="49" charset="-122"/>
                <a:ea typeface="楷体" panose="02010609060101010101" pitchFamily="49" charset="-122"/>
                <a:cs typeface="楷体" panose="02010609060101010101" pitchFamily="49" charset="-122"/>
              </a:rPr>
              <a:t>10-4 </a:t>
            </a:r>
            <a:r>
              <a:rPr lang="zh-CN" altLang="en-US">
                <a:latin typeface="楷体" panose="02010609060101010101" pitchFamily="49" charset="-122"/>
                <a:ea typeface="楷体" panose="02010609060101010101" pitchFamily="49" charset="-122"/>
                <a:cs typeface="楷体" panose="02010609060101010101" pitchFamily="49" charset="-122"/>
              </a:rPr>
              <a:t>时间采样和事件采样方法的对比</a:t>
            </a:r>
          </a:p>
        </p:txBody>
      </p:sp>
      <p:grpSp>
        <p:nvGrpSpPr>
          <p:cNvPr id="12" name="组合 11"/>
          <p:cNvGrpSpPr/>
          <p:nvPr/>
        </p:nvGrpSpPr>
        <p:grpSpPr>
          <a:xfrm>
            <a:off x="2456180" y="697865"/>
            <a:ext cx="5109845" cy="952500"/>
            <a:chOff x="3868" y="1099"/>
            <a:chExt cx="8047" cy="1500"/>
          </a:xfrm>
        </p:grpSpPr>
        <p:sp>
          <p:nvSpPr>
            <p:cNvPr id="9" name="文本框 8"/>
            <p:cNvSpPr txBox="1"/>
            <p:nvPr/>
          </p:nvSpPr>
          <p:spPr>
            <a:xfrm>
              <a:off x="3868" y="1447"/>
              <a:ext cx="2221" cy="805"/>
            </a:xfrm>
            <a:prstGeom prst="rect">
              <a:avLst/>
            </a:prstGeom>
            <a:gradFill>
              <a:gsLst>
                <a:gs pos="70000">
                  <a:srgbClr val="D0A1F2"/>
                </a:gs>
                <a:gs pos="0">
                  <a:srgbClr val="F5EEFE"/>
                </a:gs>
              </a:gsLst>
              <a:path path="circle">
                <a:fillToRect t="100000" r="100000"/>
              </a:path>
              <a:tileRect l="-100000" b="-100000"/>
            </a:gradFill>
            <a:ln>
              <a:solidFill>
                <a:srgbClr val="7030A0"/>
              </a:solidFill>
            </a:ln>
          </p:spPr>
          <p:txBody>
            <a:bodyPr wrap="square" rtlCol="0">
              <a:noAutofit/>
            </a:bodyPr>
            <a:lstStyle/>
            <a:p>
              <a:r>
                <a:rPr lang="zh-CN" altLang="en-US" sz="2400">
                  <a:latin typeface="楷体" panose="02010609060101010101" pitchFamily="49" charset="-122"/>
                  <a:ea typeface="楷体" panose="02010609060101010101" pitchFamily="49" charset="-122"/>
                </a:rPr>
                <a:t>时间采样</a:t>
              </a:r>
            </a:p>
          </p:txBody>
        </p:sp>
        <p:sp>
          <p:nvSpPr>
            <p:cNvPr id="10" name="文本框 9"/>
            <p:cNvSpPr txBox="1"/>
            <p:nvPr/>
          </p:nvSpPr>
          <p:spPr>
            <a:xfrm>
              <a:off x="9695" y="1447"/>
              <a:ext cx="2221" cy="805"/>
            </a:xfrm>
            <a:prstGeom prst="rect">
              <a:avLst/>
            </a:prstGeom>
            <a:gradFill>
              <a:gsLst>
                <a:gs pos="70000">
                  <a:srgbClr val="D0A1F2"/>
                </a:gs>
                <a:gs pos="0">
                  <a:srgbClr val="F5EEFE"/>
                </a:gs>
              </a:gsLst>
              <a:path path="circle">
                <a:fillToRect t="100000" r="100000"/>
              </a:path>
              <a:tileRect l="-100000" b="-100000"/>
            </a:gradFill>
            <a:ln>
              <a:solidFill>
                <a:srgbClr val="7030A0"/>
              </a:solidFill>
            </a:ln>
          </p:spPr>
          <p:txBody>
            <a:bodyPr wrap="square" rtlCol="0">
              <a:noAutofit/>
            </a:bodyPr>
            <a:lstStyle/>
            <a:p>
              <a:r>
                <a:rPr lang="zh-CN" altLang="en-US" sz="2400">
                  <a:latin typeface="楷体" panose="02010609060101010101" pitchFamily="49" charset="-122"/>
                  <a:ea typeface="楷体" panose="02010609060101010101" pitchFamily="49" charset="-122"/>
                </a:rPr>
                <a:t>事件采样</a:t>
              </a:r>
            </a:p>
          </p:txBody>
        </p:sp>
        <p:pic>
          <p:nvPicPr>
            <p:cNvPr id="11" name="图片 10" descr="VS对比"/>
            <p:cNvPicPr>
              <a:picLocks noChangeAspect="1"/>
            </p:cNvPicPr>
            <p:nvPr/>
          </p:nvPicPr>
          <p:blipFill>
            <a:blip r:embed="rId3"/>
            <a:stretch>
              <a:fillRect/>
            </a:stretch>
          </p:blipFill>
          <p:spPr>
            <a:xfrm>
              <a:off x="7049" y="1099"/>
              <a:ext cx="1507" cy="1500"/>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民族志</a:t>
            </a:r>
          </a:p>
        </p:txBody>
      </p:sp>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观察</a:t>
            </a:r>
          </a:p>
        </p:txBody>
      </p:sp>
      <p:sp>
        <p:nvSpPr>
          <p:cNvPr id="3" name="文本框 2"/>
          <p:cNvSpPr txBox="1"/>
          <p:nvPr/>
        </p:nvSpPr>
        <p:spPr>
          <a:xfrm>
            <a:off x="628650" y="1263650"/>
            <a:ext cx="6953250" cy="521970"/>
          </a:xfrm>
          <a:prstGeom prst="rect">
            <a:avLst/>
          </a:prstGeom>
          <a:noFill/>
        </p:spPr>
        <p:txBody>
          <a:bodyPr wrap="square" rtlCol="0">
            <a:spAutoFit/>
          </a:bodyPr>
          <a:lstStyle/>
          <a:p>
            <a:pPr marL="457200" indent="-457200">
              <a:buFont typeface="Wingdings" panose="05000000000000000000" charset="0"/>
              <a:buChar char="Ø"/>
            </a:pPr>
            <a:r>
              <a:rPr lang="zh-CN" altLang="en-US" sz="2800" b="1">
                <a:latin typeface="楷体" panose="02010609060101010101" pitchFamily="49" charset="-122"/>
                <a:ea typeface="楷体" panose="02010609060101010101" pitchFamily="49" charset="-122"/>
              </a:rPr>
              <a:t>民族志的实施</a:t>
            </a:r>
          </a:p>
        </p:txBody>
      </p:sp>
      <p:sp>
        <p:nvSpPr>
          <p:cNvPr id="5" name="文本框 4"/>
          <p:cNvSpPr txBox="1"/>
          <p:nvPr/>
        </p:nvSpPr>
        <p:spPr>
          <a:xfrm>
            <a:off x="628650" y="2000885"/>
            <a:ext cx="7136130" cy="1630045"/>
          </a:xfrm>
          <a:prstGeom prst="rect">
            <a:avLst/>
          </a:prstGeom>
          <a:noFill/>
          <a:ln>
            <a:solidFill>
              <a:srgbClr val="0070C0"/>
            </a:solidFill>
          </a:ln>
        </p:spPr>
        <p:txBody>
          <a:bodyPr wrap="square" rtlCol="0">
            <a:spAutoFit/>
          </a:bodyPr>
          <a:lstStyle/>
          <a:p>
            <a:pPr marL="457200" indent="-457200">
              <a:buFont typeface="Arial" panose="020B0604020202020204" pitchFamily="34" charset="0"/>
              <a:buAutoNum type="arabicPeriod"/>
            </a:pPr>
            <a:r>
              <a:rPr lang="zh-CN" altLang="en-US" sz="2000">
                <a:latin typeface="Times New Roman" panose="02020603050405020304" pitchFamily="18" charset="0"/>
                <a:ea typeface="楷体" panose="02010609060101010101" pitchFamily="49" charset="-122"/>
                <a:cs typeface="Times New Roman" panose="02020603050405020304" pitchFamily="18" charset="0"/>
              </a:rPr>
              <a:t>针对复杂协同问题的民族志</a:t>
            </a:r>
          </a:p>
          <a:p>
            <a:pPr marL="800100" lvl="1" indent="-342900">
              <a:buFont typeface="Arial" panose="020B0604020202020204" pitchFamily="34" charset="0"/>
              <a:buChar char="•"/>
            </a:pPr>
            <a:r>
              <a:rPr lang="zh-CN" altLang="en-US" sz="2000">
                <a:latin typeface="Times New Roman" panose="02020603050405020304" pitchFamily="18" charset="0"/>
                <a:ea typeface="楷体" panose="02010609060101010101" pitchFamily="49" charset="-122"/>
                <a:cs typeface="Times New Roman" panose="02020603050405020304" pitchFamily="18" charset="0"/>
                <a:sym typeface="+mn-ea"/>
              </a:rPr>
              <a:t>工作的分布式协同（</a:t>
            </a:r>
            <a:r>
              <a:rPr lang="en-US" altLang="zh-CN" sz="2000">
                <a:latin typeface="Times New Roman" panose="02020603050405020304" pitchFamily="18" charset="0"/>
                <a:ea typeface="楷体" panose="02010609060101010101" pitchFamily="49" charset="-122"/>
                <a:cs typeface="Times New Roman" panose="02020603050405020304" pitchFamily="18" charset="0"/>
                <a:sym typeface="+mn-ea"/>
              </a:rPr>
              <a:t>Distributed Coordination</a:t>
            </a:r>
            <a:r>
              <a:rPr lang="zh-CN" altLang="en-US" sz="2000">
                <a:latin typeface="Times New Roman" panose="02020603050405020304" pitchFamily="18" charset="0"/>
                <a:ea typeface="楷体" panose="02010609060101010101" pitchFamily="49" charset="-122"/>
                <a:cs typeface="Times New Roman" panose="02020603050405020304" pitchFamily="18" charset="0"/>
                <a:sym typeface="+mn-ea"/>
              </a:rPr>
              <a:t>）</a:t>
            </a:r>
            <a:endParaRPr lang="zh-CN" altLang="en-US" sz="2000">
              <a:latin typeface="Times New Roman" panose="02020603050405020304" pitchFamily="18" charset="0"/>
              <a:ea typeface="楷体" panose="02010609060101010101" pitchFamily="49" charset="-122"/>
              <a:cs typeface="Times New Roman" panose="02020603050405020304" pitchFamily="18" charset="0"/>
            </a:endParaRPr>
          </a:p>
          <a:p>
            <a:pPr marL="800100" lvl="1" indent="-342900">
              <a:buFont typeface="Arial" panose="020B0604020202020204" pitchFamily="34" charset="0"/>
              <a:buChar char="•"/>
            </a:pPr>
            <a:r>
              <a:rPr lang="zh-CN" altLang="en-US" sz="2000">
                <a:latin typeface="Times New Roman" panose="02020603050405020304" pitchFamily="18" charset="0"/>
                <a:ea typeface="楷体" panose="02010609060101010101" pitchFamily="49" charset="-122"/>
                <a:cs typeface="Times New Roman" panose="02020603050405020304" pitchFamily="18" charset="0"/>
                <a:sym typeface="+mn-ea"/>
              </a:rPr>
              <a:t>工作的计划和程序（</a:t>
            </a:r>
            <a:r>
              <a:rPr lang="en-US" altLang="zh-CN" sz="2000">
                <a:latin typeface="Times New Roman" panose="02020603050405020304" pitchFamily="18" charset="0"/>
                <a:ea typeface="楷体" panose="02010609060101010101" pitchFamily="49" charset="-122"/>
                <a:cs typeface="Times New Roman" panose="02020603050405020304" pitchFamily="18" charset="0"/>
                <a:sym typeface="+mn-ea"/>
              </a:rPr>
              <a:t>Plans and Procedures</a:t>
            </a:r>
            <a:r>
              <a:rPr lang="zh-CN" altLang="en-US" sz="2000">
                <a:latin typeface="Times New Roman" panose="02020603050405020304" pitchFamily="18" charset="0"/>
                <a:ea typeface="楷体" panose="02010609060101010101" pitchFamily="49" charset="-122"/>
                <a:cs typeface="Times New Roman" panose="02020603050405020304" pitchFamily="18" charset="0"/>
                <a:sym typeface="+mn-ea"/>
              </a:rPr>
              <a:t>）</a:t>
            </a:r>
            <a:endParaRPr lang="zh-CN" altLang="en-US" sz="2000">
              <a:latin typeface="Times New Roman" panose="02020603050405020304" pitchFamily="18" charset="0"/>
              <a:ea typeface="楷体" panose="02010609060101010101" pitchFamily="49" charset="-122"/>
              <a:cs typeface="Times New Roman" panose="02020603050405020304" pitchFamily="18" charset="0"/>
            </a:endParaRPr>
          </a:p>
          <a:p>
            <a:pPr marL="800100" lvl="1" indent="-342900">
              <a:buFont typeface="Arial" panose="020B0604020202020204" pitchFamily="34" charset="0"/>
              <a:buChar char="•"/>
            </a:pPr>
            <a:r>
              <a:rPr lang="zh-CN" altLang="en-US" sz="2000">
                <a:latin typeface="Times New Roman" panose="02020603050405020304" pitchFamily="18" charset="0"/>
                <a:ea typeface="楷体" panose="02010609060101010101" pitchFamily="49" charset="-122"/>
                <a:cs typeface="Times New Roman" panose="02020603050405020304" pitchFamily="18" charset="0"/>
                <a:sym typeface="+mn-ea"/>
              </a:rPr>
              <a:t>工作的意识（</a:t>
            </a:r>
            <a:r>
              <a:rPr lang="en-US" altLang="zh-CN" sz="2000">
                <a:latin typeface="Times New Roman" panose="02020603050405020304" pitchFamily="18" charset="0"/>
                <a:ea typeface="楷体" panose="02010609060101010101" pitchFamily="49" charset="-122"/>
                <a:cs typeface="Times New Roman" panose="02020603050405020304" pitchFamily="18" charset="0"/>
                <a:sym typeface="+mn-ea"/>
              </a:rPr>
              <a:t>Awareness of Work</a:t>
            </a:r>
            <a:r>
              <a:rPr lang="zh-CN" altLang="en-US" sz="2000">
                <a:latin typeface="Times New Roman" panose="02020603050405020304" pitchFamily="18" charset="0"/>
                <a:ea typeface="楷体" panose="02010609060101010101" pitchFamily="49" charset="-122"/>
                <a:cs typeface="Times New Roman" panose="02020603050405020304" pitchFamily="18" charset="0"/>
                <a:sym typeface="+mn-ea"/>
              </a:rPr>
              <a:t>）</a:t>
            </a:r>
            <a:endParaRPr lang="zh-CN" altLang="en-US" sz="2000">
              <a:latin typeface="Times New Roman" panose="02020603050405020304" pitchFamily="18" charset="0"/>
              <a:ea typeface="楷体" panose="02010609060101010101" pitchFamily="49" charset="-122"/>
              <a:cs typeface="Times New Roman" panose="02020603050405020304" pitchFamily="18" charset="0"/>
            </a:endParaRPr>
          </a:p>
          <a:p>
            <a:pPr marL="457200" indent="-457200">
              <a:buFont typeface="+mj-lt"/>
              <a:buAutoNum type="arabicPeriod"/>
            </a:pPr>
            <a:r>
              <a:rPr lang="zh-CN" altLang="en-US" sz="2000">
                <a:latin typeface="Times New Roman" panose="02020603050405020304" pitchFamily="18" charset="0"/>
                <a:ea typeface="楷体" panose="02010609060101010101" pitchFamily="49" charset="-122"/>
                <a:cs typeface="Times New Roman" panose="02020603050405020304" pitchFamily="18" charset="0"/>
              </a:rPr>
              <a:t>普通民族志</a:t>
            </a:r>
          </a:p>
        </p:txBody>
      </p:sp>
      <p:grpSp>
        <p:nvGrpSpPr>
          <p:cNvPr id="22" name="组合 21"/>
          <p:cNvGrpSpPr/>
          <p:nvPr/>
        </p:nvGrpSpPr>
        <p:grpSpPr>
          <a:xfrm>
            <a:off x="620395" y="4079875"/>
            <a:ext cx="7144385" cy="1691640"/>
            <a:chOff x="977" y="6425"/>
            <a:chExt cx="11251" cy="2664"/>
          </a:xfrm>
        </p:grpSpPr>
        <p:sp>
          <p:nvSpPr>
            <p:cNvPr id="20" name="文本框 19"/>
            <p:cNvSpPr txBox="1"/>
            <p:nvPr/>
          </p:nvSpPr>
          <p:spPr>
            <a:xfrm>
              <a:off x="977" y="6425"/>
              <a:ext cx="11251" cy="2664"/>
            </a:xfrm>
            <a:prstGeom prst="rect">
              <a:avLst/>
            </a:prstGeom>
            <a:noFill/>
            <a:ln>
              <a:solidFill>
                <a:srgbClr val="0070C0"/>
              </a:solidFill>
            </a:ln>
          </p:spPr>
          <p:txBody>
            <a:bodyPr wrap="square" rtlCol="0">
              <a:spAutoFit/>
            </a:bodyPr>
            <a:lstStyle/>
            <a:p>
              <a:r>
                <a:rPr lang="zh-CN" altLang="en-US" sz="2400">
                  <a:latin typeface="楷体" panose="02010609060101010101" pitchFamily="49" charset="-122"/>
                  <a:ea typeface="楷体" panose="02010609060101010101" pitchFamily="49" charset="-122"/>
                </a:rPr>
                <a:t>分布式协同的观察事项</a:t>
              </a:r>
              <a:r>
                <a:rPr lang="en-US" altLang="zh-CN" sz="2400">
                  <a:latin typeface="楷体" panose="02010609060101010101" pitchFamily="49" charset="-122"/>
                  <a:ea typeface="楷体" panose="02010609060101010101" pitchFamily="49" charset="-122"/>
                </a:rPr>
                <a:t>:</a:t>
              </a:r>
              <a:endParaRPr lang="zh-CN" altLang="en-US" sz="2400">
                <a:latin typeface="楷体" panose="02010609060101010101" pitchFamily="49" charset="-122"/>
                <a:ea typeface="楷体" panose="02010609060101010101" pitchFamily="49" charset="-122"/>
              </a:endParaRPr>
            </a:p>
            <a:p>
              <a:pPr marL="800100" lvl="1" indent="-342900">
                <a:buFont typeface="Arial" panose="020B0604020202020204" pitchFamily="34" charset="0"/>
                <a:buChar char="•"/>
              </a:pPr>
              <a:r>
                <a:rPr lang="zh-CN" altLang="en-US" sz="2000">
                  <a:latin typeface="楷体" panose="02010609060101010101" pitchFamily="49" charset="-122"/>
                  <a:ea typeface="楷体" panose="02010609060101010101" pitchFamily="49" charset="-122"/>
                </a:rPr>
                <a:t>工作的</a:t>
              </a:r>
              <a:r>
                <a:rPr lang="zh-CN" altLang="en-US" sz="2000" b="1">
                  <a:solidFill>
                    <a:srgbClr val="7030A0"/>
                  </a:solidFill>
                  <a:latin typeface="楷体" panose="02010609060101010101" pitchFamily="49" charset="-122"/>
                  <a:ea typeface="楷体" panose="02010609060101010101" pitchFamily="49" charset="-122"/>
                </a:rPr>
                <a:t>分工</a:t>
              </a:r>
              <a:r>
                <a:rPr lang="zh-CN" altLang="en-US" sz="2000">
                  <a:latin typeface="楷体" panose="02010609060101010101" pitchFamily="49" charset="-122"/>
                  <a:ea typeface="楷体" panose="02010609060101010101" pitchFamily="49" charset="-122"/>
                </a:rPr>
                <a:t>是怎样通过个人的工作与协同</a:t>
              </a:r>
              <a:r>
                <a:rPr lang="zh-CN" altLang="en-US" sz="2000" b="1">
                  <a:solidFill>
                    <a:srgbClr val="7030A0"/>
                  </a:solidFill>
                  <a:latin typeface="楷体" panose="02010609060101010101" pitchFamily="49" charset="-122"/>
                  <a:ea typeface="楷体" panose="02010609060101010101" pitchFamily="49" charset="-122"/>
                </a:rPr>
                <a:t>体现</a:t>
              </a:r>
              <a:r>
                <a:rPr lang="zh-CN" altLang="en-US" sz="2000">
                  <a:latin typeface="楷体" panose="02010609060101010101" pitchFamily="49" charset="-122"/>
                  <a:ea typeface="楷体" panose="02010609060101010101" pitchFamily="49" charset="-122"/>
                </a:rPr>
                <a:t>出来的？</a:t>
              </a:r>
            </a:p>
            <a:p>
              <a:pPr marL="800100" lvl="1" indent="-342900">
                <a:buFont typeface="Arial" panose="020B0604020202020204" pitchFamily="34" charset="0"/>
                <a:buChar char="•"/>
              </a:pPr>
              <a:r>
                <a:rPr lang="zh-CN" altLang="en-US" sz="2000">
                  <a:latin typeface="楷体" panose="02010609060101010101" pitchFamily="49" charset="-122"/>
                  <a:ea typeface="楷体" panose="02010609060101010101" pitchFamily="49" charset="-122"/>
                </a:rPr>
                <a:t>如何</a:t>
              </a:r>
              <a:r>
                <a:rPr lang="zh-CN" altLang="en-US" sz="2000" b="1">
                  <a:solidFill>
                    <a:srgbClr val="7030A0"/>
                  </a:solidFill>
                  <a:latin typeface="楷体" panose="02010609060101010101" pitchFamily="49" charset="-122"/>
                  <a:ea typeface="楷体" panose="02010609060101010101" pitchFamily="49" charset="-122"/>
                </a:rPr>
                <a:t>界定和区分</a:t>
              </a:r>
              <a:r>
                <a:rPr lang="zh-CN" altLang="en-US" sz="2000">
                  <a:latin typeface="楷体" panose="02010609060101010101" pitchFamily="49" charset="-122"/>
                  <a:ea typeface="楷体" panose="02010609060101010101" pitchFamily="49" charset="-122"/>
                </a:rPr>
                <a:t>人们的</a:t>
              </a:r>
              <a:r>
                <a:rPr lang="zh-CN" altLang="en-US" sz="2000" b="1">
                  <a:solidFill>
                    <a:srgbClr val="7030A0"/>
                  </a:solidFill>
                  <a:latin typeface="楷体" panose="02010609060101010101" pitchFamily="49" charset="-122"/>
                  <a:ea typeface="楷体" panose="02010609060101010101" pitchFamily="49" charset="-122"/>
                </a:rPr>
                <a:t>职责</a:t>
              </a:r>
              <a:r>
                <a:rPr lang="zh-CN" altLang="en-US" sz="2000">
                  <a:latin typeface="楷体" panose="02010609060101010101" pitchFamily="49" charset="-122"/>
                  <a:ea typeface="楷体" panose="02010609060101010101" pitchFamily="49" charset="-122"/>
                </a:rPr>
                <a:t>？</a:t>
              </a:r>
            </a:p>
            <a:p>
              <a:pPr marL="800100" lvl="1" indent="-342900">
                <a:buFont typeface="Arial" panose="020B0604020202020204" pitchFamily="34" charset="0"/>
                <a:buChar char="•"/>
              </a:pPr>
              <a:r>
                <a:rPr lang="zh-CN" altLang="en-US" sz="2000">
                  <a:latin typeface="楷体" panose="02010609060101010101" pitchFamily="49" charset="-122"/>
                  <a:ea typeface="楷体" panose="02010609060101010101" pitchFamily="49" charset="-122"/>
                </a:rPr>
                <a:t>人们对其他人的工作、任务和角色的</a:t>
              </a:r>
              <a:r>
                <a:rPr lang="zh-CN" altLang="en-US" sz="2000" b="1">
                  <a:solidFill>
                    <a:srgbClr val="7030A0"/>
                  </a:solidFill>
                  <a:latin typeface="楷体" panose="02010609060101010101" pitchFamily="49" charset="-122"/>
                  <a:ea typeface="楷体" panose="02010609060101010101" pitchFamily="49" charset="-122"/>
                </a:rPr>
                <a:t>评价</a:t>
              </a:r>
              <a:r>
                <a:rPr lang="zh-CN" altLang="en-US" sz="2000">
                  <a:latin typeface="楷体" panose="02010609060101010101" pitchFamily="49" charset="-122"/>
                  <a:ea typeface="楷体" panose="02010609060101010101" pitchFamily="49" charset="-122"/>
                </a:rPr>
                <a:t>如何？</a:t>
              </a:r>
            </a:p>
            <a:p>
              <a:pPr marL="800100" lvl="1" indent="-342900">
                <a:buFont typeface="Arial" panose="020B0604020202020204" pitchFamily="34" charset="0"/>
                <a:buChar char="•"/>
              </a:pPr>
              <a:r>
                <a:rPr lang="zh-CN" altLang="en-US" sz="2000">
                  <a:latin typeface="楷体" panose="02010609060101010101" pitchFamily="49" charset="-122"/>
                  <a:ea typeface="楷体" panose="02010609060101010101" pitchFamily="49" charset="-122"/>
                </a:rPr>
                <a:t>个人</a:t>
              </a:r>
              <a:r>
                <a:rPr lang="zh-CN" altLang="en-US" sz="2000" b="1">
                  <a:solidFill>
                    <a:srgbClr val="7030A0"/>
                  </a:solidFill>
                  <a:latin typeface="楷体" panose="02010609060101010101" pitchFamily="49" charset="-122"/>
                  <a:ea typeface="楷体" panose="02010609060101010101" pitchFamily="49" charset="-122"/>
                </a:rPr>
                <a:t>利他的工作</a:t>
              </a:r>
              <a:r>
                <a:rPr lang="zh-CN" altLang="en-US" sz="2000">
                  <a:latin typeface="楷体" panose="02010609060101010101" pitchFamily="49" charset="-122"/>
                  <a:ea typeface="楷体" panose="02010609060101010101" pitchFamily="49" charset="-122"/>
                </a:rPr>
                <a:t>是怎样的？</a:t>
              </a:r>
            </a:p>
          </p:txBody>
        </p:sp>
        <p:pic>
          <p:nvPicPr>
            <p:cNvPr id="21" name="图片 20" descr="注意事项"/>
            <p:cNvPicPr>
              <a:picLocks noChangeAspect="1"/>
            </p:cNvPicPr>
            <p:nvPr/>
          </p:nvPicPr>
          <p:blipFill>
            <a:blip r:embed="rId2"/>
            <a:stretch>
              <a:fillRect/>
            </a:stretch>
          </p:blipFill>
          <p:spPr>
            <a:xfrm>
              <a:off x="10952" y="7813"/>
              <a:ext cx="1276" cy="1276"/>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5" grpId="0" bldLvl="0" animBg="1"/>
      <p:bldP spid="5" grpId="1"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观察</a:t>
            </a:r>
          </a:p>
        </p:txBody>
      </p:sp>
      <p:grpSp>
        <p:nvGrpSpPr>
          <p:cNvPr id="9" name="组合 8"/>
          <p:cNvGrpSpPr/>
          <p:nvPr/>
        </p:nvGrpSpPr>
        <p:grpSpPr>
          <a:xfrm>
            <a:off x="683260" y="937260"/>
            <a:ext cx="7058025" cy="1999615"/>
            <a:chOff x="1076" y="1476"/>
            <a:chExt cx="11115" cy="3149"/>
          </a:xfrm>
        </p:grpSpPr>
        <p:sp>
          <p:nvSpPr>
            <p:cNvPr id="3" name="文本框 2"/>
            <p:cNvSpPr txBox="1"/>
            <p:nvPr/>
          </p:nvSpPr>
          <p:spPr>
            <a:xfrm>
              <a:off x="1076" y="1476"/>
              <a:ext cx="11115" cy="3149"/>
            </a:xfrm>
            <a:prstGeom prst="rect">
              <a:avLst/>
            </a:prstGeom>
            <a:noFill/>
            <a:ln>
              <a:solidFill>
                <a:srgbClr val="0070C0"/>
              </a:solidFill>
            </a:ln>
          </p:spPr>
          <p:txBody>
            <a:bodyPr wrap="square" rtlCol="0">
              <a:spAutoFit/>
            </a:bodyPr>
            <a:lstStyle/>
            <a:p>
              <a:r>
                <a:rPr lang="zh-CN" altLang="en-US" sz="2400">
                  <a:latin typeface="楷体" panose="02010609060101010101" pitchFamily="49" charset="-122"/>
                  <a:ea typeface="楷体" panose="02010609060101010101" pitchFamily="49" charset="-122"/>
                </a:rPr>
                <a:t>辅助完成对程序和计划的观察的注意事项：</a:t>
              </a:r>
            </a:p>
            <a:p>
              <a:pPr marL="800100" lvl="1" indent="-342900">
                <a:buFont typeface="Arial" panose="020B0604020202020204" pitchFamily="34" charset="0"/>
                <a:buChar char="•"/>
              </a:pPr>
              <a:r>
                <a:rPr lang="zh-CN" altLang="en-US" sz="2000">
                  <a:latin typeface="楷体" panose="02010609060101010101" pitchFamily="49" charset="-122"/>
                  <a:ea typeface="楷体" panose="02010609060101010101" pitchFamily="49" charset="-122"/>
                </a:rPr>
                <a:t>计划和程序在工作场所是</a:t>
              </a:r>
              <a:r>
                <a:rPr lang="zh-CN" altLang="en-US" sz="2000" b="1">
                  <a:solidFill>
                    <a:srgbClr val="7030A0"/>
                  </a:solidFill>
                  <a:latin typeface="楷体" panose="02010609060101010101" pitchFamily="49" charset="-122"/>
                  <a:ea typeface="楷体" panose="02010609060101010101" pitchFamily="49" charset="-122"/>
                </a:rPr>
                <a:t>如何运作</a:t>
              </a:r>
              <a:r>
                <a:rPr lang="zh-CN" altLang="en-US" sz="2000">
                  <a:latin typeface="楷体" panose="02010609060101010101" pitchFamily="49" charset="-122"/>
                  <a:ea typeface="楷体" panose="02010609060101010101" pitchFamily="49" charset="-122"/>
                </a:rPr>
                <a:t>的？</a:t>
              </a:r>
            </a:p>
            <a:p>
              <a:pPr marL="800100" lvl="1" indent="-342900">
                <a:buFont typeface="Arial" panose="020B0604020202020204" pitchFamily="34" charset="0"/>
                <a:buChar char="•"/>
              </a:pPr>
              <a:r>
                <a:rPr lang="zh-CN" altLang="en-US" sz="2000">
                  <a:latin typeface="楷体" panose="02010609060101010101" pitchFamily="49" charset="-122"/>
                  <a:ea typeface="楷体" panose="02010609060101010101" pitchFamily="49" charset="-122"/>
                </a:rPr>
                <a:t>计划和程序</a:t>
              </a:r>
              <a:r>
                <a:rPr lang="zh-CN" altLang="en-US" sz="2000" b="1">
                  <a:solidFill>
                    <a:srgbClr val="7030A0"/>
                  </a:solidFill>
                  <a:latin typeface="楷体" panose="02010609060101010101" pitchFamily="49" charset="-122"/>
                  <a:ea typeface="楷体" panose="02010609060101010101" pitchFamily="49" charset="-122"/>
                </a:rPr>
                <a:t>总是有作用吗</a:t>
              </a:r>
              <a:r>
                <a:rPr lang="zh-CN" altLang="en-US" sz="2000">
                  <a:latin typeface="楷体" panose="02010609060101010101" pitchFamily="49" charset="-122"/>
                  <a:ea typeface="楷体" panose="02010609060101010101" pitchFamily="49" charset="-122"/>
                </a:rPr>
                <a:t>？</a:t>
              </a:r>
            </a:p>
            <a:p>
              <a:pPr marL="800100" lvl="1" indent="-342900">
                <a:buFont typeface="Arial" panose="020B0604020202020204" pitchFamily="34" charset="0"/>
                <a:buChar char="•"/>
              </a:pPr>
              <a:r>
                <a:rPr lang="zh-CN" altLang="en-US" sz="2000">
                  <a:latin typeface="楷体" panose="02010609060101010101" pitchFamily="49" charset="-122"/>
                  <a:ea typeface="楷体" panose="02010609060101010101" pitchFamily="49" charset="-122"/>
                </a:rPr>
                <a:t>计划和程序在什么情况下会应用失败，</a:t>
              </a:r>
              <a:r>
                <a:rPr lang="zh-CN" altLang="en-US" sz="2000" b="1">
                  <a:solidFill>
                    <a:srgbClr val="7030A0"/>
                  </a:solidFill>
                  <a:latin typeface="楷体" panose="02010609060101010101" pitchFamily="49" charset="-122"/>
                  <a:ea typeface="楷体" panose="02010609060101010101" pitchFamily="49" charset="-122"/>
                </a:rPr>
                <a:t>如何失败</a:t>
              </a:r>
              <a:r>
                <a:rPr lang="zh-CN" altLang="en-US" sz="2000">
                  <a:latin typeface="楷体" panose="02010609060101010101" pitchFamily="49" charset="-122"/>
                  <a:ea typeface="楷体" panose="02010609060101010101" pitchFamily="49" charset="-122"/>
                </a:rPr>
                <a:t>的？</a:t>
              </a:r>
            </a:p>
            <a:p>
              <a:pPr marL="800100" lvl="1" indent="-342900">
                <a:buFont typeface="Arial" panose="020B0604020202020204" pitchFamily="34" charset="0"/>
                <a:buChar char="•"/>
              </a:pPr>
              <a:r>
                <a:rPr lang="zh-CN" altLang="en-US" sz="2000">
                  <a:latin typeface="楷体" panose="02010609060101010101" pitchFamily="49" charset="-122"/>
                  <a:ea typeface="楷体" panose="02010609060101010101" pitchFamily="49" charset="-122"/>
                </a:rPr>
                <a:t>如果计划和程序的应用</a:t>
              </a:r>
              <a:r>
                <a:rPr lang="zh-CN" altLang="en-US" sz="2000" b="1">
                  <a:solidFill>
                    <a:srgbClr val="7030A0"/>
                  </a:solidFill>
                  <a:latin typeface="楷体" panose="02010609060101010101" pitchFamily="49" charset="-122"/>
                  <a:ea typeface="楷体" panose="02010609060101010101" pitchFamily="49" charset="-122"/>
                </a:rPr>
                <a:t>失败</a:t>
              </a:r>
              <a:r>
                <a:rPr lang="zh-CN" altLang="en-US" sz="2000">
                  <a:latin typeface="楷体" panose="02010609060101010101" pitchFamily="49" charset="-122"/>
                  <a:ea typeface="楷体" panose="02010609060101010101" pitchFamily="49" charset="-122"/>
                </a:rPr>
                <a:t>，会产生哪些</a:t>
              </a:r>
              <a:r>
                <a:rPr lang="zh-CN" altLang="en-US" sz="2000" b="1">
                  <a:solidFill>
                    <a:srgbClr val="7030A0"/>
                  </a:solidFill>
                  <a:latin typeface="楷体" panose="02010609060101010101" pitchFamily="49" charset="-122"/>
                  <a:ea typeface="楷体" panose="02010609060101010101" pitchFamily="49" charset="-122"/>
                </a:rPr>
                <a:t>后果</a:t>
              </a:r>
              <a:r>
                <a:rPr lang="zh-CN" altLang="en-US" sz="2000">
                  <a:latin typeface="楷体" panose="02010609060101010101" pitchFamily="49" charset="-122"/>
                  <a:ea typeface="楷体" panose="02010609060101010101" pitchFamily="49" charset="-122"/>
                </a:rPr>
                <a:t>？</a:t>
              </a:r>
            </a:p>
            <a:p>
              <a:pPr marL="800100" lvl="1" indent="-342900">
                <a:buFont typeface="Arial" panose="020B0604020202020204" pitchFamily="34" charset="0"/>
                <a:buChar char="•"/>
              </a:pPr>
              <a:r>
                <a:rPr lang="zh-CN" altLang="en-US" sz="2000">
                  <a:latin typeface="楷体" panose="02010609060101010101" pitchFamily="49" charset="-122"/>
                  <a:ea typeface="楷体" panose="02010609060101010101" pitchFamily="49" charset="-122"/>
                </a:rPr>
                <a:t>在什么情况下可以绕开计划与程序，如何绕开？</a:t>
              </a:r>
            </a:p>
          </p:txBody>
        </p:sp>
        <p:pic>
          <p:nvPicPr>
            <p:cNvPr id="5" name="图片 4" descr="注意事项"/>
            <p:cNvPicPr>
              <a:picLocks noChangeAspect="1"/>
            </p:cNvPicPr>
            <p:nvPr/>
          </p:nvPicPr>
          <p:blipFill>
            <a:blip r:embed="rId2"/>
            <a:stretch>
              <a:fillRect/>
            </a:stretch>
          </p:blipFill>
          <p:spPr>
            <a:xfrm>
              <a:off x="11090" y="3484"/>
              <a:ext cx="1101" cy="1101"/>
            </a:xfrm>
            <a:prstGeom prst="rect">
              <a:avLst/>
            </a:prstGeom>
          </p:spPr>
        </p:pic>
      </p:grpSp>
      <p:grpSp>
        <p:nvGrpSpPr>
          <p:cNvPr id="10" name="组合 9"/>
          <p:cNvGrpSpPr/>
          <p:nvPr/>
        </p:nvGrpSpPr>
        <p:grpSpPr>
          <a:xfrm>
            <a:off x="683260" y="3265170"/>
            <a:ext cx="7058025" cy="2922905"/>
            <a:chOff x="1076" y="5142"/>
            <a:chExt cx="11115" cy="4603"/>
          </a:xfrm>
        </p:grpSpPr>
        <p:sp>
          <p:nvSpPr>
            <p:cNvPr id="4" name="文本框 3"/>
            <p:cNvSpPr txBox="1"/>
            <p:nvPr/>
          </p:nvSpPr>
          <p:spPr>
            <a:xfrm>
              <a:off x="1076" y="5142"/>
              <a:ext cx="11115" cy="4603"/>
            </a:xfrm>
            <a:prstGeom prst="rect">
              <a:avLst/>
            </a:prstGeom>
            <a:noFill/>
            <a:ln>
              <a:solidFill>
                <a:srgbClr val="0070C0"/>
              </a:solidFill>
            </a:ln>
          </p:spPr>
          <p:txBody>
            <a:bodyPr wrap="square" rtlCol="0">
              <a:spAutoFit/>
            </a:bodyPr>
            <a:lstStyle/>
            <a:p>
              <a:r>
                <a:rPr lang="zh-CN" altLang="en-US" sz="2400">
                  <a:latin typeface="楷体" panose="02010609060101010101" pitchFamily="49" charset="-122"/>
                  <a:ea typeface="楷体" panose="02010609060101010101" pitchFamily="49" charset="-122"/>
                </a:rPr>
                <a:t>对工作的意识的观察的注意事项：</a:t>
              </a:r>
            </a:p>
            <a:p>
              <a:pPr marL="800100" lvl="1" indent="-342900">
                <a:buFont typeface="Arial" panose="020B0604020202020204" pitchFamily="34" charset="0"/>
                <a:buChar char="•"/>
              </a:pPr>
              <a:r>
                <a:rPr lang="zh-CN" altLang="en-US" sz="2000">
                  <a:latin typeface="楷体" panose="02010609060101010101" pitchFamily="49" charset="-122"/>
                  <a:ea typeface="楷体" panose="02010609060101010101" pitchFamily="49" charset="-122"/>
                </a:rPr>
                <a:t>工作</a:t>
              </a:r>
              <a:r>
                <a:rPr lang="zh-CN" altLang="en-US" sz="2000" b="1">
                  <a:solidFill>
                    <a:srgbClr val="7030A0"/>
                  </a:solidFill>
                  <a:latin typeface="楷体" panose="02010609060101010101" pitchFamily="49" charset="-122"/>
                  <a:ea typeface="楷体" panose="02010609060101010101" pitchFamily="49" charset="-122"/>
                </a:rPr>
                <a:t>空间</a:t>
              </a:r>
              <a:r>
                <a:rPr lang="zh-CN" altLang="en-US" sz="2000">
                  <a:latin typeface="楷体" panose="02010609060101010101" pitchFamily="49" charset="-122"/>
                  <a:ea typeface="楷体" panose="02010609060101010101" pitchFamily="49" charset="-122"/>
                </a:rPr>
                <a:t>是如何</a:t>
              </a:r>
              <a:r>
                <a:rPr lang="zh-CN" altLang="en-US" sz="2000" b="1">
                  <a:solidFill>
                    <a:srgbClr val="7030A0"/>
                  </a:solidFill>
                  <a:latin typeface="楷体" panose="02010609060101010101" pitchFamily="49" charset="-122"/>
                  <a:ea typeface="楷体" panose="02010609060101010101" pitchFamily="49" charset="-122"/>
                </a:rPr>
                <a:t>布置</a:t>
              </a:r>
              <a:r>
                <a:rPr lang="zh-CN" altLang="en-US" sz="2000">
                  <a:latin typeface="楷体" panose="02010609060101010101" pitchFamily="49" charset="-122"/>
                  <a:ea typeface="楷体" panose="02010609060101010101" pitchFamily="49" charset="-122"/>
                </a:rPr>
                <a:t>的？其对工作的</a:t>
              </a:r>
              <a:r>
                <a:rPr lang="zh-CN" altLang="en-US" sz="2000" b="1">
                  <a:solidFill>
                    <a:srgbClr val="7030A0"/>
                  </a:solidFill>
                  <a:latin typeface="楷体" panose="02010609060101010101" pitchFamily="49" charset="-122"/>
                  <a:ea typeface="楷体" panose="02010609060101010101" pitchFamily="49" charset="-122"/>
                </a:rPr>
                <a:t>影响</a:t>
              </a:r>
              <a:r>
                <a:rPr lang="zh-CN" altLang="en-US" sz="2000">
                  <a:latin typeface="楷体" panose="02010609060101010101" pitchFamily="49" charset="-122"/>
                  <a:ea typeface="楷体" panose="02010609060101010101" pitchFamily="49" charset="-122"/>
                </a:rPr>
                <a:t>如何？</a:t>
              </a:r>
            </a:p>
            <a:p>
              <a:pPr marL="800100" lvl="1" indent="-342900">
                <a:buFont typeface="Arial" panose="020B0604020202020204" pitchFamily="34" charset="0"/>
                <a:buChar char="•"/>
              </a:pPr>
              <a:r>
                <a:rPr lang="zh-CN" altLang="en-US" sz="2000">
                  <a:latin typeface="楷体" panose="02010609060101010101" pitchFamily="49" charset="-122"/>
                  <a:ea typeface="楷体" panose="02010609060101010101" pitchFamily="49" charset="-122"/>
                </a:rPr>
                <a:t>工作场所的</a:t>
              </a:r>
              <a:r>
                <a:rPr lang="zh-CN" altLang="en-US" sz="2000" b="1">
                  <a:solidFill>
                    <a:srgbClr val="7030A0"/>
                  </a:solidFill>
                  <a:latin typeface="楷体" panose="02010609060101010101" pitchFamily="49" charset="-122"/>
                  <a:ea typeface="楷体" panose="02010609060101010101" pitchFamily="49" charset="-122"/>
                </a:rPr>
                <a:t>个人空间</a:t>
              </a:r>
              <a:r>
                <a:rPr lang="zh-CN" altLang="en-US" sz="2000">
                  <a:latin typeface="楷体" panose="02010609060101010101" pitchFamily="49" charset="-122"/>
                  <a:ea typeface="楷体" panose="02010609060101010101" pitchFamily="49" charset="-122"/>
                </a:rPr>
                <a:t>是如何安排的？</a:t>
              </a:r>
            </a:p>
            <a:p>
              <a:pPr marL="800100" lvl="1" indent="-342900">
                <a:buFont typeface="Arial" panose="020B0604020202020204" pitchFamily="34" charset="0"/>
                <a:buChar char="•"/>
              </a:pPr>
              <a:r>
                <a:rPr lang="zh-CN" altLang="en-US" sz="2000">
                  <a:latin typeface="楷体" panose="02010609060101010101" pitchFamily="49" charset="-122"/>
                  <a:ea typeface="楷体" panose="02010609060101010101" pitchFamily="49" charset="-122"/>
                </a:rPr>
                <a:t>将哪些</a:t>
              </a:r>
              <a:r>
                <a:rPr lang="zh-CN" altLang="en-US" sz="2000" b="1">
                  <a:solidFill>
                    <a:srgbClr val="7030A0"/>
                  </a:solidFill>
                  <a:latin typeface="楷体" panose="02010609060101010101" pitchFamily="49" charset="-122"/>
                  <a:ea typeface="楷体" panose="02010609060101010101" pitchFamily="49" charset="-122"/>
                </a:rPr>
                <a:t>物件</a:t>
              </a:r>
              <a:r>
                <a:rPr lang="zh-CN" altLang="en-US" sz="2000">
                  <a:latin typeface="楷体" panose="02010609060101010101" pitchFamily="49" charset="-122"/>
                  <a:ea typeface="楷体" panose="02010609060101010101" pitchFamily="49" charset="-122"/>
                </a:rPr>
                <a:t>放在手边可以更好的完成日常工作？</a:t>
              </a:r>
              <a:endParaRPr lang="en-US" altLang="zh-CN" sz="2000">
                <a:latin typeface="楷体" panose="02010609060101010101" pitchFamily="49" charset="-122"/>
                <a:ea typeface="楷体" panose="02010609060101010101" pitchFamily="49" charset="-122"/>
              </a:endParaRPr>
            </a:p>
            <a:p>
              <a:pPr marL="800100" lvl="1" indent="-342900">
                <a:buFont typeface="Arial" panose="020B0604020202020204" pitchFamily="34" charset="0"/>
                <a:buChar char="•"/>
              </a:pPr>
              <a:r>
                <a:rPr lang="zh-CN" altLang="en-US" sz="2000">
                  <a:latin typeface="楷体" panose="02010609060101010101" pitchFamily="49" charset="-122"/>
                  <a:ea typeface="楷体" panose="02010609060101010101" pitchFamily="49" charset="-122"/>
                </a:rPr>
                <a:t>工作的人通常会</a:t>
              </a:r>
              <a:r>
                <a:rPr lang="zh-CN" altLang="en-US" sz="2000" b="1">
                  <a:solidFill>
                    <a:srgbClr val="7030A0"/>
                  </a:solidFill>
                  <a:latin typeface="楷体" panose="02010609060101010101" pitchFamily="49" charset="-122"/>
                  <a:ea typeface="楷体" panose="02010609060101010101" pitchFamily="49" charset="-122"/>
                </a:rPr>
                <a:t>参考</a:t>
              </a:r>
              <a:r>
                <a:rPr lang="zh-CN" altLang="en-US" sz="2000">
                  <a:latin typeface="楷体" panose="02010609060101010101" pitchFamily="49" charset="-122"/>
                  <a:ea typeface="楷体" panose="02010609060101010101" pitchFamily="49" charset="-122"/>
                </a:rPr>
                <a:t>哪些</a:t>
              </a:r>
              <a:r>
                <a:rPr lang="zh-CN" altLang="en-US" sz="2000" b="1">
                  <a:solidFill>
                    <a:srgbClr val="7030A0"/>
                  </a:solidFill>
                  <a:latin typeface="楷体" panose="02010609060101010101" pitchFamily="49" charset="-122"/>
                  <a:ea typeface="楷体" panose="02010609060101010101" pitchFamily="49" charset="-122"/>
                </a:rPr>
                <a:t>文件</a:t>
              </a:r>
              <a:r>
                <a:rPr lang="zh-CN" altLang="en-US" sz="2000">
                  <a:latin typeface="楷体" panose="02010609060101010101" pitchFamily="49" charset="-122"/>
                  <a:ea typeface="楷体" panose="02010609060101010101" pitchFamily="49" charset="-122"/>
                </a:rPr>
                <a:t>？</a:t>
              </a:r>
            </a:p>
            <a:p>
              <a:pPr marL="800100" lvl="1" indent="-342900">
                <a:buFont typeface="Arial" panose="020B0604020202020204" pitchFamily="34" charset="0"/>
                <a:buChar char="•"/>
              </a:pPr>
              <a:r>
                <a:rPr lang="zh-CN" altLang="en-US" sz="2000">
                  <a:latin typeface="楷体" panose="02010609060101010101" pitchFamily="49" charset="-122"/>
                  <a:ea typeface="楷体" panose="02010609060101010101" pitchFamily="49" charset="-122"/>
                </a:rPr>
                <a:t>工作产生的对象分别位于什么</a:t>
              </a:r>
              <a:r>
                <a:rPr lang="zh-CN" altLang="en-US" sz="2000" b="1">
                  <a:solidFill>
                    <a:srgbClr val="7030A0"/>
                  </a:solidFill>
                  <a:latin typeface="楷体" panose="02010609060101010101" pitchFamily="49" charset="-122"/>
                  <a:ea typeface="楷体" panose="02010609060101010101" pitchFamily="49" charset="-122"/>
                </a:rPr>
                <a:t>位置</a:t>
              </a:r>
              <a:r>
                <a:rPr lang="zh-CN" altLang="en-US" sz="2000">
                  <a:latin typeface="楷体" panose="02010609060101010101" pitchFamily="49" charset="-122"/>
                  <a:ea typeface="楷体" panose="02010609060101010101" pitchFamily="49" charset="-122"/>
                </a:rPr>
                <a:t>？由</a:t>
              </a:r>
              <a:r>
                <a:rPr lang="zh-CN" altLang="en-US" sz="2000" b="1">
                  <a:solidFill>
                    <a:srgbClr val="7030A0"/>
                  </a:solidFill>
                  <a:latin typeface="楷体" panose="02010609060101010101" pitchFamily="49" charset="-122"/>
                  <a:ea typeface="楷体" panose="02010609060101010101" pitchFamily="49" charset="-122"/>
                </a:rPr>
                <a:t>谁</a:t>
              </a:r>
              <a:r>
                <a:rPr lang="zh-CN" altLang="en-US" sz="2000">
                  <a:latin typeface="楷体" panose="02010609060101010101" pitchFamily="49" charset="-122"/>
                  <a:ea typeface="楷体" panose="02010609060101010101" pitchFamily="49" charset="-122"/>
                </a:rPr>
                <a:t>使用？使用</a:t>
              </a:r>
              <a:r>
                <a:rPr lang="zh-CN" altLang="en-US" sz="2000" b="1">
                  <a:solidFill>
                    <a:srgbClr val="7030A0"/>
                  </a:solidFill>
                  <a:latin typeface="楷体" panose="02010609060101010101" pitchFamily="49" charset="-122"/>
                  <a:ea typeface="楷体" panose="02010609060101010101" pitchFamily="49" charset="-122"/>
                </a:rPr>
                <a:t>频率</a:t>
              </a:r>
              <a:r>
                <a:rPr lang="zh-CN" altLang="en-US" sz="2000">
                  <a:latin typeface="楷体" panose="02010609060101010101" pitchFamily="49" charset="-122"/>
                  <a:ea typeface="楷体" panose="02010609060101010101" pitchFamily="49" charset="-122"/>
                </a:rPr>
                <a:t>怎样？</a:t>
              </a:r>
            </a:p>
            <a:p>
              <a:pPr marL="800100" lvl="1" indent="-342900">
                <a:buFont typeface="Arial" panose="020B0604020202020204" pitchFamily="34" charset="0"/>
                <a:buChar char="•"/>
              </a:pPr>
              <a:r>
                <a:rPr lang="zh-CN" altLang="en-US" sz="2000">
                  <a:latin typeface="楷体" panose="02010609060101010101" pitchFamily="49" charset="-122"/>
                  <a:ea typeface="楷体" panose="02010609060101010101" pitchFamily="49" charset="-122"/>
                </a:rPr>
                <a:t>个人如何</a:t>
              </a:r>
              <a:r>
                <a:rPr lang="zh-CN" altLang="en-US" sz="2000" b="1">
                  <a:solidFill>
                    <a:srgbClr val="7030A0"/>
                  </a:solidFill>
                  <a:latin typeface="楷体" panose="02010609060101010101" pitchFamily="49" charset="-122"/>
                  <a:ea typeface="楷体" panose="02010609060101010101" pitchFamily="49" charset="-122"/>
                </a:rPr>
                <a:t>监控</a:t>
              </a:r>
              <a:r>
                <a:rPr lang="zh-CN" altLang="en-US" sz="2000">
                  <a:latin typeface="楷体" panose="02010609060101010101" pitchFamily="49" charset="-122"/>
                  <a:ea typeface="楷体" panose="02010609060101010101" pitchFamily="49" charset="-122"/>
                </a:rPr>
                <a:t>他人的工作？</a:t>
              </a:r>
            </a:p>
            <a:p>
              <a:pPr marL="800100" lvl="1" indent="-342900">
                <a:buFont typeface="Arial" panose="020B0604020202020204" pitchFamily="34" charset="0"/>
                <a:buChar char="•"/>
              </a:pPr>
              <a:r>
                <a:rPr lang="zh-CN" altLang="en-US" sz="2000">
                  <a:latin typeface="楷体" panose="02010609060101010101" pitchFamily="49" charset="-122"/>
                  <a:ea typeface="楷体" panose="02010609060101010101" pitchFamily="49" charset="-122"/>
                </a:rPr>
                <a:t>个人如何使得自己的工作</a:t>
              </a:r>
              <a:r>
                <a:rPr lang="zh-CN" altLang="en-US" sz="2000" b="1">
                  <a:solidFill>
                    <a:srgbClr val="7030A0"/>
                  </a:solidFill>
                  <a:latin typeface="楷体" panose="02010609060101010101" pitchFamily="49" charset="-122"/>
                  <a:ea typeface="楷体" panose="02010609060101010101" pitchFamily="49" charset="-122"/>
                </a:rPr>
                <a:t>对他人可见</a:t>
              </a:r>
              <a:r>
                <a:rPr lang="zh-CN" altLang="en-US" sz="2000">
                  <a:latin typeface="楷体" panose="02010609060101010101" pitchFamily="49" charset="-122"/>
                  <a:ea typeface="楷体" panose="02010609060101010101" pitchFamily="49" charset="-122"/>
                </a:rPr>
                <a:t>？</a:t>
              </a:r>
            </a:p>
          </p:txBody>
        </p:sp>
        <p:pic>
          <p:nvPicPr>
            <p:cNvPr id="8" name="图片 7" descr="注意事项"/>
            <p:cNvPicPr>
              <a:picLocks noChangeAspect="1"/>
            </p:cNvPicPr>
            <p:nvPr/>
          </p:nvPicPr>
          <p:blipFill>
            <a:blip r:embed="rId2"/>
            <a:stretch>
              <a:fillRect/>
            </a:stretch>
          </p:blipFill>
          <p:spPr>
            <a:xfrm>
              <a:off x="10995" y="8549"/>
              <a:ext cx="1196" cy="1196"/>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51596" y="16999"/>
            <a:ext cx="690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观察</a:t>
            </a:r>
          </a:p>
        </p:txBody>
      </p:sp>
      <p:grpSp>
        <p:nvGrpSpPr>
          <p:cNvPr id="9" name="组合 8"/>
          <p:cNvGrpSpPr/>
          <p:nvPr/>
        </p:nvGrpSpPr>
        <p:grpSpPr>
          <a:xfrm>
            <a:off x="778510" y="755650"/>
            <a:ext cx="6704330" cy="1691640"/>
            <a:chOff x="1226" y="1190"/>
            <a:chExt cx="10558" cy="2664"/>
          </a:xfrm>
        </p:grpSpPr>
        <p:sp>
          <p:nvSpPr>
            <p:cNvPr id="3" name="文本框 2"/>
            <p:cNvSpPr txBox="1"/>
            <p:nvPr/>
          </p:nvSpPr>
          <p:spPr>
            <a:xfrm>
              <a:off x="1226" y="1190"/>
              <a:ext cx="10559" cy="2664"/>
            </a:xfrm>
            <a:prstGeom prst="rect">
              <a:avLst/>
            </a:prstGeom>
            <a:noFill/>
            <a:ln>
              <a:solidFill>
                <a:srgbClr val="0070C0"/>
              </a:solidFill>
            </a:ln>
          </p:spPr>
          <p:txBody>
            <a:bodyPr wrap="square" rtlCol="0">
              <a:spAutoFit/>
            </a:bodyPr>
            <a:lstStyle/>
            <a:p>
              <a:r>
                <a:rPr lang="zh-CN" altLang="en-US" sz="2400">
                  <a:latin typeface="楷体" panose="02010609060101010101" pitchFamily="49" charset="-122"/>
                  <a:ea typeface="楷体" panose="02010609060101010101" pitchFamily="49" charset="-122"/>
                </a:rPr>
                <a:t>适用于普通民族志的规则：</a:t>
              </a:r>
            </a:p>
            <a:p>
              <a:pPr marL="800100" lvl="1" indent="-342900">
                <a:buFont typeface="Arial" panose="020B0604020202020204" pitchFamily="34" charset="0"/>
                <a:buChar char="•"/>
              </a:pPr>
              <a:r>
                <a:rPr lang="zh-CN" altLang="en-US" sz="2000">
                  <a:latin typeface="楷体" panose="02010609060101010101" pitchFamily="49" charset="-122"/>
                  <a:ea typeface="楷体" panose="02010609060101010101" pitchFamily="49" charset="-122"/>
                </a:rPr>
                <a:t>定期记录观察发现</a:t>
              </a:r>
            </a:p>
            <a:p>
              <a:pPr marL="800100" lvl="1" indent="-342900">
                <a:buFont typeface="Arial" panose="020B0604020202020204" pitchFamily="34" charset="0"/>
                <a:buChar char="•"/>
              </a:pPr>
              <a:r>
                <a:rPr lang="zh-CN" altLang="en-US" sz="2000">
                  <a:latin typeface="楷体" panose="02010609060101010101" pitchFamily="49" charset="-122"/>
                  <a:ea typeface="楷体" panose="02010609060101010101" pitchFamily="49" charset="-122"/>
                </a:rPr>
                <a:t>及时记录面谈内容</a:t>
              </a:r>
            </a:p>
            <a:p>
              <a:pPr marL="800100" lvl="1" indent="-342900">
                <a:buFont typeface="Arial" panose="020B0604020202020204" pitchFamily="34" charset="0"/>
                <a:buChar char="•"/>
              </a:pPr>
              <a:r>
                <a:rPr lang="zh-CN" altLang="en-US" sz="2000">
                  <a:latin typeface="楷体" panose="02010609060101010101" pitchFamily="49" charset="-122"/>
                  <a:ea typeface="楷体" panose="02010609060101010101" pitchFamily="49" charset="-122"/>
                </a:rPr>
                <a:t>不断复查和更新观察想法</a:t>
              </a:r>
            </a:p>
            <a:p>
              <a:pPr marL="800100" lvl="1" indent="-342900">
                <a:buFont typeface="Arial" panose="020B0604020202020204" pitchFamily="34" charset="0"/>
                <a:buChar char="•"/>
              </a:pPr>
              <a:r>
                <a:rPr lang="zh-CN" altLang="en-US" sz="2000">
                  <a:latin typeface="楷体" panose="02010609060101010101" pitchFamily="49" charset="-122"/>
                  <a:ea typeface="楷体" panose="02010609060101010101" pitchFamily="49" charset="-122"/>
                </a:rPr>
                <a:t>对数据进行管理与分类</a:t>
              </a:r>
            </a:p>
          </p:txBody>
        </p:sp>
        <p:pic>
          <p:nvPicPr>
            <p:cNvPr id="8" name="图片 7"/>
            <p:cNvPicPr>
              <a:picLocks noChangeAspect="1"/>
            </p:cNvPicPr>
            <p:nvPr/>
          </p:nvPicPr>
          <p:blipFill>
            <a:blip r:embed="rId2"/>
            <a:stretch>
              <a:fillRect/>
            </a:stretch>
          </p:blipFill>
          <p:spPr>
            <a:xfrm>
              <a:off x="8417" y="1494"/>
              <a:ext cx="2644" cy="2056"/>
            </a:xfrm>
            <a:prstGeom prst="rect">
              <a:avLst/>
            </a:prstGeom>
          </p:spPr>
        </p:pic>
      </p:grpSp>
      <p:sp>
        <p:nvSpPr>
          <p:cNvPr id="23" name="文本框 22"/>
          <p:cNvSpPr txBox="1"/>
          <p:nvPr/>
        </p:nvSpPr>
        <p:spPr>
          <a:xfrm>
            <a:off x="778510" y="2834640"/>
            <a:ext cx="3111500" cy="460375"/>
          </a:xfrm>
          <a:prstGeom prst="rect">
            <a:avLst/>
          </a:prstGeom>
          <a:noFill/>
          <a:ln>
            <a:solidFill>
              <a:srgbClr val="0070C0"/>
            </a:solidFill>
          </a:ln>
        </p:spPr>
        <p:txBody>
          <a:bodyPr wrap="square" rtlCol="0">
            <a:spAutoFit/>
          </a:bodyPr>
          <a:lstStyle/>
          <a:p>
            <a:r>
              <a:rPr lang="zh-CN" altLang="en-US" sz="2400">
                <a:latin typeface="楷体" panose="02010609060101010101" pitchFamily="49" charset="-122"/>
                <a:ea typeface="楷体" panose="02010609060101010101" pitchFamily="49" charset="-122"/>
              </a:rPr>
              <a:t>民族志方法的优缺点：</a:t>
            </a:r>
          </a:p>
        </p:txBody>
      </p:sp>
      <p:grpSp>
        <p:nvGrpSpPr>
          <p:cNvPr id="26" name="组合 25"/>
          <p:cNvGrpSpPr/>
          <p:nvPr/>
        </p:nvGrpSpPr>
        <p:grpSpPr>
          <a:xfrm>
            <a:off x="824865" y="3606165"/>
            <a:ext cx="3065145" cy="2432685"/>
            <a:chOff x="1299" y="5799"/>
            <a:chExt cx="4827" cy="3831"/>
          </a:xfrm>
        </p:grpSpPr>
        <p:sp>
          <p:nvSpPr>
            <p:cNvPr id="24" name="文本框 23"/>
            <p:cNvSpPr txBox="1"/>
            <p:nvPr/>
          </p:nvSpPr>
          <p:spPr>
            <a:xfrm>
              <a:off x="1299" y="5799"/>
              <a:ext cx="4827" cy="2082"/>
            </a:xfrm>
            <a:prstGeom prst="rect">
              <a:avLst/>
            </a:prstGeom>
            <a:noFill/>
            <a:ln>
              <a:solidFill>
                <a:srgbClr val="0070C0"/>
              </a:solidFill>
            </a:ln>
          </p:spPr>
          <p:txBody>
            <a:bodyPr wrap="square" rtlCol="0">
              <a:spAutoFit/>
            </a:bodyPr>
            <a:lstStyle/>
            <a:p>
              <a:pPr marL="285750" indent="-285750">
                <a:buFont typeface="Arial" panose="020B0604020202020204" pitchFamily="34" charset="0"/>
                <a:buChar char="•"/>
              </a:pPr>
              <a:r>
                <a:rPr lang="zh-CN" altLang="en-US" sz="2000">
                  <a:latin typeface="楷体" panose="02010609060101010101" pitchFamily="49" charset="-122"/>
                  <a:ea typeface="楷体" panose="02010609060101010101" pitchFamily="49" charset="-122"/>
                </a:rPr>
                <a:t>能够得到信息的</a:t>
              </a:r>
              <a:r>
                <a:rPr lang="zh-CN" altLang="en-US" sz="2000" b="1">
                  <a:solidFill>
                    <a:srgbClr val="7030A0"/>
                  </a:solidFill>
                  <a:latin typeface="楷体" panose="02010609060101010101" pitchFamily="49" charset="-122"/>
                  <a:ea typeface="楷体" panose="02010609060101010101" pitchFamily="49" charset="-122"/>
                </a:rPr>
                <a:t>深度理解</a:t>
              </a:r>
              <a:r>
                <a:rPr lang="zh-CN" altLang="en-US" sz="2000">
                  <a:latin typeface="楷体" panose="02010609060101010101" pitchFamily="49" charset="-122"/>
                  <a:ea typeface="楷体" panose="02010609060101010101" pitchFamily="49" charset="-122"/>
                </a:rPr>
                <a:t>。</a:t>
              </a:r>
            </a:p>
            <a:p>
              <a:pPr marL="285750" indent="-285750">
                <a:buFont typeface="Arial" panose="020B0604020202020204" pitchFamily="34" charset="0"/>
                <a:buChar char="•"/>
              </a:pPr>
              <a:r>
                <a:rPr lang="zh-CN" altLang="en-US" sz="2000">
                  <a:latin typeface="楷体" panose="02010609060101010101" pitchFamily="49" charset="-122"/>
                  <a:ea typeface="楷体" panose="02010609060101010101" pitchFamily="49" charset="-122"/>
                </a:rPr>
                <a:t>能够让真实世界的社会性因素</a:t>
              </a:r>
              <a:r>
                <a:rPr lang="zh-CN" altLang="en-US" sz="2000" b="1">
                  <a:solidFill>
                    <a:srgbClr val="7030A0"/>
                  </a:solidFill>
                  <a:latin typeface="楷体" panose="02010609060101010101" pitchFamily="49" charset="-122"/>
                  <a:ea typeface="楷体" panose="02010609060101010101" pitchFamily="49" charset="-122"/>
                </a:rPr>
                <a:t>可见化</a:t>
              </a:r>
              <a:r>
                <a:rPr lang="zh-CN" altLang="en-US" sz="2000">
                  <a:latin typeface="楷体" panose="02010609060101010101" pitchFamily="49" charset="-122"/>
                  <a:ea typeface="楷体" panose="02010609060101010101" pitchFamily="49" charset="-122"/>
                </a:rPr>
                <a:t>。</a:t>
              </a:r>
            </a:p>
          </p:txBody>
        </p:sp>
        <p:pic>
          <p:nvPicPr>
            <p:cNvPr id="25" name="图片 24" descr="优点"/>
            <p:cNvPicPr>
              <a:picLocks noChangeAspect="1"/>
            </p:cNvPicPr>
            <p:nvPr/>
          </p:nvPicPr>
          <p:blipFill>
            <a:blip r:embed="rId3"/>
            <a:stretch>
              <a:fillRect/>
            </a:stretch>
          </p:blipFill>
          <p:spPr>
            <a:xfrm>
              <a:off x="2759" y="8130"/>
              <a:ext cx="1500" cy="1500"/>
            </a:xfrm>
            <a:prstGeom prst="rect">
              <a:avLst/>
            </a:prstGeom>
          </p:spPr>
        </p:pic>
      </p:grpSp>
      <p:grpSp>
        <p:nvGrpSpPr>
          <p:cNvPr id="31" name="组合 30"/>
          <p:cNvGrpSpPr/>
          <p:nvPr/>
        </p:nvGrpSpPr>
        <p:grpSpPr>
          <a:xfrm>
            <a:off x="4418330" y="3606165"/>
            <a:ext cx="3065145" cy="2576195"/>
            <a:chOff x="6958" y="5679"/>
            <a:chExt cx="4827" cy="4057"/>
          </a:xfrm>
        </p:grpSpPr>
        <p:sp>
          <p:nvSpPr>
            <p:cNvPr id="28" name="文本框 27"/>
            <p:cNvSpPr txBox="1"/>
            <p:nvPr/>
          </p:nvSpPr>
          <p:spPr>
            <a:xfrm>
              <a:off x="6958" y="5679"/>
              <a:ext cx="4827" cy="2082"/>
            </a:xfrm>
            <a:prstGeom prst="rect">
              <a:avLst/>
            </a:prstGeom>
            <a:noFill/>
            <a:ln>
              <a:solidFill>
                <a:srgbClr val="0070C0"/>
              </a:solidFill>
            </a:ln>
          </p:spPr>
          <p:txBody>
            <a:bodyPr wrap="square" rtlCol="0">
              <a:spAutoFit/>
            </a:bodyPr>
            <a:lstStyle/>
            <a:p>
              <a:pPr marL="285750" indent="-285750">
                <a:buFont typeface="Arial" panose="020B0604020202020204" pitchFamily="34" charset="0"/>
                <a:buChar char="•"/>
              </a:pPr>
              <a:r>
                <a:rPr lang="zh-CN" altLang="en-US" sz="2000">
                  <a:latin typeface="楷体" panose="02010609060101010101" pitchFamily="49" charset="-122"/>
                  <a:ea typeface="楷体" panose="02010609060101010101" pitchFamily="49" charset="-122"/>
                  <a:sym typeface="+mn-ea"/>
                </a:rPr>
                <a:t>需要</a:t>
              </a:r>
              <a:r>
                <a:rPr lang="zh-CN" altLang="en-US" sz="2000" b="1">
                  <a:solidFill>
                    <a:srgbClr val="7030A0"/>
                  </a:solidFill>
                  <a:latin typeface="楷体" panose="02010609060101010101" pitchFamily="49" charset="-122"/>
                  <a:ea typeface="楷体" panose="02010609060101010101" pitchFamily="49" charset="-122"/>
                  <a:sym typeface="+mn-ea"/>
                </a:rPr>
                <a:t>耗费</a:t>
              </a:r>
              <a:r>
                <a:rPr lang="zh-CN" altLang="en-US" sz="2000">
                  <a:latin typeface="楷体" panose="02010609060101010101" pitchFamily="49" charset="-122"/>
                  <a:ea typeface="楷体" panose="02010609060101010101" pitchFamily="49" charset="-122"/>
                  <a:sym typeface="+mn-ea"/>
                </a:rPr>
                <a:t>很多的</a:t>
              </a:r>
              <a:r>
                <a:rPr lang="zh-CN" altLang="en-US" sz="2000" b="1">
                  <a:solidFill>
                    <a:srgbClr val="7030A0"/>
                  </a:solidFill>
                  <a:latin typeface="楷体" panose="02010609060101010101" pitchFamily="49" charset="-122"/>
                  <a:ea typeface="楷体" panose="02010609060101010101" pitchFamily="49" charset="-122"/>
                  <a:sym typeface="+mn-ea"/>
                </a:rPr>
                <a:t>时间</a:t>
              </a:r>
              <a:r>
                <a:rPr lang="zh-CN" altLang="en-US" sz="2000">
                  <a:latin typeface="楷体" panose="02010609060101010101" pitchFamily="49" charset="-122"/>
                  <a:ea typeface="楷体" panose="02010609060101010101" pitchFamily="49" charset="-122"/>
                  <a:sym typeface="+mn-ea"/>
                </a:rPr>
                <a:t>，不仅是观察到耗时。</a:t>
              </a:r>
            </a:p>
            <a:p>
              <a:pPr marL="285750" indent="-285750">
                <a:buFont typeface="Arial" panose="020B0604020202020204" pitchFamily="34" charset="0"/>
                <a:buChar char="•"/>
              </a:pPr>
              <a:r>
                <a:rPr lang="zh-CN" altLang="en-US" sz="2000">
                  <a:latin typeface="楷体" panose="02010609060101010101" pitchFamily="49" charset="-122"/>
                  <a:ea typeface="楷体" panose="02010609060101010101" pitchFamily="49" charset="-122"/>
                  <a:sym typeface="+mn-ea"/>
                </a:rPr>
                <a:t>调研结果</a:t>
              </a:r>
              <a:r>
                <a:rPr lang="zh-CN" altLang="en-US" sz="2000" b="1">
                  <a:solidFill>
                    <a:srgbClr val="7030A0"/>
                  </a:solidFill>
                  <a:latin typeface="楷体" panose="02010609060101010101" pitchFamily="49" charset="-122"/>
                  <a:ea typeface="楷体" panose="02010609060101010101" pitchFamily="49" charset="-122"/>
                  <a:sym typeface="+mn-ea"/>
                </a:rPr>
                <a:t>很难传递</a:t>
              </a:r>
              <a:r>
                <a:rPr lang="zh-CN" altLang="en-US" sz="2000">
                  <a:latin typeface="楷体" panose="02010609060101010101" pitchFamily="49" charset="-122"/>
                  <a:ea typeface="楷体" panose="02010609060101010101" pitchFamily="49" charset="-122"/>
                  <a:sym typeface="+mn-ea"/>
                </a:rPr>
                <a:t>到开发过程。</a:t>
              </a:r>
            </a:p>
          </p:txBody>
        </p:sp>
        <p:pic>
          <p:nvPicPr>
            <p:cNvPr id="30" name="图片 29" descr="缺点"/>
            <p:cNvPicPr>
              <a:picLocks noChangeAspect="1"/>
            </p:cNvPicPr>
            <p:nvPr/>
          </p:nvPicPr>
          <p:blipFill>
            <a:blip r:embed="rId4"/>
            <a:stretch>
              <a:fillRect/>
            </a:stretch>
          </p:blipFill>
          <p:spPr>
            <a:xfrm>
              <a:off x="8417" y="7762"/>
              <a:ext cx="1974" cy="1974"/>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P spid="23" grpId="1"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目录</a:t>
            </a:r>
          </a:p>
        </p:txBody>
      </p:sp>
      <p:sp>
        <p:nvSpPr>
          <p:cNvPr id="7" name="内容占位符 2"/>
          <p:cNvSpPr txBox="1"/>
          <p:nvPr/>
        </p:nvSpPr>
        <p:spPr>
          <a:xfrm>
            <a:off x="628650" y="1459230"/>
            <a:ext cx="7886700" cy="452691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dirty="0">
                <a:latin typeface="楷体" panose="02010609060101010101" pitchFamily="49" charset="-122"/>
                <a:ea typeface="楷体" panose="02010609060101010101" pitchFamily="49" charset="-122"/>
              </a:rPr>
              <a:t>概述</a:t>
            </a:r>
            <a:endParaRPr kumimoji="1" lang="en-US" altLang="zh-CN" dirty="0">
              <a:latin typeface="楷体" panose="02010609060101010101" pitchFamily="49" charset="-122"/>
              <a:ea typeface="楷体" panose="02010609060101010101" pitchFamily="49" charset="-122"/>
            </a:endParaRPr>
          </a:p>
          <a:p>
            <a:r>
              <a:rPr kumimoji="1" lang="zh-CN" altLang="en-US" dirty="0">
                <a:solidFill>
                  <a:schemeClr val="tx1"/>
                </a:solidFill>
                <a:latin typeface="楷体" panose="02010609060101010101" pitchFamily="49" charset="-122"/>
                <a:ea typeface="楷体" panose="02010609060101010101" pitchFamily="49" charset="-122"/>
              </a:rPr>
              <a:t>面谈</a:t>
            </a:r>
          </a:p>
          <a:p>
            <a:r>
              <a:rPr kumimoji="1" lang="zh-CN" altLang="en-US" dirty="0">
                <a:latin typeface="楷体" panose="02010609060101010101" pitchFamily="49" charset="-122"/>
                <a:ea typeface="楷体" panose="02010609060101010101" pitchFamily="49" charset="-122"/>
              </a:rPr>
              <a:t>原型</a:t>
            </a:r>
          </a:p>
          <a:p>
            <a:r>
              <a:rPr kumimoji="1" lang="zh-CN" altLang="en-US" dirty="0">
                <a:solidFill>
                  <a:schemeClr val="tx1"/>
                </a:solidFill>
                <a:latin typeface="楷体" panose="02010609060101010101" pitchFamily="49" charset="-122"/>
                <a:ea typeface="楷体" panose="02010609060101010101" pitchFamily="49" charset="-122"/>
              </a:rPr>
              <a:t>观察</a:t>
            </a:r>
          </a:p>
          <a:p>
            <a:r>
              <a:rPr kumimoji="1" lang="zh-CN" altLang="en-US" dirty="0">
                <a:solidFill>
                  <a:srgbClr val="FF0000"/>
                </a:solidFill>
                <a:latin typeface="楷体" panose="02010609060101010101" pitchFamily="49" charset="-122"/>
                <a:ea typeface="楷体" panose="02010609060101010101" pitchFamily="49" charset="-122"/>
              </a:rPr>
              <a:t>文档审查</a:t>
            </a:r>
          </a:p>
          <a:p>
            <a:pPr lvl="1"/>
            <a:r>
              <a:rPr kumimoji="1" lang="zh-CN" altLang="en-US" sz="2400" dirty="0">
                <a:solidFill>
                  <a:srgbClr val="FF0000"/>
                </a:solidFill>
                <a:latin typeface="楷体" panose="02010609060101010101" pitchFamily="49" charset="-122"/>
                <a:ea typeface="楷体" panose="02010609060101010101" pitchFamily="49" charset="-122"/>
              </a:rPr>
              <a:t>对文档的需求获取方法</a:t>
            </a:r>
          </a:p>
          <a:p>
            <a:pPr lvl="1"/>
            <a:r>
              <a:rPr kumimoji="1" lang="zh-CN" altLang="en-US" sz="2400" dirty="0">
                <a:solidFill>
                  <a:srgbClr val="FF0000"/>
                </a:solidFill>
                <a:latin typeface="楷体" panose="02010609060101010101" pitchFamily="49" charset="-122"/>
                <a:ea typeface="楷体" panose="02010609060101010101" pitchFamily="49" charset="-122"/>
              </a:rPr>
              <a:t>需求重用</a:t>
            </a:r>
          </a:p>
          <a:p>
            <a:pPr lvl="1"/>
            <a:r>
              <a:rPr kumimoji="1" lang="zh-CN" altLang="en-US" dirty="0">
                <a:solidFill>
                  <a:srgbClr val="FF0000"/>
                </a:solidFill>
                <a:latin typeface="楷体" panose="02010609060101010101" pitchFamily="49" charset="-122"/>
                <a:ea typeface="楷体" panose="02010609060101010101" pitchFamily="49" charset="-122"/>
              </a:rPr>
              <a:t>文档分析</a:t>
            </a:r>
          </a:p>
          <a:p>
            <a:pPr lvl="1"/>
            <a:r>
              <a:rPr kumimoji="1" lang="zh-CN" altLang="en-US" dirty="0">
                <a:solidFill>
                  <a:srgbClr val="FF0000"/>
                </a:solidFill>
                <a:latin typeface="楷体" panose="02010609060101010101" pitchFamily="49" charset="-122"/>
                <a:ea typeface="楷体" panose="02010609060101010101" pitchFamily="49" charset="-122"/>
              </a:rPr>
              <a:t>需求剥离</a:t>
            </a:r>
            <a:endParaRPr kumimoji="1" lang="en-US" altLang="zh-CN" dirty="0">
              <a:solidFill>
                <a:srgbClr val="FF0000"/>
              </a:solidFill>
              <a:latin typeface="楷体" panose="02010609060101010101" pitchFamily="49" charset="-122"/>
              <a:ea typeface="楷体" panose="02010609060101010101" pitchFamily="49" charset="-122"/>
            </a:endParaRPr>
          </a:p>
          <a:p>
            <a:pPr marL="0" indent="0">
              <a:buNone/>
            </a:pPr>
            <a:endParaRPr kumimoji="1" lang="en-US" altLang="zh-CN" dirty="0">
              <a:solidFill>
                <a:srgbClr val="FF0000"/>
              </a:solidFill>
              <a:latin typeface="楷体" panose="02010609060101010101" pitchFamily="49" charset="-122"/>
              <a:ea typeface="楷体" panose="02010609060101010101" pitchFamily="49" charset="-122"/>
            </a:endParaRPr>
          </a:p>
        </p:txBody>
      </p:sp>
      <p:sp>
        <p:nvSpPr>
          <p:cNvPr id="8" name="文本框 7"/>
          <p:cNvSpPr txBox="1"/>
          <p:nvPr/>
        </p:nvSpPr>
        <p:spPr>
          <a:xfrm>
            <a:off x="151596" y="16999"/>
            <a:ext cx="697627" cy="40011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目录</a:t>
            </a:r>
            <a:endParaRPr kumimoji="1" lang="en-US" altLang="zh-CN" sz="2000" dirty="0">
              <a:solidFill>
                <a:schemeClr val="bg1"/>
              </a:solidFill>
              <a:latin typeface="楷体" panose="02010609060101010101" pitchFamily="49" charset="-122"/>
              <a:ea typeface="楷体" panose="02010609060101010101" pitchFamily="49" charset="-122"/>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对文档的需求获取方法</a:t>
            </a:r>
          </a:p>
        </p:txBody>
      </p:sp>
      <p:sp>
        <p:nvSpPr>
          <p:cNvPr id="6" name="文本框 5"/>
          <p:cNvSpPr txBox="1"/>
          <p:nvPr/>
        </p:nvSpPr>
        <p:spPr>
          <a:xfrm>
            <a:off x="151596" y="16999"/>
            <a:ext cx="1198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文档审查</a:t>
            </a:r>
          </a:p>
        </p:txBody>
      </p:sp>
      <p:sp>
        <p:nvSpPr>
          <p:cNvPr id="3" name="文本框 2"/>
          <p:cNvSpPr txBox="1"/>
          <p:nvPr/>
        </p:nvSpPr>
        <p:spPr>
          <a:xfrm>
            <a:off x="628650" y="1430655"/>
            <a:ext cx="6817995" cy="829945"/>
          </a:xfrm>
          <a:prstGeom prst="rect">
            <a:avLst/>
          </a:prstGeom>
          <a:noFill/>
          <a:ln>
            <a:solidFill>
              <a:srgbClr val="0070C0"/>
            </a:solidFill>
          </a:ln>
        </p:spPr>
        <p:txBody>
          <a:bodyPr wrap="square" rtlCol="0">
            <a:spAutoFit/>
          </a:bodyPr>
          <a:lstStyle/>
          <a:p>
            <a:r>
              <a:rPr lang="zh-CN" altLang="en-US" sz="2400">
                <a:latin typeface="楷体" panose="02010609060101010101" pitchFamily="49" charset="-122"/>
                <a:ea typeface="楷体" panose="02010609060101010101" pitchFamily="49" charset="-122"/>
              </a:rPr>
              <a:t>针对三种不同的文档类型，在进行文档审查的时候会适用不同的方法。</a:t>
            </a:r>
            <a:endParaRPr lang="en-US" altLang="zh-CN" sz="2400">
              <a:latin typeface="楷体" panose="02010609060101010101" pitchFamily="49" charset="-122"/>
              <a:ea typeface="楷体" panose="02010609060101010101" pitchFamily="49" charset="-122"/>
            </a:endParaRPr>
          </a:p>
        </p:txBody>
      </p:sp>
      <p:graphicFrame>
        <p:nvGraphicFramePr>
          <p:cNvPr id="4" name="表格 3"/>
          <p:cNvGraphicFramePr/>
          <p:nvPr>
            <p:custDataLst>
              <p:tags r:id="rId1"/>
            </p:custDataLst>
          </p:nvPr>
        </p:nvGraphicFramePr>
        <p:xfrm>
          <a:off x="628650" y="2595245"/>
          <a:ext cx="6817995" cy="3164840"/>
        </p:xfrm>
        <a:graphic>
          <a:graphicData uri="http://schemas.openxmlformats.org/drawingml/2006/table">
            <a:tbl>
              <a:tblPr firstRow="1" bandRow="1">
                <a:tableStyleId>{5C22544A-7EE6-4342-B048-85BDC9FD1C3A}</a:tableStyleId>
              </a:tblPr>
              <a:tblGrid>
                <a:gridCol w="1793875">
                  <a:extLst>
                    <a:ext uri="{9D8B030D-6E8A-4147-A177-3AD203B41FA5}">
                      <a16:colId xmlns:a16="http://schemas.microsoft.com/office/drawing/2014/main" val="20000"/>
                    </a:ext>
                  </a:extLst>
                </a:gridCol>
                <a:gridCol w="1581785">
                  <a:extLst>
                    <a:ext uri="{9D8B030D-6E8A-4147-A177-3AD203B41FA5}">
                      <a16:colId xmlns:a16="http://schemas.microsoft.com/office/drawing/2014/main" val="20001"/>
                    </a:ext>
                  </a:extLst>
                </a:gridCol>
                <a:gridCol w="3442335">
                  <a:extLst>
                    <a:ext uri="{9D8B030D-6E8A-4147-A177-3AD203B41FA5}">
                      <a16:colId xmlns:a16="http://schemas.microsoft.com/office/drawing/2014/main" val="20002"/>
                    </a:ext>
                  </a:extLst>
                </a:gridCol>
              </a:tblGrid>
              <a:tr h="394335">
                <a:tc>
                  <a:txBody>
                    <a:bodyPr/>
                    <a:lstStyle/>
                    <a:p>
                      <a:pPr algn="ctr">
                        <a:buNone/>
                      </a:pPr>
                      <a:r>
                        <a:rPr lang="zh-CN" altLang="en-US"/>
                        <a:t>文档类型</a:t>
                      </a:r>
                    </a:p>
                  </a:txBody>
                  <a:tcPr/>
                </a:tc>
                <a:tc>
                  <a:txBody>
                    <a:bodyPr/>
                    <a:lstStyle/>
                    <a:p>
                      <a:pPr algn="ctr">
                        <a:buNone/>
                      </a:pPr>
                      <a:r>
                        <a:rPr lang="zh-CN" altLang="en-US"/>
                        <a:t>文档审查方法</a:t>
                      </a:r>
                    </a:p>
                  </a:txBody>
                  <a:tcPr/>
                </a:tc>
                <a:tc>
                  <a:txBody>
                    <a:bodyPr/>
                    <a:lstStyle/>
                    <a:p>
                      <a:pPr algn="ctr">
                        <a:buNone/>
                      </a:pPr>
                      <a:r>
                        <a:rPr lang="zh-CN" altLang="en-US"/>
                        <a:t>描述</a:t>
                      </a:r>
                    </a:p>
                  </a:txBody>
                  <a:tcPr/>
                </a:tc>
                <a:extLst>
                  <a:ext uri="{0D108BD9-81ED-4DB2-BD59-A6C34878D82A}">
                    <a16:rowId xmlns:a16="http://schemas.microsoft.com/office/drawing/2014/main" val="10000"/>
                  </a:ext>
                </a:extLst>
              </a:tr>
              <a:tr h="394335">
                <a:tc rowSpan="3">
                  <a:txBody>
                    <a:bodyPr/>
                    <a:lstStyle/>
                    <a:p>
                      <a:pPr>
                        <a:buNone/>
                      </a:pPr>
                      <a:r>
                        <a:rPr lang="zh-CN" altLang="en-US">
                          <a:latin typeface="楷体" panose="02010609060101010101" pitchFamily="49" charset="-122"/>
                          <a:ea typeface="楷体" panose="02010609060101010101" pitchFamily="49" charset="-122"/>
                        </a:rPr>
                        <a:t>相关产品的需求规格说明</a:t>
                      </a:r>
                    </a:p>
                  </a:txBody>
                  <a:tcPr anchor="ctr"/>
                </a:tc>
                <a:tc rowSpan="3">
                  <a:txBody>
                    <a:bodyPr/>
                    <a:lstStyle/>
                    <a:p>
                      <a:pPr>
                        <a:buNone/>
                      </a:pPr>
                      <a:r>
                        <a:rPr lang="zh-CN" altLang="en-US">
                          <a:latin typeface="楷体" panose="02010609060101010101" pitchFamily="49" charset="-122"/>
                          <a:ea typeface="楷体" panose="02010609060101010101" pitchFamily="49" charset="-122"/>
                        </a:rPr>
                        <a:t>需求重用</a:t>
                      </a:r>
                    </a:p>
                  </a:txBody>
                  <a:tcPr anchor="ctr"/>
                </a:tc>
                <a:tc>
                  <a:txBody>
                    <a:bodyPr/>
                    <a:lstStyle/>
                    <a:p>
                      <a:pPr>
                        <a:buNone/>
                      </a:pPr>
                      <a:r>
                        <a:rPr lang="zh-CN" altLang="en-US">
                          <a:latin typeface="楷体" panose="02010609060101010101" pitchFamily="49" charset="-122"/>
                          <a:ea typeface="楷体" panose="02010609060101010101" pitchFamily="49" charset="-122"/>
                        </a:rPr>
                        <a:t>问题域信息</a:t>
                      </a:r>
                    </a:p>
                  </a:txBody>
                  <a:tcPr anchor="ctr"/>
                </a:tc>
                <a:extLst>
                  <a:ext uri="{0D108BD9-81ED-4DB2-BD59-A6C34878D82A}">
                    <a16:rowId xmlns:a16="http://schemas.microsoft.com/office/drawing/2014/main" val="10001"/>
                  </a:ext>
                </a:extLst>
              </a:tr>
              <a:tr h="394335">
                <a:tc vMerge="1">
                  <a:txBody>
                    <a:bodyPr/>
                    <a:lstStyle/>
                    <a:p>
                      <a:endParaRPr lang="zh-CN"/>
                    </a:p>
                  </a:txBody>
                  <a:tcPr/>
                </a:tc>
                <a:tc vMerge="1">
                  <a:txBody>
                    <a:bodyPr/>
                    <a:lstStyle/>
                    <a:p>
                      <a:endParaRPr lang="zh-CN"/>
                    </a:p>
                  </a:txBody>
                  <a:tcPr/>
                </a:tc>
                <a:tc>
                  <a:txBody>
                    <a:bodyPr/>
                    <a:lstStyle/>
                    <a:p>
                      <a:pPr>
                        <a:buNone/>
                      </a:pPr>
                      <a:r>
                        <a:rPr lang="zh-CN" altLang="en-US">
                          <a:latin typeface="楷体" panose="02010609060101010101" pitchFamily="49" charset="-122"/>
                          <a:ea typeface="楷体" panose="02010609060101010101" pitchFamily="49" charset="-122"/>
                        </a:rPr>
                        <a:t>用户界面特征</a:t>
                      </a:r>
                    </a:p>
                  </a:txBody>
                  <a:tcPr anchor="ctr"/>
                </a:tc>
                <a:extLst>
                  <a:ext uri="{0D108BD9-81ED-4DB2-BD59-A6C34878D82A}">
                    <a16:rowId xmlns:a16="http://schemas.microsoft.com/office/drawing/2014/main" val="10002"/>
                  </a:ext>
                </a:extLst>
              </a:tr>
              <a:tr h="404495">
                <a:tc vMerge="1">
                  <a:txBody>
                    <a:bodyPr/>
                    <a:lstStyle/>
                    <a:p>
                      <a:endParaRPr lang="zh-CN"/>
                    </a:p>
                  </a:txBody>
                  <a:tcPr/>
                </a:tc>
                <a:tc vMerge="1">
                  <a:txBody>
                    <a:bodyPr/>
                    <a:lstStyle/>
                    <a:p>
                      <a:endParaRPr lang="zh-CN"/>
                    </a:p>
                  </a:txBody>
                  <a:tcPr/>
                </a:tc>
                <a:tc>
                  <a:txBody>
                    <a:bodyPr/>
                    <a:lstStyle/>
                    <a:p>
                      <a:pPr>
                        <a:buNone/>
                      </a:pPr>
                      <a:r>
                        <a:rPr lang="zh-CN" altLang="en-US">
                          <a:latin typeface="楷体" panose="02010609060101010101" pitchFamily="49" charset="-122"/>
                          <a:ea typeface="楷体" panose="02010609060101010101" pitchFamily="49" charset="-122"/>
                        </a:rPr>
                        <a:t>业务需求、组织策略、政策法规</a:t>
                      </a:r>
                    </a:p>
                  </a:txBody>
                  <a:tcPr anchor="ctr"/>
                </a:tc>
                <a:extLst>
                  <a:ext uri="{0D108BD9-81ED-4DB2-BD59-A6C34878D82A}">
                    <a16:rowId xmlns:a16="http://schemas.microsoft.com/office/drawing/2014/main" val="10003"/>
                  </a:ext>
                </a:extLst>
              </a:tr>
              <a:tr h="394335">
                <a:tc rowSpan="3">
                  <a:txBody>
                    <a:bodyPr/>
                    <a:lstStyle/>
                    <a:p>
                      <a:pPr>
                        <a:buNone/>
                      </a:pPr>
                      <a:r>
                        <a:rPr lang="zh-CN" altLang="en-US">
                          <a:latin typeface="楷体" panose="02010609060101010101" pitchFamily="49" charset="-122"/>
                          <a:ea typeface="楷体" panose="02010609060101010101" pitchFamily="49" charset="-122"/>
                        </a:rPr>
                        <a:t>硬数据</a:t>
                      </a:r>
                    </a:p>
                  </a:txBody>
                  <a:tcPr anchor="ctr"/>
                </a:tc>
                <a:tc rowSpan="3">
                  <a:txBody>
                    <a:bodyPr/>
                    <a:lstStyle/>
                    <a:p>
                      <a:pPr>
                        <a:buNone/>
                      </a:pPr>
                      <a:r>
                        <a:rPr lang="zh-CN" altLang="en-US">
                          <a:latin typeface="楷体" panose="02010609060101010101" pitchFamily="49" charset="-122"/>
                          <a:ea typeface="楷体" panose="02010609060101010101" pitchFamily="49" charset="-122"/>
                        </a:rPr>
                        <a:t>文档分析</a:t>
                      </a:r>
                    </a:p>
                  </a:txBody>
                  <a:tcPr anchor="ctr"/>
                </a:tc>
                <a:tc>
                  <a:txBody>
                    <a:bodyPr/>
                    <a:lstStyle/>
                    <a:p>
                      <a:pPr>
                        <a:buNone/>
                      </a:pPr>
                      <a:r>
                        <a:rPr lang="zh-CN" altLang="en-US">
                          <a:latin typeface="楷体" panose="02010609060101010101" pitchFamily="49" charset="-122"/>
                          <a:ea typeface="楷体" panose="02010609060101010101" pitchFamily="49" charset="-122"/>
                        </a:rPr>
                        <a:t>问题域信息</a:t>
                      </a:r>
                    </a:p>
                  </a:txBody>
                  <a:tcPr anchor="ctr"/>
                </a:tc>
                <a:extLst>
                  <a:ext uri="{0D108BD9-81ED-4DB2-BD59-A6C34878D82A}">
                    <a16:rowId xmlns:a16="http://schemas.microsoft.com/office/drawing/2014/main" val="10004"/>
                  </a:ext>
                </a:extLst>
              </a:tr>
              <a:tr h="394335">
                <a:tc vMerge="1">
                  <a:txBody>
                    <a:bodyPr/>
                    <a:lstStyle/>
                    <a:p>
                      <a:endParaRPr lang="zh-CN"/>
                    </a:p>
                  </a:txBody>
                  <a:tcPr/>
                </a:tc>
                <a:tc vMerge="1">
                  <a:txBody>
                    <a:bodyPr/>
                    <a:lstStyle/>
                    <a:p>
                      <a:endParaRPr lang="zh-CN"/>
                    </a:p>
                  </a:txBody>
                  <a:tcPr/>
                </a:tc>
                <a:tc>
                  <a:txBody>
                    <a:bodyPr/>
                    <a:lstStyle/>
                    <a:p>
                      <a:pPr>
                        <a:buNone/>
                      </a:pPr>
                      <a:r>
                        <a:rPr lang="zh-CN" altLang="en-US">
                          <a:latin typeface="楷体" panose="02010609060101010101" pitchFamily="49" charset="-122"/>
                          <a:ea typeface="楷体" panose="02010609060101010101" pitchFamily="49" charset="-122"/>
                        </a:rPr>
                        <a:t>工作流程</a:t>
                      </a:r>
                    </a:p>
                  </a:txBody>
                  <a:tcPr anchor="ctr"/>
                </a:tc>
                <a:extLst>
                  <a:ext uri="{0D108BD9-81ED-4DB2-BD59-A6C34878D82A}">
                    <a16:rowId xmlns:a16="http://schemas.microsoft.com/office/drawing/2014/main" val="10005"/>
                  </a:ext>
                </a:extLst>
              </a:tr>
              <a:tr h="394335">
                <a:tc vMerge="1">
                  <a:txBody>
                    <a:bodyPr/>
                    <a:lstStyle/>
                    <a:p>
                      <a:endParaRPr lang="zh-CN"/>
                    </a:p>
                  </a:txBody>
                  <a:tcPr/>
                </a:tc>
                <a:tc vMerge="1">
                  <a:txBody>
                    <a:bodyPr/>
                    <a:lstStyle/>
                    <a:p>
                      <a:endParaRPr lang="zh-CN"/>
                    </a:p>
                  </a:txBody>
                  <a:tcPr/>
                </a:tc>
                <a:tc>
                  <a:txBody>
                    <a:bodyPr/>
                    <a:lstStyle/>
                    <a:p>
                      <a:pPr>
                        <a:buNone/>
                      </a:pPr>
                      <a:r>
                        <a:rPr lang="zh-CN" altLang="en-US">
                          <a:latin typeface="楷体" panose="02010609060101010101" pitchFamily="49" charset="-122"/>
                          <a:ea typeface="楷体" panose="02010609060101010101" pitchFamily="49" charset="-122"/>
                        </a:rPr>
                        <a:t>业务细节</a:t>
                      </a:r>
                    </a:p>
                  </a:txBody>
                  <a:tcPr anchor="ctr"/>
                </a:tc>
                <a:extLst>
                  <a:ext uri="{0D108BD9-81ED-4DB2-BD59-A6C34878D82A}">
                    <a16:rowId xmlns:a16="http://schemas.microsoft.com/office/drawing/2014/main" val="10006"/>
                  </a:ext>
                </a:extLst>
              </a:tr>
              <a:tr h="394335">
                <a:tc>
                  <a:txBody>
                    <a:bodyPr/>
                    <a:lstStyle/>
                    <a:p>
                      <a:pPr>
                        <a:buNone/>
                      </a:pPr>
                      <a:r>
                        <a:rPr lang="zh-CN" altLang="en-US">
                          <a:latin typeface="楷体" panose="02010609060101010101" pitchFamily="49" charset="-122"/>
                          <a:ea typeface="楷体" panose="02010609060101010101" pitchFamily="49" charset="-122"/>
                        </a:rPr>
                        <a:t>客户的需求文档</a:t>
                      </a:r>
                    </a:p>
                  </a:txBody>
                  <a:tcPr anchor="ctr"/>
                </a:tc>
                <a:tc>
                  <a:txBody>
                    <a:bodyPr/>
                    <a:lstStyle/>
                    <a:p>
                      <a:pPr>
                        <a:buNone/>
                      </a:pPr>
                      <a:r>
                        <a:rPr lang="zh-CN" altLang="en-US">
                          <a:latin typeface="楷体" panose="02010609060101010101" pitchFamily="49" charset="-122"/>
                          <a:ea typeface="楷体" panose="02010609060101010101" pitchFamily="49" charset="-122"/>
                        </a:rPr>
                        <a:t>需求剥离</a:t>
                      </a:r>
                    </a:p>
                  </a:txBody>
                  <a:tcPr anchor="ctr"/>
                </a:tc>
                <a:tc>
                  <a:txBody>
                    <a:bodyPr/>
                    <a:lstStyle/>
                    <a:p>
                      <a:pPr>
                        <a:buNone/>
                      </a:pPr>
                      <a:r>
                        <a:rPr lang="zh-CN" altLang="en-US">
                          <a:latin typeface="楷体" panose="02010609060101010101" pitchFamily="49" charset="-122"/>
                          <a:ea typeface="楷体" panose="02010609060101010101" pitchFamily="49" charset="-122"/>
                        </a:rPr>
                        <a:t>粗粒度需求</a:t>
                      </a:r>
                    </a:p>
                  </a:txBody>
                  <a:tcPr anchor="ctr"/>
                </a:tc>
                <a:extLst>
                  <a:ext uri="{0D108BD9-81ED-4DB2-BD59-A6C34878D82A}">
                    <a16:rowId xmlns:a16="http://schemas.microsoft.com/office/drawing/2014/main" val="10007"/>
                  </a:ext>
                </a:extLst>
              </a:tr>
            </a:tbl>
          </a:graphicData>
        </a:graphic>
      </p:graphicFrame>
      <p:sp>
        <p:nvSpPr>
          <p:cNvPr id="5" name="文本框 4"/>
          <p:cNvSpPr txBox="1"/>
          <p:nvPr/>
        </p:nvSpPr>
        <p:spPr>
          <a:xfrm>
            <a:off x="2739708" y="5842000"/>
            <a:ext cx="2595880" cy="368300"/>
          </a:xfrm>
          <a:prstGeom prst="rect">
            <a:avLst/>
          </a:prstGeom>
          <a:noFill/>
        </p:spPr>
        <p:txBody>
          <a:bodyPr wrap="square" rtlCol="0">
            <a:spAutoFit/>
          </a:bodyPr>
          <a:lstStyle/>
          <a:p>
            <a:r>
              <a:rPr lang="zh-CN" altLang="en-US">
                <a:latin typeface="楷体" panose="02010609060101010101" pitchFamily="49" charset="-122"/>
                <a:ea typeface="楷体" panose="02010609060101010101" pitchFamily="49" charset="-122"/>
                <a:cs typeface="楷体" panose="02010609060101010101" pitchFamily="49" charset="-122"/>
              </a:rPr>
              <a:t>表</a:t>
            </a:r>
            <a:r>
              <a:rPr lang="en-US" altLang="zh-CN">
                <a:latin typeface="楷体" panose="02010609060101010101" pitchFamily="49" charset="-122"/>
                <a:ea typeface="楷体" panose="02010609060101010101" pitchFamily="49" charset="-122"/>
                <a:cs typeface="楷体" panose="02010609060101010101" pitchFamily="49" charset="-122"/>
              </a:rPr>
              <a:t>10-5 </a:t>
            </a:r>
            <a:r>
              <a:rPr lang="zh-CN" altLang="en-US">
                <a:latin typeface="楷体" panose="02010609060101010101" pitchFamily="49" charset="-122"/>
                <a:ea typeface="楷体" panose="02010609060101010101" pitchFamily="49" charset="-122"/>
                <a:cs typeface="楷体" panose="02010609060101010101" pitchFamily="49" charset="-122"/>
              </a:rPr>
              <a:t>文档审查的方法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需求重用</a:t>
            </a:r>
          </a:p>
        </p:txBody>
      </p:sp>
      <p:sp>
        <p:nvSpPr>
          <p:cNvPr id="6" name="文本框 5"/>
          <p:cNvSpPr txBox="1"/>
          <p:nvPr/>
        </p:nvSpPr>
        <p:spPr>
          <a:xfrm>
            <a:off x="151596" y="16999"/>
            <a:ext cx="1198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文档审查</a:t>
            </a:r>
          </a:p>
        </p:txBody>
      </p:sp>
      <p:sp>
        <p:nvSpPr>
          <p:cNvPr id="3" name="文本框 2"/>
          <p:cNvSpPr txBox="1"/>
          <p:nvPr/>
        </p:nvSpPr>
        <p:spPr>
          <a:xfrm>
            <a:off x="696595" y="1349375"/>
            <a:ext cx="6397625" cy="1383665"/>
          </a:xfrm>
          <a:prstGeom prst="rect">
            <a:avLst/>
          </a:prstGeom>
          <a:noFill/>
          <a:ln>
            <a:solidFill>
              <a:schemeClr val="accent1"/>
            </a:solidFill>
          </a:ln>
        </p:spPr>
        <p:txBody>
          <a:bodyPr wrap="square" rtlCol="0">
            <a:spAutoFit/>
          </a:bodyPr>
          <a:lstStyle/>
          <a:p>
            <a:r>
              <a:rPr lang="zh-CN" altLang="en-US" sz="2400">
                <a:latin typeface="楷体" panose="02010609060101010101" pitchFamily="49" charset="-122"/>
                <a:ea typeface="楷体" panose="02010609060101010101" pitchFamily="49" charset="-122"/>
              </a:rPr>
              <a:t>产品之间常见可重用共性：</a:t>
            </a:r>
          </a:p>
          <a:p>
            <a:pPr marL="800100" lvl="1" indent="-342900">
              <a:buAutoNum type="arabicPeriod"/>
            </a:pPr>
            <a:r>
              <a:rPr lang="zh-CN" altLang="en-US" sz="2000">
                <a:latin typeface="楷体" panose="02010609060101010101" pitchFamily="49" charset="-122"/>
                <a:ea typeface="楷体" panose="02010609060101010101" pitchFamily="49" charset="-122"/>
              </a:rPr>
              <a:t>问题域信息</a:t>
            </a:r>
          </a:p>
          <a:p>
            <a:pPr marL="800100" lvl="1" indent="-342900">
              <a:buAutoNum type="arabicPeriod"/>
            </a:pPr>
            <a:r>
              <a:rPr lang="zh-CN" altLang="en-US" sz="2000">
                <a:latin typeface="楷体" panose="02010609060101010101" pitchFamily="49" charset="-122"/>
                <a:ea typeface="楷体" panose="02010609060101010101" pitchFamily="49" charset="-122"/>
              </a:rPr>
              <a:t>用户界面特征</a:t>
            </a:r>
          </a:p>
          <a:p>
            <a:pPr marL="800100" lvl="1" indent="-342900">
              <a:buAutoNum type="arabicPeriod"/>
            </a:pPr>
            <a:r>
              <a:rPr lang="zh-CN" altLang="en-US" sz="2000">
                <a:latin typeface="楷体" panose="02010609060101010101" pitchFamily="49" charset="-122"/>
                <a:ea typeface="楷体" panose="02010609060101010101" pitchFamily="49" charset="-122"/>
              </a:rPr>
              <a:t>业务需求、组织逻辑、政策法规等</a:t>
            </a:r>
          </a:p>
        </p:txBody>
      </p:sp>
      <p:sp>
        <p:nvSpPr>
          <p:cNvPr id="4" name="文本框 3"/>
          <p:cNvSpPr txBox="1"/>
          <p:nvPr/>
        </p:nvSpPr>
        <p:spPr>
          <a:xfrm>
            <a:off x="696595" y="2988945"/>
            <a:ext cx="6378575" cy="2614930"/>
          </a:xfrm>
          <a:prstGeom prst="rect">
            <a:avLst/>
          </a:prstGeom>
          <a:noFill/>
          <a:ln>
            <a:solidFill>
              <a:schemeClr val="accent1"/>
            </a:solidFill>
          </a:ln>
        </p:spPr>
        <p:txBody>
          <a:bodyPr wrap="square" rtlCol="0">
            <a:spAutoFit/>
          </a:bodyPr>
          <a:lstStyle/>
          <a:p>
            <a:r>
              <a:rPr lang="zh-CN" altLang="en-US" sz="2400">
                <a:latin typeface="楷体" panose="02010609060101010101" pitchFamily="49" charset="-122"/>
                <a:ea typeface="楷体" panose="02010609060101010101" pitchFamily="49" charset="-122"/>
              </a:rPr>
              <a:t>需求重用的实践：</a:t>
            </a:r>
          </a:p>
          <a:p>
            <a:r>
              <a:rPr lang="zh-CN" altLang="en-US" sz="2000">
                <a:latin typeface="楷体" panose="02010609060101010101" pitchFamily="49" charset="-122"/>
                <a:ea typeface="楷体" panose="02010609060101010101" pitchFamily="49" charset="-122"/>
              </a:rPr>
              <a:t>实践步骤：在开始新项目的</a:t>
            </a:r>
            <a:r>
              <a:rPr lang="zh-CN" altLang="en-US" sz="2000" b="1">
                <a:solidFill>
                  <a:srgbClr val="7030A0"/>
                </a:solidFill>
                <a:latin typeface="楷体" panose="02010609060101010101" pitchFamily="49" charset="-122"/>
                <a:ea typeface="楷体" panose="02010609060101010101" pitchFamily="49" charset="-122"/>
              </a:rPr>
              <a:t>需求开发之前</a:t>
            </a:r>
            <a:r>
              <a:rPr lang="zh-CN" altLang="en-US" sz="2000">
                <a:latin typeface="楷体" panose="02010609060101010101" pitchFamily="49" charset="-122"/>
                <a:ea typeface="楷体" panose="02010609060101010101" pitchFamily="49" charset="-122"/>
              </a:rPr>
              <a:t>，需求工程师应浏览</a:t>
            </a:r>
            <a:r>
              <a:rPr lang="zh-CN" altLang="en-US" sz="2000" b="1">
                <a:solidFill>
                  <a:srgbClr val="7030A0"/>
                </a:solidFill>
                <a:latin typeface="楷体" panose="02010609060101010101" pitchFamily="49" charset="-122"/>
                <a:ea typeface="楷体" panose="02010609060101010101" pitchFamily="49" charset="-122"/>
              </a:rPr>
              <a:t>相关产品的需求规格说明</a:t>
            </a:r>
            <a:r>
              <a:rPr lang="zh-CN" altLang="en-US" sz="2000">
                <a:latin typeface="楷体" panose="02010609060101010101" pitchFamily="49" charset="-122"/>
                <a:ea typeface="楷体" panose="02010609060101010101" pitchFamily="49" charset="-122"/>
              </a:rPr>
              <a:t>，寻找可以重用的需求部分。</a:t>
            </a:r>
          </a:p>
          <a:p>
            <a:endParaRPr lang="zh-CN" altLang="en-US" sz="2000">
              <a:latin typeface="楷体" panose="02010609060101010101" pitchFamily="49" charset="-122"/>
              <a:ea typeface="楷体" panose="02010609060101010101" pitchFamily="49" charset="-122"/>
            </a:endParaRPr>
          </a:p>
          <a:p>
            <a:r>
              <a:rPr lang="zh-CN" altLang="en-US" sz="2000">
                <a:latin typeface="楷体" panose="02010609060101010101" pitchFamily="49" charset="-122"/>
                <a:ea typeface="楷体" panose="02010609060101010101" pitchFamily="49" charset="-122"/>
              </a:rPr>
              <a:t>关键点：如果某个需求已在成功的产品中得到了验证，并且该产品本身也表现出色，那么就不需要重新开发该需求，可以直接重用。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3" grpId="1" animBg="1"/>
      <p:bldP spid="4" grpId="0" bldLvl="0" animBg="1"/>
      <p:bldP spid="4" grpId="1"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custDataLst>
              <p:tags r:id="rId1"/>
            </p:custDataLst>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文档分析</a:t>
            </a:r>
          </a:p>
        </p:txBody>
      </p:sp>
      <p:sp>
        <p:nvSpPr>
          <p:cNvPr id="6" name="文本框 5"/>
          <p:cNvSpPr txBox="1"/>
          <p:nvPr/>
        </p:nvSpPr>
        <p:spPr>
          <a:xfrm>
            <a:off x="151596" y="16999"/>
            <a:ext cx="1198880" cy="398780"/>
          </a:xfrm>
          <a:prstGeom prst="rect">
            <a:avLst/>
          </a:prstGeom>
          <a:noFill/>
        </p:spPr>
        <p:txBody>
          <a:bodyPr wrap="none" rtlCol="0">
            <a:spAutoFit/>
          </a:bodyPr>
          <a:lstStyle/>
          <a:p>
            <a:r>
              <a:rPr kumimoji="1" lang="zh-CN" altLang="en-US" sz="2000" dirty="0">
                <a:solidFill>
                  <a:schemeClr val="bg1"/>
                </a:solidFill>
                <a:latin typeface="楷体" panose="02010609060101010101" pitchFamily="49" charset="-122"/>
                <a:ea typeface="楷体" panose="02010609060101010101" pitchFamily="49" charset="-122"/>
              </a:rPr>
              <a:t>文档审查</a:t>
            </a:r>
          </a:p>
        </p:txBody>
      </p:sp>
      <p:sp>
        <p:nvSpPr>
          <p:cNvPr id="4" name="标题 1"/>
          <p:cNvSpPr txBox="1"/>
          <p:nvPr>
            <p:custDataLst>
              <p:tags r:id="rId2"/>
            </p:custDataLst>
          </p:nvPr>
        </p:nvSpPr>
        <p:spPr>
          <a:xfrm>
            <a:off x="628650" y="3184122"/>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需求剥离</a:t>
            </a:r>
          </a:p>
        </p:txBody>
      </p:sp>
      <p:grpSp>
        <p:nvGrpSpPr>
          <p:cNvPr id="8" name="组合 7"/>
          <p:cNvGrpSpPr/>
          <p:nvPr>
            <p:custDataLst>
              <p:tags r:id="rId3"/>
            </p:custDataLst>
          </p:nvPr>
        </p:nvGrpSpPr>
        <p:grpSpPr>
          <a:xfrm>
            <a:off x="628650" y="4106545"/>
            <a:ext cx="7404100" cy="1475105"/>
            <a:chOff x="990" y="6812"/>
            <a:chExt cx="11660" cy="2323"/>
          </a:xfrm>
        </p:grpSpPr>
        <p:sp>
          <p:nvSpPr>
            <p:cNvPr id="5" name="文本框 4"/>
            <p:cNvSpPr txBox="1"/>
            <p:nvPr>
              <p:custDataLst>
                <p:tags r:id="rId7"/>
              </p:custDataLst>
            </p:nvPr>
          </p:nvSpPr>
          <p:spPr>
            <a:xfrm>
              <a:off x="990" y="7537"/>
              <a:ext cx="11660" cy="1598"/>
            </a:xfrm>
            <a:prstGeom prst="rect">
              <a:avLst/>
            </a:prstGeom>
            <a:noFill/>
            <a:ln>
              <a:solidFill>
                <a:schemeClr val="accent1"/>
              </a:solidFill>
            </a:ln>
          </p:spPr>
          <p:txBody>
            <a:bodyPr wrap="square" rtlCol="0">
              <a:spAutoFit/>
            </a:bodyPr>
            <a:lstStyle/>
            <a:p>
              <a:r>
                <a:rPr lang="zh-CN" altLang="en-US" sz="2000">
                  <a:latin typeface="楷体" panose="02010609060101010101" pitchFamily="49" charset="-122"/>
                  <a:ea typeface="楷体" panose="02010609060101010101" pitchFamily="49" charset="-122"/>
                </a:rPr>
                <a:t>需求剥离是一种从现有客户需求文档。这一过程旨在</a:t>
              </a:r>
              <a:r>
                <a:rPr lang="zh-CN" altLang="en-US" sz="2000" b="1">
                  <a:solidFill>
                    <a:srgbClr val="7030A0"/>
                  </a:solidFill>
                  <a:latin typeface="楷体" panose="02010609060101010101" pitchFamily="49" charset="-122"/>
                  <a:ea typeface="楷体" panose="02010609060101010101" pitchFamily="49" charset="-122"/>
                </a:rPr>
                <a:t>将需求提炼</a:t>
              </a:r>
              <a:r>
                <a:rPr lang="zh-CN" altLang="en-US" sz="2000">
                  <a:latin typeface="楷体" panose="02010609060101010101" pitchFamily="49" charset="-122"/>
                  <a:ea typeface="楷体" panose="02010609060101010101" pitchFamily="49" charset="-122"/>
                </a:rPr>
                <a:t>出来，形成一个清晰、结构化的新需求文档。需求剥离不仅有助于整理和理解需求，还能帮助</a:t>
              </a:r>
              <a:r>
                <a:rPr lang="zh-CN" altLang="en-US" sz="2000" b="1">
                  <a:solidFill>
                    <a:srgbClr val="7030A0"/>
                  </a:solidFill>
                  <a:latin typeface="楷体" panose="02010609060101010101" pitchFamily="49" charset="-122"/>
                  <a:ea typeface="楷体" panose="02010609060101010101" pitchFamily="49" charset="-122"/>
                </a:rPr>
                <a:t>消除</a:t>
              </a:r>
              <a:r>
                <a:rPr lang="zh-CN" altLang="en-US" sz="2000">
                  <a:latin typeface="楷体" panose="02010609060101010101" pitchFamily="49" charset="-122"/>
                  <a:ea typeface="楷体" panose="02010609060101010101" pitchFamily="49" charset="-122"/>
                </a:rPr>
                <a:t>需求文档中的</a:t>
              </a:r>
              <a:r>
                <a:rPr lang="zh-CN" altLang="en-US" sz="2000" b="1">
                  <a:solidFill>
                    <a:srgbClr val="7030A0"/>
                  </a:solidFill>
                  <a:latin typeface="楷体" panose="02010609060101010101" pitchFamily="49" charset="-122"/>
                  <a:ea typeface="楷体" panose="02010609060101010101" pitchFamily="49" charset="-122"/>
                </a:rPr>
                <a:t>冗余和模糊部分</a:t>
              </a:r>
              <a:r>
                <a:rPr lang="zh-CN" altLang="en-US" sz="2000">
                  <a:latin typeface="楷体" panose="02010609060101010101" pitchFamily="49" charset="-122"/>
                  <a:ea typeface="楷体" panose="02010609060101010101" pitchFamily="49" charset="-122"/>
                </a:rPr>
                <a:t>。</a:t>
              </a:r>
            </a:p>
          </p:txBody>
        </p:sp>
        <p:sp>
          <p:nvSpPr>
            <p:cNvPr id="7" name="文本框 6"/>
            <p:cNvSpPr txBox="1"/>
            <p:nvPr>
              <p:custDataLst>
                <p:tags r:id="rId8"/>
              </p:custDataLst>
            </p:nvPr>
          </p:nvSpPr>
          <p:spPr>
            <a:xfrm>
              <a:off x="990" y="6812"/>
              <a:ext cx="5565" cy="725"/>
            </a:xfrm>
            <a:prstGeom prst="rect">
              <a:avLst/>
            </a:prstGeom>
            <a:noFill/>
            <a:ln>
              <a:solidFill>
                <a:schemeClr val="accent1"/>
              </a:solidFill>
            </a:ln>
          </p:spPr>
          <p:txBody>
            <a:bodyPr wrap="square" rtlCol="0">
              <a:spAutoFit/>
            </a:bodyPr>
            <a:lstStyle/>
            <a:p>
              <a:r>
                <a:rPr lang="zh-CN" altLang="en-US" sz="2400">
                  <a:latin typeface="楷体" panose="02010609060101010101" pitchFamily="49" charset="-122"/>
                  <a:ea typeface="楷体" panose="02010609060101010101" pitchFamily="49" charset="-122"/>
                </a:rPr>
                <a:t>需求剥离的定义与目的：</a:t>
              </a:r>
            </a:p>
          </p:txBody>
        </p:sp>
      </p:grpSp>
      <p:grpSp>
        <p:nvGrpSpPr>
          <p:cNvPr id="10" name="组合 9"/>
          <p:cNvGrpSpPr/>
          <p:nvPr>
            <p:custDataLst>
              <p:tags r:id="rId4"/>
            </p:custDataLst>
          </p:nvPr>
        </p:nvGrpSpPr>
        <p:grpSpPr>
          <a:xfrm>
            <a:off x="628650" y="1443355"/>
            <a:ext cx="7404100" cy="1473835"/>
            <a:chOff x="990" y="2273"/>
            <a:chExt cx="11660" cy="2321"/>
          </a:xfrm>
        </p:grpSpPr>
        <p:sp>
          <p:nvSpPr>
            <p:cNvPr id="3" name="文本框 2"/>
            <p:cNvSpPr txBox="1"/>
            <p:nvPr>
              <p:custDataLst>
                <p:tags r:id="rId5"/>
              </p:custDataLst>
            </p:nvPr>
          </p:nvSpPr>
          <p:spPr>
            <a:xfrm>
              <a:off x="990" y="2996"/>
              <a:ext cx="11660" cy="1598"/>
            </a:xfrm>
            <a:prstGeom prst="rect">
              <a:avLst/>
            </a:prstGeom>
            <a:noFill/>
            <a:ln>
              <a:solidFill>
                <a:schemeClr val="accent1"/>
              </a:solidFill>
            </a:ln>
          </p:spPr>
          <p:txBody>
            <a:bodyPr wrap="square" rtlCol="0">
              <a:spAutoFit/>
            </a:bodyPr>
            <a:lstStyle/>
            <a:p>
              <a:r>
                <a:rPr lang="zh-CN" altLang="en-US" sz="2000">
                  <a:latin typeface="楷体" panose="02010609060101010101" pitchFamily="49" charset="-122"/>
                  <a:ea typeface="楷体" panose="02010609060101010101" pitchFamily="49" charset="-122"/>
                </a:rPr>
                <a:t>文档分析是对工作中产生或使用的文档进行</a:t>
              </a:r>
              <a:r>
                <a:rPr lang="zh-CN" altLang="en-US" sz="2000" b="1">
                  <a:solidFill>
                    <a:srgbClr val="7030A0"/>
                  </a:solidFill>
                  <a:latin typeface="楷体" panose="02010609060101010101" pitchFamily="49" charset="-122"/>
                  <a:ea typeface="楷体" panose="02010609060101010101" pitchFamily="49" charset="-122"/>
                </a:rPr>
                <a:t>反向工程</a:t>
              </a:r>
              <a:r>
                <a:rPr lang="zh-CN" altLang="en-US" sz="2000">
                  <a:latin typeface="楷体" panose="02010609060101010101" pitchFamily="49" charset="-122"/>
                  <a:ea typeface="楷体" panose="02010609060101010101" pitchFamily="49" charset="-122"/>
                </a:rPr>
                <a:t>，通过分析旧的工作材料挖掘新的需求。其主要目的是从现有系统或业务活动中提取出可能的需求，支持新产品的需求开发。</a:t>
              </a:r>
            </a:p>
          </p:txBody>
        </p:sp>
        <p:sp>
          <p:nvSpPr>
            <p:cNvPr id="9" name="文本框 8"/>
            <p:cNvSpPr txBox="1"/>
            <p:nvPr>
              <p:custDataLst>
                <p:tags r:id="rId6"/>
              </p:custDataLst>
            </p:nvPr>
          </p:nvSpPr>
          <p:spPr>
            <a:xfrm>
              <a:off x="990" y="2273"/>
              <a:ext cx="5566" cy="725"/>
            </a:xfrm>
            <a:prstGeom prst="rect">
              <a:avLst/>
            </a:prstGeom>
            <a:noFill/>
            <a:ln>
              <a:solidFill>
                <a:schemeClr val="accent1"/>
              </a:solidFill>
            </a:ln>
          </p:spPr>
          <p:txBody>
            <a:bodyPr wrap="square" rtlCol="0">
              <a:spAutoFit/>
            </a:bodyPr>
            <a:lstStyle/>
            <a:p>
              <a:r>
                <a:rPr lang="zh-CN" altLang="en-US" sz="2400">
                  <a:latin typeface="楷体" panose="02010609060101010101" pitchFamily="49" charset="-122"/>
                  <a:ea typeface="楷体" panose="02010609060101010101" pitchFamily="49" charset="-122"/>
                </a:rPr>
                <a:t>文档分析的定义与目的：</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标题 1"/>
          <p:cNvSpPr>
            <a:spLocks noGrp="1"/>
          </p:cNvSpPr>
          <p:nvPr>
            <p:ph type="title"/>
          </p:nvPr>
        </p:nvSpPr>
        <p:spPr>
          <a:xfrm>
            <a:off x="628650" y="596900"/>
            <a:ext cx="7886700" cy="654050"/>
          </a:xfrm>
        </p:spPr>
        <p:txBody>
          <a:bodyPr vert="horz" lIns="91440" tIns="45720" rIns="91440" bIns="45720" anchor="ctr" anchorCtr="0"/>
          <a:lstStyle/>
          <a:p>
            <a:r>
              <a:rPr lang="zh-CN" altLang="en-US" sz="3200" b="1" dirty="0">
                <a:latin typeface="微软雅黑" panose="020B0503020204020204" pitchFamily="34" charset="-122"/>
                <a:ea typeface="微软雅黑" panose="020B0503020204020204" pitchFamily="34" charset="-122"/>
              </a:rPr>
              <a:t>本章小结</a:t>
            </a:r>
          </a:p>
        </p:txBody>
      </p:sp>
      <p:sp>
        <p:nvSpPr>
          <p:cNvPr id="3" name="内容占位符 2"/>
          <p:cNvSpPr>
            <a:spLocks noGrp="1"/>
          </p:cNvSpPr>
          <p:nvPr>
            <p:ph idx="1"/>
          </p:nvPr>
        </p:nvSpPr>
        <p:spPr>
          <a:xfrm>
            <a:off x="628650" y="1344613"/>
            <a:ext cx="7886700" cy="5178425"/>
          </a:xfrm>
        </p:spPr>
        <p:txBody>
          <a:bodyPr>
            <a:normAutofit/>
          </a:bodyPr>
          <a:lstStyle/>
          <a:p>
            <a:pPr marL="228600" marR="0" indent="-228600" algn="l" defTabSz="914400" rtl="0" eaLnBrk="1" fontAlgn="auto" latinLnBrk="0" hangingPunct="1">
              <a:lnSpc>
                <a:spcPct val="90000"/>
              </a:lnSpc>
              <a:spcBef>
                <a:spcPts val="1000"/>
              </a:spcBef>
              <a:spcAft>
                <a:spcPct val="0"/>
              </a:spcAft>
              <a:buClrTx/>
              <a:buSzTx/>
              <a:buFont typeface="Wingdings" panose="05000000000000000000" pitchFamily="2" charset="2"/>
              <a:buChar char="Ø"/>
            </a:pPr>
            <a:r>
              <a:rPr kumimoji="1" lang="zh-CN" altLang="en-US" sz="2355" b="0" i="0" u="none" strike="noStrike" kern="1200" cap="none" spc="0" normalizeH="0" baseline="0" noProof="1">
                <a:solidFill>
                  <a:schemeClr val="tx1"/>
                </a:solidFill>
                <a:latin typeface="楷体" panose="02010609060101010101" pitchFamily="49" charset="-122"/>
                <a:ea typeface="楷体" panose="02010609060101010101" pitchFamily="49" charset="-122"/>
                <a:cs typeface="+mn-cs"/>
              </a:rPr>
              <a:t>面谈是需求获取当中最为常用的手段，对问题类型和组织结构的掌握是面谈的重要技巧。面谈的组织和进行当中也有许多注意事项，经过长期实践，面谈也发展出多种不同的形式。</a:t>
            </a:r>
          </a:p>
          <a:p>
            <a:pPr marL="228600" marR="0" indent="-228600" algn="l" defTabSz="914400" rtl="0" eaLnBrk="1" fontAlgn="auto" latinLnBrk="0" hangingPunct="1">
              <a:lnSpc>
                <a:spcPct val="90000"/>
              </a:lnSpc>
              <a:spcBef>
                <a:spcPts val="1000"/>
              </a:spcBef>
              <a:spcAft>
                <a:spcPct val="0"/>
              </a:spcAft>
              <a:buClrTx/>
              <a:buSzTx/>
              <a:buFont typeface="Wingdings" panose="05000000000000000000" pitchFamily="2" charset="2"/>
              <a:buChar char="Ø"/>
            </a:pPr>
            <a:r>
              <a:rPr kumimoji="1" lang="en-US" altLang="zh-CN" sz="2355">
                <a:latin typeface="楷体" panose="02010609060101010101" pitchFamily="49" charset="-122"/>
                <a:ea typeface="楷体" panose="02010609060101010101" pitchFamily="49" charset="-122"/>
                <a:sym typeface="+mn-ea"/>
              </a:rPr>
              <a:t>原型是软件开发当中消除不确定性风险的有效工具</a:t>
            </a:r>
            <a:r>
              <a:rPr kumimoji="1" lang="zh-CN" altLang="en-US" sz="2355">
                <a:latin typeface="楷体" panose="02010609060101010101" pitchFamily="49" charset="-122"/>
                <a:ea typeface="楷体" panose="02010609060101010101" pitchFamily="49" charset="-122"/>
                <a:sym typeface="+mn-ea"/>
              </a:rPr>
              <a:t>，不同类型的原型具有不同的作用和创建要求。原型方法在解决风险的同时可能会带来新的的风险。</a:t>
            </a:r>
            <a:endParaRPr kumimoji="1" lang="zh-CN" altLang="en-US" sz="2355" b="0" i="0" u="none" strike="noStrike" kern="1200" cap="none" spc="0" normalizeH="0" baseline="0" noProof="1">
              <a:solidFill>
                <a:schemeClr val="tx1"/>
              </a:solidFill>
              <a:latin typeface="楷体" panose="02010609060101010101" pitchFamily="49" charset="-122"/>
              <a:ea typeface="楷体" panose="02010609060101010101" pitchFamily="49" charset="-122"/>
              <a:cs typeface="+mn-cs"/>
            </a:endParaRPr>
          </a:p>
          <a:p>
            <a:pPr marL="228600" marR="0" indent="-228600" algn="l" defTabSz="914400" rtl="0" eaLnBrk="1" fontAlgn="auto" latinLnBrk="0" hangingPunct="1">
              <a:lnSpc>
                <a:spcPct val="90000"/>
              </a:lnSpc>
              <a:spcBef>
                <a:spcPts val="1000"/>
              </a:spcBef>
              <a:spcAft>
                <a:spcPct val="0"/>
              </a:spcAft>
              <a:buClrTx/>
              <a:buSzTx/>
              <a:buFont typeface="Wingdings" panose="05000000000000000000" pitchFamily="2" charset="2"/>
              <a:buChar char="Ø"/>
            </a:pPr>
            <a:r>
              <a:rPr kumimoji="1" lang="zh-CN" altLang="en-US" sz="2355" b="0" i="0" u="none" strike="noStrike" kern="1200" cap="none" spc="0" normalizeH="0" baseline="0" noProof="1">
                <a:solidFill>
                  <a:schemeClr val="tx1"/>
                </a:solidFill>
                <a:latin typeface="楷体" panose="02010609060101010101" pitchFamily="49" charset="-122"/>
                <a:ea typeface="楷体" panose="02010609060101010101" pitchFamily="49" charset="-122"/>
                <a:cs typeface="+mn-cs"/>
              </a:rPr>
              <a:t>在面临需求获取时的情景性问题时，观察的作用愈显重要。采样观察的应用方法较为固定、而民族志的方法较为复杂、更加耗时，需要更多的实践积累。</a:t>
            </a:r>
          </a:p>
          <a:p>
            <a:pPr marL="228600" marR="0" indent="-228600" algn="l" defTabSz="914400" rtl="0" eaLnBrk="1" fontAlgn="auto" latinLnBrk="0" hangingPunct="1">
              <a:lnSpc>
                <a:spcPct val="90000"/>
              </a:lnSpc>
              <a:spcBef>
                <a:spcPts val="1000"/>
              </a:spcBef>
              <a:spcAft>
                <a:spcPct val="0"/>
              </a:spcAft>
              <a:buClrTx/>
              <a:buSzTx/>
              <a:buFont typeface="Wingdings" panose="05000000000000000000" pitchFamily="2" charset="2"/>
              <a:buChar char="Ø"/>
            </a:pPr>
            <a:r>
              <a:rPr kumimoji="1" lang="zh-CN" altLang="en-US" sz="2355" b="0" i="0" u="none" strike="noStrike" kern="1200" cap="none" spc="0" normalizeH="0" baseline="0" noProof="1">
                <a:solidFill>
                  <a:schemeClr val="tx1"/>
                </a:solidFill>
                <a:latin typeface="楷体" panose="02010609060101010101" pitchFamily="49" charset="-122"/>
                <a:ea typeface="楷体" panose="02010609060101010101" pitchFamily="49" charset="-122"/>
                <a:cs typeface="+mn-cs"/>
              </a:rPr>
              <a:t>文档审查方法是专门用于处理各种硬数据的需求获取方法，针对不同的文档类型，适用不同文档审查方法。</a:t>
            </a:r>
          </a:p>
        </p:txBody>
      </p:sp>
      <p:sp>
        <p:nvSpPr>
          <p:cNvPr id="6" name="矩形 5"/>
          <p:cNvSpPr/>
          <p:nvPr/>
        </p:nvSpPr>
        <p:spPr>
          <a:xfrm>
            <a:off x="0" y="0"/>
            <a:ext cx="9144000" cy="433388"/>
          </a:xfrm>
          <a:prstGeom prst="rect">
            <a:avLst/>
          </a:prstGeom>
          <a:solidFill>
            <a:srgbClr val="2312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fontAlgn="auto"/>
            <a:endParaRPr kumimoji="1" lang="zh-CN" altLang="en-US" strike="noStrike" noProof="1"/>
          </a:p>
        </p:txBody>
      </p:sp>
      <p:sp>
        <p:nvSpPr>
          <p:cNvPr id="106500" name="文本框 10"/>
          <p:cNvSpPr txBox="1"/>
          <p:nvPr/>
        </p:nvSpPr>
        <p:spPr>
          <a:xfrm>
            <a:off x="150813" y="17463"/>
            <a:ext cx="1200150" cy="706437"/>
          </a:xfrm>
          <a:prstGeom prst="rect">
            <a:avLst/>
          </a:prstGeom>
          <a:noFill/>
          <a:ln w="9525">
            <a:noFill/>
          </a:ln>
        </p:spPr>
        <p:txBody>
          <a:bodyPr wrap="none" anchor="t" anchorCtr="0">
            <a:spAutoFit/>
          </a:bodyPr>
          <a:lstStyle/>
          <a:p>
            <a:r>
              <a:rPr lang="zh-CN" altLang="en-US" sz="2000" dirty="0">
                <a:solidFill>
                  <a:schemeClr val="bg1"/>
                </a:solidFill>
                <a:latin typeface="楷体" panose="02010609060101010101" pitchFamily="49" charset="-122"/>
                <a:ea typeface="楷体" panose="02010609060101010101" pitchFamily="49" charset="-122"/>
              </a:rPr>
              <a:t>本章小结</a:t>
            </a:r>
            <a:endParaRPr lang="en-US" altLang="zh-CN" sz="2000" dirty="0">
              <a:solidFill>
                <a:schemeClr val="bg1"/>
              </a:solidFill>
              <a:latin typeface="楷体" panose="02010609060101010101" pitchFamily="49" charset="-122"/>
              <a:ea typeface="楷体" panose="02010609060101010101" pitchFamily="49" charset="-122"/>
            </a:endParaRPr>
          </a:p>
          <a:p>
            <a:endParaRPr lang="en-US" altLang="zh-CN" sz="2000" dirty="0">
              <a:solidFill>
                <a:schemeClr val="bg1"/>
              </a:solidFill>
              <a:latin typeface="楷体" panose="02010609060101010101" pitchFamily="49" charset="-122"/>
              <a:ea typeface="楷体" panose="02010609060101010101" pitchFamily="49" charset="-122"/>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ODFjNjBiNmUzY2UwYWU2ODRhYjgyY2Q4YzExM2JhZWMifQ=="/>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653*400"/>
  <p:tag name="TABLE_ENDDRAG_RECT" val="40*98*653*400"/>
</p:tagLst>
</file>

<file path=ppt/tags/tag3.xml><?xml version="1.0" encoding="utf-8"?>
<p:tagLst xmlns:a="http://schemas.openxmlformats.org/drawingml/2006/main" xmlns:r="http://schemas.openxmlformats.org/officeDocument/2006/relationships" xmlns:p="http://schemas.openxmlformats.org/presentationml/2006/main">
  <p:tag name="TABLE_ENDDRAG_ORIGIN_RECT" val="570*227"/>
  <p:tag name="TABLE_ENDDRAG_RECT" val="49*124*570*227"/>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464.95,&quot;left&quot;:49.5,&quot;top&quot;:46.95,&quot;width&quot;:630.1}"/>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464.95,&quot;left&quot;:49.5,&quot;top&quot;:46.95,&quot;width&quot;:630.1}"/>
</p:tagLst>
</file>

<file path=ppt/tags/tag6.xml><?xml version="1.0" encoding="utf-8"?>
<p:tagLst xmlns:a="http://schemas.openxmlformats.org/drawingml/2006/main" xmlns:r="http://schemas.openxmlformats.org/officeDocument/2006/relationships" xmlns:p="http://schemas.openxmlformats.org/presentationml/2006/main">
  <p:tag name="TABLE_ENDDRAG_ORIGIN_RECT" val="621*304"/>
  <p:tag name="TABLE_ENDDRAG_RECT" val="49*169*621*304"/>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39.5,&quot;left&quot;:49.5,&quot;top&quot;:158.5,&quot;width&quot;:604.1}"/>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39.5,&quot;left&quot;:49.5,&quot;top&quot;:158.5,&quot;width&quot;:604.1}"/>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39.5,&quot;left&quot;:49.5,&quot;top&quot;:158.5,&quot;width&quot;:604.1}"/>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39.5,&quot;left&quot;:49.5,&quot;top&quot;:158.5,&quot;width&quot;:604.1}"/>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39.5,&quot;left&quot;:49.5,&quot;top&quot;:158.5,&quot;width&quot;:604.1}"/>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39.5,&quot;left&quot;:49.5,&quot;top&quot;:158.5,&quot;width&quot;:604.1}"/>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442.1,&quot;left&quot;:49.5,&quot;top&quot;:55.9,&quot;width&quot;:604.1}"/>
</p:tagLst>
</file>

<file path=ppt/tags/tag14.xml><?xml version="1.0" encoding="utf-8"?>
<p:tagLst xmlns:a="http://schemas.openxmlformats.org/drawingml/2006/main" xmlns:r="http://schemas.openxmlformats.org/officeDocument/2006/relationships" xmlns:p="http://schemas.openxmlformats.org/presentationml/2006/main">
  <p:tag name="TABLE_ENDDRAG_ORIGIN_RECT" val="604*188"/>
  <p:tag name="TABLE_ENDDRAG_RECT" val="49*307*604*188"/>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442.1,&quot;left&quot;:49.5,&quot;top&quot;:55.9,&quot;width&quot;:604.1}"/>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442.1,&quot;left&quot;:49.5,&quot;top&quot;:55.9,&quot;width&quot;:604.1}"/>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22_3_1"/>
  <p:tag name="KSO_WM_UNIT_ID" val="diagram20227676_3*l_h_i*122_3_1"/>
  <p:tag name="KSO_WM_TEMPLATE_CATEGORY" val="diagram"/>
  <p:tag name="KSO_WM_TEMPLATE_INDEX" val="20227676"/>
  <p:tag name="KSO_WM_UNIT_LAYERLEVEL" val="1_1_1"/>
  <p:tag name="KSO_WM_TAG_VERSION" val="1.0"/>
  <p:tag name="KSO_WM_BEAUTIFY_FLAG" val="#wm#"/>
  <p:tag name="KSO_WM_UNIT_FILL_FORE_SCHEMECOLOR_INDEX" val="7"/>
  <p:tag name="KSO_WM_UNIT_LINE_FORE_SCHEMECOLOR_INDEX" val="5"/>
  <p:tag name="KSO_WM_UNIT_TEXT_FILL_FORE_SCHEMECOLOR_INDEX" val="2"/>
  <p:tag name="KSO_WM_UNIT_TEXT_FILL_TYPE" val="1"/>
  <p:tag name="KSO_WM_DIAGRAM_VIRTUALLY_FRAME" val="{&quot;height&quot;:427.49309048235966,&quot;left&quot;:10.6,&quot;top&quot;:99.5,&quot;width&quot;:668.4625196850394}"/>
</p:tagLst>
</file>

<file path=ppt/tags/tag35.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输入你的正文，文字是您思想的提炼，为了最终演示发布的良好效果，请尽量言简意赅的阐述观点。"/>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22_3_1"/>
  <p:tag name="KSO_WM_UNIT_ID" val="diagram20227676_3*l_h_f*122_3_1"/>
  <p:tag name="KSO_WM_TEMPLATE_CATEGORY" val="diagram"/>
  <p:tag name="KSO_WM_TEMPLATE_INDEX" val="20227676"/>
  <p:tag name="KSO_WM_UNIT_LAYERLEVEL" val="1_1_1"/>
  <p:tag name="KSO_WM_TAG_VERSION" val="1.0"/>
  <p:tag name="KSO_WM_BEAUTIFY_FLAG" val="#wm#"/>
  <p:tag name="KSO_WM_UNIT_TEXT_FILL_FORE_SCHEMECOLOR_INDEX" val="13"/>
  <p:tag name="KSO_WM_UNIT_TEXT_FILL_TYPE" val="1"/>
  <p:tag name="KSO_WM_DIAGRAM_VIRTUALLY_FRAME" val="{&quot;height&quot;:427.49309048235966,&quot;left&quot;:10.6,&quot;top&quot;:99.5,&quot;width&quot;:668.4625196850394}"/>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22_1_1"/>
  <p:tag name="KSO_WM_UNIT_ID" val="diagram20227676_3*l_h_i*122_1_1"/>
  <p:tag name="KSO_WM_TEMPLATE_CATEGORY" val="diagram"/>
  <p:tag name="KSO_WM_TEMPLATE_INDEX" val="20227676"/>
  <p:tag name="KSO_WM_UNIT_LAYERLEVEL" val="1_1_1"/>
  <p:tag name="KSO_WM_TAG_VERSION" val="1.0"/>
  <p:tag name="KSO_WM_BEAUTIFY_FLAG" val="#wm#"/>
  <p:tag name="KSO_WM_UNIT_FILL_FORE_SCHEMECOLOR_INDEX" val="7"/>
  <p:tag name="KSO_WM_UNIT_LINE_FORE_SCHEMECOLOR_INDEX" val="5"/>
  <p:tag name="KSO_WM_UNIT_TEXT_FILL_FORE_SCHEMECOLOR_INDEX" val="2"/>
  <p:tag name="KSO_WM_UNIT_TEXT_FILL_TYPE" val="1"/>
  <p:tag name="KSO_WM_DIAGRAM_VIRTUALLY_FRAME" val="{&quot;height&quot;:427.49309048235966,&quot;left&quot;:10.6,&quot;top&quot;:99.5,&quot;width&quot;:668.4625196850394}"/>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22_1_2"/>
  <p:tag name="KSO_WM_UNIT_ID" val="diagram20227676_3*l_h_i*122_1_2"/>
  <p:tag name="KSO_WM_TEMPLATE_CATEGORY" val="diagram"/>
  <p:tag name="KSO_WM_TEMPLATE_INDEX" val="20227676"/>
  <p:tag name="KSO_WM_UNIT_LAYERLEVEL" val="1_1_1"/>
  <p:tag name="KSO_WM_TAG_VERSION" val="1.0"/>
  <p:tag name="KSO_WM_BEAUTIFY_FLAG" val="#wm#"/>
  <p:tag name="KSO_WM_UNIT_FILL_FORE_SCHEMECOLOR_INDEX" val="5"/>
  <p:tag name="KSO_WM_UNIT_LINE_FORE_SCHEMECOLOR_INDEX" val="14"/>
  <p:tag name="KSO_WM_UNIT_LINE_FILL_TYPE" val="2"/>
  <p:tag name="KSO_WM_DIAGRAM_VIRTUALLY_FRAME" val="{&quot;height&quot;:427.49309048235966,&quot;left&quot;:10.6,&quot;top&quot;:99.5,&quot;width&quot;:668.4625196850394}"/>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22_1_1"/>
  <p:tag name="KSO_WM_UNIT_ID" val="diagram20227676_3*l_h_i*122_1_1"/>
  <p:tag name="KSO_WM_TEMPLATE_CATEGORY" val="diagram"/>
  <p:tag name="KSO_WM_TEMPLATE_INDEX" val="20227676"/>
  <p:tag name="KSO_WM_UNIT_LAYERLEVEL" val="1_1_1"/>
  <p:tag name="KSO_WM_TAG_VERSION" val="1.0"/>
  <p:tag name="KSO_WM_BEAUTIFY_FLAG" val="#wm#"/>
  <p:tag name="KSO_WM_UNIT_TEXT_FILL_FORE_SCHEMECOLOR_INDEX" val="14"/>
  <p:tag name="KSO_WM_UNIT_TEXT_FILL_TYPE" val="1"/>
  <p:tag name="KSO_WM_DIAGRAM_VIRTUALLY_FRAME" val="{&quot;height&quot;:427.49309048235966,&quot;left&quot;:10.6,&quot;top&quot;:99.5,&quot;width&quot;:668.4625196850394}"/>
</p:tagLst>
</file>

<file path=ppt/tags/tag39.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输入你的正文，文字是您思想的提炼，为了最终演示发布的良好效果，请尽量言简意赅的阐述观点。"/>
  <p:tag name="KSO_WM_UNIT_NOCLEAR" val="0"/>
  <p:tag name="KSO_WM_UNIT_HIGHLIGHT" val="0"/>
  <p:tag name="KSO_WM_UNIT_COMPATIBLE" val="0"/>
  <p:tag name="KSO_WM_UNIT_DIAGRAM_ISNUMVISUAL" val="0"/>
  <p:tag name="KSO_WM_UNIT_DIAGRAM_ISREFERUNIT" val="0"/>
  <p:tag name="KSO_WM_DIAGRAM_GROUP_CODE" val="l1-1"/>
  <p:tag name="KSO_WM_UNIT_ID" val="diagram20227676_3*l_h_f*122_1_1"/>
  <p:tag name="KSO_WM_TEMPLATE_CATEGORY" val="diagram"/>
  <p:tag name="KSO_WM_TEMPLATE_INDEX" val="20227676"/>
  <p:tag name="KSO_WM_UNIT_LAYERLEVEL" val="1_1_1"/>
  <p:tag name="KSO_WM_TAG_VERSION" val="1.0"/>
  <p:tag name="KSO_WM_UNIT_TEXT_FILL_FORE_SCHEMECOLOR_INDEX" val="13"/>
  <p:tag name="KSO_WM_UNIT_TEXT_FILL_TYPE" val="1"/>
  <p:tag name="KSO_WM_DIAGRAM_VIRTUALLY_FRAME" val="{&quot;height&quot;:427.49309048235966,&quot;left&quot;:10.6,&quot;top&quot;:99.5,&quot;width&quot;:668.4625196850394}"/>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22_2_1"/>
  <p:tag name="KSO_WM_UNIT_ID" val="diagram20227676_3*l_h_i*122_2_1"/>
  <p:tag name="KSO_WM_TEMPLATE_CATEGORY" val="diagram"/>
  <p:tag name="KSO_WM_TEMPLATE_INDEX" val="20227676"/>
  <p:tag name="KSO_WM_UNIT_LAYERLEVEL" val="1_1_1"/>
  <p:tag name="KSO_WM_TAG_VERSION" val="1.0"/>
  <p:tag name="KSO_WM_BEAUTIFY_FLAG" val="#wm#"/>
  <p:tag name="KSO_WM_UNIT_FILL_FORE_SCHEMECOLOR_INDEX" val="6"/>
  <p:tag name="KSO_WM_UNIT_LINE_FORE_SCHEMECOLOR_INDEX" val="6"/>
  <p:tag name="KSO_WM_UNIT_TEXT_FILL_FORE_SCHEMECOLOR_INDEX" val="2"/>
  <p:tag name="KSO_WM_UNIT_TEXT_FILL_TYPE" val="1"/>
  <p:tag name="KSO_WM_DIAGRAM_VIRTUALLY_FRAME" val="{&quot;height&quot;:427.49309048235966,&quot;left&quot;:10.6,&quot;top&quot;:99.5,&quot;width&quot;:668.4625196850394}"/>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22_2_2"/>
  <p:tag name="KSO_WM_UNIT_ID" val="diagram20227676_3*l_h_i*122_2_2"/>
  <p:tag name="KSO_WM_TEMPLATE_CATEGORY" val="diagram"/>
  <p:tag name="KSO_WM_TEMPLATE_INDEX" val="20227676"/>
  <p:tag name="KSO_WM_UNIT_LAYERLEVEL" val="1_1_1"/>
  <p:tag name="KSO_WM_TAG_VERSION" val="1.0"/>
  <p:tag name="KSO_WM_BEAUTIFY_FLAG" val="#wm#"/>
  <p:tag name="KSO_WM_UNIT_FILL_FORE_SCHEMECOLOR_INDEX" val="6"/>
  <p:tag name="KSO_WM_UNIT_LINE_FORE_SCHEMECOLOR_INDEX" val="14"/>
  <p:tag name="KSO_WM_UNIT_LINE_FILL_TYPE" val="2"/>
  <p:tag name="KSO_WM_DIAGRAM_VIRTUALLY_FRAME" val="{&quot;height&quot;:427.49309048235966,&quot;left&quot;:10.6,&quot;top&quot;:99.5,&quot;width&quot;:668.4625196850394}"/>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22_2_1"/>
  <p:tag name="KSO_WM_UNIT_ID" val="diagram20227676_3*l_h_i*122_2_1"/>
  <p:tag name="KSO_WM_TEMPLATE_CATEGORY" val="diagram"/>
  <p:tag name="KSO_WM_TEMPLATE_INDEX" val="20227676"/>
  <p:tag name="KSO_WM_UNIT_LAYERLEVEL" val="1_1_1"/>
  <p:tag name="KSO_WM_TAG_VERSION" val="1.0"/>
  <p:tag name="KSO_WM_BEAUTIFY_FLAG" val="#wm#"/>
  <p:tag name="KSO_WM_UNIT_TEXT_FILL_FORE_SCHEMECOLOR_INDEX" val="14"/>
  <p:tag name="KSO_WM_UNIT_TEXT_FILL_TYPE" val="1"/>
  <p:tag name="KSO_WM_DIAGRAM_VIRTUALLY_FRAME" val="{&quot;height&quot;:427.49309048235966,&quot;left&quot;:10.6,&quot;top&quot;:99.5,&quot;width&quot;:668.4625196850394}"/>
</p:tagLst>
</file>

<file path=ppt/tags/tag43.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输入你的正文，文字是您思想的提炼，为了最终演示发布的良好效果，请尽量言简意赅的阐述观点。"/>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22_2_1"/>
  <p:tag name="KSO_WM_UNIT_ID" val="diagram20227676_3*l_h_f*122_2_1"/>
  <p:tag name="KSO_WM_TEMPLATE_CATEGORY" val="diagram"/>
  <p:tag name="KSO_WM_TEMPLATE_INDEX" val="20227676"/>
  <p:tag name="KSO_WM_UNIT_LAYERLEVEL" val="1_1_1"/>
  <p:tag name="KSO_WM_TAG_VERSION" val="1.0"/>
  <p:tag name="KSO_WM_BEAUTIFY_FLAG" val="#wm#"/>
  <p:tag name="KSO_WM_UNIT_TEXT_FILL_FORE_SCHEMECOLOR_INDEX" val="13"/>
  <p:tag name="KSO_WM_UNIT_TEXT_FILL_TYPE" val="1"/>
  <p:tag name="KSO_WM_DIAGRAM_VIRTUALLY_FRAME" val="{&quot;height&quot;:427.49309048235966,&quot;left&quot;:10.6,&quot;top&quot;:99.5,&quot;width&quot;:668.4625196850394}"/>
</p:tagLst>
</file>

<file path=ppt/tags/tag4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机此处添加标题"/>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a"/>
  <p:tag name="KSO_WM_UNIT_INDEX" val="122_1"/>
  <p:tag name="KSO_WM_UNIT_ID" val="diagram20227676_3*l_a*122_1"/>
  <p:tag name="KSO_WM_TEMPLATE_CATEGORY" val="diagram"/>
  <p:tag name="KSO_WM_TEMPLATE_INDEX" val="20227676"/>
  <p:tag name="KSO_WM_UNIT_LAYERLEVEL" val="1_1"/>
  <p:tag name="KSO_WM_TAG_VERSION" val="1.0"/>
  <p:tag name="KSO_WM_BEAUTIFY_FLAG" val="#wm#"/>
  <p:tag name="KSO_WM_UNIT_TEXT_FILL_FORE_SCHEMECOLOR_INDEX" val="14"/>
  <p:tag name="KSO_WM_UNIT_TEXT_FILL_TYPE" val="1"/>
  <p:tag name="KSO_WM_DIAGRAM_VIRTUALLY_FRAME" val="{&quot;height&quot;:427.49309048235966,&quot;left&quot;:10.6,&quot;top&quot;:99.5,&quot;width&quot;:668.4625196850394}"/>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22_2_2"/>
  <p:tag name="KSO_WM_UNIT_ID" val="diagram20227676_3*l_h_i*122_2_2"/>
  <p:tag name="KSO_WM_TEMPLATE_CATEGORY" val="diagram"/>
  <p:tag name="KSO_WM_TEMPLATE_INDEX" val="20227676"/>
  <p:tag name="KSO_WM_UNIT_LAYERLEVEL" val="1_1_1"/>
  <p:tag name="KSO_WM_TAG_VERSION" val="1.0"/>
  <p:tag name="KSO_WM_BEAUTIFY_FLAG" val=""/>
  <p:tag name="KSO_WM_UNIT_FILL_FORE_SCHEMECOLOR_INDEX" val="6"/>
  <p:tag name="KSO_WM_UNIT_LINE_FORE_SCHEMECOLOR_INDEX" val="14"/>
  <p:tag name="KSO_WM_UNIT_LINE_FILL_TYPE" val="2"/>
  <p:tag name="KSO_WM_DIAGRAM_VIRTUALLY_FRAME" val="{&quot;height&quot;:398.0680511122809,&quot;left&quot;:10.6,&quot;top&quot;:128.92503937007874,&quot;width&quot;:668.4625196850394}"/>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TABLE_ENDDRAG_ORIGIN_RECT" val="666*310"/>
  <p:tag name="TABLE_ENDDRAG_RECT" val="24*144*666*310"/>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28083_5*l_h_i*1_1_1"/>
  <p:tag name="KSO_WM_TEMPLATE_CATEGORY" val="diagram"/>
  <p:tag name="KSO_WM_TEMPLATE_INDEX" val="20228083"/>
  <p:tag name="KSO_WM_UNIT_LAYERLEVEL" val="1_1_1"/>
  <p:tag name="KSO_WM_TAG_VERSION" val="1.0"/>
  <p:tag name="KSO_WM_BEAUTIFY_FLAG" val="#wm#"/>
  <p:tag name="KSO_WM_UNIT_FILL_FORE_SCHEMECOLOR_INDEX" val="5"/>
  <p:tag name="KSO_WM_UNIT_TEXT_FILL_FORE_SCHEMECOLOR_INDEX" val="2"/>
  <p:tag name="KSO_WM_UNIT_TEXT_FILL_TYPE" val="1"/>
  <p:tag name="KSO_WM_DIAGRAM_VIRTUALLY_FRAME" val="{&quot;height&quot;:375.85,&quot;left&quot;:49.476817500995814,&quot;top&quot;:128.95,&quot;width&quot;:666.9474575902298}"/>
</p:tagLst>
</file>

<file path=ppt/tags/tag72.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输入你的正文，文字是您思想的提炼，为了最终演示发布的良好效果，请尽量言简意赅的阐述观点。"/>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28083_5*l_h_f*1_1_1"/>
  <p:tag name="KSO_WM_TEMPLATE_CATEGORY" val="diagram"/>
  <p:tag name="KSO_WM_TEMPLATE_INDEX" val="20228083"/>
  <p:tag name="KSO_WM_UNIT_LAYERLEVEL" val="1_1_1"/>
  <p:tag name="KSO_WM_TAG_VERSION" val="1.0"/>
  <p:tag name="KSO_WM_BEAUTIFY_FLAG" val="#wm#"/>
  <p:tag name="KSO_WM_UNIT_TEXT_FILL_FORE_SCHEMECOLOR_INDEX" val="13"/>
  <p:tag name="KSO_WM_UNIT_TEXT_FILL_TYPE" val="1"/>
  <p:tag name="KSO_WM_DIAGRAM_VIRTUALLY_FRAME" val="{&quot;height&quot;:375.85,&quot;left&quot;:49.476817500995814,&quot;top&quot;:128.95,&quot;width&quot;:666.9474575902298}"/>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28083_5*l_h_i*1_1_1"/>
  <p:tag name="KSO_WM_TEMPLATE_CATEGORY" val="diagram"/>
  <p:tag name="KSO_WM_TEMPLATE_INDEX" val="20228083"/>
  <p:tag name="KSO_WM_UNIT_LAYERLEVEL" val="1_1_1"/>
  <p:tag name="KSO_WM_TAG_VERSION" val="1.0"/>
  <p:tag name="KSO_WM_BEAUTIFY_FLAG" val="#wm#"/>
  <p:tag name="KSO_WM_UNIT_TEXT_FILL_FORE_SCHEMECOLOR_INDEX" val="5"/>
  <p:tag name="KSO_WM_DIAGRAM_VIRTUALLY_FRAME" val="{&quot;height&quot;:375.85,&quot;left&quot;:49.476817500995814,&quot;top&quot;:128.95,&quot;width&quot;:666.9474575902298}"/>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28083_5*l_h_i*1_1_2"/>
  <p:tag name="KSO_WM_TEMPLATE_CATEGORY" val="diagram"/>
  <p:tag name="KSO_WM_TEMPLATE_INDEX" val="20228083"/>
  <p:tag name="KSO_WM_UNIT_LAYERLEVEL" val="1_1_1"/>
  <p:tag name="KSO_WM_TAG_VERSION" val="1.0"/>
  <p:tag name="KSO_WM_BEAUTIFY_FLAG" val="#wm#"/>
  <p:tag name="KSO_WM_UNIT_LINE_FORE_SCHEMECOLOR_INDEX" val="5"/>
  <p:tag name="KSO_WM_UNIT_LINE_FILL_TYPE" val="2"/>
  <p:tag name="KSO_WM_DIAGRAM_VIRTUALLY_FRAME" val="{&quot;height&quot;:375.85,&quot;left&quot;:49.476817500995814,&quot;top&quot;:128.95,&quot;width&quot;:666.9474575902298}"/>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28083_5*l_h_i*1_1_3"/>
  <p:tag name="KSO_WM_TEMPLATE_CATEGORY" val="diagram"/>
  <p:tag name="KSO_WM_TEMPLATE_INDEX" val="20228083"/>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 name="KSO_WM_DIAGRAM_VIRTUALLY_FRAME" val="{&quot;height&quot;:375.85,&quot;left&quot;:49.476817500995814,&quot;top&quot;:128.95,&quot;width&quot;:666.9474575902298}"/>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4"/>
  <p:tag name="KSO_WM_UNIT_ID" val="diagram20228083_5*l_h_i*1_1_4"/>
  <p:tag name="KSO_WM_TEMPLATE_CATEGORY" val="diagram"/>
  <p:tag name="KSO_WM_TEMPLATE_INDEX" val="20228083"/>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 name="KSO_WM_DIAGRAM_VIRTUALLY_FRAME" val="{&quot;height&quot;:375.85,&quot;left&quot;:49.476817500995814,&quot;top&quot;:128.95,&quot;width&quot;:666.9474575902298}"/>
</p:tagLst>
</file>

<file path=ppt/tags/tag7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请添加小标题"/>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28083_5*l_h_a*1_1_1"/>
  <p:tag name="KSO_WM_TEMPLATE_CATEGORY" val="diagram"/>
  <p:tag name="KSO_WM_TEMPLATE_INDEX" val="20228083"/>
  <p:tag name="KSO_WM_UNIT_LAYERLEVEL" val="1_1_1"/>
  <p:tag name="KSO_WM_TAG_VERSION" val="1.0"/>
  <p:tag name="KSO_WM_BEAUTIFY_FLAG" val="#wm#"/>
  <p:tag name="KSO_WM_UNIT_TEXT_FILL_FORE_SCHEMECOLOR_INDEX" val="14"/>
  <p:tag name="KSO_WM_UNIT_TEXT_FILL_TYPE" val="1"/>
  <p:tag name="KSO_WM_DIAGRAM_VIRTUALLY_FRAME" val="{&quot;height&quot;:375.85,&quot;left&quot;:49.476817500995814,&quot;top&quot;:128.95,&quot;width&quot;:666.9474575902298}"/>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20228083_5*l_h_i*1_4_1"/>
  <p:tag name="KSO_WM_TEMPLATE_CATEGORY" val="diagram"/>
  <p:tag name="KSO_WM_TEMPLATE_INDEX" val="20228083"/>
  <p:tag name="KSO_WM_UNIT_LAYERLEVEL" val="1_1_1"/>
  <p:tag name="KSO_WM_TAG_VERSION" val="1.0"/>
  <p:tag name="KSO_WM_BEAUTIFY_FLAG" val="#wm#"/>
  <p:tag name="KSO_WM_UNIT_FILL_FORE_SCHEMECOLOR_INDEX" val="8"/>
  <p:tag name="KSO_WM_UNIT_TEXT_FILL_FORE_SCHEMECOLOR_INDEX" val="2"/>
  <p:tag name="KSO_WM_UNIT_TEXT_FILL_TYPE" val="1"/>
  <p:tag name="KSO_WM_DIAGRAM_VIRTUALLY_FRAME" val="{&quot;height&quot;:375.85,&quot;left&quot;:49.476817500995814,&quot;top&quot;:128.95,&quot;width&quot;:666.9474575902298}"/>
</p:tagLst>
</file>

<file path=ppt/tags/tag79.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输入你的正文，文字是您思想的提炼，为了最终演示发布的良好效果，请尽量言简意赅的阐述观点。"/>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28083_5*l_h_f*1_4_1"/>
  <p:tag name="KSO_WM_TEMPLATE_CATEGORY" val="diagram"/>
  <p:tag name="KSO_WM_TEMPLATE_INDEX" val="20228083"/>
  <p:tag name="KSO_WM_UNIT_LAYERLEVEL" val="1_1_1"/>
  <p:tag name="KSO_WM_TAG_VERSION" val="1.0"/>
  <p:tag name="KSO_WM_BEAUTIFY_FLAG" val="#wm#"/>
  <p:tag name="KSO_WM_UNIT_TEXT_FILL_FORE_SCHEMECOLOR_INDEX" val="13"/>
  <p:tag name="KSO_WM_UNIT_TEXT_FILL_TYPE" val="1"/>
  <p:tag name="KSO_WM_DIAGRAM_VIRTUALLY_FRAME" val="{&quot;height&quot;:375.85,&quot;left&quot;:49.476817500995814,&quot;top&quot;:128.95,&quot;width&quot;:666.9474575902298}"/>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1"/>
  <p:tag name="KSO_WM_UNIT_ID" val="diagram20228083_5*l_h_i*1_4_1"/>
  <p:tag name="KSO_WM_TEMPLATE_CATEGORY" val="diagram"/>
  <p:tag name="KSO_WM_TEMPLATE_INDEX" val="20228083"/>
  <p:tag name="KSO_WM_UNIT_LAYERLEVEL" val="1_1_1"/>
  <p:tag name="KSO_WM_TAG_VERSION" val="1.0"/>
  <p:tag name="KSO_WM_BEAUTIFY_FLAG" val="#wm#"/>
  <p:tag name="KSO_WM_UNIT_TEXT_FILL_FORE_SCHEMECOLOR_INDEX" val="5"/>
  <p:tag name="KSO_WM_DIAGRAM_VIRTUALLY_FRAME" val="{&quot;height&quot;:375.85,&quot;left&quot;:49.476817500995814,&quot;top&quot;:128.95,&quot;width&quot;:666.9474575902298}"/>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ID" val="diagram20228083_5*l_h_i*1_4_2"/>
  <p:tag name="KSO_WM_TEMPLATE_CATEGORY" val="diagram"/>
  <p:tag name="KSO_WM_TEMPLATE_INDEX" val="20228083"/>
  <p:tag name="KSO_WM_UNIT_LAYERLEVEL" val="1_1_1"/>
  <p:tag name="KSO_WM_TAG_VERSION" val="1.0"/>
  <p:tag name="KSO_WM_BEAUTIFY_FLAG" val="#wm#"/>
  <p:tag name="KSO_WM_UNIT_LINE_FORE_SCHEMECOLOR_INDEX" val="5"/>
  <p:tag name="KSO_WM_UNIT_LINE_FILL_TYPE" val="2"/>
  <p:tag name="KSO_WM_DIAGRAM_VIRTUALLY_FRAME" val="{&quot;height&quot;:375.85,&quot;left&quot;:49.476817500995814,&quot;top&quot;:128.95,&quot;width&quot;:666.9474575902298}"/>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3"/>
  <p:tag name="KSO_WM_UNIT_ID" val="diagram20228083_5*l_h_i*1_4_3"/>
  <p:tag name="KSO_WM_TEMPLATE_CATEGORY" val="diagram"/>
  <p:tag name="KSO_WM_TEMPLATE_INDEX" val="20228083"/>
  <p:tag name="KSO_WM_UNIT_LAYERLEVEL" val="1_1_1"/>
  <p:tag name="KSO_WM_TAG_VERSION" val="1.0"/>
  <p:tag name="KSO_WM_BEAUTIFY_FLAG" val="#wm#"/>
  <p:tag name="KSO_WM_UNIT_FILL_FORE_SCHEMECOLOR_INDEX" val="8"/>
  <p:tag name="KSO_WM_UNIT_FILL_TYPE" val="1"/>
  <p:tag name="KSO_WM_UNIT_TEXT_FILL_FORE_SCHEMECOLOR_INDEX" val="2"/>
  <p:tag name="KSO_WM_UNIT_TEXT_FILL_TYPE" val="1"/>
  <p:tag name="KSO_WM_DIAGRAM_VIRTUALLY_FRAME" val="{&quot;height&quot;:375.85,&quot;left&quot;:49.476817500995814,&quot;top&quot;:128.95,&quot;width&quot;:666.9474575902298}"/>
</p:tagLst>
</file>

<file path=ppt/tags/tag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4"/>
  <p:tag name="KSO_WM_UNIT_ID" val="diagram20228083_5*l_h_i*1_4_4"/>
  <p:tag name="KSO_WM_TEMPLATE_CATEGORY" val="diagram"/>
  <p:tag name="KSO_WM_TEMPLATE_INDEX" val="20228083"/>
  <p:tag name="KSO_WM_UNIT_LAYERLEVEL" val="1_1_1"/>
  <p:tag name="KSO_WM_TAG_VERSION" val="1.0"/>
  <p:tag name="KSO_WM_BEAUTIFY_FLAG" val="#wm#"/>
  <p:tag name="KSO_WM_UNIT_FILL_FORE_SCHEMECOLOR_INDEX" val="8"/>
  <p:tag name="KSO_WM_UNIT_FILL_TYPE" val="1"/>
  <p:tag name="KSO_WM_UNIT_TEXT_FILL_FORE_SCHEMECOLOR_INDEX" val="2"/>
  <p:tag name="KSO_WM_UNIT_TEXT_FILL_TYPE" val="1"/>
  <p:tag name="KSO_WM_DIAGRAM_VIRTUALLY_FRAME" val="{&quot;height&quot;:375.85,&quot;left&quot;:49.476817500995814,&quot;top&quot;:128.95,&quot;width&quot;:666.9474575902298}"/>
</p:tagLst>
</file>

<file path=ppt/tags/tag8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请添加小标题"/>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20228083_5*l_h_a*1_4_1"/>
  <p:tag name="KSO_WM_TEMPLATE_CATEGORY" val="diagram"/>
  <p:tag name="KSO_WM_TEMPLATE_INDEX" val="20228083"/>
  <p:tag name="KSO_WM_UNIT_LAYERLEVEL" val="1_1_1"/>
  <p:tag name="KSO_WM_TAG_VERSION" val="1.0"/>
  <p:tag name="KSO_WM_BEAUTIFY_FLAG" val="#wm#"/>
  <p:tag name="KSO_WM_UNIT_TEXT_FILL_FORE_SCHEMECOLOR_INDEX" val="14"/>
  <p:tag name="KSO_WM_UNIT_TEXT_FILL_TYPE" val="1"/>
  <p:tag name="KSO_WM_DIAGRAM_VIRTUALLY_FRAME" val="{&quot;height&quot;:375.85,&quot;left&quot;:49.476817500995814,&quot;top&quot;:128.95,&quot;width&quot;:666.9474575902298}"/>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28083_5*l_h_i*1_2_1"/>
  <p:tag name="KSO_WM_TEMPLATE_CATEGORY" val="diagram"/>
  <p:tag name="KSO_WM_TEMPLATE_INDEX" val="20228083"/>
  <p:tag name="KSO_WM_UNIT_LAYERLEVEL" val="1_1_1"/>
  <p:tag name="KSO_WM_TAG_VERSION" val="1.0"/>
  <p:tag name="KSO_WM_BEAUTIFY_FLAG" val="#wm#"/>
  <p:tag name="KSO_WM_UNIT_FILL_FORE_SCHEMECOLOR_INDEX" val="5"/>
  <p:tag name="KSO_WM_UNIT_TEXT_FILL_FORE_SCHEMECOLOR_INDEX" val="2"/>
  <p:tag name="KSO_WM_UNIT_TEXT_FILL_TYPE" val="1"/>
  <p:tag name="KSO_WM_DIAGRAM_VIRTUALLY_FRAME" val="{&quot;height&quot;:375.85,&quot;left&quot;:49.476817500995814,&quot;top&quot;:128.95,&quot;width&quot;:666.9474575902298}"/>
</p:tagLst>
</file>

<file path=ppt/tags/tag86.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输入你的正文，文字是您思想的提炼，为了最终演示发布的良好效果，请尽量言简意赅的阐述观点。"/>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28083_5*l_h_f*1_2_1"/>
  <p:tag name="KSO_WM_TEMPLATE_CATEGORY" val="diagram"/>
  <p:tag name="KSO_WM_TEMPLATE_INDEX" val="20228083"/>
  <p:tag name="KSO_WM_UNIT_LAYERLEVEL" val="1_1_1"/>
  <p:tag name="KSO_WM_TAG_VERSION" val="1.0"/>
  <p:tag name="KSO_WM_BEAUTIFY_FLAG" val="#wm#"/>
  <p:tag name="KSO_WM_UNIT_TEXT_FILL_FORE_SCHEMECOLOR_INDEX" val="13"/>
  <p:tag name="KSO_WM_UNIT_TEXT_FILL_TYPE" val="1"/>
  <p:tag name="KSO_WM_DIAGRAM_VIRTUALLY_FRAME" val="{&quot;height&quot;:375.85,&quot;left&quot;:49.476817500995814,&quot;top&quot;:128.95,&quot;width&quot;:666.9474575902298}"/>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228083_5*l_h_i*1_2_1"/>
  <p:tag name="KSO_WM_TEMPLATE_CATEGORY" val="diagram"/>
  <p:tag name="KSO_WM_TEMPLATE_INDEX" val="20228083"/>
  <p:tag name="KSO_WM_UNIT_LAYERLEVEL" val="1_1_1"/>
  <p:tag name="KSO_WM_TAG_VERSION" val="1.0"/>
  <p:tag name="KSO_WM_BEAUTIFY_FLAG" val="#wm#"/>
  <p:tag name="KSO_WM_UNIT_TEXT_FILL_FORE_SCHEMECOLOR_INDEX" val="5"/>
  <p:tag name="KSO_WM_DIAGRAM_VIRTUALLY_FRAME" val="{&quot;height&quot;:375.85,&quot;left&quot;:49.476817500995814,&quot;top&quot;:128.95,&quot;width&quot;:666.9474575902298}"/>
</p:tagLst>
</file>

<file path=ppt/tags/tag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28083_5*l_h_i*1_2_2"/>
  <p:tag name="KSO_WM_TEMPLATE_CATEGORY" val="diagram"/>
  <p:tag name="KSO_WM_TEMPLATE_INDEX" val="20228083"/>
  <p:tag name="KSO_WM_UNIT_LAYERLEVEL" val="1_1_1"/>
  <p:tag name="KSO_WM_TAG_VERSION" val="1.0"/>
  <p:tag name="KSO_WM_BEAUTIFY_FLAG" val="#wm#"/>
  <p:tag name="KSO_WM_UNIT_LINE_FORE_SCHEMECOLOR_INDEX" val="5"/>
  <p:tag name="KSO_WM_UNIT_LINE_FILL_TYPE" val="2"/>
  <p:tag name="KSO_WM_DIAGRAM_VIRTUALLY_FRAME" val="{&quot;height&quot;:375.85,&quot;left&quot;:49.476817500995814,&quot;top&quot;:128.95,&quot;width&quot;:666.9474575902298}"/>
</p:tagLst>
</file>

<file path=ppt/tags/tag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diagram20228083_5*l_h_i*1_2_3"/>
  <p:tag name="KSO_WM_TEMPLATE_CATEGORY" val="diagram"/>
  <p:tag name="KSO_WM_TEMPLATE_INDEX" val="20228083"/>
  <p:tag name="KSO_WM_UNIT_LAYERLEVEL" val="1_1_1"/>
  <p:tag name="KSO_WM_TAG_VERSION" val="1.0"/>
  <p:tag name="KSO_WM_BEAUTIFY_FLAG" val="#wm#"/>
  <p:tag name="KSO_WM_UNIT_FILL_FORE_SCHEMECOLOR_INDEX" val="6"/>
  <p:tag name="KSO_WM_UNIT_FILL_TYPE" val="1"/>
  <p:tag name="KSO_WM_UNIT_TEXT_FILL_FORE_SCHEMECOLOR_INDEX" val="2"/>
  <p:tag name="KSO_WM_UNIT_TEXT_FILL_TYPE" val="1"/>
  <p:tag name="KSO_WM_DIAGRAM_VIRTUALLY_FRAME" val="{&quot;height&quot;:375.85,&quot;left&quot;:49.476817500995814,&quot;top&quot;:128.95,&quot;width&quot;:666.9474575902298}"/>
</p:tagLst>
</file>

<file path=ppt/tags/tag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4"/>
  <p:tag name="KSO_WM_UNIT_ID" val="diagram20228083_5*l_h_i*1_2_4"/>
  <p:tag name="KSO_WM_TEMPLATE_CATEGORY" val="diagram"/>
  <p:tag name="KSO_WM_TEMPLATE_INDEX" val="20228083"/>
  <p:tag name="KSO_WM_UNIT_LAYERLEVEL" val="1_1_1"/>
  <p:tag name="KSO_WM_TAG_VERSION" val="1.0"/>
  <p:tag name="KSO_WM_BEAUTIFY_FLAG" val="#wm#"/>
  <p:tag name="KSO_WM_UNIT_FILL_FORE_SCHEMECOLOR_INDEX" val="6"/>
  <p:tag name="KSO_WM_UNIT_FILL_TYPE" val="1"/>
  <p:tag name="KSO_WM_UNIT_TEXT_FILL_FORE_SCHEMECOLOR_INDEX" val="2"/>
  <p:tag name="KSO_WM_UNIT_TEXT_FILL_TYPE" val="1"/>
  <p:tag name="KSO_WM_DIAGRAM_VIRTUALLY_FRAME" val="{&quot;height&quot;:375.85,&quot;left&quot;:49.476817500995814,&quot;top&quot;:128.95,&quot;width&quot;:666.9474575902298}"/>
</p:tagLst>
</file>

<file path=ppt/tags/tag9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请添加小标题"/>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28083_5*l_h_a*1_2_1"/>
  <p:tag name="KSO_WM_TEMPLATE_CATEGORY" val="diagram"/>
  <p:tag name="KSO_WM_TEMPLATE_INDEX" val="20228083"/>
  <p:tag name="KSO_WM_UNIT_LAYERLEVEL" val="1_1_1"/>
  <p:tag name="KSO_WM_TAG_VERSION" val="1.0"/>
  <p:tag name="KSO_WM_BEAUTIFY_FLAG" val="#wm#"/>
  <p:tag name="KSO_WM_UNIT_TEXT_FILL_FORE_SCHEMECOLOR_INDEX" val="14"/>
  <p:tag name="KSO_WM_UNIT_TEXT_FILL_TYPE" val="1"/>
  <p:tag name="KSO_WM_DIAGRAM_VIRTUALLY_FRAME" val="{&quot;height&quot;:375.85,&quot;left&quot;:49.476817500995814,&quot;top&quot;:128.95,&quot;width&quot;:666.9474575902298}"/>
</p:tagLst>
</file>

<file path=ppt/tags/tag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28083_5*l_h_i*1_3_1"/>
  <p:tag name="KSO_WM_TEMPLATE_CATEGORY" val="diagram"/>
  <p:tag name="KSO_WM_TEMPLATE_INDEX" val="20228083"/>
  <p:tag name="KSO_WM_UNIT_LAYERLEVEL" val="1_1_1"/>
  <p:tag name="KSO_WM_TAG_VERSION" val="1.0"/>
  <p:tag name="KSO_WM_BEAUTIFY_FLAG" val="#wm#"/>
  <p:tag name="KSO_WM_UNIT_FILL_FORE_SCHEMECOLOR_INDEX" val="7"/>
  <p:tag name="KSO_WM_UNIT_TEXT_FILL_FORE_SCHEMECOLOR_INDEX" val="2"/>
  <p:tag name="KSO_WM_UNIT_TEXT_FILL_TYPE" val="1"/>
  <p:tag name="KSO_WM_DIAGRAM_VIRTUALLY_FRAME" val="{&quot;height&quot;:375.85,&quot;left&quot;:49.476817500995814,&quot;top&quot;:128.95,&quot;width&quot;:666.9474575902298}"/>
</p:tagLst>
</file>

<file path=ppt/tags/tag93.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输入你的正文，文字是您思想的提炼，为了最终演示发布的良好效果，请尽量言简意赅的阐述观点。"/>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28083_5*l_h_f*1_3_1"/>
  <p:tag name="KSO_WM_TEMPLATE_CATEGORY" val="diagram"/>
  <p:tag name="KSO_WM_TEMPLATE_INDEX" val="20228083"/>
  <p:tag name="KSO_WM_UNIT_LAYERLEVEL" val="1_1_1"/>
  <p:tag name="KSO_WM_TAG_VERSION" val="1.0"/>
  <p:tag name="KSO_WM_BEAUTIFY_FLAG" val="#wm#"/>
  <p:tag name="KSO_WM_UNIT_TEXT_FILL_FORE_SCHEMECOLOR_INDEX" val="13"/>
  <p:tag name="KSO_WM_UNIT_TEXT_FILL_TYPE" val="1"/>
  <p:tag name="KSO_WM_DIAGRAM_VIRTUALLY_FRAME" val="{&quot;height&quot;:375.85,&quot;left&quot;:49.476817500995814,&quot;top&quot;:128.95,&quot;width&quot;:666.9474575902298}"/>
</p:tagLst>
</file>

<file path=ppt/tags/tag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diagram20228083_5*l_h_i*1_3_1"/>
  <p:tag name="KSO_WM_TEMPLATE_CATEGORY" val="diagram"/>
  <p:tag name="KSO_WM_TEMPLATE_INDEX" val="20228083"/>
  <p:tag name="KSO_WM_UNIT_LAYERLEVEL" val="1_1_1"/>
  <p:tag name="KSO_WM_TAG_VERSION" val="1.0"/>
  <p:tag name="KSO_WM_BEAUTIFY_FLAG" val="#wm#"/>
  <p:tag name="KSO_WM_UNIT_TEXT_FILL_FORE_SCHEMECOLOR_INDEX" val="5"/>
  <p:tag name="KSO_WM_DIAGRAM_VIRTUALLY_FRAME" val="{&quot;height&quot;:375.85,&quot;left&quot;:49.476817500995814,&quot;top&quot;:128.95,&quot;width&quot;:666.9474575902298}"/>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28083_5*l_h_i*1_3_2"/>
  <p:tag name="KSO_WM_TEMPLATE_CATEGORY" val="diagram"/>
  <p:tag name="KSO_WM_TEMPLATE_INDEX" val="20228083"/>
  <p:tag name="KSO_WM_UNIT_LAYERLEVEL" val="1_1_1"/>
  <p:tag name="KSO_WM_TAG_VERSION" val="1.0"/>
  <p:tag name="KSO_WM_BEAUTIFY_FLAG" val="#wm#"/>
  <p:tag name="KSO_WM_UNIT_LINE_FORE_SCHEMECOLOR_INDEX" val="5"/>
  <p:tag name="KSO_WM_UNIT_LINE_FILL_TYPE" val="2"/>
  <p:tag name="KSO_WM_DIAGRAM_VIRTUALLY_FRAME" val="{&quot;height&quot;:375.85,&quot;left&quot;:49.476817500995814,&quot;top&quot;:128.95,&quot;width&quot;:666.9474575902298}"/>
</p:tagLst>
</file>

<file path=ppt/tags/tag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3"/>
  <p:tag name="KSO_WM_UNIT_ID" val="diagram20228083_5*l_h_i*1_3_3"/>
  <p:tag name="KSO_WM_TEMPLATE_CATEGORY" val="diagram"/>
  <p:tag name="KSO_WM_TEMPLATE_INDEX" val="20228083"/>
  <p:tag name="KSO_WM_UNIT_LAYERLEVEL" val="1_1_1"/>
  <p:tag name="KSO_WM_TAG_VERSION" val="1.0"/>
  <p:tag name="KSO_WM_BEAUTIFY_FLAG" val="#wm#"/>
  <p:tag name="KSO_WM_UNIT_FILL_FORE_SCHEMECOLOR_INDEX" val="6"/>
  <p:tag name="KSO_WM_UNIT_FILL_TYPE" val="1"/>
  <p:tag name="KSO_WM_UNIT_TEXT_FILL_FORE_SCHEMECOLOR_INDEX" val="2"/>
  <p:tag name="KSO_WM_UNIT_TEXT_FILL_TYPE" val="1"/>
  <p:tag name="KSO_WM_DIAGRAM_VIRTUALLY_FRAME" val="{&quot;height&quot;:375.85,&quot;left&quot;:49.476817500995814,&quot;top&quot;:128.95,&quot;width&quot;:666.9474575902298}"/>
</p:tagLst>
</file>

<file path=ppt/tags/tag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4"/>
  <p:tag name="KSO_WM_UNIT_ID" val="diagram20228083_5*l_h_i*1_3_4"/>
  <p:tag name="KSO_WM_TEMPLATE_CATEGORY" val="diagram"/>
  <p:tag name="KSO_WM_TEMPLATE_INDEX" val="20228083"/>
  <p:tag name="KSO_WM_UNIT_LAYERLEVEL" val="1_1_1"/>
  <p:tag name="KSO_WM_TAG_VERSION" val="1.0"/>
  <p:tag name="KSO_WM_BEAUTIFY_FLAG" val="#wm#"/>
  <p:tag name="KSO_WM_UNIT_FILL_FORE_SCHEMECOLOR_INDEX" val="7"/>
  <p:tag name="KSO_WM_UNIT_FILL_TYPE" val="1"/>
  <p:tag name="KSO_WM_UNIT_TEXT_FILL_FORE_SCHEMECOLOR_INDEX" val="2"/>
  <p:tag name="KSO_WM_UNIT_TEXT_FILL_TYPE" val="1"/>
  <p:tag name="KSO_WM_DIAGRAM_VIRTUALLY_FRAME" val="{&quot;height&quot;:375.85,&quot;left&quot;:49.476817500995814,&quot;top&quot;:128.95,&quot;width&quot;:666.9474575902298}"/>
</p:tagLst>
</file>

<file path=ppt/tags/tag9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请添加小标题"/>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28083_5*l_h_a*1_3_1"/>
  <p:tag name="KSO_WM_TEMPLATE_CATEGORY" val="diagram"/>
  <p:tag name="KSO_WM_TEMPLATE_INDEX" val="20228083"/>
  <p:tag name="KSO_WM_UNIT_LAYERLEVEL" val="1_1_1"/>
  <p:tag name="KSO_WM_TAG_VERSION" val="1.0"/>
  <p:tag name="KSO_WM_BEAUTIFY_FLAG" val="#wm#"/>
  <p:tag name="KSO_WM_UNIT_TEXT_FILL_FORE_SCHEMECOLOR_INDEX" val="14"/>
  <p:tag name="KSO_WM_UNIT_TEXT_FILL_TYPE" val="1"/>
  <p:tag name="KSO_WM_DIAGRAM_VIRTUALLY_FRAME" val="{&quot;height&quot;:375.85,&quot;left&quot;:49.476817500995814,&quot;top&quot;:128.95,&quot;width&quot;:666.9474575902298}"/>
</p:tagLst>
</file>

<file path=ppt/tags/tag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5_1"/>
  <p:tag name="KSO_WM_UNIT_ID" val="diagram20228083_5*l_h_i*1_5_1"/>
  <p:tag name="KSO_WM_TEMPLATE_CATEGORY" val="diagram"/>
  <p:tag name="KSO_WM_TEMPLATE_INDEX" val="20228083"/>
  <p:tag name="KSO_WM_UNIT_LAYERLEVEL" val="1_1_1"/>
  <p:tag name="KSO_WM_TAG_VERSION" val="1.0"/>
  <p:tag name="KSO_WM_BEAUTIFY_FLAG" val="#wm#"/>
  <p:tag name="KSO_WM_UNIT_FILL_FORE_SCHEMECOLOR_INDEX" val="9"/>
  <p:tag name="KSO_WM_UNIT_TEXT_FILL_FORE_SCHEMECOLOR_INDEX" val="2"/>
  <p:tag name="KSO_WM_UNIT_TEXT_FILL_TYPE" val="1"/>
  <p:tag name="KSO_WM_DIAGRAM_VIRTUALLY_FRAME" val="{&quot;height&quot;:375.85,&quot;left&quot;:49.476817500995814,&quot;top&quot;:128.95,&quot;width&quot;:666.9474575902298}"/>
</p:tagLst>
</file>

<file path=ppt/tags/tag100.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输入你的正文，文字是您思想的提炼，为了最终演示发布的良好效果，请尽量言简意赅的阐述观点。"/>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5_1"/>
  <p:tag name="KSO_WM_UNIT_ID" val="diagram20228083_5*l_h_f*1_5_1"/>
  <p:tag name="KSO_WM_TEMPLATE_CATEGORY" val="diagram"/>
  <p:tag name="KSO_WM_TEMPLATE_INDEX" val="20228083"/>
  <p:tag name="KSO_WM_UNIT_LAYERLEVEL" val="1_1_1"/>
  <p:tag name="KSO_WM_TAG_VERSION" val="1.0"/>
  <p:tag name="KSO_WM_BEAUTIFY_FLAG" val="#wm#"/>
  <p:tag name="KSO_WM_UNIT_TEXT_FILL_FORE_SCHEMECOLOR_INDEX" val="13"/>
  <p:tag name="KSO_WM_UNIT_TEXT_FILL_TYPE" val="1"/>
  <p:tag name="KSO_WM_DIAGRAM_VIRTUALLY_FRAME" val="{&quot;height&quot;:375.85,&quot;left&quot;:49.476817500995814,&quot;top&quot;:128.95,&quot;width&quot;:666.9474575902298}"/>
</p:tagLst>
</file>

<file path=ppt/tags/tag1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5_1"/>
  <p:tag name="KSO_WM_UNIT_ID" val="diagram20228083_5*l_h_i*1_5_1"/>
  <p:tag name="KSO_WM_TEMPLATE_CATEGORY" val="diagram"/>
  <p:tag name="KSO_WM_TEMPLATE_INDEX" val="20228083"/>
  <p:tag name="KSO_WM_UNIT_LAYERLEVEL" val="1_1_1"/>
  <p:tag name="KSO_WM_TAG_VERSION" val="1.0"/>
  <p:tag name="KSO_WM_BEAUTIFY_FLAG" val="#wm#"/>
  <p:tag name="KSO_WM_UNIT_TEXT_FILL_FORE_SCHEMECOLOR_INDEX" val="5"/>
  <p:tag name="KSO_WM_DIAGRAM_VIRTUALLY_FRAME" val="{&quot;height&quot;:375.85,&quot;left&quot;:49.476817500995814,&quot;top&quot;:128.95,&quot;width&quot;:666.9474575902298}"/>
</p:tagLst>
</file>

<file path=ppt/tags/tag1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5_2"/>
  <p:tag name="KSO_WM_UNIT_ID" val="diagram20228083_5*l_h_i*1_5_2"/>
  <p:tag name="KSO_WM_TEMPLATE_CATEGORY" val="diagram"/>
  <p:tag name="KSO_WM_TEMPLATE_INDEX" val="20228083"/>
  <p:tag name="KSO_WM_UNIT_LAYERLEVEL" val="1_1_1"/>
  <p:tag name="KSO_WM_TAG_VERSION" val="1.0"/>
  <p:tag name="KSO_WM_BEAUTIFY_FLAG" val="#wm#"/>
  <p:tag name="KSO_WM_UNIT_LINE_FORE_SCHEMECOLOR_INDEX" val="5"/>
  <p:tag name="KSO_WM_UNIT_LINE_FILL_TYPE" val="2"/>
  <p:tag name="KSO_WM_DIAGRAM_VIRTUALLY_FRAME" val="{&quot;height&quot;:375.85,&quot;left&quot;:49.476817500995814,&quot;top&quot;:128.95,&quot;width&quot;:666.9474575902298}"/>
</p:tagLst>
</file>

<file path=ppt/tags/tag1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5_3"/>
  <p:tag name="KSO_WM_UNIT_ID" val="diagram20228083_5*l_h_i*1_5_3"/>
  <p:tag name="KSO_WM_TEMPLATE_CATEGORY" val="diagram"/>
  <p:tag name="KSO_WM_TEMPLATE_INDEX" val="20228083"/>
  <p:tag name="KSO_WM_UNIT_LAYERLEVEL" val="1_1_1"/>
  <p:tag name="KSO_WM_TAG_VERSION" val="1.0"/>
  <p:tag name="KSO_WM_BEAUTIFY_FLAG" val="#wm#"/>
  <p:tag name="KSO_WM_UNIT_FILL_FORE_SCHEMECOLOR_INDEX" val="9"/>
  <p:tag name="KSO_WM_UNIT_FILL_TYPE" val="1"/>
  <p:tag name="KSO_WM_UNIT_TEXT_FILL_FORE_SCHEMECOLOR_INDEX" val="2"/>
  <p:tag name="KSO_WM_UNIT_TEXT_FILL_TYPE" val="1"/>
  <p:tag name="KSO_WM_DIAGRAM_VIRTUALLY_FRAME" val="{&quot;height&quot;:375.85,&quot;left&quot;:49.476817500995814,&quot;top&quot;:128.95,&quot;width&quot;:666.9474575902298}"/>
</p:tagLst>
</file>

<file path=ppt/tags/tag1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5_4"/>
  <p:tag name="KSO_WM_UNIT_ID" val="diagram20228083_5*l_h_i*1_5_4"/>
  <p:tag name="KSO_WM_TEMPLATE_CATEGORY" val="diagram"/>
  <p:tag name="KSO_WM_TEMPLATE_INDEX" val="20228083"/>
  <p:tag name="KSO_WM_UNIT_LAYERLEVEL" val="1_1_1"/>
  <p:tag name="KSO_WM_TAG_VERSION" val="1.0"/>
  <p:tag name="KSO_WM_BEAUTIFY_FLAG" val="#wm#"/>
  <p:tag name="KSO_WM_UNIT_FILL_FORE_SCHEMECOLOR_INDEX" val="9"/>
  <p:tag name="KSO_WM_UNIT_FILL_TYPE" val="1"/>
  <p:tag name="KSO_WM_UNIT_TEXT_FILL_FORE_SCHEMECOLOR_INDEX" val="2"/>
  <p:tag name="KSO_WM_UNIT_TEXT_FILL_TYPE" val="1"/>
  <p:tag name="KSO_WM_DIAGRAM_VIRTUALLY_FRAME" val="{&quot;height&quot;:375.85,&quot;left&quot;:49.476817500995814,&quot;top&quot;:128.95,&quot;width&quot;:666.9474575902298}"/>
</p:tagLst>
</file>

<file path=ppt/tags/tag10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请添加小标题"/>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5_1"/>
  <p:tag name="KSO_WM_UNIT_ID" val="diagram20228083_5*l_h_a*1_5_1"/>
  <p:tag name="KSO_WM_TEMPLATE_CATEGORY" val="diagram"/>
  <p:tag name="KSO_WM_TEMPLATE_INDEX" val="20228083"/>
  <p:tag name="KSO_WM_UNIT_LAYERLEVEL" val="1_1_1"/>
  <p:tag name="KSO_WM_TAG_VERSION" val="1.0"/>
  <p:tag name="KSO_WM_BEAUTIFY_FLAG" val="#wm#"/>
  <p:tag name="KSO_WM_UNIT_TEXT_FILL_FORE_SCHEMECOLOR_INDEX" val="14"/>
  <p:tag name="KSO_WM_UNIT_TEXT_FILL_TYPE" val="1"/>
  <p:tag name="KSO_WM_DIAGRAM_VIRTUALLY_FRAME" val="{&quot;height&quot;:375.85,&quot;left&quot;:49.476817500995814,&quot;top&quot;:128.95,&quot;width&quot;:666.9474575902298}"/>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878"/>
  <p:tag name="KSO_WM_UNIT_TYPE" val="q_h_i"/>
  <p:tag name="KSO_WM_UNIT_INDEX" val="1_5_2"/>
  <p:tag name="KSO_WM_UNIT_ID" val="diagram20170878_3*q_h_i*1_5_2"/>
  <p:tag name="KSO_WM_UNIT_LAYERLEVEL" val="1_1_1"/>
  <p:tag name="KSO_WM_DIAGRAM_GROUP_CODE" val="q1-1"/>
  <p:tag name="KSO_WM_UNIT_HIGHLIGHT" val="0"/>
  <p:tag name="KSO_WM_UNIT_COMPATIBLE" val="0"/>
  <p:tag name="KSO_WM_UNIT_DIAGRAM_ISNUMVISUAL" val="0"/>
  <p:tag name="KSO_WM_UNIT_DIAGRAM_ISREFERUNIT" val="0"/>
  <p:tag name="KSO_WM_UNIT_FILL_FORE_SCHEMECOLOR_INDEX" val="5"/>
  <p:tag name="KSO_WM_UNIT_FILL_TYPE" val="1"/>
  <p:tag name="KSO_WM_UNIT_TEXT_FILL_FORE_SCHEMECOLOR_INDEX" val="13"/>
  <p:tag name="KSO_WM_UNIT_TEXT_FILL_TYPE" val="1"/>
  <p:tag name="KSO_WM_DIAGRAM_VIRTUALLY_FRAME" val="{&quot;height&quot;:288.79850393700787,&quot;left&quot;:38.44244094488189,&quot;top&quot;:267.23905511811023,&quot;width&quot;:587.742283464567}"/>
</p:tagLst>
</file>

<file path=ppt/tags/tag11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878"/>
  <p:tag name="KSO_WM_UNIT_TYPE" val="q_h_i"/>
  <p:tag name="KSO_WM_UNIT_INDEX" val="1_4_2"/>
  <p:tag name="KSO_WM_UNIT_ID" val="diagram20170878_3*q_h_i*1_4_2"/>
  <p:tag name="KSO_WM_UNIT_LAYERLEVEL" val="1_1_1"/>
  <p:tag name="KSO_WM_DIAGRAM_GROUP_CODE" val="q1-1"/>
  <p:tag name="KSO_WM_UNIT_HIGHLIGHT" val="0"/>
  <p:tag name="KSO_WM_UNIT_COMPATIBLE" val="0"/>
  <p:tag name="KSO_WM_UNIT_DIAGRAM_ISNUMVISUAL" val="0"/>
  <p:tag name="KSO_WM_UNIT_DIAGRAM_ISREFERUNIT" val="0"/>
  <p:tag name="KSO_WM_UNIT_FILL_FORE_SCHEMECOLOR_INDEX" val="6"/>
  <p:tag name="KSO_WM_UNIT_FILL_TYPE" val="1"/>
  <p:tag name="KSO_WM_UNIT_TEXT_FILL_FORE_SCHEMECOLOR_INDEX" val="13"/>
  <p:tag name="KSO_WM_UNIT_TEXT_FILL_TYPE" val="1"/>
  <p:tag name="KSO_WM_DIAGRAM_VIRTUALLY_FRAME" val="{&quot;height&quot;:288.79850393700787,&quot;left&quot;:38.44244094488189,&quot;top&quot;:267.23905511811023,&quot;width&quot;:587.742283464567}"/>
</p:tagLst>
</file>

<file path=ppt/tags/tag11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878"/>
  <p:tag name="KSO_WM_UNIT_TYPE" val="q_h_i"/>
  <p:tag name="KSO_WM_UNIT_INDEX" val="1_3_2"/>
  <p:tag name="KSO_WM_UNIT_ID" val="diagram20170878_3*q_h_i*1_3_2"/>
  <p:tag name="KSO_WM_UNIT_LAYERLEVEL" val="1_1_1"/>
  <p:tag name="KSO_WM_DIAGRAM_GROUP_CODE" val="q1-1"/>
  <p:tag name="KSO_WM_UNIT_HIGHLIGHT" val="0"/>
  <p:tag name="KSO_WM_UNIT_COMPATIBLE" val="0"/>
  <p:tag name="KSO_WM_UNIT_DIAGRAM_ISNUMVISUAL" val="0"/>
  <p:tag name="KSO_WM_UNIT_DIAGRAM_ISREFERUNIT" val="0"/>
  <p:tag name="KSO_WM_UNIT_FILL_FORE_SCHEMECOLOR_INDEX" val="7"/>
  <p:tag name="KSO_WM_UNIT_FILL_TYPE" val="1"/>
  <p:tag name="KSO_WM_UNIT_TEXT_FILL_FORE_SCHEMECOLOR_INDEX" val="13"/>
  <p:tag name="KSO_WM_UNIT_TEXT_FILL_TYPE" val="1"/>
  <p:tag name="KSO_WM_DIAGRAM_VIRTUALLY_FRAME" val="{&quot;height&quot;:288.79850393700787,&quot;left&quot;:38.44244094488189,&quot;top&quot;:267.23905511811023,&quot;width&quot;:587.742283464567}"/>
</p:tagLst>
</file>

<file path=ppt/tags/tag11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878"/>
  <p:tag name="KSO_WM_UNIT_TYPE" val="q_h_i"/>
  <p:tag name="KSO_WM_UNIT_INDEX" val="1_1_2"/>
  <p:tag name="KSO_WM_UNIT_ID" val="diagram20170878_3*q_h_i*1_1_2"/>
  <p:tag name="KSO_WM_UNIT_LAYERLEVEL" val="1_1_1"/>
  <p:tag name="KSO_WM_DIAGRAM_GROUP_CODE" val="q1-1"/>
  <p:tag name="KSO_WM_UNIT_HIGHLIGHT" val="0"/>
  <p:tag name="KSO_WM_UNIT_COMPATIBLE" val="0"/>
  <p:tag name="KSO_WM_UNIT_DIAGRAM_ISNUMVISUAL" val="0"/>
  <p:tag name="KSO_WM_UNIT_DIAGRAM_ISREFERUNIT" val="0"/>
  <p:tag name="KSO_WM_UNIT_FILL_FORE_SCHEMECOLOR_INDEX" val="6"/>
  <p:tag name="KSO_WM_UNIT_FILL_TYPE" val="1"/>
  <p:tag name="KSO_WM_UNIT_TEXT_FILL_FORE_SCHEMECOLOR_INDEX" val="13"/>
  <p:tag name="KSO_WM_UNIT_TEXT_FILL_TYPE" val="1"/>
  <p:tag name="KSO_WM_DIAGRAM_VIRTUALLY_FRAME" val="{&quot;height&quot;:288.79850393700787,&quot;left&quot;:38.44244094488189,&quot;top&quot;:267.23905511811023,&quot;width&quot;:587.742283464567}"/>
</p:tagLst>
</file>

<file path=ppt/tags/tag12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878"/>
  <p:tag name="KSO_WM_UNIT_TYPE" val="q_h_i"/>
  <p:tag name="KSO_WM_UNIT_INDEX" val="1_2_2"/>
  <p:tag name="KSO_WM_UNIT_ID" val="diagram20170878_3*q_h_i*1_2_2"/>
  <p:tag name="KSO_WM_UNIT_LAYERLEVEL" val="1_1_1"/>
  <p:tag name="KSO_WM_DIAGRAM_GROUP_CODE" val="q1-1"/>
  <p:tag name="KSO_WM_UNIT_HIGHLIGHT" val="0"/>
  <p:tag name="KSO_WM_UNIT_COMPATIBLE" val="0"/>
  <p:tag name="KSO_WM_UNIT_DIAGRAM_ISNUMVISUAL" val="0"/>
  <p:tag name="KSO_WM_UNIT_DIAGRAM_ISREFERUNIT" val="0"/>
  <p:tag name="KSO_WM_UNIT_FILL_FORE_SCHEMECOLOR_INDEX" val="5"/>
  <p:tag name="KSO_WM_UNIT_FILL_TYPE" val="1"/>
  <p:tag name="KSO_WM_UNIT_TEXT_FILL_FORE_SCHEMECOLOR_INDEX" val="13"/>
  <p:tag name="KSO_WM_UNIT_TEXT_FILL_TYPE" val="1"/>
  <p:tag name="KSO_WM_DIAGRAM_VIRTUALLY_FRAME" val="{&quot;height&quot;:288.79850393700787,&quot;left&quot;:38.44244094488189,&quot;top&quot;:267.23905511811023,&quot;width&quot;:587.742283464567}"/>
</p:tagLst>
</file>

<file path=ppt/tags/tag12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878"/>
  <p:tag name="KSO_WM_UNIT_TYPE" val="q_h_i"/>
  <p:tag name="KSO_WM_UNIT_INDEX" val="1_1_1"/>
  <p:tag name="KSO_WM_UNIT_ID" val="diagram20170878_3*q_h_i*1_1_1"/>
  <p:tag name="KSO_WM_UNIT_LAYERLEVEL" val="1_1_1"/>
  <p:tag name="KSO_WM_DIAGRAM_GROUP_CODE" val="q1-1"/>
  <p:tag name="KSO_WM_UNIT_HIGHLIGHT" val="0"/>
  <p:tag name="KSO_WM_UNIT_COMPATIBLE" val="0"/>
  <p:tag name="KSO_WM_UNIT_DIAGRAM_ISNUMVISUAL" val="0"/>
  <p:tag name="KSO_WM_UNIT_DIAGRAM_ISREFERUNIT" val="0"/>
  <p:tag name="KSO_WM_UNIT_LINE_FORE_SCHEMECOLOR_INDEX" val="6"/>
  <p:tag name="KSO_WM_UNIT_LINE_FILL_TYPE" val="2"/>
  <p:tag name="KSO_WM_DIAGRAM_VIRTUALLY_FRAME" val="{&quot;height&quot;:288.79850393700787,&quot;left&quot;:38.44244094488189,&quot;top&quot;:267.23905511811023,&quot;width&quot;:587.742283464567}"/>
</p:tagLst>
</file>

<file path=ppt/tags/tag12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878"/>
  <p:tag name="KSO_WM_UNIT_TYPE" val="q_h_i"/>
  <p:tag name="KSO_WM_UNIT_INDEX" val="1_2_1"/>
  <p:tag name="KSO_WM_UNIT_ID" val="diagram20170878_3*q_h_i*1_2_1"/>
  <p:tag name="KSO_WM_UNIT_LAYERLEVEL" val="1_1_1"/>
  <p:tag name="KSO_WM_DIAGRAM_GROUP_CODE" val="q1-1"/>
  <p:tag name="KSO_WM_UNIT_HIGHLIGHT" val="0"/>
  <p:tag name="KSO_WM_UNIT_COMPATIBLE" val="0"/>
  <p:tag name="KSO_WM_UNIT_DIAGRAM_ISNUMVISUAL" val="0"/>
  <p:tag name="KSO_WM_UNIT_DIAGRAM_ISREFERUNIT" val="0"/>
  <p:tag name="KSO_WM_UNIT_LINE_FORE_SCHEMECOLOR_INDEX" val="5"/>
  <p:tag name="KSO_WM_UNIT_LINE_FILL_TYPE" val="2"/>
  <p:tag name="KSO_WM_DIAGRAM_VIRTUALLY_FRAME" val="{&quot;height&quot;:288.79850393700787,&quot;left&quot;:38.44244094488189,&quot;top&quot;:267.23905511811023,&quot;width&quot;:587.742283464567}"/>
</p:tagLst>
</file>

<file path=ppt/tags/tag12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878"/>
  <p:tag name="KSO_WM_UNIT_TYPE" val="q_h_i"/>
  <p:tag name="KSO_WM_UNIT_INDEX" val="1_3_1"/>
  <p:tag name="KSO_WM_UNIT_ID" val="diagram20170878_3*q_h_i*1_3_1"/>
  <p:tag name="KSO_WM_UNIT_LAYERLEVEL" val="1_1_1"/>
  <p:tag name="KSO_WM_DIAGRAM_GROUP_CODE" val="q1-1"/>
  <p:tag name="KSO_WM_UNIT_HIGHLIGHT" val="0"/>
  <p:tag name="KSO_WM_UNIT_COMPATIBLE" val="0"/>
  <p:tag name="KSO_WM_UNIT_DIAGRAM_ISNUMVISUAL" val="0"/>
  <p:tag name="KSO_WM_UNIT_DIAGRAM_ISREFERUNIT" val="0"/>
  <p:tag name="KSO_WM_UNIT_LINE_FORE_SCHEMECOLOR_INDEX" val="7"/>
  <p:tag name="KSO_WM_UNIT_LINE_FILL_TYPE" val="2"/>
  <p:tag name="KSO_WM_DIAGRAM_VIRTUALLY_FRAME" val="{&quot;height&quot;:288.79850393700787,&quot;left&quot;:38.44244094488189,&quot;top&quot;:267.23905511811023,&quot;width&quot;:587.742283464567}"/>
</p:tagLst>
</file>

<file path=ppt/tags/tag12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878"/>
  <p:tag name="KSO_WM_UNIT_TYPE" val="q_h_i"/>
  <p:tag name="KSO_WM_UNIT_INDEX" val="1_5_1"/>
  <p:tag name="KSO_WM_UNIT_ID" val="diagram20170878_3*q_h_i*1_5_1"/>
  <p:tag name="KSO_WM_UNIT_LAYERLEVEL" val="1_1_1"/>
  <p:tag name="KSO_WM_DIAGRAM_GROUP_CODE" val="q1-1"/>
  <p:tag name="KSO_WM_UNIT_HIGHLIGHT" val="0"/>
  <p:tag name="KSO_WM_UNIT_COMPATIBLE" val="0"/>
  <p:tag name="KSO_WM_UNIT_DIAGRAM_ISNUMVISUAL" val="0"/>
  <p:tag name="KSO_WM_UNIT_DIAGRAM_ISREFERUNIT" val="0"/>
  <p:tag name="KSO_WM_UNIT_LINE_FORE_SCHEMECOLOR_INDEX" val="5"/>
  <p:tag name="KSO_WM_UNIT_LINE_FILL_TYPE" val="2"/>
  <p:tag name="KSO_WM_DIAGRAM_VIRTUALLY_FRAME" val="{&quot;height&quot;:288.79850393700787,&quot;left&quot;:38.44244094488189,&quot;top&quot;:267.23905511811023,&quot;width&quot;:587.742283464567}"/>
</p:tagLst>
</file>

<file path=ppt/tags/tag12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878"/>
  <p:tag name="KSO_WM_UNIT_TYPE" val="q_h_i"/>
  <p:tag name="KSO_WM_UNIT_INDEX" val="1_4_1"/>
  <p:tag name="KSO_WM_UNIT_ID" val="diagram20170878_3*q_h_i*1_4_1"/>
  <p:tag name="KSO_WM_UNIT_LAYERLEVEL" val="1_1_1"/>
  <p:tag name="KSO_WM_DIAGRAM_GROUP_CODE" val="q1-1"/>
  <p:tag name="KSO_WM_UNIT_HIGHLIGHT" val="0"/>
  <p:tag name="KSO_WM_UNIT_COMPATIBLE" val="0"/>
  <p:tag name="KSO_WM_UNIT_DIAGRAM_ISNUMVISUAL" val="0"/>
  <p:tag name="KSO_WM_UNIT_DIAGRAM_ISREFERUNIT" val="0"/>
  <p:tag name="KSO_WM_UNIT_LINE_FORE_SCHEMECOLOR_INDEX" val="6"/>
  <p:tag name="KSO_WM_UNIT_LINE_FILL_TYPE" val="2"/>
  <p:tag name="KSO_WM_DIAGRAM_VIRTUALLY_FRAME" val="{&quot;height&quot;:288.79850393700787,&quot;left&quot;:38.44244094488189,&quot;top&quot;:267.23905511811023,&quot;width&quot;:587.742283464567}"/>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0.xml><?xml version="1.0" encoding="utf-8"?>
<p:tagLst xmlns:a="http://schemas.openxmlformats.org/drawingml/2006/main" xmlns:r="http://schemas.openxmlformats.org/officeDocument/2006/relationships" xmlns:p="http://schemas.openxmlformats.org/presentationml/2006/main">
  <p:tag name="KSO_WM_DIAGRAM_VIRTUALLY_FRAME" val="{&quot;height&quot;:336.1,&quot;left&quot;:20.15,&quot;top&quot;:140.05,&quot;width&quot;:686.85}"/>
</p:tagLst>
</file>

<file path=ppt/tags/tag131.xml><?xml version="1.0" encoding="utf-8"?>
<p:tagLst xmlns:a="http://schemas.openxmlformats.org/drawingml/2006/main" xmlns:r="http://schemas.openxmlformats.org/officeDocument/2006/relationships" xmlns:p="http://schemas.openxmlformats.org/presentationml/2006/main">
  <p:tag name="KSO_WM_DIAGRAM_VIRTUALLY_FRAME" val="{&quot;height&quot;:356.12797256097554,&quot;left&quot;:18.549999999999976,&quot;top&quot;:149.7,&quot;width&quot;:606.5000000000002}"/>
</p:tagLst>
</file>

<file path=ppt/tags/tag132.xml><?xml version="1.0" encoding="utf-8"?>
<p:tagLst xmlns:a="http://schemas.openxmlformats.org/drawingml/2006/main" xmlns:r="http://schemas.openxmlformats.org/officeDocument/2006/relationships" xmlns:p="http://schemas.openxmlformats.org/presentationml/2006/main">
  <p:tag name="KSO_WM_DIAGRAM_VIRTUALLY_FRAME" val="{&quot;height&quot;:288.35,&quot;left&quot;:18.549999999999976,&quot;top&quot;:149.7,&quot;width&quot;:606.5000000000002}"/>
</p:tagLst>
</file>

<file path=ppt/tags/tag133.xml><?xml version="1.0" encoding="utf-8"?>
<p:tagLst xmlns:a="http://schemas.openxmlformats.org/drawingml/2006/main" xmlns:r="http://schemas.openxmlformats.org/officeDocument/2006/relationships" xmlns:p="http://schemas.openxmlformats.org/presentationml/2006/main">
  <p:tag name="KSO_WM_DIAGRAM_VIRTUALLY_FRAME" val="{&quot;height&quot;:288.35,&quot;left&quot;:18.549999999999976,&quot;top&quot;:149.7,&quot;width&quot;:606.5000000000002}"/>
</p:tagLst>
</file>

<file path=ppt/tags/tag1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27937_3*l_h_i*1_1_1"/>
  <p:tag name="KSO_WM_TEMPLATE_CATEGORY" val="diagram"/>
  <p:tag name="KSO_WM_TEMPLATE_INDEX" val="20227937"/>
  <p:tag name="KSO_WM_UNIT_LAYERLEVEL" val="1_1_1"/>
  <p:tag name="KSO_WM_TAG_VERSION" val="1.0"/>
  <p:tag name="KSO_WM_BEAUTIFY_FLAG" val=""/>
  <p:tag name="KSO_WM_UNIT_LINE_FORE_SCHEMECOLOR_INDEX" val="5"/>
  <p:tag name="KSO_WM_UNIT_TEXT_FILL_FORE_SCHEMECOLOR_INDEX" val="2"/>
  <p:tag name="KSO_WM_UNIT_TEXT_FILL_TYPE" val="1"/>
  <p:tag name="KSO_WM_DIAGRAM_VIRTUALLY_FRAME" val="{&quot;height&quot;:288.35,&quot;left&quot;:18.549999999999976,&quot;top&quot;:149.7,&quot;width&quot;:606.5000000000002}"/>
</p:tagLst>
</file>

<file path=ppt/tags/tag1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27937_3*l_h_i*1_1_2"/>
  <p:tag name="KSO_WM_TEMPLATE_CATEGORY" val="diagram"/>
  <p:tag name="KSO_WM_TEMPLATE_INDEX" val="20227937"/>
  <p:tag name="KSO_WM_UNIT_LAYERLEVEL" val="1_1_1"/>
  <p:tag name="KSO_WM_TAG_VERSION" val="1.0"/>
  <p:tag name="KSO_WM_BEAUTIFY_FLAG" val=""/>
  <p:tag name="KSO_WM_UNIT_LINE_FORE_SCHEMECOLOR_INDEX" val="5"/>
  <p:tag name="KSO_WM_UNIT_LINE_FILL_TYPE" val="2"/>
  <p:tag name="KSO_WM_DIAGRAM_VIRTUALLY_FRAME" val="{&quot;height&quot;:288.35,&quot;left&quot;:18.549999999999976,&quot;top&quot;:149.7,&quot;width&quot;:606.5000000000002}"/>
</p:tagLst>
</file>

<file path=ppt/tags/tag1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27937_3*l_h_i*1_1_3"/>
  <p:tag name="KSO_WM_TEMPLATE_CATEGORY" val="diagram"/>
  <p:tag name="KSO_WM_TEMPLATE_INDEX" val="20227937"/>
  <p:tag name="KSO_WM_UNIT_LAYERLEVEL" val="1_1_1"/>
  <p:tag name="KSO_WM_TAG_VERSION" val="1.0"/>
  <p:tag name="KSO_WM_BEAUTIFY_FLAG" val=""/>
  <p:tag name="KSO_WM_UNIT_FILL_FORE_SCHEMECOLOR_INDEX" val="9"/>
  <p:tag name="KSO_WM_UNIT_TEXT_FILL_FORE_SCHEMECOLOR_INDEX" val="2"/>
  <p:tag name="KSO_WM_UNIT_TEXT_FILL_TYPE" val="1"/>
  <p:tag name="KSO_WM_DIAGRAM_VIRTUALLY_FRAME" val="{&quot;height&quot;:288.35,&quot;left&quot;:18.549999999999976,&quot;top&quot;:149.7,&quot;width&quot;:606.5000000000002}"/>
</p:tagLst>
</file>

<file path=ppt/tags/tag13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添加小标题"/>
  <p:tag name="KSO_WM_UNIT_NOCLEAR" val="0"/>
  <p:tag name="KSO_WM_UNIT_VALUE" val="6"/>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27937_3*l_h_a*1_1_1"/>
  <p:tag name="KSO_WM_TEMPLATE_CATEGORY" val="diagram"/>
  <p:tag name="KSO_WM_TEMPLATE_INDEX" val="20227937"/>
  <p:tag name="KSO_WM_UNIT_LAYERLEVEL" val="1_1_1"/>
  <p:tag name="KSO_WM_TAG_VERSION" val="1.0"/>
  <p:tag name="KSO_WM_BEAUTIFY_FLAG" val=""/>
  <p:tag name="KSO_WM_UNIT_TEXT_FILL_FORE_SCHEMECOLOR_INDEX" val="7"/>
  <p:tag name="KSO_WM_UNIT_TEXT_FILL_TYPE" val="1"/>
  <p:tag name="KSO_WM_DIAGRAM_VIRTUALLY_FRAME" val="{&quot;height&quot;:288.35,&quot;left&quot;:18.549999999999976,&quot;top&quot;:149.7,&quot;width&quot;:606.5000000000002}"/>
</p:tagLst>
</file>

<file path=ppt/tags/tag138.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输入你的正文，文字是您思想的提炼。"/>
  <p:tag name="KSO_WM_UNIT_NOCLEAR" val="0"/>
  <p:tag name="KSO_WM_UNIT_VALUE" val="24"/>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27937_3*l_h_f*1_1_1"/>
  <p:tag name="KSO_WM_TEMPLATE_CATEGORY" val="diagram"/>
  <p:tag name="KSO_WM_TEMPLATE_INDEX" val="20227937"/>
  <p:tag name="KSO_WM_UNIT_LAYERLEVEL" val="1_1_1"/>
  <p:tag name="KSO_WM_TAG_VERSION" val="1.0"/>
  <p:tag name="KSO_WM_BEAUTIFY_FLAG" val=""/>
  <p:tag name="KSO_WM_UNIT_TEXT_FILL_FORE_SCHEMECOLOR_INDEX" val="13"/>
  <p:tag name="KSO_WM_UNIT_TEXT_FILL_TYPE" val="1"/>
  <p:tag name="KSO_WM_DIAGRAM_VIRTUALLY_FRAME" val="{&quot;height&quot;:288.35,&quot;left&quot;:18.549999999999976,&quot;top&quot;:149.7,&quot;width&quot;:606.5000000000002}"/>
</p:tagLst>
</file>

<file path=ppt/tags/tag1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27937_3*l_h_i*1_1_1"/>
  <p:tag name="KSO_WM_TEMPLATE_CATEGORY" val="diagram"/>
  <p:tag name="KSO_WM_TEMPLATE_INDEX" val="20227937"/>
  <p:tag name="KSO_WM_UNIT_LAYERLEVEL" val="1_1_1"/>
  <p:tag name="KSO_WM_TAG_VERSION" val="1.0"/>
  <p:tag name="KSO_WM_BEAUTIFY_FLAG" val=""/>
  <p:tag name="KSO_WM_UNIT_LINE_FORE_SCHEMECOLOR_INDEX" val="5"/>
  <p:tag name="KSO_WM_UNIT_TEXT_FILL_FORE_SCHEMECOLOR_INDEX" val="2"/>
  <p:tag name="KSO_WM_UNIT_TEXT_FILL_TYPE" val="1"/>
  <p:tag name="KSO_WM_DIAGRAM_VIRTUALLY_FRAME" val="{&quot;height&quot;:288.35,&quot;left&quot;:18.549999999999976,&quot;top&quot;:149.7,&quot;width&quot;:606.5000000000002}"/>
</p:tagLst>
</file>

<file path=ppt/tags/tag1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27937_3*l_h_i*1_1_2"/>
  <p:tag name="KSO_WM_TEMPLATE_CATEGORY" val="diagram"/>
  <p:tag name="KSO_WM_TEMPLATE_INDEX" val="20227937"/>
  <p:tag name="KSO_WM_UNIT_LAYERLEVEL" val="1_1_1"/>
  <p:tag name="KSO_WM_TAG_VERSION" val="1.0"/>
  <p:tag name="KSO_WM_BEAUTIFY_FLAG" val=""/>
  <p:tag name="KSO_WM_UNIT_LINE_FORE_SCHEMECOLOR_INDEX" val="5"/>
  <p:tag name="KSO_WM_UNIT_LINE_FILL_TYPE" val="2"/>
  <p:tag name="KSO_WM_DIAGRAM_VIRTUALLY_FRAME" val="{&quot;height&quot;:288.35,&quot;left&quot;:18.549999999999976,&quot;top&quot;:149.7,&quot;width&quot;:606.5000000000002}"/>
</p:tagLst>
</file>

<file path=ppt/tags/tag1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27937_3*l_h_i*1_1_3"/>
  <p:tag name="KSO_WM_TEMPLATE_CATEGORY" val="diagram"/>
  <p:tag name="KSO_WM_TEMPLATE_INDEX" val="20227937"/>
  <p:tag name="KSO_WM_UNIT_LAYERLEVEL" val="1_1_1"/>
  <p:tag name="KSO_WM_TAG_VERSION" val="1.0"/>
  <p:tag name="KSO_WM_BEAUTIFY_FLAG" val=""/>
  <p:tag name="KSO_WM_UNIT_FILL_FORE_SCHEMECOLOR_INDEX" val="9"/>
  <p:tag name="KSO_WM_UNIT_TEXT_FILL_FORE_SCHEMECOLOR_INDEX" val="2"/>
  <p:tag name="KSO_WM_UNIT_TEXT_FILL_TYPE" val="1"/>
  <p:tag name="KSO_WM_DIAGRAM_VIRTUALLY_FRAME" val="{&quot;height&quot;:288.35,&quot;left&quot;:18.549999999999976,&quot;top&quot;:149.7,&quot;width&quot;:606.5000000000002}"/>
</p:tagLst>
</file>

<file path=ppt/tags/tag14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添加小标题"/>
  <p:tag name="KSO_WM_UNIT_NOCLEAR" val="0"/>
  <p:tag name="KSO_WM_UNIT_VALUE" val="6"/>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27937_3*l_h_a*1_1_1"/>
  <p:tag name="KSO_WM_TEMPLATE_CATEGORY" val="diagram"/>
  <p:tag name="KSO_WM_TEMPLATE_INDEX" val="20227937"/>
  <p:tag name="KSO_WM_UNIT_LAYERLEVEL" val="1_1_1"/>
  <p:tag name="KSO_WM_TAG_VERSION" val="1.0"/>
  <p:tag name="KSO_WM_BEAUTIFY_FLAG" val=""/>
  <p:tag name="KSO_WM_UNIT_TEXT_FILL_FORE_SCHEMECOLOR_INDEX" val="7"/>
  <p:tag name="KSO_WM_UNIT_TEXT_FILL_TYPE" val="1"/>
  <p:tag name="KSO_WM_DIAGRAM_VIRTUALLY_FRAME" val="{&quot;height&quot;:288.35,&quot;left&quot;:18.549999999999976,&quot;top&quot;:149.7,&quot;width&quot;:606.5000000000002}"/>
</p:tagLst>
</file>

<file path=ppt/tags/tag143.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输入你的正文，文字是您思想的提炼。"/>
  <p:tag name="KSO_WM_UNIT_NOCLEAR" val="0"/>
  <p:tag name="KSO_WM_UNIT_VALUE" val="24"/>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27937_3*l_h_f*1_1_1"/>
  <p:tag name="KSO_WM_TEMPLATE_CATEGORY" val="diagram"/>
  <p:tag name="KSO_WM_TEMPLATE_INDEX" val="20227937"/>
  <p:tag name="KSO_WM_UNIT_LAYERLEVEL" val="1_1_1"/>
  <p:tag name="KSO_WM_TAG_VERSION" val="1.0"/>
  <p:tag name="KSO_WM_BEAUTIFY_FLAG" val=""/>
  <p:tag name="KSO_WM_UNIT_TEXT_FILL_FORE_SCHEMECOLOR_INDEX" val="13"/>
  <p:tag name="KSO_WM_UNIT_TEXT_FILL_TYPE" val="1"/>
  <p:tag name="KSO_WM_DIAGRAM_VIRTUALLY_FRAME" val="{&quot;height&quot;:288.35,&quot;left&quot;:18.549999999999976,&quot;top&quot;:149.7,&quot;width&quot;:606.5000000000002}"/>
</p:tagLst>
</file>

<file path=ppt/tags/tag1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27937_3*l_h_i*1_1_1"/>
  <p:tag name="KSO_WM_TEMPLATE_CATEGORY" val="diagram"/>
  <p:tag name="KSO_WM_TEMPLATE_INDEX" val="20227937"/>
  <p:tag name="KSO_WM_UNIT_LAYERLEVEL" val="1_1_1"/>
  <p:tag name="KSO_WM_TAG_VERSION" val="1.0"/>
  <p:tag name="KSO_WM_BEAUTIFY_FLAG" val="#wm#"/>
  <p:tag name="KSO_WM_UNIT_LINE_FORE_SCHEMECOLOR_INDEX" val="5"/>
  <p:tag name="KSO_WM_UNIT_TEXT_FILL_FORE_SCHEMECOLOR_INDEX" val="2"/>
  <p:tag name="KSO_WM_UNIT_TEXT_FILL_TYPE" val="1"/>
  <p:tag name="KSO_WM_DIAGRAM_VIRTUALLY_FRAME" val="{&quot;height&quot;:336.1,&quot;left&quot;:20.15,&quot;top&quot;:140.05,&quot;width&quot;:686.85}"/>
</p:tagLst>
</file>

<file path=ppt/tags/tag1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27937_3*l_h_i*1_1_2"/>
  <p:tag name="KSO_WM_TEMPLATE_CATEGORY" val="diagram"/>
  <p:tag name="KSO_WM_TEMPLATE_INDEX" val="20227937"/>
  <p:tag name="KSO_WM_UNIT_LAYERLEVEL" val="1_1_1"/>
  <p:tag name="KSO_WM_TAG_VERSION" val="1.0"/>
  <p:tag name="KSO_WM_BEAUTIFY_FLAG" val="#wm#"/>
  <p:tag name="KSO_WM_UNIT_LINE_FORE_SCHEMECOLOR_INDEX" val="5"/>
  <p:tag name="KSO_WM_UNIT_LINE_FILL_TYPE" val="2"/>
  <p:tag name="KSO_WM_DIAGRAM_VIRTUALLY_FRAME" val="{&quot;height&quot;:336.1,&quot;left&quot;:20.15,&quot;top&quot;:140.05,&quot;width&quot;:686.85}"/>
</p:tagLst>
</file>

<file path=ppt/tags/tag1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27937_3*l_h_i*1_1_3"/>
  <p:tag name="KSO_WM_TEMPLATE_CATEGORY" val="diagram"/>
  <p:tag name="KSO_WM_TEMPLATE_INDEX" val="20227937"/>
  <p:tag name="KSO_WM_UNIT_LAYERLEVEL" val="1_1_1"/>
  <p:tag name="KSO_WM_TAG_VERSION" val="1.0"/>
  <p:tag name="KSO_WM_BEAUTIFY_FLAG" val="#wm#"/>
  <p:tag name="KSO_WM_UNIT_FILL_FORE_SCHEMECOLOR_INDEX" val="9"/>
  <p:tag name="KSO_WM_UNIT_TEXT_FILL_FORE_SCHEMECOLOR_INDEX" val="2"/>
  <p:tag name="KSO_WM_UNIT_TEXT_FILL_TYPE" val="1"/>
  <p:tag name="KSO_WM_DIAGRAM_VIRTUALLY_FRAME" val="{&quot;height&quot;:336.1,&quot;left&quot;:20.15,&quot;top&quot;:140.05,&quot;width&quot;:686.85}"/>
</p:tagLst>
</file>

<file path=ppt/tags/tag14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添加小标题"/>
  <p:tag name="KSO_WM_UNIT_NOCLEAR" val="0"/>
  <p:tag name="KSO_WM_UNIT_VALUE" val="6"/>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27937_3*l_h_a*1_1_1"/>
  <p:tag name="KSO_WM_TEMPLATE_CATEGORY" val="diagram"/>
  <p:tag name="KSO_WM_TEMPLATE_INDEX" val="20227937"/>
  <p:tag name="KSO_WM_UNIT_LAYERLEVEL" val="1_1_1"/>
  <p:tag name="KSO_WM_TAG_VERSION" val="1.0"/>
  <p:tag name="KSO_WM_BEAUTIFY_FLAG" val="#wm#"/>
  <p:tag name="KSO_WM_UNIT_TEXT_FILL_FORE_SCHEMECOLOR_INDEX" val="7"/>
  <p:tag name="KSO_WM_UNIT_TEXT_FILL_TYPE" val="1"/>
  <p:tag name="KSO_WM_DIAGRAM_VIRTUALLY_FRAME" val="{&quot;height&quot;:336.1,&quot;left&quot;:20.15,&quot;top&quot;:140.05,&quot;width&quot;:686.85}"/>
</p:tagLst>
</file>

<file path=ppt/tags/tag148.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输入你的正文，文字是您思想的提炼。"/>
  <p:tag name="KSO_WM_UNIT_NOCLEAR" val="0"/>
  <p:tag name="KSO_WM_UNIT_VALUE" val="24"/>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27937_3*l_h_f*1_1_1"/>
  <p:tag name="KSO_WM_TEMPLATE_CATEGORY" val="diagram"/>
  <p:tag name="KSO_WM_TEMPLATE_INDEX" val="20227937"/>
  <p:tag name="KSO_WM_UNIT_LAYERLEVEL" val="1_1_1"/>
  <p:tag name="KSO_WM_TAG_VERSION" val="1.0"/>
  <p:tag name="KSO_WM_BEAUTIFY_FLAG" val="#wm#"/>
  <p:tag name="KSO_WM_UNIT_TEXT_FILL_FORE_SCHEMECOLOR_INDEX" val="13"/>
  <p:tag name="KSO_WM_UNIT_TEXT_FILL_TYPE" val="1"/>
  <p:tag name="KSO_WM_DIAGRAM_VIRTUALLY_FRAME" val="{&quot;height&quot;:336.1,&quot;left&quot;:20.15,&quot;top&quot;:140.05,&quot;width&quot;:686.85}"/>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5.xml><?xml version="1.0" encoding="utf-8"?>
<p:tagLst xmlns:a="http://schemas.openxmlformats.org/drawingml/2006/main" xmlns:r="http://schemas.openxmlformats.org/officeDocument/2006/relationships" xmlns:p="http://schemas.openxmlformats.org/presentationml/2006/main">
  <p:tag name="TABLE_ENDDRAG_ORIGIN_RECT" val="596*438"/>
  <p:tag name="TABLE_ENDDRAG_RECT" val="62*63*596*438"/>
</p:tagLst>
</file>

<file path=ppt/tags/tag176.xml><?xml version="1.0" encoding="utf-8"?>
<p:tagLst xmlns:a="http://schemas.openxmlformats.org/drawingml/2006/main" xmlns:r="http://schemas.openxmlformats.org/officeDocument/2006/relationships" xmlns:p="http://schemas.openxmlformats.org/presentationml/2006/main">
  <p:tag name="KSO_WM_DIAGRAM_VIRTUALLY_FRAME" val="{&quot;height&quot;:383.2,&quot;left&quot;:49.5,&quot;top&quot;:101.15,&quot;width&quot;:592.6}"/>
</p:tagLst>
</file>

<file path=ppt/tags/tag177.xml><?xml version="1.0" encoding="utf-8"?>
<p:tagLst xmlns:a="http://schemas.openxmlformats.org/drawingml/2006/main" xmlns:r="http://schemas.openxmlformats.org/officeDocument/2006/relationships" xmlns:p="http://schemas.openxmlformats.org/presentationml/2006/main">
  <p:tag name="KSO_WM_DIAGRAM_VIRTUALLY_FRAME" val="{&quot;height&quot;:383.2,&quot;left&quot;:49.5,&quot;top&quot;:101.15,&quot;width&quot;:592.6}"/>
</p:tagLst>
</file>

<file path=ppt/tags/tag178.xml><?xml version="1.0" encoding="utf-8"?>
<p:tagLst xmlns:a="http://schemas.openxmlformats.org/drawingml/2006/main" xmlns:r="http://schemas.openxmlformats.org/officeDocument/2006/relationships" xmlns:p="http://schemas.openxmlformats.org/presentationml/2006/main">
  <p:tag name="KSO_WM_DIAGRAM_VIRTUALLY_FRAME" val="{&quot;height&quot;:383.2,&quot;left&quot;:49.5,&quot;top&quot;:101.15,&quot;width&quot;:592.6}"/>
</p:tagLst>
</file>

<file path=ppt/tags/tag179.xml><?xml version="1.0" encoding="utf-8"?>
<p:tagLst xmlns:a="http://schemas.openxmlformats.org/drawingml/2006/main" xmlns:r="http://schemas.openxmlformats.org/officeDocument/2006/relationships" xmlns:p="http://schemas.openxmlformats.org/presentationml/2006/main">
  <p:tag name="KSO_WM_DIAGRAM_VIRTUALLY_FRAME" val="{&quot;height&quot;:383.2,&quot;left&quot;:49.5,&quot;top&quot;:101.15,&quot;width&quot;:592.6}"/>
</p:tagLst>
</file>

<file path=ppt/tags/tag180.xml><?xml version="1.0" encoding="utf-8"?>
<p:tagLst xmlns:a="http://schemas.openxmlformats.org/drawingml/2006/main" xmlns:r="http://schemas.openxmlformats.org/officeDocument/2006/relationships" xmlns:p="http://schemas.openxmlformats.org/presentationml/2006/main">
  <p:tag name="KSO_WM_DIAGRAM_VIRTUALLY_FRAME" val="{&quot;height&quot;:383.2,&quot;left&quot;:49.5,&quot;top&quot;:101.15,&quot;width&quot;:592.6}"/>
</p:tagLst>
</file>

<file path=ppt/tags/tag181.xml><?xml version="1.0" encoding="utf-8"?>
<p:tagLst xmlns:a="http://schemas.openxmlformats.org/drawingml/2006/main" xmlns:r="http://schemas.openxmlformats.org/officeDocument/2006/relationships" xmlns:p="http://schemas.openxmlformats.org/presentationml/2006/main">
  <p:tag name="KSO_WM_DIAGRAM_VIRTUALLY_FRAME" val="{&quot;height&quot;:383.2,&quot;left&quot;:49.5,&quot;top&quot;:101.15,&quot;width&quot;:592.6}"/>
</p:tagLst>
</file>

<file path=ppt/tags/tag182.xml><?xml version="1.0" encoding="utf-8"?>
<p:tagLst xmlns:a="http://schemas.openxmlformats.org/drawingml/2006/main" xmlns:r="http://schemas.openxmlformats.org/officeDocument/2006/relationships" xmlns:p="http://schemas.openxmlformats.org/presentationml/2006/main">
  <p:tag name="TABLE_ENDDRAG_ORIGIN_RECT" val="630*304"/>
  <p:tag name="TABLE_ENDDRAG_RECT" val="50*63*630*304"/>
</p:tagLst>
</file>

<file path=ppt/tags/tag183.xml><?xml version="1.0" encoding="utf-8"?>
<p:tagLst xmlns:a="http://schemas.openxmlformats.org/drawingml/2006/main" xmlns:r="http://schemas.openxmlformats.org/officeDocument/2006/relationships" xmlns:p="http://schemas.openxmlformats.org/presentationml/2006/main">
  <p:tag name="TABLE_ENDDRAG_ORIGIN_RECT" val="536*248"/>
  <p:tag name="TABLE_ENDDRAG_RECT" val="49*210*536*248"/>
</p:tagLst>
</file>

<file path=ppt/tags/tag184.xml><?xml version="1.0" encoding="utf-8"?>
<p:tagLst xmlns:a="http://schemas.openxmlformats.org/drawingml/2006/main" xmlns:r="http://schemas.openxmlformats.org/officeDocument/2006/relationships" xmlns:p="http://schemas.openxmlformats.org/presentationml/2006/main">
  <p:tag name="KSO_WM_DIAGRAM_VIRTUALLY_FRAME" val="{&quot;height&quot;:392.5317322834646,&quot;left&quot;:49.5,&quot;top&quot;:46.968267716535436,&quot;width&quot;:621}"/>
</p:tagLst>
</file>

<file path=ppt/tags/tag185.xml><?xml version="1.0" encoding="utf-8"?>
<p:tagLst xmlns:a="http://schemas.openxmlformats.org/drawingml/2006/main" xmlns:r="http://schemas.openxmlformats.org/officeDocument/2006/relationships" xmlns:p="http://schemas.openxmlformats.org/presentationml/2006/main">
  <p:tag name="KSO_WM_DIAGRAM_VIRTUALLY_FRAME" val="{&quot;height&quot;:392.5317322834646,&quot;left&quot;:49.5,&quot;top&quot;:46.968267716535436,&quot;width&quot;:621}"/>
</p:tagLst>
</file>

<file path=ppt/tags/tag186.xml><?xml version="1.0" encoding="utf-8"?>
<p:tagLst xmlns:a="http://schemas.openxmlformats.org/drawingml/2006/main" xmlns:r="http://schemas.openxmlformats.org/officeDocument/2006/relationships" xmlns:p="http://schemas.openxmlformats.org/presentationml/2006/main">
  <p:tag name="KSO_WM_DIAGRAM_VIRTUALLY_FRAME" val="{&quot;height&quot;:392.5317322834646,&quot;left&quot;:49.5,&quot;top&quot;:46.968267716535436,&quot;width&quot;:621}"/>
</p:tagLst>
</file>

<file path=ppt/tags/tag187.xml><?xml version="1.0" encoding="utf-8"?>
<p:tagLst xmlns:a="http://schemas.openxmlformats.org/drawingml/2006/main" xmlns:r="http://schemas.openxmlformats.org/officeDocument/2006/relationships" xmlns:p="http://schemas.openxmlformats.org/presentationml/2006/main">
  <p:tag name="KSO_WM_DIAGRAM_VIRTUALLY_FRAME" val="{&quot;height&quot;:392.5317322834646,&quot;left&quot;:49.5,&quot;top&quot;:46.968267716535436,&quot;width&quot;:621}"/>
</p:tagLst>
</file>

<file path=ppt/tags/tag188.xml><?xml version="1.0" encoding="utf-8"?>
<p:tagLst xmlns:a="http://schemas.openxmlformats.org/drawingml/2006/main" xmlns:r="http://schemas.openxmlformats.org/officeDocument/2006/relationships" xmlns:p="http://schemas.openxmlformats.org/presentationml/2006/main">
  <p:tag name="KSO_WM_DIAGRAM_VIRTUALLY_FRAME" val="{&quot;height&quot;:392.5317322834646,&quot;left&quot;:49.5,&quot;top&quot;:46.968267716535436,&quot;width&quot;:621}"/>
</p:tagLst>
</file>

<file path=ppt/tags/tag189.xml><?xml version="1.0" encoding="utf-8"?>
<p:tagLst xmlns:a="http://schemas.openxmlformats.org/drawingml/2006/main" xmlns:r="http://schemas.openxmlformats.org/officeDocument/2006/relationships" xmlns:p="http://schemas.openxmlformats.org/presentationml/2006/main">
  <p:tag name="KSO_WM_DIAGRAM_VIRTUALLY_FRAME" val="{&quot;height&quot;:392.5317322834646,&quot;left&quot;:49.5,&quot;top&quot;:46.968267716535436,&quot;width&quot;:621}"/>
</p:tagLst>
</file>

<file path=ppt/tags/tag190.xml><?xml version="1.0" encoding="utf-8"?>
<p:tagLst xmlns:a="http://schemas.openxmlformats.org/drawingml/2006/main" xmlns:r="http://schemas.openxmlformats.org/officeDocument/2006/relationships" xmlns:p="http://schemas.openxmlformats.org/presentationml/2006/main">
  <p:tag name="KSO_WM_DIAGRAM_VIRTUALLY_FRAME" val="{&quot;height&quot;:392.5317322834646,&quot;left&quot;:49.5,&quot;top&quot;:46.968267716535436,&quot;width&quot;:621}"/>
</p:tagLst>
</file>

<file path=ppt/tags/tag191.xml><?xml version="1.0" encoding="utf-8"?>
<p:tagLst xmlns:a="http://schemas.openxmlformats.org/drawingml/2006/main" xmlns:r="http://schemas.openxmlformats.org/officeDocument/2006/relationships" xmlns:p="http://schemas.openxmlformats.org/presentationml/2006/main">
  <p:tag name="KSO_WM_DIAGRAM_VIRTUALLY_FRAME" val="{&quot;height&quot;:392.5317322834646,&quot;left&quot;:49.5,&quot;top&quot;:46.968267716535436,&quot;width&quot;:621}"/>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0</TotalTime>
  <Words>6139</Words>
  <Application>Microsoft Office PowerPoint</Application>
  <PresentationFormat>全屏显示(4:3)</PresentationFormat>
  <Paragraphs>849</Paragraphs>
  <Slides>78</Slides>
  <Notes>3</Notes>
  <HiddenSlides>0</HiddenSlides>
  <MMClips>0</MMClips>
  <ScaleCrop>false</ScaleCrop>
  <HeadingPairs>
    <vt:vector size="8" baseType="variant">
      <vt:variant>
        <vt:lpstr>已用的字体</vt:lpstr>
      </vt:variant>
      <vt:variant>
        <vt:i4>13</vt:i4>
      </vt:variant>
      <vt:variant>
        <vt:lpstr>主题</vt:lpstr>
      </vt:variant>
      <vt:variant>
        <vt:i4>2</vt:i4>
      </vt:variant>
      <vt:variant>
        <vt:lpstr>嵌入 OLE 服务器</vt:lpstr>
      </vt:variant>
      <vt:variant>
        <vt:i4>1</vt:i4>
      </vt:variant>
      <vt:variant>
        <vt:lpstr>幻灯片标题</vt:lpstr>
      </vt:variant>
      <vt:variant>
        <vt:i4>78</vt:i4>
      </vt:variant>
    </vt:vector>
  </HeadingPairs>
  <TitlesOfParts>
    <vt:vector size="94" baseType="lpstr">
      <vt:lpstr>Times Bold</vt:lpstr>
      <vt:lpstr>Times Regular</vt:lpstr>
      <vt:lpstr>等线</vt:lpstr>
      <vt:lpstr>等线 Light</vt:lpstr>
      <vt:lpstr>楷体</vt:lpstr>
      <vt:lpstr>思源黑体 CN Bold</vt:lpstr>
      <vt:lpstr>思源黑体 CN Regular</vt:lpstr>
      <vt:lpstr>微软雅黑</vt:lpstr>
      <vt:lpstr>Arial</vt:lpstr>
      <vt:lpstr>Calibri</vt:lpstr>
      <vt:lpstr>Calibri Light</vt:lpstr>
      <vt:lpstr>Times New Roman</vt:lpstr>
      <vt:lpstr>Wingdings</vt:lpstr>
      <vt:lpstr>Office 主题​​</vt:lpstr>
      <vt:lpstr>自定义设计方案</vt:lpstr>
      <vt:lpstr>Microsoft Visio 2003-2010 Drawing</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本章小结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传艺 李</dc:creator>
  <cp:lastModifiedBy>lcynju</cp:lastModifiedBy>
  <cp:revision>108</cp:revision>
  <dcterms:created xsi:type="dcterms:W3CDTF">2024-12-04T09:12:00Z</dcterms:created>
  <dcterms:modified xsi:type="dcterms:W3CDTF">2025-05-29T02:54:00Z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9424DA794B4E4A8491CFE89AEA8F2B10_13</vt:lpwstr>
  </property>
  <property fmtid="{D5CDD505-2E9C-101B-9397-08002B2CF9AE}" pid="3" name="KSOProductBuildVer">
    <vt:lpwstr>2052-12.1.0.19302</vt:lpwstr>
  </property>
</Properties>
</file>